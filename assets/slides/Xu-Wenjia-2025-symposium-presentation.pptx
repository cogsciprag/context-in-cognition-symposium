
<file path=[Content_Types].xml><?xml version="1.0" encoding="utf-8"?>
<Types xmlns="http://schemas.openxmlformats.org/package/2006/content-types">
  <Default Extension="fntdata" ContentType="application/x-fontdata"/>
  <Default Extension="jfif" ContentType="image/jpeg"/>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omments/modernComment_356_20CBBD59.xml" ContentType="application/vnd.ms-powerpoint.comment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omments/modernComment_35C_79BF53C7.xml" ContentType="application/vnd.ms-powerpoint.comments+xml"/>
  <Override PartName="/ppt/notesSlides/notesSlide11.xml" ContentType="application/vnd.openxmlformats-officedocument.presentationml.notesSlide+xml"/>
  <Override PartName="/ppt/comments/modernComment_35B_F8CBA390.xml" ContentType="application/vnd.ms-powerpoint.comment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p:sldMasterIdLst>
    <p:sldMasterId id="2147485956" r:id="rId4"/>
    <p:sldMasterId id="2147485900" r:id="rId5"/>
  </p:sldMasterIdLst>
  <p:notesMasterIdLst>
    <p:notesMasterId r:id="rId73"/>
  </p:notesMasterIdLst>
  <p:handoutMasterIdLst>
    <p:handoutMasterId r:id="rId74"/>
  </p:handoutMasterIdLst>
  <p:sldIdLst>
    <p:sldId id="780" r:id="rId6"/>
    <p:sldId id="797" r:id="rId7"/>
    <p:sldId id="788" r:id="rId8"/>
    <p:sldId id="798" r:id="rId9"/>
    <p:sldId id="785" r:id="rId10"/>
    <p:sldId id="833" r:id="rId11"/>
    <p:sldId id="834" r:id="rId12"/>
    <p:sldId id="835" r:id="rId13"/>
    <p:sldId id="841" r:id="rId14"/>
    <p:sldId id="842" r:id="rId15"/>
    <p:sldId id="850" r:id="rId16"/>
    <p:sldId id="851" r:id="rId17"/>
    <p:sldId id="878" r:id="rId18"/>
    <p:sldId id="852" r:id="rId19"/>
    <p:sldId id="853" r:id="rId20"/>
    <p:sldId id="854" r:id="rId21"/>
    <p:sldId id="855" r:id="rId22"/>
    <p:sldId id="860" r:id="rId23"/>
    <p:sldId id="859" r:id="rId24"/>
    <p:sldId id="863" r:id="rId25"/>
    <p:sldId id="868" r:id="rId26"/>
    <p:sldId id="869" r:id="rId27"/>
    <p:sldId id="870" r:id="rId28"/>
    <p:sldId id="879" r:id="rId29"/>
    <p:sldId id="880" r:id="rId30"/>
    <p:sldId id="874" r:id="rId31"/>
    <p:sldId id="875" r:id="rId32"/>
    <p:sldId id="837" r:id="rId33"/>
    <p:sldId id="838" r:id="rId34"/>
    <p:sldId id="846" r:id="rId35"/>
    <p:sldId id="847" r:id="rId36"/>
    <p:sldId id="845" r:id="rId37"/>
    <p:sldId id="848" r:id="rId38"/>
    <p:sldId id="849" r:id="rId39"/>
    <p:sldId id="840" r:id="rId40"/>
    <p:sldId id="867" r:id="rId41"/>
    <p:sldId id="866" r:id="rId42"/>
    <p:sldId id="836" r:id="rId43"/>
    <p:sldId id="791" r:id="rId44"/>
    <p:sldId id="831" r:id="rId45"/>
    <p:sldId id="807" r:id="rId46"/>
    <p:sldId id="808" r:id="rId47"/>
    <p:sldId id="809" r:id="rId48"/>
    <p:sldId id="810" r:id="rId49"/>
    <p:sldId id="811" r:id="rId50"/>
    <p:sldId id="812" r:id="rId51"/>
    <p:sldId id="813" r:id="rId52"/>
    <p:sldId id="815" r:id="rId53"/>
    <p:sldId id="816" r:id="rId54"/>
    <p:sldId id="820" r:id="rId55"/>
    <p:sldId id="819" r:id="rId56"/>
    <p:sldId id="818" r:id="rId57"/>
    <p:sldId id="821" r:id="rId58"/>
    <p:sldId id="823" r:id="rId59"/>
    <p:sldId id="824" r:id="rId60"/>
    <p:sldId id="825" r:id="rId61"/>
    <p:sldId id="826" r:id="rId62"/>
    <p:sldId id="827" r:id="rId63"/>
    <p:sldId id="828" r:id="rId64"/>
    <p:sldId id="829" r:id="rId65"/>
    <p:sldId id="817" r:id="rId66"/>
    <p:sldId id="830" r:id="rId67"/>
    <p:sldId id="839" r:id="rId68"/>
    <p:sldId id="844" r:id="rId69"/>
    <p:sldId id="800" r:id="rId70"/>
    <p:sldId id="804" r:id="rId71"/>
    <p:sldId id="799" r:id="rId72"/>
  </p:sldIdLst>
  <p:sldSz cx="9144000" cy="6858000" type="screen4x3"/>
  <p:notesSz cx="6819900" cy="9918700"/>
  <p:embeddedFontLst>
    <p:embeddedFont>
      <p:font typeface="微软雅黑" panose="020B0503020204020204" pitchFamily="34" charset="-122"/>
      <p:regular r:id="rId75"/>
      <p:bold r:id="rId76"/>
    </p:embeddedFont>
    <p:embeddedFont>
      <p:font typeface="Cambria" panose="02040503050406030204" pitchFamily="18" charset="0"/>
      <p:regular r:id="rId77"/>
      <p:bold r:id="rId78"/>
      <p:italic r:id="rId79"/>
      <p:boldItalic r:id="rId80"/>
    </p:embeddedFont>
    <p:embeddedFont>
      <p:font typeface="DengXian" panose="02010600030101010101" pitchFamily="2" charset="-122"/>
      <p:regular r:id="rId81"/>
      <p:bold r:id="rId82"/>
    </p:embeddedFont>
    <p:embeddedFont>
      <p:font typeface="open sans" panose="020B0606030504020204" pitchFamily="34" charset="0"/>
      <p:regular r:id="rId83"/>
      <p:bold r:id="rId84"/>
      <p:italic r:id="rId85"/>
      <p:boldItalic r:id="rId86"/>
    </p:embeddedFont>
    <p:embeddedFont>
      <p:font typeface="open sans" panose="020B0606030504020204" pitchFamily="34" charset="0"/>
      <p:regular r:id="rId83"/>
      <p:bold r:id="rId84"/>
      <p:italic r:id="rId85"/>
      <p:boldItalic r:id="rId86"/>
    </p:embeddedFont>
  </p:embeddedFontLst>
  <p:defaultTextStyle>
    <a:defPPr>
      <a:defRPr lang="de-DE"/>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1457" userDrawn="1">
          <p15:clr>
            <a:srgbClr val="A4A3A4"/>
          </p15:clr>
        </p15:guide>
        <p15:guide id="2" orient="horz" pos="4084">
          <p15:clr>
            <a:srgbClr val="A4A3A4"/>
          </p15:clr>
        </p15:guide>
        <p15:guide id="3" orient="horz" pos="1275" userDrawn="1">
          <p15:clr>
            <a:srgbClr val="A4A3A4"/>
          </p15:clr>
        </p15:guide>
        <p15:guide id="4" pos="226" userDrawn="1">
          <p15:clr>
            <a:srgbClr val="A4A3A4"/>
          </p15:clr>
        </p15:guide>
        <p15:guide id="5" pos="5538">
          <p15:clr>
            <a:srgbClr val="A4A3A4"/>
          </p15:clr>
        </p15:guide>
      </p15:sldGuideLst>
    </p:ext>
    <p:ext uri="{2D200454-40CA-4A62-9FC3-DE9A4176ACB9}">
      <p15:notesGuideLst xmlns:p15="http://schemas.microsoft.com/office/powerpoint/2012/main">
        <p15:guide id="1" orient="horz" pos="3130">
          <p15:clr>
            <a:srgbClr val="A4A3A4"/>
          </p15:clr>
        </p15:guide>
        <p15:guide id="2" pos="2149">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E0FD062-8BEC-302F-BA72-90A591E3B91D}" name="Wenjia Xu" initials="WX" userId="S::sibxu01@cloud.uni-tuebingen.de::c07d3461-3929-4998-8a97-71a1aa75a371" providerId="AD"/>
  <p188:author id="{6300F78A-F4C3-CAA7-143F-7374A56F2A1E}" name="Wenjia Xu" initials="WX" userId="S::w.xu@iwm-tuebingen.de::e05fd576-457a-4718-9383-db671d555440" providerId="AD"/>
  <p188:author id="{2C585C98-11CD-7631-F4F5-81D6583A1683}" name="Frank Papenmeier" initials="FP" userId="S::f.papenmeier@iwm-tuebingen.de::f88b230f-75f0-41ae-a451-ab2526682d78"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66"/>
    <a:srgbClr val="000000"/>
    <a:srgbClr val="808080"/>
    <a:srgbClr val="A51E37"/>
    <a:srgbClr val="B2B2B2"/>
    <a:srgbClr val="5F5F5F"/>
    <a:srgbClr val="CBCBCB"/>
    <a:srgbClr val="32414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3AF83D8-1DE3-4D95-AFC5-E5C9E2736301}" v="2" dt="2025-04-07T18:16:54.321"/>
  </p1510:revLst>
</p1510:revInfo>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ittlere Formatvorlage 2 - Akz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ittlere Formatvorlage 2 - Akz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ittlere Formatvorlage 2 - Akz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1E4AEA4-8DFA-4A89-87EB-49C32662AFE0}" styleName="Mittlere Formatvorlage 2 - Akz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ittlere Formatvorlag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Keine Formatvorlage, kein Gitternetz">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C7853C-536D-4A76-A0AE-DD22124D55A5}" styleName="Designformatvorlage 1 - Akz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2833802-FEF1-4C79-8D5D-14CF1EAF98D9}" styleName="Helle Formatvorlage 2 - Akz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0E3FDE45-AF77-4B5C-9715-49D594BDF05E}" styleName="Helle Formatvorlage 1 - Akz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00A15C55-8517-42AA-B614-E9B94910E393}" styleName="Mittlere Formatvorlage 2 - Akz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5FD0F851-EC5A-4D38-B0AD-8093EC10F338}" styleName="Helle Formatvorlage 1 - Akz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46F890A9-2807-4EBB-B81D-B2AA78EC7F39}" styleName="Dunkle Formatvorlage 2 - Akzent 5/Akz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22838BEF-8BB2-4498-84A7-C5851F593DF1}" styleName="Mittlere Formatvorlage 4 - Akz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69CF1AB2-1976-4502-BF36-3FF5EA218861}" styleName="Mittlere Formatvorlage 4 - Akz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366" autoAdjust="0"/>
    <p:restoredTop sz="85161" autoAdjust="0"/>
  </p:normalViewPr>
  <p:slideViewPr>
    <p:cSldViewPr snapToGrid="0">
      <p:cViewPr varScale="1">
        <p:scale>
          <a:sx n="71" d="100"/>
          <a:sy n="71" d="100"/>
        </p:scale>
        <p:origin x="1570" y="53"/>
      </p:cViewPr>
      <p:guideLst>
        <p:guide orient="horz" pos="1457"/>
        <p:guide orient="horz" pos="4084"/>
        <p:guide orient="horz" pos="1275"/>
        <p:guide pos="226"/>
        <p:guide pos="5538"/>
      </p:guideLst>
    </p:cSldViewPr>
  </p:slideViewPr>
  <p:outlineViewPr>
    <p:cViewPr>
      <p:scale>
        <a:sx n="33" d="100"/>
        <a:sy n="33" d="100"/>
      </p:scale>
      <p:origin x="0" y="0"/>
    </p:cViewPr>
  </p:outlineViewPr>
  <p:notesTextViewPr>
    <p:cViewPr>
      <p:scale>
        <a:sx n="125" d="100"/>
        <a:sy n="125" d="100"/>
      </p:scale>
      <p:origin x="0" y="0"/>
    </p:cViewPr>
  </p:notesTextViewPr>
  <p:sorterViewPr>
    <p:cViewPr>
      <p:scale>
        <a:sx n="100" d="100"/>
        <a:sy n="100" d="100"/>
      </p:scale>
      <p:origin x="0" y="0"/>
    </p:cViewPr>
  </p:sorterViewPr>
  <p:notesViewPr>
    <p:cSldViewPr snapToGrid="0">
      <p:cViewPr varScale="1">
        <p:scale>
          <a:sx n="90" d="100"/>
          <a:sy n="90" d="100"/>
        </p:scale>
        <p:origin x="-3708" y="-108"/>
      </p:cViewPr>
      <p:guideLst>
        <p:guide orient="horz" pos="3130"/>
        <p:guide pos="2149"/>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slide" Target="slides/slide45.xml"/><Relationship Id="rId55" Type="http://schemas.openxmlformats.org/officeDocument/2006/relationships/slide" Target="slides/slide50.xml"/><Relationship Id="rId63" Type="http://schemas.openxmlformats.org/officeDocument/2006/relationships/slide" Target="slides/slide58.xml"/><Relationship Id="rId68" Type="http://schemas.openxmlformats.org/officeDocument/2006/relationships/slide" Target="slides/slide63.xml"/><Relationship Id="rId76" Type="http://schemas.openxmlformats.org/officeDocument/2006/relationships/font" Target="fonts/font2.fntdata"/><Relationship Id="rId84" Type="http://schemas.openxmlformats.org/officeDocument/2006/relationships/font" Target="fonts/font10.fntdata"/><Relationship Id="rId89" Type="http://schemas.openxmlformats.org/officeDocument/2006/relationships/theme" Target="theme/theme1.xml"/><Relationship Id="rId7" Type="http://schemas.openxmlformats.org/officeDocument/2006/relationships/slide" Target="slides/slide2.xml"/><Relationship Id="rId71" Type="http://schemas.openxmlformats.org/officeDocument/2006/relationships/slide" Target="slides/slide66.xml"/><Relationship Id="rId92"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slide" Target="slides/slide53.xml"/><Relationship Id="rId66" Type="http://schemas.openxmlformats.org/officeDocument/2006/relationships/slide" Target="slides/slide61.xml"/><Relationship Id="rId74" Type="http://schemas.openxmlformats.org/officeDocument/2006/relationships/handoutMaster" Target="handoutMasters/handoutMaster1.xml"/><Relationship Id="rId79" Type="http://schemas.openxmlformats.org/officeDocument/2006/relationships/font" Target="fonts/font5.fntdata"/><Relationship Id="rId87" Type="http://schemas.openxmlformats.org/officeDocument/2006/relationships/presProps" Target="presProps.xml"/><Relationship Id="rId5" Type="http://schemas.openxmlformats.org/officeDocument/2006/relationships/slideMaster" Target="slideMasters/slideMaster2.xml"/><Relationship Id="rId61" Type="http://schemas.openxmlformats.org/officeDocument/2006/relationships/slide" Target="slides/slide56.xml"/><Relationship Id="rId82" Type="http://schemas.openxmlformats.org/officeDocument/2006/relationships/font" Target="fonts/font8.fntdata"/><Relationship Id="rId90" Type="http://schemas.openxmlformats.org/officeDocument/2006/relationships/tableStyles" Target="tableStyles.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slide" Target="slides/slide59.xml"/><Relationship Id="rId69" Type="http://schemas.openxmlformats.org/officeDocument/2006/relationships/slide" Target="slides/slide64.xml"/><Relationship Id="rId77" Type="http://schemas.openxmlformats.org/officeDocument/2006/relationships/font" Target="fonts/font3.fntdata"/><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slide" Target="slides/slide67.xml"/><Relationship Id="rId80" Type="http://schemas.openxmlformats.org/officeDocument/2006/relationships/font" Target="fonts/font6.fntdata"/><Relationship Id="rId85" Type="http://schemas.openxmlformats.org/officeDocument/2006/relationships/font" Target="fonts/font11.fntdata"/><Relationship Id="rId93" Type="http://schemas.microsoft.com/office/2018/10/relationships/authors" Target="authors.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slide" Target="slides/slide62.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70" Type="http://schemas.openxmlformats.org/officeDocument/2006/relationships/slide" Target="slides/slide65.xml"/><Relationship Id="rId75" Type="http://schemas.openxmlformats.org/officeDocument/2006/relationships/font" Target="fonts/font1.fntdata"/><Relationship Id="rId83" Type="http://schemas.openxmlformats.org/officeDocument/2006/relationships/font" Target="fonts/font9.fntdata"/><Relationship Id="rId88" Type="http://schemas.openxmlformats.org/officeDocument/2006/relationships/viewProps" Target="viewProps.xml"/><Relationship Id="rId91"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slide" Target="slides/slide60.xml"/><Relationship Id="rId73" Type="http://schemas.openxmlformats.org/officeDocument/2006/relationships/notesMaster" Target="notesMasters/notesMaster1.xml"/><Relationship Id="rId78" Type="http://schemas.openxmlformats.org/officeDocument/2006/relationships/font" Target="fonts/font4.fntdata"/><Relationship Id="rId81" Type="http://schemas.openxmlformats.org/officeDocument/2006/relationships/font" Target="fonts/font7.fntdata"/><Relationship Id="rId86" Type="http://schemas.openxmlformats.org/officeDocument/2006/relationships/font" Target="fonts/font12.fntdata"/><Relationship Id="rId4" Type="http://schemas.openxmlformats.org/officeDocument/2006/relationships/slideMaster" Target="slideMasters/slideMaster1.xml"/><Relationship Id="rId9"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enjia Xu" userId="c07d3461-3929-4998-8a97-71a1aa75a371" providerId="ADAL" clId="{B3AF83D8-1DE3-4D95-AFC5-E5C9E2736301}"/>
    <pc:docChg chg="undo custSel modSld">
      <pc:chgData name="Wenjia Xu" userId="c07d3461-3929-4998-8a97-71a1aa75a371" providerId="ADAL" clId="{B3AF83D8-1DE3-4D95-AFC5-E5C9E2736301}" dt="2025-04-07T18:22:38.954" v="183" actId="20577"/>
      <pc:docMkLst>
        <pc:docMk/>
      </pc:docMkLst>
      <pc:sldChg chg="modSp mod">
        <pc:chgData name="Wenjia Xu" userId="c07d3461-3929-4998-8a97-71a1aa75a371" providerId="ADAL" clId="{B3AF83D8-1DE3-4D95-AFC5-E5C9E2736301}" dt="2025-04-07T18:22:38.954" v="183" actId="20577"/>
        <pc:sldMkLst>
          <pc:docMk/>
          <pc:sldMk cId="1231873292" sldId="780"/>
        </pc:sldMkLst>
        <pc:spChg chg="mod">
          <ac:chgData name="Wenjia Xu" userId="c07d3461-3929-4998-8a97-71a1aa75a371" providerId="ADAL" clId="{B3AF83D8-1DE3-4D95-AFC5-E5C9E2736301}" dt="2025-04-07T18:22:38.954" v="183" actId="20577"/>
          <ac:spMkLst>
            <pc:docMk/>
            <pc:sldMk cId="1231873292" sldId="780"/>
            <ac:spMk id="2" creationId="{00000000-0000-0000-0000-000000000000}"/>
          </ac:spMkLst>
        </pc:spChg>
      </pc:sldChg>
      <pc:sldChg chg="addSp modSp mod">
        <pc:chgData name="Wenjia Xu" userId="c07d3461-3929-4998-8a97-71a1aa75a371" providerId="ADAL" clId="{B3AF83D8-1DE3-4D95-AFC5-E5C9E2736301}" dt="2025-04-07T18:20:04.277" v="135" actId="1076"/>
        <pc:sldMkLst>
          <pc:docMk/>
          <pc:sldMk cId="780653989" sldId="874"/>
        </pc:sldMkLst>
        <pc:spChg chg="add mod">
          <ac:chgData name="Wenjia Xu" userId="c07d3461-3929-4998-8a97-71a1aa75a371" providerId="ADAL" clId="{B3AF83D8-1DE3-4D95-AFC5-E5C9E2736301}" dt="2025-04-07T18:18:56.186" v="125"/>
          <ac:spMkLst>
            <pc:docMk/>
            <pc:sldMk cId="780653989" sldId="874"/>
            <ac:spMk id="2" creationId="{183B49EA-0E61-DE22-C665-9BF6EE5E1132}"/>
          </ac:spMkLst>
        </pc:spChg>
        <pc:spChg chg="mod">
          <ac:chgData name="Wenjia Xu" userId="c07d3461-3929-4998-8a97-71a1aa75a371" providerId="ADAL" clId="{B3AF83D8-1DE3-4D95-AFC5-E5C9E2736301}" dt="2025-04-07T18:16:40.746" v="107" actId="1076"/>
          <ac:spMkLst>
            <pc:docMk/>
            <pc:sldMk cId="780653989" sldId="874"/>
            <ac:spMk id="4" creationId="{C1141C5A-EC6C-71E1-B6BE-D5306C0731B3}"/>
          </ac:spMkLst>
        </pc:spChg>
        <pc:spChg chg="add mod">
          <ac:chgData name="Wenjia Xu" userId="c07d3461-3929-4998-8a97-71a1aa75a371" providerId="ADAL" clId="{B3AF83D8-1DE3-4D95-AFC5-E5C9E2736301}" dt="2025-04-07T18:19:28.950" v="131" actId="20577"/>
          <ac:spMkLst>
            <pc:docMk/>
            <pc:sldMk cId="780653989" sldId="874"/>
            <ac:spMk id="5" creationId="{00EED875-4CD6-DAC0-AA8E-41627A05A0A2}"/>
          </ac:spMkLst>
        </pc:spChg>
        <pc:picChg chg="add mod">
          <ac:chgData name="Wenjia Xu" userId="c07d3461-3929-4998-8a97-71a1aa75a371" providerId="ADAL" clId="{B3AF83D8-1DE3-4D95-AFC5-E5C9E2736301}" dt="2025-04-07T18:19:00.727" v="126" actId="1076"/>
          <ac:picMkLst>
            <pc:docMk/>
            <pc:sldMk cId="780653989" sldId="874"/>
            <ac:picMk id="7" creationId="{36812E2E-FCFC-6DB2-2F79-CA8F5FA6C930}"/>
          </ac:picMkLst>
        </pc:picChg>
        <pc:picChg chg="add mod">
          <ac:chgData name="Wenjia Xu" userId="c07d3461-3929-4998-8a97-71a1aa75a371" providerId="ADAL" clId="{B3AF83D8-1DE3-4D95-AFC5-E5C9E2736301}" dt="2025-04-07T18:20:04.277" v="135" actId="1076"/>
          <ac:picMkLst>
            <pc:docMk/>
            <pc:sldMk cId="780653989" sldId="874"/>
            <ac:picMk id="9" creationId="{8A115C81-D169-3DC0-C8EA-9543807C0B64}"/>
          </ac:picMkLst>
        </pc:picChg>
      </pc:sldChg>
    </pc:docChg>
  </pc:docChgLst>
  <pc:docChgLst>
    <pc:chgData name="Wenjia Xu" userId="e05fd576-457a-4718-9383-db671d555440" providerId="ADAL" clId="{C1298CCC-DD36-4996-A9F3-C3BF42F93C06}"/>
    <pc:docChg chg="undo custSel addSld delSld modSld">
      <pc:chgData name="Wenjia Xu" userId="e05fd576-457a-4718-9383-db671d555440" providerId="ADAL" clId="{C1298CCC-DD36-4996-A9F3-C3BF42F93C06}" dt="2025-03-24T15:33:38.668" v="98" actId="47"/>
      <pc:docMkLst>
        <pc:docMk/>
      </pc:docMkLst>
      <pc:sldChg chg="del">
        <pc:chgData name="Wenjia Xu" userId="e05fd576-457a-4718-9383-db671d555440" providerId="ADAL" clId="{C1298CCC-DD36-4996-A9F3-C3BF42F93C06}" dt="2025-03-24T15:27:48.260" v="55" actId="2696"/>
        <pc:sldMkLst>
          <pc:docMk/>
          <pc:sldMk cId="1043153053" sldId="840"/>
        </pc:sldMkLst>
      </pc:sldChg>
      <pc:sldChg chg="add">
        <pc:chgData name="Wenjia Xu" userId="e05fd576-457a-4718-9383-db671d555440" providerId="ADAL" clId="{C1298CCC-DD36-4996-A9F3-C3BF42F93C06}" dt="2025-03-24T15:27:58.056" v="56"/>
        <pc:sldMkLst>
          <pc:docMk/>
          <pc:sldMk cId="3336483854" sldId="840"/>
        </pc:sldMkLst>
      </pc:sldChg>
      <pc:sldChg chg="modSp mod">
        <pc:chgData name="Wenjia Xu" userId="e05fd576-457a-4718-9383-db671d555440" providerId="ADAL" clId="{C1298CCC-DD36-4996-A9F3-C3BF42F93C06}" dt="2025-03-24T15:24:12.866" v="25" actId="20577"/>
        <pc:sldMkLst>
          <pc:docMk/>
          <pc:sldMk cId="673373162" sldId="845"/>
        </pc:sldMkLst>
        <pc:spChg chg="mod">
          <ac:chgData name="Wenjia Xu" userId="e05fd576-457a-4718-9383-db671d555440" providerId="ADAL" clId="{C1298CCC-DD36-4996-A9F3-C3BF42F93C06}" dt="2025-03-24T15:24:12.866" v="25" actId="20577"/>
          <ac:spMkLst>
            <pc:docMk/>
            <pc:sldMk cId="673373162" sldId="845"/>
            <ac:spMk id="14" creationId="{2CFB6E2A-2103-E79F-4F76-AE9A984FA23F}"/>
          </ac:spMkLst>
        </pc:spChg>
      </pc:sldChg>
      <pc:sldChg chg="addSp modSp mod">
        <pc:chgData name="Wenjia Xu" userId="e05fd576-457a-4718-9383-db671d555440" providerId="ADAL" clId="{C1298CCC-DD36-4996-A9F3-C3BF42F93C06}" dt="2025-03-24T15:27:22.728" v="54" actId="1076"/>
        <pc:sldMkLst>
          <pc:docMk/>
          <pc:sldMk cId="1618756111" sldId="847"/>
        </pc:sldMkLst>
        <pc:spChg chg="mod">
          <ac:chgData name="Wenjia Xu" userId="e05fd576-457a-4718-9383-db671d555440" providerId="ADAL" clId="{C1298CCC-DD36-4996-A9F3-C3BF42F93C06}" dt="2025-03-24T15:25:28.895" v="36" actId="1076"/>
          <ac:spMkLst>
            <pc:docMk/>
            <pc:sldMk cId="1618756111" sldId="847"/>
            <ac:spMk id="2" creationId="{DAB076A7-D684-86B8-9471-F06064B43EE6}"/>
          </ac:spMkLst>
        </pc:spChg>
        <pc:spChg chg="add mod">
          <ac:chgData name="Wenjia Xu" userId="e05fd576-457a-4718-9383-db671d555440" providerId="ADAL" clId="{C1298CCC-DD36-4996-A9F3-C3BF42F93C06}" dt="2025-03-24T15:27:14.983" v="52" actId="1076"/>
          <ac:spMkLst>
            <pc:docMk/>
            <pc:sldMk cId="1618756111" sldId="847"/>
            <ac:spMk id="3" creationId="{D99ACF7F-1E1C-7C65-DDE4-F3B13AE6919C}"/>
          </ac:spMkLst>
        </pc:spChg>
        <pc:spChg chg="add mod">
          <ac:chgData name="Wenjia Xu" userId="e05fd576-457a-4718-9383-db671d555440" providerId="ADAL" clId="{C1298CCC-DD36-4996-A9F3-C3BF42F93C06}" dt="2025-03-24T15:26:25.753" v="45" actId="1076"/>
          <ac:spMkLst>
            <pc:docMk/>
            <pc:sldMk cId="1618756111" sldId="847"/>
            <ac:spMk id="6" creationId="{6ECE04C3-EAAC-EDED-E58C-5331D788E29E}"/>
          </ac:spMkLst>
        </pc:spChg>
        <pc:spChg chg="add mod">
          <ac:chgData name="Wenjia Xu" userId="e05fd576-457a-4718-9383-db671d555440" providerId="ADAL" clId="{C1298CCC-DD36-4996-A9F3-C3BF42F93C06}" dt="2025-03-24T15:27:19.104" v="53" actId="1076"/>
          <ac:spMkLst>
            <pc:docMk/>
            <pc:sldMk cId="1618756111" sldId="847"/>
            <ac:spMk id="7" creationId="{C10CC4A4-A378-0F2D-ABEB-FC4C7304C457}"/>
          </ac:spMkLst>
        </pc:spChg>
        <pc:spChg chg="add mod">
          <ac:chgData name="Wenjia Xu" userId="e05fd576-457a-4718-9383-db671d555440" providerId="ADAL" clId="{C1298CCC-DD36-4996-A9F3-C3BF42F93C06}" dt="2025-03-24T15:26:25.753" v="45" actId="1076"/>
          <ac:spMkLst>
            <pc:docMk/>
            <pc:sldMk cId="1618756111" sldId="847"/>
            <ac:spMk id="8" creationId="{187BC33E-E8E1-5A9C-086D-7004AAEB141E}"/>
          </ac:spMkLst>
        </pc:spChg>
        <pc:spChg chg="add mod">
          <ac:chgData name="Wenjia Xu" userId="e05fd576-457a-4718-9383-db671d555440" providerId="ADAL" clId="{C1298CCC-DD36-4996-A9F3-C3BF42F93C06}" dt="2025-03-24T15:27:22.728" v="54" actId="1076"/>
          <ac:spMkLst>
            <pc:docMk/>
            <pc:sldMk cId="1618756111" sldId="847"/>
            <ac:spMk id="9" creationId="{4F141095-FE6D-7C45-AD6F-B2091013F905}"/>
          </ac:spMkLst>
        </pc:spChg>
        <pc:spChg chg="add mod">
          <ac:chgData name="Wenjia Xu" userId="e05fd576-457a-4718-9383-db671d555440" providerId="ADAL" clId="{C1298CCC-DD36-4996-A9F3-C3BF42F93C06}" dt="2025-03-24T15:26:13.414" v="44" actId="1076"/>
          <ac:spMkLst>
            <pc:docMk/>
            <pc:sldMk cId="1618756111" sldId="847"/>
            <ac:spMk id="10" creationId="{269F3353-66B6-244E-262D-DDEE829513AD}"/>
          </ac:spMkLst>
        </pc:spChg>
        <pc:spChg chg="mod">
          <ac:chgData name="Wenjia Xu" userId="e05fd576-457a-4718-9383-db671d555440" providerId="ADAL" clId="{C1298CCC-DD36-4996-A9F3-C3BF42F93C06}" dt="2025-03-24T15:25:56.143" v="41" actId="1076"/>
          <ac:spMkLst>
            <pc:docMk/>
            <pc:sldMk cId="1618756111" sldId="847"/>
            <ac:spMk id="14" creationId="{568B99CD-ED3F-D54F-4C16-929A9285FE7C}"/>
          </ac:spMkLst>
        </pc:spChg>
        <pc:graphicFrameChg chg="mod modGraphic">
          <ac:chgData name="Wenjia Xu" userId="e05fd576-457a-4718-9383-db671d555440" providerId="ADAL" clId="{C1298CCC-DD36-4996-A9F3-C3BF42F93C06}" dt="2025-03-24T15:25:36.047" v="38" actId="1076"/>
          <ac:graphicFrameMkLst>
            <pc:docMk/>
            <pc:sldMk cId="1618756111" sldId="847"/>
            <ac:graphicFrameMk id="5" creationId="{51D1DB1C-573F-24CE-8653-C9D52A0B2FF3}"/>
          </ac:graphicFrameMkLst>
        </pc:graphicFrameChg>
        <pc:picChg chg="mod">
          <ac:chgData name="Wenjia Xu" userId="e05fd576-457a-4718-9383-db671d555440" providerId="ADAL" clId="{C1298CCC-DD36-4996-A9F3-C3BF42F93C06}" dt="2025-03-24T15:25:31.103" v="37" actId="1076"/>
          <ac:picMkLst>
            <pc:docMk/>
            <pc:sldMk cId="1618756111" sldId="847"/>
            <ac:picMk id="11" creationId="{853DCE4B-87FA-B8FE-0534-FE3E0E25A57C}"/>
          </ac:picMkLst>
        </pc:picChg>
      </pc:sldChg>
      <pc:sldChg chg="modSp mod">
        <pc:chgData name="Wenjia Xu" userId="e05fd576-457a-4718-9383-db671d555440" providerId="ADAL" clId="{C1298CCC-DD36-4996-A9F3-C3BF42F93C06}" dt="2025-03-24T15:28:56.008" v="57" actId="20577"/>
        <pc:sldMkLst>
          <pc:docMk/>
          <pc:sldMk cId="3087432390" sldId="848"/>
        </pc:sldMkLst>
        <pc:spChg chg="mod">
          <ac:chgData name="Wenjia Xu" userId="e05fd576-457a-4718-9383-db671d555440" providerId="ADAL" clId="{C1298CCC-DD36-4996-A9F3-C3BF42F93C06}" dt="2025-03-24T15:28:56.008" v="57" actId="20577"/>
          <ac:spMkLst>
            <pc:docMk/>
            <pc:sldMk cId="3087432390" sldId="848"/>
            <ac:spMk id="14" creationId="{5BE75BBA-2E86-8029-4494-224D0AF61818}"/>
          </ac:spMkLst>
        </pc:spChg>
      </pc:sldChg>
      <pc:sldChg chg="modSp mod">
        <pc:chgData name="Wenjia Xu" userId="e05fd576-457a-4718-9383-db671d555440" providerId="ADAL" clId="{C1298CCC-DD36-4996-A9F3-C3BF42F93C06}" dt="2025-03-24T15:29:00.816" v="58" actId="20577"/>
        <pc:sldMkLst>
          <pc:docMk/>
          <pc:sldMk cId="2909695538" sldId="849"/>
        </pc:sldMkLst>
        <pc:spChg chg="mod">
          <ac:chgData name="Wenjia Xu" userId="e05fd576-457a-4718-9383-db671d555440" providerId="ADAL" clId="{C1298CCC-DD36-4996-A9F3-C3BF42F93C06}" dt="2025-03-24T15:29:00.816" v="58" actId="20577"/>
          <ac:spMkLst>
            <pc:docMk/>
            <pc:sldMk cId="2909695538" sldId="849"/>
            <ac:spMk id="14" creationId="{776B791A-6FE9-4295-85D4-7E62E8F2901A}"/>
          </ac:spMkLst>
        </pc:spChg>
      </pc:sldChg>
      <pc:sldChg chg="modSp mod">
        <pc:chgData name="Wenjia Xu" userId="e05fd576-457a-4718-9383-db671d555440" providerId="ADAL" clId="{C1298CCC-DD36-4996-A9F3-C3BF42F93C06}" dt="2025-03-24T15:29:14.066" v="59" actId="20577"/>
        <pc:sldMkLst>
          <pc:docMk/>
          <pc:sldMk cId="962521839" sldId="850"/>
        </pc:sldMkLst>
        <pc:spChg chg="mod">
          <ac:chgData name="Wenjia Xu" userId="e05fd576-457a-4718-9383-db671d555440" providerId="ADAL" clId="{C1298CCC-DD36-4996-A9F3-C3BF42F93C06}" dt="2025-03-24T15:29:14.066" v="59" actId="20577"/>
          <ac:spMkLst>
            <pc:docMk/>
            <pc:sldMk cId="962521839" sldId="850"/>
            <ac:spMk id="14" creationId="{07249223-B1E1-473B-EFDE-04E8BE3AA666}"/>
          </ac:spMkLst>
        </pc:spChg>
      </pc:sldChg>
      <pc:sldChg chg="modSp mod">
        <pc:chgData name="Wenjia Xu" userId="e05fd576-457a-4718-9383-db671d555440" providerId="ADAL" clId="{C1298CCC-DD36-4996-A9F3-C3BF42F93C06}" dt="2025-03-24T15:29:17.248" v="60" actId="20577"/>
        <pc:sldMkLst>
          <pc:docMk/>
          <pc:sldMk cId="2288319953" sldId="851"/>
        </pc:sldMkLst>
        <pc:spChg chg="mod">
          <ac:chgData name="Wenjia Xu" userId="e05fd576-457a-4718-9383-db671d555440" providerId="ADAL" clId="{C1298CCC-DD36-4996-A9F3-C3BF42F93C06}" dt="2025-03-24T15:29:17.248" v="60" actId="20577"/>
          <ac:spMkLst>
            <pc:docMk/>
            <pc:sldMk cId="2288319953" sldId="851"/>
            <ac:spMk id="14" creationId="{6A701475-8A04-25A8-0A0C-9C428FF487CC}"/>
          </ac:spMkLst>
        </pc:spChg>
      </pc:sldChg>
      <pc:sldChg chg="modSp mod">
        <pc:chgData name="Wenjia Xu" userId="e05fd576-457a-4718-9383-db671d555440" providerId="ADAL" clId="{C1298CCC-DD36-4996-A9F3-C3BF42F93C06}" dt="2025-03-24T15:30:20.382" v="64" actId="20577"/>
        <pc:sldMkLst>
          <pc:docMk/>
          <pc:sldMk cId="92091875" sldId="855"/>
        </pc:sldMkLst>
        <pc:spChg chg="mod">
          <ac:chgData name="Wenjia Xu" userId="e05fd576-457a-4718-9383-db671d555440" providerId="ADAL" clId="{C1298CCC-DD36-4996-A9F3-C3BF42F93C06}" dt="2025-03-24T15:30:20.382" v="64" actId="20577"/>
          <ac:spMkLst>
            <pc:docMk/>
            <pc:sldMk cId="92091875" sldId="855"/>
            <ac:spMk id="14" creationId="{ED113A9B-D1FE-51BD-37CF-E524CE84A002}"/>
          </ac:spMkLst>
        </pc:spChg>
      </pc:sldChg>
      <pc:sldChg chg="addSp delSp modSp mod modNotesTx">
        <pc:chgData name="Wenjia Xu" userId="e05fd576-457a-4718-9383-db671d555440" providerId="ADAL" clId="{C1298CCC-DD36-4996-A9F3-C3BF42F93C06}" dt="2025-03-24T15:33:18.215" v="97" actId="20577"/>
        <pc:sldMkLst>
          <pc:docMk/>
          <pc:sldMk cId="4174095248" sldId="859"/>
        </pc:sldMkLst>
        <pc:spChg chg="mod">
          <ac:chgData name="Wenjia Xu" userId="e05fd576-457a-4718-9383-db671d555440" providerId="ADAL" clId="{C1298CCC-DD36-4996-A9F3-C3BF42F93C06}" dt="2025-03-24T15:33:01.841" v="92" actId="113"/>
          <ac:spMkLst>
            <pc:docMk/>
            <pc:sldMk cId="4174095248" sldId="859"/>
            <ac:spMk id="2" creationId="{02C59BDC-EABF-4405-639B-9DCBA52F1AAC}"/>
          </ac:spMkLst>
        </pc:spChg>
        <pc:spChg chg="mod">
          <ac:chgData name="Wenjia Xu" userId="e05fd576-457a-4718-9383-db671d555440" providerId="ADAL" clId="{C1298CCC-DD36-4996-A9F3-C3BF42F93C06}" dt="2025-03-24T15:32:38.576" v="83" actId="1076"/>
          <ac:spMkLst>
            <pc:docMk/>
            <pc:sldMk cId="4174095248" sldId="859"/>
            <ac:spMk id="4" creationId="{3A35D5C3-14F3-C0BE-B51F-6C7617F0DBDC}"/>
          </ac:spMkLst>
        </pc:spChg>
        <pc:spChg chg="add mod">
          <ac:chgData name="Wenjia Xu" userId="e05fd576-457a-4718-9383-db671d555440" providerId="ADAL" clId="{C1298CCC-DD36-4996-A9F3-C3BF42F93C06}" dt="2025-03-24T15:33:16.448" v="96" actId="13926"/>
          <ac:spMkLst>
            <pc:docMk/>
            <pc:sldMk cId="4174095248" sldId="859"/>
            <ac:spMk id="7" creationId="{CAA75030-0732-359D-409B-31E329BD97BF}"/>
          </ac:spMkLst>
        </pc:spChg>
        <pc:spChg chg="add mod">
          <ac:chgData name="Wenjia Xu" userId="e05fd576-457a-4718-9383-db671d555440" providerId="ADAL" clId="{C1298CCC-DD36-4996-A9F3-C3BF42F93C06}" dt="2025-03-24T15:31:58.520" v="75"/>
          <ac:spMkLst>
            <pc:docMk/>
            <pc:sldMk cId="4174095248" sldId="859"/>
            <ac:spMk id="9" creationId="{12AB2C90-5BCE-1A64-BA7D-DB2AD9904ED9}"/>
          </ac:spMkLst>
        </pc:spChg>
        <pc:spChg chg="add mod">
          <ac:chgData name="Wenjia Xu" userId="e05fd576-457a-4718-9383-db671d555440" providerId="ADAL" clId="{C1298CCC-DD36-4996-A9F3-C3BF42F93C06}" dt="2025-03-24T15:31:58.520" v="75"/>
          <ac:spMkLst>
            <pc:docMk/>
            <pc:sldMk cId="4174095248" sldId="859"/>
            <ac:spMk id="10" creationId="{E6360E8E-7D7F-344A-E8F3-1A5664AE84D7}"/>
          </ac:spMkLst>
        </pc:spChg>
        <pc:spChg chg="add mod">
          <ac:chgData name="Wenjia Xu" userId="e05fd576-457a-4718-9383-db671d555440" providerId="ADAL" clId="{C1298CCC-DD36-4996-A9F3-C3BF42F93C06}" dt="2025-03-24T15:33:18.215" v="97" actId="20577"/>
          <ac:spMkLst>
            <pc:docMk/>
            <pc:sldMk cId="4174095248" sldId="859"/>
            <ac:spMk id="14" creationId="{D62C6EC3-CCD5-A654-188B-D5A7AF0E1880}"/>
          </ac:spMkLst>
        </pc:spChg>
        <pc:spChg chg="mod">
          <ac:chgData name="Wenjia Xu" userId="e05fd576-457a-4718-9383-db671d555440" providerId="ADAL" clId="{C1298CCC-DD36-4996-A9F3-C3BF42F93C06}" dt="2025-03-24T15:32:46.568" v="86" actId="1076"/>
          <ac:spMkLst>
            <pc:docMk/>
            <pc:sldMk cId="4174095248" sldId="859"/>
            <ac:spMk id="15" creationId="{39BD720C-DAA7-85D4-16A8-5ABE4D795A7B}"/>
          </ac:spMkLst>
        </pc:spChg>
        <pc:spChg chg="mod">
          <ac:chgData name="Wenjia Xu" userId="e05fd576-457a-4718-9383-db671d555440" providerId="ADAL" clId="{C1298CCC-DD36-4996-A9F3-C3BF42F93C06}" dt="2025-03-24T15:32:54.888" v="89" actId="1076"/>
          <ac:spMkLst>
            <pc:docMk/>
            <pc:sldMk cId="4174095248" sldId="859"/>
            <ac:spMk id="16" creationId="{9EF9B101-61CF-596A-A84A-EBD537D8F8FD}"/>
          </ac:spMkLst>
        </pc:spChg>
        <pc:spChg chg="add mod">
          <ac:chgData name="Wenjia Xu" userId="e05fd576-457a-4718-9383-db671d555440" providerId="ADAL" clId="{C1298CCC-DD36-4996-A9F3-C3BF42F93C06}" dt="2025-03-24T15:31:58.520" v="75"/>
          <ac:spMkLst>
            <pc:docMk/>
            <pc:sldMk cId="4174095248" sldId="859"/>
            <ac:spMk id="17" creationId="{59188B7C-BBED-B8A1-6604-1ECA0AEFA907}"/>
          </ac:spMkLst>
        </pc:spChg>
        <pc:graphicFrameChg chg="add mod">
          <ac:chgData name="Wenjia Xu" userId="e05fd576-457a-4718-9383-db671d555440" providerId="ADAL" clId="{C1298CCC-DD36-4996-A9F3-C3BF42F93C06}" dt="2025-03-24T15:31:58.520" v="75"/>
          <ac:graphicFrameMkLst>
            <pc:docMk/>
            <pc:sldMk cId="4174095248" sldId="859"/>
            <ac:graphicFrameMk id="5" creationId="{5C2F3919-7A0B-9C4B-BC2E-AC836A148D06}"/>
          </ac:graphicFrameMkLst>
        </pc:graphicFrameChg>
        <pc:graphicFrameChg chg="add mod">
          <ac:chgData name="Wenjia Xu" userId="e05fd576-457a-4718-9383-db671d555440" providerId="ADAL" clId="{C1298CCC-DD36-4996-A9F3-C3BF42F93C06}" dt="2025-03-24T15:31:58.520" v="75"/>
          <ac:graphicFrameMkLst>
            <pc:docMk/>
            <pc:sldMk cId="4174095248" sldId="859"/>
            <ac:graphicFrameMk id="11" creationId="{14D0B42F-E635-4219-F323-CA95D7F86789}"/>
          </ac:graphicFrameMkLst>
        </pc:graphicFrameChg>
        <pc:picChg chg="add mod">
          <ac:chgData name="Wenjia Xu" userId="e05fd576-457a-4718-9383-db671d555440" providerId="ADAL" clId="{C1298CCC-DD36-4996-A9F3-C3BF42F93C06}" dt="2025-03-24T15:33:09.319" v="94" actId="1076"/>
          <ac:picMkLst>
            <pc:docMk/>
            <pc:sldMk cId="4174095248" sldId="859"/>
            <ac:picMk id="3" creationId="{A7B6A394-A872-2E2F-D400-7F9D04F68147}"/>
          </ac:picMkLst>
        </pc:picChg>
        <pc:picChg chg="mod">
          <ac:chgData name="Wenjia Xu" userId="e05fd576-457a-4718-9383-db671d555440" providerId="ADAL" clId="{C1298CCC-DD36-4996-A9F3-C3BF42F93C06}" dt="2025-03-24T15:33:06.630" v="93" actId="1076"/>
          <ac:picMkLst>
            <pc:docMk/>
            <pc:sldMk cId="4174095248" sldId="859"/>
            <ac:picMk id="6" creationId="{6DBC8035-CE15-57D1-C94E-6C7446FF2BAE}"/>
          </ac:picMkLst>
        </pc:picChg>
        <pc:picChg chg="mod">
          <ac:chgData name="Wenjia Xu" userId="e05fd576-457a-4718-9383-db671d555440" providerId="ADAL" clId="{C1298CCC-DD36-4996-A9F3-C3BF42F93C06}" dt="2025-03-24T15:32:43.991" v="85" actId="14100"/>
          <ac:picMkLst>
            <pc:docMk/>
            <pc:sldMk cId="4174095248" sldId="859"/>
            <ac:picMk id="12" creationId="{3CFC3F8F-9E1A-0301-BA29-D58A1B20855A}"/>
          </ac:picMkLst>
        </pc:picChg>
        <pc:picChg chg="mod">
          <ac:chgData name="Wenjia Xu" userId="e05fd576-457a-4718-9383-db671d555440" providerId="ADAL" clId="{C1298CCC-DD36-4996-A9F3-C3BF42F93C06}" dt="2025-03-24T15:32:51.768" v="88" actId="1076"/>
          <ac:picMkLst>
            <pc:docMk/>
            <pc:sldMk cId="4174095248" sldId="859"/>
            <ac:picMk id="13" creationId="{5EA548B0-969D-0C83-140E-2E4C428408F6}"/>
          </ac:picMkLst>
        </pc:picChg>
      </pc:sldChg>
      <pc:sldChg chg="addSp delSp modSp mod">
        <pc:chgData name="Wenjia Xu" userId="e05fd576-457a-4718-9383-db671d555440" providerId="ADAL" clId="{C1298CCC-DD36-4996-A9F3-C3BF42F93C06}" dt="2025-03-24T15:31:10.680" v="72" actId="478"/>
        <pc:sldMkLst>
          <pc:docMk/>
          <pc:sldMk cId="2042581959" sldId="860"/>
        </pc:sldMkLst>
        <pc:spChg chg="add mod">
          <ac:chgData name="Wenjia Xu" userId="e05fd576-457a-4718-9383-db671d555440" providerId="ADAL" clId="{C1298CCC-DD36-4996-A9F3-C3BF42F93C06}" dt="2025-03-24T15:31:08.120" v="71"/>
          <ac:spMkLst>
            <pc:docMk/>
            <pc:sldMk cId="2042581959" sldId="860"/>
            <ac:spMk id="3" creationId="{89CF7A0D-30A1-3CB9-F41A-2DA769C5119D}"/>
          </ac:spMkLst>
        </pc:spChg>
      </pc:sldChg>
      <pc:sldChg chg="del">
        <pc:chgData name="Wenjia Xu" userId="e05fd576-457a-4718-9383-db671d555440" providerId="ADAL" clId="{C1298CCC-DD36-4996-A9F3-C3BF42F93C06}" dt="2025-03-24T15:33:38.668" v="98" actId="47"/>
        <pc:sldMkLst>
          <pc:docMk/>
          <pc:sldMk cId="2715913851" sldId="864"/>
        </pc:sldMkLst>
      </pc:sldChg>
      <pc:sldChg chg="modSp mod">
        <pc:chgData name="Wenjia Xu" userId="e05fd576-457a-4718-9383-db671d555440" providerId="ADAL" clId="{C1298CCC-DD36-4996-A9F3-C3BF42F93C06}" dt="2025-03-24T15:29:20.055" v="61" actId="20577"/>
        <pc:sldMkLst>
          <pc:docMk/>
          <pc:sldMk cId="3098132270" sldId="878"/>
        </pc:sldMkLst>
        <pc:spChg chg="mod">
          <ac:chgData name="Wenjia Xu" userId="e05fd576-457a-4718-9383-db671d555440" providerId="ADAL" clId="{C1298CCC-DD36-4996-A9F3-C3BF42F93C06}" dt="2025-03-24T15:29:20.055" v="61" actId="20577"/>
          <ac:spMkLst>
            <pc:docMk/>
            <pc:sldMk cId="3098132270" sldId="878"/>
            <ac:spMk id="14" creationId="{615234E1-D227-02AC-6F88-FB01597E468D}"/>
          </ac:spMkLst>
        </pc:spChg>
      </pc:sldChg>
    </pc:docChg>
  </pc:docChgLst>
  <pc:docChgLst>
    <pc:chgData name="Frank Papenmeier" userId="f88b230f-75f0-41ae-a451-ab2526682d78" providerId="ADAL" clId="{D443076E-9ACF-45CF-BBE1-4FD10929E308}"/>
    <pc:docChg chg="custSel modSld">
      <pc:chgData name="Frank Papenmeier" userId="f88b230f-75f0-41ae-a451-ab2526682d78" providerId="ADAL" clId="{D443076E-9ACF-45CF-BBE1-4FD10929E308}" dt="2025-03-24T14:27:22.224" v="51" actId="1076"/>
      <pc:docMkLst>
        <pc:docMk/>
      </pc:docMkLst>
      <pc:sldChg chg="modSp mod">
        <pc:chgData name="Frank Papenmeier" userId="f88b230f-75f0-41ae-a451-ab2526682d78" providerId="ADAL" clId="{D443076E-9ACF-45CF-BBE1-4FD10929E308}" dt="2025-03-24T13:54:40.973" v="30" actId="13926"/>
        <pc:sldMkLst>
          <pc:docMk/>
          <pc:sldMk cId="1043153053" sldId="840"/>
        </pc:sldMkLst>
      </pc:sldChg>
      <pc:sldChg chg="modSp mod modCm">
        <pc:chgData name="Frank Papenmeier" userId="f88b230f-75f0-41ae-a451-ab2526682d78" providerId="ADAL" clId="{D443076E-9ACF-45CF-BBE1-4FD10929E308}" dt="2025-03-24T13:59:53.210" v="33" actId="6549"/>
        <pc:sldMkLst>
          <pc:docMk/>
          <pc:sldMk cId="550223193" sldId="854"/>
        </pc:sldMkLst>
        <pc:spChg chg="mod">
          <ac:chgData name="Frank Papenmeier" userId="f88b230f-75f0-41ae-a451-ab2526682d78" providerId="ADAL" clId="{D443076E-9ACF-45CF-BBE1-4FD10929E308}" dt="2025-03-24T13:59:53.210" v="33" actId="6549"/>
          <ac:spMkLst>
            <pc:docMk/>
            <pc:sldMk cId="550223193" sldId="854"/>
            <ac:spMk id="14" creationId="{56DDCA86-CB33-1A90-0660-F8DCC2670F9B}"/>
          </ac:spMkLst>
        </pc:spChg>
        <pc:extLst>
          <p:ext xmlns:p="http://schemas.openxmlformats.org/presentationml/2006/main" uri="{D6D511B9-2390-475A-947B-AFAB55BFBCF1}">
            <pc226:cmChg xmlns:pc226="http://schemas.microsoft.com/office/powerpoint/2022/06/main/command" chg="mod">
              <pc226:chgData name="Frank Papenmeier" userId="f88b230f-75f0-41ae-a451-ab2526682d78" providerId="ADAL" clId="{D443076E-9ACF-45CF-BBE1-4FD10929E308}" dt="2025-03-24T13:59:53.210" v="33" actId="6549"/>
              <pc2:cmMkLst xmlns:pc2="http://schemas.microsoft.com/office/powerpoint/2019/9/main/command">
                <pc:docMk/>
                <pc:sldMk cId="550223193" sldId="854"/>
                <pc2:cmMk id="{CF030929-344C-4962-B562-9E9FAA79E060}"/>
              </pc2:cmMkLst>
            </pc226:cmChg>
          </p:ext>
        </pc:extLst>
      </pc:sldChg>
      <pc:sldChg chg="modSp mod">
        <pc:chgData name="Frank Papenmeier" userId="f88b230f-75f0-41ae-a451-ab2526682d78" providerId="ADAL" clId="{D443076E-9ACF-45CF-BBE1-4FD10929E308}" dt="2025-03-24T14:11:53.860" v="36" actId="13926"/>
        <pc:sldMkLst>
          <pc:docMk/>
          <pc:sldMk cId="2715913851" sldId="864"/>
        </pc:sldMkLst>
      </pc:sldChg>
      <pc:sldChg chg="modSp mod">
        <pc:chgData name="Frank Papenmeier" userId="f88b230f-75f0-41ae-a451-ab2526682d78" providerId="ADAL" clId="{D443076E-9ACF-45CF-BBE1-4FD10929E308}" dt="2025-03-24T14:27:22.224" v="51" actId="1076"/>
        <pc:sldMkLst>
          <pc:docMk/>
          <pc:sldMk cId="2169264530" sldId="873"/>
        </pc:sldMkLst>
      </pc:sldChg>
    </pc:docChg>
  </pc:docChgLst>
</pc:chgInfo>
</file>

<file path=ppt/comments/modernComment_35B_F8CBA390.xml><?xml version="1.0" encoding="utf-8"?>
<p188:cmLst xmlns:a="http://schemas.openxmlformats.org/drawingml/2006/main" xmlns:r="http://schemas.openxmlformats.org/officeDocument/2006/relationships" xmlns:p188="http://schemas.microsoft.com/office/powerpoint/2018/8/main">
  <p188:cm id="{2A842B09-D26C-4C5E-932D-CD0478525219}" authorId="{2C585C98-11CD-7631-F4F5-81D6583A1683}" created="2025-03-24T14:05:57.599">
    <ac:deMkLst xmlns:ac="http://schemas.microsoft.com/office/drawing/2013/main/command">
      <pc:docMk xmlns:pc="http://schemas.microsoft.com/office/powerpoint/2013/main/command"/>
      <pc:sldMk xmlns:pc="http://schemas.microsoft.com/office/powerpoint/2013/main/command" cId="4174095248" sldId="859"/>
      <ac:picMk id="6" creationId="{6DBC8035-CE15-57D1-C94E-6C7446FF2BAE}"/>
    </ac:deMkLst>
    <p188:txBody>
      <a:bodyPr/>
      <a:lstStyle/>
      <a:p>
        <a:r>
          <a:rPr lang="de-DE"/>
          <a:t>Confusing that in the slides it says „biting orientation“ and „face-to-face“ vs. „face-to-tail“ but in R output it says „biting_position“ and „free-biting“ vs. „tail-biting“.</a:t>
        </a:r>
      </a:p>
    </p188:txBody>
  </p188:cm>
  <p188:cm id="{6AA2464A-7C44-48CA-8314-5BF9B326AF81}" authorId="{2C585C98-11CD-7631-F4F5-81D6583A1683}" status="resolved" created="2025-03-24T14:09:06.463" complete="100000">
    <ac:deMkLst xmlns:ac="http://schemas.microsoft.com/office/drawing/2013/main/command">
      <pc:docMk xmlns:pc="http://schemas.microsoft.com/office/powerpoint/2013/main/command"/>
      <pc:sldMk xmlns:pc="http://schemas.microsoft.com/office/powerpoint/2013/main/command" cId="4174095248" sldId="859"/>
      <ac:picMk id="8" creationId="{09EEF60C-8A63-AC04-F5D2-9A510C6A3DBA}"/>
    </ac:deMkLst>
    <p188:txBody>
      <a:bodyPr/>
      <a:lstStyle/>
      <a:p>
        <a:r>
          <a:rPr lang="de-DE"/>
          <a:t>remove</a:t>
        </a:r>
      </a:p>
    </p188:txBody>
  </p188:cm>
</p188:cmLst>
</file>

<file path=ppt/comments/modernComment_35C_79BF53C7.xml><?xml version="1.0" encoding="utf-8"?>
<p188:cmLst xmlns:a="http://schemas.openxmlformats.org/drawingml/2006/main" xmlns:r="http://schemas.openxmlformats.org/officeDocument/2006/relationships" xmlns:p188="http://schemas.microsoft.com/office/powerpoint/2018/8/main">
  <p188:cm id="{E20161A1-F60A-4F57-9115-EB0F6360ADE4}" authorId="{2C585C98-11CD-7631-F4F5-81D6583A1683}" status="resolved" created="2025-03-24T14:04:14.975" complete="100000">
    <ac:txMkLst xmlns:ac="http://schemas.microsoft.com/office/drawing/2013/main/command">
      <pc:docMk xmlns:pc="http://schemas.microsoft.com/office/powerpoint/2013/main/command"/>
      <pc:sldMk xmlns:pc="http://schemas.microsoft.com/office/powerpoint/2013/main/command" cId="2042581959" sldId="860"/>
      <ac:spMk id="11" creationId="{3FA3CBE5-DC7A-9D58-F131-FEA93C9709A0}"/>
      <ac:txMk cp="18" len="1">
        <ac:context len="41" hash="3253637965"/>
      </ac:txMk>
    </ac:txMkLst>
    <p188:txBody>
      <a:bodyPr/>
      <a:lstStyle/>
      <a:p>
        <a:r>
          <a:rPr lang="de-DE"/>
          <a:t>Alternative to &lt;</a:t>
        </a:r>
      </a:p>
    </p188:txBody>
  </p188:cm>
</p188:cmLst>
</file>

<file path=ppt/comments/modernComment_356_20CBBD59.xml><?xml version="1.0" encoding="utf-8"?>
<p188:cmLst xmlns:a="http://schemas.openxmlformats.org/drawingml/2006/main" xmlns:r="http://schemas.openxmlformats.org/officeDocument/2006/relationships" xmlns:p188="http://schemas.microsoft.com/office/powerpoint/2018/8/main">
  <p188:cm id="{CF030929-344C-4962-B562-9E9FAA79E060}" authorId="{2C585C98-11CD-7631-F4F5-81D6583A1683}" status="resolved" created="2025-03-24T13:59:45.402" complete="100000">
    <ac:txMkLst xmlns:ac="http://schemas.microsoft.com/office/drawing/2013/main/command">
      <pc:docMk xmlns:pc="http://schemas.microsoft.com/office/powerpoint/2013/main/command"/>
      <pc:sldMk xmlns:pc="http://schemas.microsoft.com/office/powerpoint/2013/main/command" cId="550223193" sldId="854"/>
      <ac:spMk id="14" creationId="{56DDCA86-CB33-1A90-0660-F8DCC2670F9B}"/>
      <ac:txMk cp="20" len="3">
        <ac:context len="24" hash="827854975"/>
      </ac:txMk>
    </ac:txMkLst>
    <p188:pos x="2332015" y="180090"/>
    <p188:txBody>
      <a:bodyPr/>
      <a:lstStyle/>
      <a:p>
        <a:r>
          <a:rPr lang="de-DE"/>
          <a:t>Never &lt; .000</a:t>
        </a:r>
      </a:p>
    </p188:txBody>
    <p188:extLst>
      <p:ext xmlns:p="http://schemas.openxmlformats.org/presentationml/2006/main" uri="{57CB4572-C831-44C2-8A1C-0ADB6CCDFE69}">
        <p223:reactions xmlns:p223="http://schemas.microsoft.com/office/powerpoint/2022/03/main">
          <p223:rxn type="👍">
            <p223:instance time="2025-03-24T15:29:29.146" authorId="{6300F78A-F4C3-CAA7-143F-7374A56F2A1E}"/>
          </p223:rxn>
        </p223:reactions>
      </p:ext>
    </p188:extLst>
  </p188:cm>
</p188:cmLst>
</file>

<file path=ppt/diagrams/colors1.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53AECE4-E78E-4742-AE32-0BFB2519AED8}" type="doc">
      <dgm:prSet loTypeId="urn:microsoft.com/office/officeart/2005/8/layout/process2" loCatId="process" qsTypeId="urn:microsoft.com/office/officeart/2005/8/quickstyle/simple1" qsCatId="simple" csTypeId="urn:microsoft.com/office/officeart/2005/8/colors/accent0_1" csCatId="mainScheme" phldr="1"/>
      <dgm:spPr/>
      <dgm:t>
        <a:bodyPr/>
        <a:lstStyle/>
        <a:p>
          <a:endParaRPr lang="en-US"/>
        </a:p>
      </dgm:t>
    </dgm:pt>
    <dgm:pt modelId="{46A07834-68FF-4B41-B574-3E69870941C8}">
      <dgm:prSet phldrT="[Text]"/>
      <dgm:spPr/>
      <dgm:t>
        <a:bodyPr/>
        <a:lstStyle/>
        <a:p>
          <a:r>
            <a:rPr lang="en-US" dirty="0"/>
            <a:t>Incoming Sensory Information</a:t>
          </a:r>
        </a:p>
      </dgm:t>
    </dgm:pt>
    <dgm:pt modelId="{C0AC15D0-B5C7-402F-9A23-597C6746B5F2}" type="parTrans" cxnId="{4C491826-71A1-409A-878D-D7812AC42E51}">
      <dgm:prSet/>
      <dgm:spPr/>
      <dgm:t>
        <a:bodyPr/>
        <a:lstStyle/>
        <a:p>
          <a:endParaRPr lang="en-US"/>
        </a:p>
      </dgm:t>
    </dgm:pt>
    <dgm:pt modelId="{4C6BF537-0E3F-45AC-89D4-D6536D9F68A5}" type="sibTrans" cxnId="{4C491826-71A1-409A-878D-D7812AC42E51}">
      <dgm:prSet/>
      <dgm:spPr/>
      <dgm:t>
        <a:bodyPr/>
        <a:lstStyle/>
        <a:p>
          <a:endParaRPr lang="en-US"/>
        </a:p>
      </dgm:t>
    </dgm:pt>
    <dgm:pt modelId="{21514FC9-A0B0-4529-81DB-715A5A9BAFF2}">
      <dgm:prSet phldrT="[Text]"/>
      <dgm:spPr/>
      <dgm:t>
        <a:bodyPr/>
        <a:lstStyle/>
        <a:p>
          <a:r>
            <a:rPr lang="en-US" dirty="0"/>
            <a:t>Event models</a:t>
          </a:r>
        </a:p>
      </dgm:t>
    </dgm:pt>
    <dgm:pt modelId="{7B310375-7366-4D2B-B59C-FF336E64344B}" type="parTrans" cxnId="{B17BD0C2-9479-4582-A8D2-237EC6D576B4}">
      <dgm:prSet/>
      <dgm:spPr/>
      <dgm:t>
        <a:bodyPr/>
        <a:lstStyle/>
        <a:p>
          <a:endParaRPr lang="en-US"/>
        </a:p>
      </dgm:t>
    </dgm:pt>
    <dgm:pt modelId="{969C0AD4-1140-4194-885F-A448AE3B6FB4}" type="sibTrans" cxnId="{B17BD0C2-9479-4582-A8D2-237EC6D576B4}">
      <dgm:prSet/>
      <dgm:spPr/>
      <dgm:t>
        <a:bodyPr/>
        <a:lstStyle/>
        <a:p>
          <a:endParaRPr lang="en-US"/>
        </a:p>
      </dgm:t>
    </dgm:pt>
    <dgm:pt modelId="{5A177C27-EEA6-45FF-A34E-6540B5CDEABF}">
      <dgm:prSet phldrT="[Text]"/>
      <dgm:spPr/>
      <dgm:t>
        <a:bodyPr/>
        <a:lstStyle/>
        <a:p>
          <a:r>
            <a:rPr lang="en-US" dirty="0"/>
            <a:t>Comprehend Daily Environment</a:t>
          </a:r>
        </a:p>
      </dgm:t>
    </dgm:pt>
    <dgm:pt modelId="{F24BFAAF-FFE8-4DE8-AD37-B88B872CB8E7}" type="parTrans" cxnId="{2797E8D5-AA7C-4ACC-A902-32EBD1ED8EF8}">
      <dgm:prSet/>
      <dgm:spPr/>
      <dgm:t>
        <a:bodyPr/>
        <a:lstStyle/>
        <a:p>
          <a:endParaRPr lang="en-US"/>
        </a:p>
      </dgm:t>
    </dgm:pt>
    <dgm:pt modelId="{C54F9740-56A3-4D25-8DF5-3EC133519F36}" type="sibTrans" cxnId="{2797E8D5-AA7C-4ACC-A902-32EBD1ED8EF8}">
      <dgm:prSet/>
      <dgm:spPr/>
      <dgm:t>
        <a:bodyPr/>
        <a:lstStyle/>
        <a:p>
          <a:endParaRPr lang="en-US"/>
        </a:p>
      </dgm:t>
    </dgm:pt>
    <dgm:pt modelId="{3903701A-EE10-4942-94F2-56F5171441CA}" type="pres">
      <dgm:prSet presAssocID="{D53AECE4-E78E-4742-AE32-0BFB2519AED8}" presName="linearFlow" presStyleCnt="0">
        <dgm:presLayoutVars>
          <dgm:resizeHandles val="exact"/>
        </dgm:presLayoutVars>
      </dgm:prSet>
      <dgm:spPr/>
    </dgm:pt>
    <dgm:pt modelId="{50EA830D-3F59-4D72-932C-751797D72FA2}" type="pres">
      <dgm:prSet presAssocID="{46A07834-68FF-4B41-B574-3E69870941C8}" presName="node" presStyleLbl="node1" presStyleIdx="0" presStyleCnt="3">
        <dgm:presLayoutVars>
          <dgm:bulletEnabled val="1"/>
        </dgm:presLayoutVars>
      </dgm:prSet>
      <dgm:spPr/>
    </dgm:pt>
    <dgm:pt modelId="{736D4EB1-FD83-4C6B-8F4D-0EEA955E4240}" type="pres">
      <dgm:prSet presAssocID="{4C6BF537-0E3F-45AC-89D4-D6536D9F68A5}" presName="sibTrans" presStyleLbl="sibTrans2D1" presStyleIdx="0" presStyleCnt="2"/>
      <dgm:spPr/>
    </dgm:pt>
    <dgm:pt modelId="{7DAE3530-E8F3-4404-B396-86D0BBF4AF6C}" type="pres">
      <dgm:prSet presAssocID="{4C6BF537-0E3F-45AC-89D4-D6536D9F68A5}" presName="connectorText" presStyleLbl="sibTrans2D1" presStyleIdx="0" presStyleCnt="2"/>
      <dgm:spPr/>
    </dgm:pt>
    <dgm:pt modelId="{6E294C6D-863E-4E8C-A541-CEF07B1CB6D5}" type="pres">
      <dgm:prSet presAssocID="{21514FC9-A0B0-4529-81DB-715A5A9BAFF2}" presName="node" presStyleLbl="node1" presStyleIdx="1" presStyleCnt="3">
        <dgm:presLayoutVars>
          <dgm:bulletEnabled val="1"/>
        </dgm:presLayoutVars>
      </dgm:prSet>
      <dgm:spPr/>
    </dgm:pt>
    <dgm:pt modelId="{E71A5071-C16F-414E-88DC-4D8C33B1B467}" type="pres">
      <dgm:prSet presAssocID="{969C0AD4-1140-4194-885F-A448AE3B6FB4}" presName="sibTrans" presStyleLbl="sibTrans2D1" presStyleIdx="1" presStyleCnt="2"/>
      <dgm:spPr/>
    </dgm:pt>
    <dgm:pt modelId="{6463E8C4-C71C-4FA9-BB30-51A37F3F2B41}" type="pres">
      <dgm:prSet presAssocID="{969C0AD4-1140-4194-885F-A448AE3B6FB4}" presName="connectorText" presStyleLbl="sibTrans2D1" presStyleIdx="1" presStyleCnt="2"/>
      <dgm:spPr/>
    </dgm:pt>
    <dgm:pt modelId="{CCF909EB-F627-4B2E-882B-3B4B960FA1D1}" type="pres">
      <dgm:prSet presAssocID="{5A177C27-EEA6-45FF-A34E-6540B5CDEABF}" presName="node" presStyleLbl="node1" presStyleIdx="2" presStyleCnt="3">
        <dgm:presLayoutVars>
          <dgm:bulletEnabled val="1"/>
        </dgm:presLayoutVars>
      </dgm:prSet>
      <dgm:spPr/>
    </dgm:pt>
  </dgm:ptLst>
  <dgm:cxnLst>
    <dgm:cxn modelId="{4C491826-71A1-409A-878D-D7812AC42E51}" srcId="{D53AECE4-E78E-4742-AE32-0BFB2519AED8}" destId="{46A07834-68FF-4B41-B574-3E69870941C8}" srcOrd="0" destOrd="0" parTransId="{C0AC15D0-B5C7-402F-9A23-597C6746B5F2}" sibTransId="{4C6BF537-0E3F-45AC-89D4-D6536D9F68A5}"/>
    <dgm:cxn modelId="{0D6A9747-49B6-4105-82C1-7079DEFBA64C}" type="presOf" srcId="{4C6BF537-0E3F-45AC-89D4-D6536D9F68A5}" destId="{736D4EB1-FD83-4C6B-8F4D-0EEA955E4240}" srcOrd="0" destOrd="0" presId="urn:microsoft.com/office/officeart/2005/8/layout/process2"/>
    <dgm:cxn modelId="{732E8A6B-0A23-42F3-A2A5-AD89207500C0}" type="presOf" srcId="{969C0AD4-1140-4194-885F-A448AE3B6FB4}" destId="{E71A5071-C16F-414E-88DC-4D8C33B1B467}" srcOrd="0" destOrd="0" presId="urn:microsoft.com/office/officeart/2005/8/layout/process2"/>
    <dgm:cxn modelId="{FE466250-B087-4F15-A3E2-42EEF6F90E29}" type="presOf" srcId="{21514FC9-A0B0-4529-81DB-715A5A9BAFF2}" destId="{6E294C6D-863E-4E8C-A541-CEF07B1CB6D5}" srcOrd="0" destOrd="0" presId="urn:microsoft.com/office/officeart/2005/8/layout/process2"/>
    <dgm:cxn modelId="{463BE671-C9B3-4659-8984-4E1C68006A5B}" type="presOf" srcId="{D53AECE4-E78E-4742-AE32-0BFB2519AED8}" destId="{3903701A-EE10-4942-94F2-56F5171441CA}" srcOrd="0" destOrd="0" presId="urn:microsoft.com/office/officeart/2005/8/layout/process2"/>
    <dgm:cxn modelId="{ECD78E57-E0C7-449D-9CBE-08594CB2D0D4}" type="presOf" srcId="{4C6BF537-0E3F-45AC-89D4-D6536D9F68A5}" destId="{7DAE3530-E8F3-4404-B396-86D0BBF4AF6C}" srcOrd="1" destOrd="0" presId="urn:microsoft.com/office/officeart/2005/8/layout/process2"/>
    <dgm:cxn modelId="{2856FB7B-5CB4-4BD4-81F5-7F21C71C02F3}" type="presOf" srcId="{46A07834-68FF-4B41-B574-3E69870941C8}" destId="{50EA830D-3F59-4D72-932C-751797D72FA2}" srcOrd="0" destOrd="0" presId="urn:microsoft.com/office/officeart/2005/8/layout/process2"/>
    <dgm:cxn modelId="{6D0EEFB0-7E42-43D0-AED9-018AF88A80F7}" type="presOf" srcId="{969C0AD4-1140-4194-885F-A448AE3B6FB4}" destId="{6463E8C4-C71C-4FA9-BB30-51A37F3F2B41}" srcOrd="1" destOrd="0" presId="urn:microsoft.com/office/officeart/2005/8/layout/process2"/>
    <dgm:cxn modelId="{B17BD0C2-9479-4582-A8D2-237EC6D576B4}" srcId="{D53AECE4-E78E-4742-AE32-0BFB2519AED8}" destId="{21514FC9-A0B0-4529-81DB-715A5A9BAFF2}" srcOrd="1" destOrd="0" parTransId="{7B310375-7366-4D2B-B59C-FF336E64344B}" sibTransId="{969C0AD4-1140-4194-885F-A448AE3B6FB4}"/>
    <dgm:cxn modelId="{2797E8D5-AA7C-4ACC-A902-32EBD1ED8EF8}" srcId="{D53AECE4-E78E-4742-AE32-0BFB2519AED8}" destId="{5A177C27-EEA6-45FF-A34E-6540B5CDEABF}" srcOrd="2" destOrd="0" parTransId="{F24BFAAF-FFE8-4DE8-AD37-B88B872CB8E7}" sibTransId="{C54F9740-56A3-4D25-8DF5-3EC133519F36}"/>
    <dgm:cxn modelId="{0224F9F8-CC5A-44B4-8258-6EC5D4DDD7CA}" type="presOf" srcId="{5A177C27-EEA6-45FF-A34E-6540B5CDEABF}" destId="{CCF909EB-F627-4B2E-882B-3B4B960FA1D1}" srcOrd="0" destOrd="0" presId="urn:microsoft.com/office/officeart/2005/8/layout/process2"/>
    <dgm:cxn modelId="{43B68FD4-815D-42D4-854D-FF2B0204CDC5}" type="presParOf" srcId="{3903701A-EE10-4942-94F2-56F5171441CA}" destId="{50EA830D-3F59-4D72-932C-751797D72FA2}" srcOrd="0" destOrd="0" presId="urn:microsoft.com/office/officeart/2005/8/layout/process2"/>
    <dgm:cxn modelId="{28AA5BDF-DEB8-4BDF-BE8F-035F9FE8807D}" type="presParOf" srcId="{3903701A-EE10-4942-94F2-56F5171441CA}" destId="{736D4EB1-FD83-4C6B-8F4D-0EEA955E4240}" srcOrd="1" destOrd="0" presId="urn:microsoft.com/office/officeart/2005/8/layout/process2"/>
    <dgm:cxn modelId="{C61838B9-6902-457B-AC31-DC42F5759E24}" type="presParOf" srcId="{736D4EB1-FD83-4C6B-8F4D-0EEA955E4240}" destId="{7DAE3530-E8F3-4404-B396-86D0BBF4AF6C}" srcOrd="0" destOrd="0" presId="urn:microsoft.com/office/officeart/2005/8/layout/process2"/>
    <dgm:cxn modelId="{1AFE2D40-DDE9-4632-AE78-F2225FF36699}" type="presParOf" srcId="{3903701A-EE10-4942-94F2-56F5171441CA}" destId="{6E294C6D-863E-4E8C-A541-CEF07B1CB6D5}" srcOrd="2" destOrd="0" presId="urn:microsoft.com/office/officeart/2005/8/layout/process2"/>
    <dgm:cxn modelId="{BEA048B5-CBFE-4F12-8340-973C11FDC82F}" type="presParOf" srcId="{3903701A-EE10-4942-94F2-56F5171441CA}" destId="{E71A5071-C16F-414E-88DC-4D8C33B1B467}" srcOrd="3" destOrd="0" presId="urn:microsoft.com/office/officeart/2005/8/layout/process2"/>
    <dgm:cxn modelId="{571306A5-FE83-414B-AA62-84C47DD66E0F}" type="presParOf" srcId="{E71A5071-C16F-414E-88DC-4D8C33B1B467}" destId="{6463E8C4-C71C-4FA9-BB30-51A37F3F2B41}" srcOrd="0" destOrd="0" presId="urn:microsoft.com/office/officeart/2005/8/layout/process2"/>
    <dgm:cxn modelId="{D6778AC5-C6D0-47D8-BA67-1DDE360627E9}" type="presParOf" srcId="{3903701A-EE10-4942-94F2-56F5171441CA}" destId="{CCF909EB-F627-4B2E-882B-3B4B960FA1D1}" srcOrd="4" destOrd="0" presId="urn:microsoft.com/office/officeart/2005/8/layout/process2"/>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2.xml><?xml version="1.0" encoding="utf-8"?>
<dgm:dataModel xmlns:dgm="http://schemas.openxmlformats.org/drawingml/2006/diagram" xmlns:a="http://schemas.openxmlformats.org/drawingml/2006/main">
  <dgm:ptLst>
    <dgm:pt modelId="{D4D7F120-6535-4ABB-A415-75E16A7892F0}" type="doc">
      <dgm:prSet loTypeId="urn:microsoft.com/office/officeart/2005/8/layout/process1" loCatId="process" qsTypeId="urn:microsoft.com/office/officeart/2005/8/quickstyle/simple1" qsCatId="simple" csTypeId="urn:microsoft.com/office/officeart/2005/8/colors/accent0_1" csCatId="mainScheme" phldr="1"/>
      <dgm:spPr/>
    </dgm:pt>
    <dgm:pt modelId="{F542092C-C5FE-46D6-BABA-92F444D7EA96}">
      <dgm:prSet phldrT="[Text]" custT="1"/>
      <dgm:spPr/>
      <dgm:t>
        <a:bodyPr/>
        <a:lstStyle/>
        <a:p>
          <a:r>
            <a:rPr lang="en-US" sz="1400" dirty="0">
              <a:solidFill>
                <a:srgbClr val="C00000"/>
              </a:solidFill>
            </a:rPr>
            <a:t>Event Roles</a:t>
          </a:r>
        </a:p>
      </dgm:t>
    </dgm:pt>
    <dgm:pt modelId="{65AEAE8D-A7A8-4AE2-8F5A-DD04A0FAE6DD}" type="parTrans" cxnId="{6AE2B4AD-5004-45EE-9104-857DF5533DD8}">
      <dgm:prSet/>
      <dgm:spPr/>
      <dgm:t>
        <a:bodyPr/>
        <a:lstStyle/>
        <a:p>
          <a:endParaRPr lang="en-US"/>
        </a:p>
      </dgm:t>
    </dgm:pt>
    <dgm:pt modelId="{FE9FC32E-B6B9-4072-AA7E-4203B5A3000B}" type="sibTrans" cxnId="{6AE2B4AD-5004-45EE-9104-857DF5533DD8}">
      <dgm:prSet/>
      <dgm:spPr/>
      <dgm:t>
        <a:bodyPr/>
        <a:lstStyle/>
        <a:p>
          <a:endParaRPr lang="en-US"/>
        </a:p>
      </dgm:t>
    </dgm:pt>
    <dgm:pt modelId="{6E75DE78-0C5B-498D-98BA-4F73CEB73436}">
      <dgm:prSet phldrT="[Text]" custT="1"/>
      <dgm:spPr/>
      <dgm:t>
        <a:bodyPr/>
        <a:lstStyle/>
        <a:p>
          <a:r>
            <a:rPr lang="en-US" sz="1400" dirty="0"/>
            <a:t>Agent and Patient</a:t>
          </a:r>
        </a:p>
      </dgm:t>
    </dgm:pt>
    <dgm:pt modelId="{C2EFA9FC-D3D4-4DB3-A87D-0EDE97EF6F55}" type="parTrans" cxnId="{1F765BB1-BE1B-4943-A953-BCB61BB42375}">
      <dgm:prSet/>
      <dgm:spPr/>
      <dgm:t>
        <a:bodyPr/>
        <a:lstStyle/>
        <a:p>
          <a:endParaRPr lang="en-US"/>
        </a:p>
      </dgm:t>
    </dgm:pt>
    <dgm:pt modelId="{7332AB85-87FF-48FA-8BAE-BDCBD1CB7023}" type="sibTrans" cxnId="{1F765BB1-BE1B-4943-A953-BCB61BB42375}">
      <dgm:prSet/>
      <dgm:spPr/>
      <dgm:t>
        <a:bodyPr/>
        <a:lstStyle/>
        <a:p>
          <a:endParaRPr lang="en-US"/>
        </a:p>
      </dgm:t>
    </dgm:pt>
    <dgm:pt modelId="{16DA86D4-0C62-4015-AF91-D2EAA6DFB6C2}" type="pres">
      <dgm:prSet presAssocID="{D4D7F120-6535-4ABB-A415-75E16A7892F0}" presName="Name0" presStyleCnt="0">
        <dgm:presLayoutVars>
          <dgm:dir/>
          <dgm:resizeHandles val="exact"/>
        </dgm:presLayoutVars>
      </dgm:prSet>
      <dgm:spPr/>
    </dgm:pt>
    <dgm:pt modelId="{C644D2B3-1443-4702-A22E-92AE34050D22}" type="pres">
      <dgm:prSet presAssocID="{F542092C-C5FE-46D6-BABA-92F444D7EA96}" presName="node" presStyleLbl="node1" presStyleIdx="0" presStyleCnt="2" custLinFactNeighborX="-15126" custLinFactNeighborY="2535">
        <dgm:presLayoutVars>
          <dgm:bulletEnabled val="1"/>
        </dgm:presLayoutVars>
      </dgm:prSet>
      <dgm:spPr/>
    </dgm:pt>
    <dgm:pt modelId="{BA59BB6F-F03A-427D-B5BB-AEFBC87A5F5D}" type="pres">
      <dgm:prSet presAssocID="{FE9FC32E-B6B9-4072-AA7E-4203B5A3000B}" presName="sibTrans" presStyleLbl="sibTrans2D1" presStyleIdx="0" presStyleCnt="1"/>
      <dgm:spPr/>
    </dgm:pt>
    <dgm:pt modelId="{A1D3EDBE-B418-42C8-8D68-A96EA0AF5FD3}" type="pres">
      <dgm:prSet presAssocID="{FE9FC32E-B6B9-4072-AA7E-4203B5A3000B}" presName="connectorText" presStyleLbl="sibTrans2D1" presStyleIdx="0" presStyleCnt="1"/>
      <dgm:spPr/>
    </dgm:pt>
    <dgm:pt modelId="{DB3A046E-3157-491E-9DAB-DDDC5AFE70ED}" type="pres">
      <dgm:prSet presAssocID="{6E75DE78-0C5B-498D-98BA-4F73CEB73436}" presName="node" presStyleLbl="node1" presStyleIdx="1" presStyleCnt="2">
        <dgm:presLayoutVars>
          <dgm:bulletEnabled val="1"/>
        </dgm:presLayoutVars>
      </dgm:prSet>
      <dgm:spPr/>
    </dgm:pt>
  </dgm:ptLst>
  <dgm:cxnLst>
    <dgm:cxn modelId="{1CC9BF04-12DB-4DE0-93E2-30C7BD0BCF22}" type="presOf" srcId="{D4D7F120-6535-4ABB-A415-75E16A7892F0}" destId="{16DA86D4-0C62-4015-AF91-D2EAA6DFB6C2}" srcOrd="0" destOrd="0" presId="urn:microsoft.com/office/officeart/2005/8/layout/process1"/>
    <dgm:cxn modelId="{64150919-3155-4820-B827-A18EC9646966}" type="presOf" srcId="{6E75DE78-0C5B-498D-98BA-4F73CEB73436}" destId="{DB3A046E-3157-491E-9DAB-DDDC5AFE70ED}" srcOrd="0" destOrd="0" presId="urn:microsoft.com/office/officeart/2005/8/layout/process1"/>
    <dgm:cxn modelId="{D1C38B70-7D1F-4175-9110-52B1ECEAE31B}" type="presOf" srcId="{FE9FC32E-B6B9-4072-AA7E-4203B5A3000B}" destId="{A1D3EDBE-B418-42C8-8D68-A96EA0AF5FD3}" srcOrd="1" destOrd="0" presId="urn:microsoft.com/office/officeart/2005/8/layout/process1"/>
    <dgm:cxn modelId="{7D23DB51-2036-431B-9904-C073289BB83D}" type="presOf" srcId="{FE9FC32E-B6B9-4072-AA7E-4203B5A3000B}" destId="{BA59BB6F-F03A-427D-B5BB-AEFBC87A5F5D}" srcOrd="0" destOrd="0" presId="urn:microsoft.com/office/officeart/2005/8/layout/process1"/>
    <dgm:cxn modelId="{6AE2B4AD-5004-45EE-9104-857DF5533DD8}" srcId="{D4D7F120-6535-4ABB-A415-75E16A7892F0}" destId="{F542092C-C5FE-46D6-BABA-92F444D7EA96}" srcOrd="0" destOrd="0" parTransId="{65AEAE8D-A7A8-4AE2-8F5A-DD04A0FAE6DD}" sibTransId="{FE9FC32E-B6B9-4072-AA7E-4203B5A3000B}"/>
    <dgm:cxn modelId="{1F765BB1-BE1B-4943-A953-BCB61BB42375}" srcId="{D4D7F120-6535-4ABB-A415-75E16A7892F0}" destId="{6E75DE78-0C5B-498D-98BA-4F73CEB73436}" srcOrd="1" destOrd="0" parTransId="{C2EFA9FC-D3D4-4DB3-A87D-0EDE97EF6F55}" sibTransId="{7332AB85-87FF-48FA-8BAE-BDCBD1CB7023}"/>
    <dgm:cxn modelId="{5AA50ACA-4326-4425-986D-38B02D551397}" type="presOf" srcId="{F542092C-C5FE-46D6-BABA-92F444D7EA96}" destId="{C644D2B3-1443-4702-A22E-92AE34050D22}" srcOrd="0" destOrd="0" presId="urn:microsoft.com/office/officeart/2005/8/layout/process1"/>
    <dgm:cxn modelId="{EDD9D6A7-2D8F-44FB-86E3-F53B8E7F7130}" type="presParOf" srcId="{16DA86D4-0C62-4015-AF91-D2EAA6DFB6C2}" destId="{C644D2B3-1443-4702-A22E-92AE34050D22}" srcOrd="0" destOrd="0" presId="urn:microsoft.com/office/officeart/2005/8/layout/process1"/>
    <dgm:cxn modelId="{88C18A15-C9EA-4D8C-94A0-D88A6AC95FBC}" type="presParOf" srcId="{16DA86D4-0C62-4015-AF91-D2EAA6DFB6C2}" destId="{BA59BB6F-F03A-427D-B5BB-AEFBC87A5F5D}" srcOrd="1" destOrd="0" presId="urn:microsoft.com/office/officeart/2005/8/layout/process1"/>
    <dgm:cxn modelId="{132BA495-94B7-4FB0-8B6C-EE0D7A0086E5}" type="presParOf" srcId="{BA59BB6F-F03A-427D-B5BB-AEFBC87A5F5D}" destId="{A1D3EDBE-B418-42C8-8D68-A96EA0AF5FD3}" srcOrd="0" destOrd="0" presId="urn:microsoft.com/office/officeart/2005/8/layout/process1"/>
    <dgm:cxn modelId="{898EF18F-B87E-4E83-8C56-38E3096BA8CB}" type="presParOf" srcId="{16DA86D4-0C62-4015-AF91-D2EAA6DFB6C2}" destId="{DB3A046E-3157-491E-9DAB-DDDC5AFE70ED}" srcOrd="2" destOrd="0" presId="urn:microsoft.com/office/officeart/2005/8/layout/process1"/>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1E75EF2-DF01-49C0-B777-807D85782205}" type="doc">
      <dgm:prSet loTypeId="urn:microsoft.com/office/officeart/2005/8/layout/hierarchy4" loCatId="hierarchy" qsTypeId="urn:microsoft.com/office/officeart/2005/8/quickstyle/simple1" qsCatId="simple" csTypeId="urn:microsoft.com/office/officeart/2005/8/colors/accent0_1" csCatId="mainScheme" phldr="1"/>
      <dgm:spPr/>
      <dgm:t>
        <a:bodyPr/>
        <a:lstStyle/>
        <a:p>
          <a:endParaRPr lang="en-US"/>
        </a:p>
      </dgm:t>
    </dgm:pt>
    <dgm:pt modelId="{9C0529E7-B3FD-4A2B-8E96-BE62F1BABACB}">
      <dgm:prSet phldrT="[Text]" custT="1"/>
      <dgm:spPr/>
      <dgm:t>
        <a:bodyPr/>
        <a:lstStyle/>
        <a:p>
          <a:r>
            <a:rPr lang="en-US" sz="1800" dirty="0"/>
            <a:t>Study 1</a:t>
          </a:r>
        </a:p>
      </dgm:t>
    </dgm:pt>
    <dgm:pt modelId="{1AEA38AB-AB07-4AD0-ADE8-DFB8C6F38D56}" type="parTrans" cxnId="{85CEED30-58BF-4448-BEA5-8211CD570B43}">
      <dgm:prSet/>
      <dgm:spPr/>
      <dgm:t>
        <a:bodyPr/>
        <a:lstStyle/>
        <a:p>
          <a:endParaRPr lang="en-US" sz="1800"/>
        </a:p>
      </dgm:t>
    </dgm:pt>
    <dgm:pt modelId="{8CDC154D-363F-4AC8-B690-38BB5CD0611C}" type="sibTrans" cxnId="{85CEED30-58BF-4448-BEA5-8211CD570B43}">
      <dgm:prSet/>
      <dgm:spPr/>
      <dgm:t>
        <a:bodyPr/>
        <a:lstStyle/>
        <a:p>
          <a:endParaRPr lang="en-US" sz="1800"/>
        </a:p>
      </dgm:t>
    </dgm:pt>
    <dgm:pt modelId="{82AA7F52-AA42-45AF-8EF8-9C75FE2CE84E}">
      <dgm:prSet phldrT="[Text]" custT="1"/>
      <dgm:spPr/>
      <dgm:t>
        <a:bodyPr/>
        <a:lstStyle/>
        <a:p>
          <a:r>
            <a:rPr lang="en-US" sz="1800" dirty="0"/>
            <a:t>Study 3</a:t>
          </a:r>
        </a:p>
      </dgm:t>
    </dgm:pt>
    <dgm:pt modelId="{8F1454C9-7BE6-4034-A85F-04BDA49FC00B}" type="parTrans" cxnId="{60117FEB-7480-4DBF-836F-AB1D5274D280}">
      <dgm:prSet/>
      <dgm:spPr/>
      <dgm:t>
        <a:bodyPr/>
        <a:lstStyle/>
        <a:p>
          <a:endParaRPr lang="en-US" sz="1800"/>
        </a:p>
      </dgm:t>
    </dgm:pt>
    <dgm:pt modelId="{28D38FFB-0B6F-4428-9815-757B4BD0C90E}" type="sibTrans" cxnId="{60117FEB-7480-4DBF-836F-AB1D5274D280}">
      <dgm:prSet/>
      <dgm:spPr/>
      <dgm:t>
        <a:bodyPr/>
        <a:lstStyle/>
        <a:p>
          <a:endParaRPr lang="en-US" sz="1800"/>
        </a:p>
      </dgm:t>
    </dgm:pt>
    <dgm:pt modelId="{AB1C6577-98C2-487D-B2BB-4EF1E3B8FEB1}">
      <dgm:prSet phldrT="[Text]" custT="1"/>
      <dgm:spPr/>
      <dgm:t>
        <a:bodyPr/>
        <a:lstStyle/>
        <a:p>
          <a:r>
            <a:rPr lang="en-US" sz="1800" dirty="0"/>
            <a:t>Study 2</a:t>
          </a:r>
        </a:p>
      </dgm:t>
    </dgm:pt>
    <dgm:pt modelId="{55500C5D-732E-491A-9D65-50EB54BE179A}" type="parTrans" cxnId="{AA8ABDAF-D3B8-4479-96BE-88DE08FEA43A}">
      <dgm:prSet/>
      <dgm:spPr/>
      <dgm:t>
        <a:bodyPr/>
        <a:lstStyle/>
        <a:p>
          <a:endParaRPr lang="en-US" sz="1800"/>
        </a:p>
      </dgm:t>
    </dgm:pt>
    <dgm:pt modelId="{161BDB53-420B-4081-984C-25C7EB4A11BC}" type="sibTrans" cxnId="{AA8ABDAF-D3B8-4479-96BE-88DE08FEA43A}">
      <dgm:prSet/>
      <dgm:spPr/>
      <dgm:t>
        <a:bodyPr/>
        <a:lstStyle/>
        <a:p>
          <a:endParaRPr lang="en-US" sz="1800"/>
        </a:p>
      </dgm:t>
    </dgm:pt>
    <dgm:pt modelId="{716FD96D-E877-4E59-A797-862DF35F3CB3}">
      <dgm:prSet phldrT="[Text]" custT="1"/>
      <dgm:spPr/>
      <dgm:t>
        <a:bodyPr/>
        <a:lstStyle/>
        <a:p>
          <a:r>
            <a:rPr lang="en-US" sz="1800" dirty="0"/>
            <a:t>Agent Advantage Effect </a:t>
          </a:r>
          <a:br>
            <a:rPr lang="en-US" sz="1800" dirty="0"/>
          </a:br>
          <a:r>
            <a:rPr lang="en-US" sz="1800" dirty="0"/>
            <a:t>in pictures</a:t>
          </a:r>
        </a:p>
      </dgm:t>
    </dgm:pt>
    <dgm:pt modelId="{90549982-E35B-4804-855E-7C2A4805E792}" type="parTrans" cxnId="{F177E138-F381-42D3-AE99-EABD9A4E7F8E}">
      <dgm:prSet/>
      <dgm:spPr/>
      <dgm:t>
        <a:bodyPr/>
        <a:lstStyle/>
        <a:p>
          <a:endParaRPr lang="en-US" sz="1800"/>
        </a:p>
      </dgm:t>
    </dgm:pt>
    <dgm:pt modelId="{3402A4FB-6921-4743-8987-76FD6EC14366}" type="sibTrans" cxnId="{F177E138-F381-42D3-AE99-EABD9A4E7F8E}">
      <dgm:prSet/>
      <dgm:spPr/>
      <dgm:t>
        <a:bodyPr/>
        <a:lstStyle/>
        <a:p>
          <a:endParaRPr lang="en-US" sz="1800"/>
        </a:p>
      </dgm:t>
    </dgm:pt>
    <dgm:pt modelId="{47A0635F-3D44-45AA-B699-5CA29B1EC10B}">
      <dgm:prSet phldrT="[Text]" custT="1"/>
      <dgm:spPr/>
      <dgm:t>
        <a:bodyPr/>
        <a:lstStyle/>
        <a:p>
          <a:r>
            <a:rPr lang="en-US" sz="1800" dirty="0"/>
            <a:t>Study the underlying process of the agent advantage effect</a:t>
          </a:r>
        </a:p>
      </dgm:t>
    </dgm:pt>
    <dgm:pt modelId="{7F84B65C-8197-45A6-991E-BF036184CEA0}" type="parTrans" cxnId="{9DDE4990-2785-4D8B-9FD5-9484DCFF6475}">
      <dgm:prSet/>
      <dgm:spPr/>
      <dgm:t>
        <a:bodyPr/>
        <a:lstStyle/>
        <a:p>
          <a:endParaRPr lang="en-US" sz="1800"/>
        </a:p>
      </dgm:t>
    </dgm:pt>
    <dgm:pt modelId="{0C3CD290-A25C-4BE9-BA21-17FE057C1B85}" type="sibTrans" cxnId="{9DDE4990-2785-4D8B-9FD5-9484DCFF6475}">
      <dgm:prSet/>
      <dgm:spPr/>
      <dgm:t>
        <a:bodyPr/>
        <a:lstStyle/>
        <a:p>
          <a:endParaRPr lang="en-US" sz="1800"/>
        </a:p>
      </dgm:t>
    </dgm:pt>
    <dgm:pt modelId="{A139445E-7CDA-43C7-87B8-4DCD08EE26B1}">
      <dgm:prSet phldrT="[Text]" custT="1"/>
      <dgm:spPr/>
      <dgm:t>
        <a:bodyPr/>
        <a:lstStyle/>
        <a:p>
          <a:r>
            <a:rPr lang="en-US" sz="1800" dirty="0"/>
            <a:t>Eye-tracking Study</a:t>
          </a:r>
        </a:p>
      </dgm:t>
    </dgm:pt>
    <dgm:pt modelId="{A915BADE-E07C-4B45-8B2B-60C880E27498}" type="parTrans" cxnId="{F421869A-AD74-4FF0-9D70-72BC1519AC8C}">
      <dgm:prSet/>
      <dgm:spPr/>
      <dgm:t>
        <a:bodyPr/>
        <a:lstStyle/>
        <a:p>
          <a:endParaRPr lang="en-US" sz="1800"/>
        </a:p>
      </dgm:t>
    </dgm:pt>
    <dgm:pt modelId="{232A56CC-9038-479F-ACB7-515166CB3FBC}" type="sibTrans" cxnId="{F421869A-AD74-4FF0-9D70-72BC1519AC8C}">
      <dgm:prSet/>
      <dgm:spPr/>
      <dgm:t>
        <a:bodyPr/>
        <a:lstStyle/>
        <a:p>
          <a:endParaRPr lang="en-US" sz="1800"/>
        </a:p>
      </dgm:t>
    </dgm:pt>
    <dgm:pt modelId="{2FC099A3-89BB-4565-974F-37A4BDDEFEC2}">
      <dgm:prSet phldrT="[Text]" custT="1"/>
      <dgm:spPr/>
      <dgm:t>
        <a:bodyPr/>
        <a:lstStyle/>
        <a:p>
          <a:r>
            <a:rPr lang="en-US" sz="1800" dirty="0"/>
            <a:t>Motion Line Study</a:t>
          </a:r>
        </a:p>
      </dgm:t>
    </dgm:pt>
    <dgm:pt modelId="{EF88FB06-FE03-4089-8505-6DC10CC4B716}" type="parTrans" cxnId="{0FC7C232-2AEA-4CA4-8A27-9283C9C34945}">
      <dgm:prSet/>
      <dgm:spPr/>
      <dgm:t>
        <a:bodyPr/>
        <a:lstStyle/>
        <a:p>
          <a:endParaRPr lang="en-US" sz="1800"/>
        </a:p>
      </dgm:t>
    </dgm:pt>
    <dgm:pt modelId="{5D3FB9E2-B611-4002-ABC2-08B4AF6341B6}" type="sibTrans" cxnId="{0FC7C232-2AEA-4CA4-8A27-9283C9C34945}">
      <dgm:prSet/>
      <dgm:spPr/>
      <dgm:t>
        <a:bodyPr/>
        <a:lstStyle/>
        <a:p>
          <a:endParaRPr lang="en-US" sz="1800"/>
        </a:p>
      </dgm:t>
    </dgm:pt>
    <dgm:pt modelId="{C3A27155-8B35-4EAC-A40B-2D4AD4A70F50}">
      <dgm:prSet phldrT="[Text]" custT="1"/>
      <dgm:spPr/>
      <dgm:t>
        <a:bodyPr/>
        <a:lstStyle/>
        <a:p>
          <a:r>
            <a:rPr lang="en-US" sz="1800" dirty="0"/>
            <a:t>A</a:t>
          </a:r>
          <a:r>
            <a:rPr lang="en-US" altLang="zh-CN" sz="1800" dirty="0"/>
            <a:t>bstract Fish</a:t>
          </a:r>
          <a:r>
            <a:rPr lang="en-US" sz="1800" dirty="0"/>
            <a:t> Study</a:t>
          </a:r>
        </a:p>
      </dgm:t>
    </dgm:pt>
    <dgm:pt modelId="{9A6D9D11-0583-4D4A-804F-CE7C1A48728A}" type="parTrans" cxnId="{329E4A4A-2A2F-4B84-91FE-FD4969D4B571}">
      <dgm:prSet/>
      <dgm:spPr/>
      <dgm:t>
        <a:bodyPr/>
        <a:lstStyle/>
        <a:p>
          <a:endParaRPr lang="en-US" sz="1800"/>
        </a:p>
      </dgm:t>
    </dgm:pt>
    <dgm:pt modelId="{332E74EA-2969-422D-9C30-620362EC0B62}" type="sibTrans" cxnId="{329E4A4A-2A2F-4B84-91FE-FD4969D4B571}">
      <dgm:prSet/>
      <dgm:spPr/>
      <dgm:t>
        <a:bodyPr/>
        <a:lstStyle/>
        <a:p>
          <a:endParaRPr lang="en-US" sz="1800"/>
        </a:p>
      </dgm:t>
    </dgm:pt>
    <dgm:pt modelId="{41D40E49-5284-42C7-91E7-A999451E270D}">
      <dgm:prSet phldrT="[Text]" custT="1"/>
      <dgm:spPr/>
      <dgm:t>
        <a:bodyPr/>
        <a:lstStyle/>
        <a:p>
          <a:r>
            <a:rPr lang="en-US" sz="1800" dirty="0"/>
            <a:t>Study how comic elements impact the agent advantage effect in single pictures</a:t>
          </a:r>
        </a:p>
      </dgm:t>
    </dgm:pt>
    <dgm:pt modelId="{2318A1B7-9F15-44F8-8544-B76639B793FF}" type="parTrans" cxnId="{D19FB3B8-BA63-4C15-B4EA-F36411A90555}">
      <dgm:prSet/>
      <dgm:spPr/>
      <dgm:t>
        <a:bodyPr/>
        <a:lstStyle/>
        <a:p>
          <a:endParaRPr lang="en-US"/>
        </a:p>
      </dgm:t>
    </dgm:pt>
    <dgm:pt modelId="{F4D67F7D-19C5-47DE-A847-A9F151514C8C}" type="sibTrans" cxnId="{D19FB3B8-BA63-4C15-B4EA-F36411A90555}">
      <dgm:prSet/>
      <dgm:spPr/>
      <dgm:t>
        <a:bodyPr/>
        <a:lstStyle/>
        <a:p>
          <a:endParaRPr lang="en-US"/>
        </a:p>
      </dgm:t>
    </dgm:pt>
    <dgm:pt modelId="{8DDAFB03-CEC1-48F8-BF21-6D7BA973E313}">
      <dgm:prSet phldrT="[Text]" custT="1"/>
      <dgm:spPr/>
      <dgm:t>
        <a:bodyPr/>
        <a:lstStyle/>
        <a:p>
          <a:r>
            <a:rPr lang="en-US" sz="1800" dirty="0"/>
            <a:t>Study the agent advantage effect in with abstract fish</a:t>
          </a:r>
        </a:p>
      </dgm:t>
    </dgm:pt>
    <dgm:pt modelId="{18FB3255-5928-4EE9-8A18-CBD5496BCC76}" type="parTrans" cxnId="{AD5CD14F-5D71-4841-B6F6-6C62DF2D5113}">
      <dgm:prSet/>
      <dgm:spPr/>
      <dgm:t>
        <a:bodyPr/>
        <a:lstStyle/>
        <a:p>
          <a:endParaRPr lang="en-US"/>
        </a:p>
      </dgm:t>
    </dgm:pt>
    <dgm:pt modelId="{A501A545-69B1-4728-80C8-EC9BF5D99767}" type="sibTrans" cxnId="{AD5CD14F-5D71-4841-B6F6-6C62DF2D5113}">
      <dgm:prSet/>
      <dgm:spPr/>
      <dgm:t>
        <a:bodyPr/>
        <a:lstStyle/>
        <a:p>
          <a:endParaRPr lang="en-US"/>
        </a:p>
      </dgm:t>
    </dgm:pt>
    <dgm:pt modelId="{E9075C4A-2164-4838-ADC8-7E053285F70E}" type="pres">
      <dgm:prSet presAssocID="{21E75EF2-DF01-49C0-B777-807D85782205}" presName="Name0" presStyleCnt="0">
        <dgm:presLayoutVars>
          <dgm:chPref val="1"/>
          <dgm:dir/>
          <dgm:animOne val="branch"/>
          <dgm:animLvl val="lvl"/>
          <dgm:resizeHandles/>
        </dgm:presLayoutVars>
      </dgm:prSet>
      <dgm:spPr/>
    </dgm:pt>
    <dgm:pt modelId="{B0550CBC-8E18-423C-AE70-53749755337D}" type="pres">
      <dgm:prSet presAssocID="{716FD96D-E877-4E59-A797-862DF35F3CB3}" presName="vertOne" presStyleCnt="0"/>
      <dgm:spPr/>
    </dgm:pt>
    <dgm:pt modelId="{B09BA69D-5FA0-4F77-8A86-70E99F146854}" type="pres">
      <dgm:prSet presAssocID="{716FD96D-E877-4E59-A797-862DF35F3CB3}" presName="txOne" presStyleLbl="node0" presStyleIdx="0" presStyleCnt="1">
        <dgm:presLayoutVars>
          <dgm:chPref val="3"/>
        </dgm:presLayoutVars>
      </dgm:prSet>
      <dgm:spPr/>
    </dgm:pt>
    <dgm:pt modelId="{9DEED5A1-0DB5-45C4-9433-1C2488FB4655}" type="pres">
      <dgm:prSet presAssocID="{716FD96D-E877-4E59-A797-862DF35F3CB3}" presName="parTransOne" presStyleCnt="0"/>
      <dgm:spPr/>
    </dgm:pt>
    <dgm:pt modelId="{B5EB6B1B-0343-444A-8C64-6B94DD02C41F}" type="pres">
      <dgm:prSet presAssocID="{716FD96D-E877-4E59-A797-862DF35F3CB3}" presName="horzOne" presStyleCnt="0"/>
      <dgm:spPr/>
    </dgm:pt>
    <dgm:pt modelId="{BE3BB942-C820-4DE9-AE05-721108B75425}" type="pres">
      <dgm:prSet presAssocID="{9C0529E7-B3FD-4A2B-8E96-BE62F1BABACB}" presName="vertTwo" presStyleCnt="0"/>
      <dgm:spPr/>
    </dgm:pt>
    <dgm:pt modelId="{234962F9-7A3E-46C6-9055-FB57BE5F51B4}" type="pres">
      <dgm:prSet presAssocID="{9C0529E7-B3FD-4A2B-8E96-BE62F1BABACB}" presName="txTwo" presStyleLbl="node2" presStyleIdx="0" presStyleCnt="3" custLinFactNeighborX="-114" custLinFactNeighborY="29930">
        <dgm:presLayoutVars>
          <dgm:chPref val="3"/>
        </dgm:presLayoutVars>
      </dgm:prSet>
      <dgm:spPr/>
    </dgm:pt>
    <dgm:pt modelId="{9738F645-F08D-497B-899E-90F4C95DEDC7}" type="pres">
      <dgm:prSet presAssocID="{9C0529E7-B3FD-4A2B-8E96-BE62F1BABACB}" presName="parTransTwo" presStyleCnt="0"/>
      <dgm:spPr/>
    </dgm:pt>
    <dgm:pt modelId="{9CFB8580-676C-4D0E-91FC-F4D489134C80}" type="pres">
      <dgm:prSet presAssocID="{9C0529E7-B3FD-4A2B-8E96-BE62F1BABACB}" presName="horzTwo" presStyleCnt="0"/>
      <dgm:spPr/>
    </dgm:pt>
    <dgm:pt modelId="{97397289-2DCF-44C3-8FB7-6E5E5CC3C409}" type="pres">
      <dgm:prSet presAssocID="{A139445E-7CDA-43C7-87B8-4DCD08EE26B1}" presName="vertThree" presStyleCnt="0"/>
      <dgm:spPr/>
    </dgm:pt>
    <dgm:pt modelId="{6A58AB54-1BFF-436C-AE97-D6C16B970CEA}" type="pres">
      <dgm:prSet presAssocID="{A139445E-7CDA-43C7-87B8-4DCD08EE26B1}" presName="txThree" presStyleLbl="node3" presStyleIdx="0" presStyleCnt="3">
        <dgm:presLayoutVars>
          <dgm:chPref val="3"/>
        </dgm:presLayoutVars>
      </dgm:prSet>
      <dgm:spPr/>
    </dgm:pt>
    <dgm:pt modelId="{906AFC81-3D94-41BA-B0BD-CEB9EB2905C9}" type="pres">
      <dgm:prSet presAssocID="{A139445E-7CDA-43C7-87B8-4DCD08EE26B1}" presName="parTransThree" presStyleCnt="0"/>
      <dgm:spPr/>
    </dgm:pt>
    <dgm:pt modelId="{22CCA7E9-75A1-4B96-8C49-752EA405E87E}" type="pres">
      <dgm:prSet presAssocID="{A139445E-7CDA-43C7-87B8-4DCD08EE26B1}" presName="horzThree" presStyleCnt="0"/>
      <dgm:spPr/>
    </dgm:pt>
    <dgm:pt modelId="{00973969-284D-4A54-9296-7DC4544FFCD9}" type="pres">
      <dgm:prSet presAssocID="{47A0635F-3D44-45AA-B699-5CA29B1EC10B}" presName="vertFour" presStyleCnt="0">
        <dgm:presLayoutVars>
          <dgm:chPref val="3"/>
        </dgm:presLayoutVars>
      </dgm:prSet>
      <dgm:spPr/>
    </dgm:pt>
    <dgm:pt modelId="{0215DAA2-DDCC-4443-97A6-9FACF7D3D85C}" type="pres">
      <dgm:prSet presAssocID="{47A0635F-3D44-45AA-B699-5CA29B1EC10B}" presName="txFour" presStyleLbl="node4" presStyleIdx="0" presStyleCnt="3">
        <dgm:presLayoutVars>
          <dgm:chPref val="3"/>
        </dgm:presLayoutVars>
      </dgm:prSet>
      <dgm:spPr/>
    </dgm:pt>
    <dgm:pt modelId="{82D4C519-3ACE-4179-89DD-6D853DB0C102}" type="pres">
      <dgm:prSet presAssocID="{47A0635F-3D44-45AA-B699-5CA29B1EC10B}" presName="horzFour" presStyleCnt="0"/>
      <dgm:spPr/>
    </dgm:pt>
    <dgm:pt modelId="{21C582D4-D989-464B-A760-41817D643E1E}" type="pres">
      <dgm:prSet presAssocID="{8CDC154D-363F-4AC8-B690-38BB5CD0611C}" presName="sibSpaceTwo" presStyleCnt="0"/>
      <dgm:spPr/>
    </dgm:pt>
    <dgm:pt modelId="{51140836-6390-4B5E-BF86-6F9894E80193}" type="pres">
      <dgm:prSet presAssocID="{AB1C6577-98C2-487D-B2BB-4EF1E3B8FEB1}" presName="vertTwo" presStyleCnt="0"/>
      <dgm:spPr/>
    </dgm:pt>
    <dgm:pt modelId="{C1494B4B-6776-4AFC-8248-10BDE4D2A08E}" type="pres">
      <dgm:prSet presAssocID="{AB1C6577-98C2-487D-B2BB-4EF1E3B8FEB1}" presName="txTwo" presStyleLbl="node2" presStyleIdx="1" presStyleCnt="3">
        <dgm:presLayoutVars>
          <dgm:chPref val="3"/>
        </dgm:presLayoutVars>
      </dgm:prSet>
      <dgm:spPr/>
    </dgm:pt>
    <dgm:pt modelId="{EEA981BC-D0D8-4C11-B8BD-A7B17F16B1AD}" type="pres">
      <dgm:prSet presAssocID="{AB1C6577-98C2-487D-B2BB-4EF1E3B8FEB1}" presName="parTransTwo" presStyleCnt="0"/>
      <dgm:spPr/>
    </dgm:pt>
    <dgm:pt modelId="{CD7EB92E-CD37-4D26-B1A6-363F9CA9C7C0}" type="pres">
      <dgm:prSet presAssocID="{AB1C6577-98C2-487D-B2BB-4EF1E3B8FEB1}" presName="horzTwo" presStyleCnt="0"/>
      <dgm:spPr/>
    </dgm:pt>
    <dgm:pt modelId="{C3DF0AE5-5D05-43CD-917F-D9AC9FD06AEB}" type="pres">
      <dgm:prSet presAssocID="{2FC099A3-89BB-4565-974F-37A4BDDEFEC2}" presName="vertThree" presStyleCnt="0"/>
      <dgm:spPr/>
    </dgm:pt>
    <dgm:pt modelId="{AF6DA579-D12E-491F-892A-1F8AE033CE07}" type="pres">
      <dgm:prSet presAssocID="{2FC099A3-89BB-4565-974F-37A4BDDEFEC2}" presName="txThree" presStyleLbl="node3" presStyleIdx="1" presStyleCnt="3">
        <dgm:presLayoutVars>
          <dgm:chPref val="3"/>
        </dgm:presLayoutVars>
      </dgm:prSet>
      <dgm:spPr/>
    </dgm:pt>
    <dgm:pt modelId="{A9294A8B-FB22-4F13-9BB7-23F147D43A9D}" type="pres">
      <dgm:prSet presAssocID="{2FC099A3-89BB-4565-974F-37A4BDDEFEC2}" presName="parTransThree" presStyleCnt="0"/>
      <dgm:spPr/>
    </dgm:pt>
    <dgm:pt modelId="{A6ED9108-8B7A-43DA-BD70-1A6E04DBE499}" type="pres">
      <dgm:prSet presAssocID="{2FC099A3-89BB-4565-974F-37A4BDDEFEC2}" presName="horzThree" presStyleCnt="0"/>
      <dgm:spPr/>
    </dgm:pt>
    <dgm:pt modelId="{D1394D87-77AE-4795-801B-D52093B8CAC2}" type="pres">
      <dgm:prSet presAssocID="{41D40E49-5284-42C7-91E7-A999451E270D}" presName="vertFour" presStyleCnt="0">
        <dgm:presLayoutVars>
          <dgm:chPref val="3"/>
        </dgm:presLayoutVars>
      </dgm:prSet>
      <dgm:spPr/>
    </dgm:pt>
    <dgm:pt modelId="{A1D0066E-FBFB-4EA8-AA2F-6CA7417DF253}" type="pres">
      <dgm:prSet presAssocID="{41D40E49-5284-42C7-91E7-A999451E270D}" presName="txFour" presStyleLbl="node4" presStyleIdx="1" presStyleCnt="3">
        <dgm:presLayoutVars>
          <dgm:chPref val="3"/>
        </dgm:presLayoutVars>
      </dgm:prSet>
      <dgm:spPr/>
    </dgm:pt>
    <dgm:pt modelId="{CCA47277-0DCE-48DD-996D-00617B8041A2}" type="pres">
      <dgm:prSet presAssocID="{41D40E49-5284-42C7-91E7-A999451E270D}" presName="horzFour" presStyleCnt="0"/>
      <dgm:spPr/>
    </dgm:pt>
    <dgm:pt modelId="{1EA63E5E-7EF0-4BFB-A651-9FBCA000F226}" type="pres">
      <dgm:prSet presAssocID="{161BDB53-420B-4081-984C-25C7EB4A11BC}" presName="sibSpaceTwo" presStyleCnt="0"/>
      <dgm:spPr/>
    </dgm:pt>
    <dgm:pt modelId="{C51CF0B8-80FC-4F00-9320-26037CADCE0E}" type="pres">
      <dgm:prSet presAssocID="{82AA7F52-AA42-45AF-8EF8-9C75FE2CE84E}" presName="vertTwo" presStyleCnt="0"/>
      <dgm:spPr/>
    </dgm:pt>
    <dgm:pt modelId="{3DD6ED5E-33D4-4DF5-A875-EB7ACF95BB6E}" type="pres">
      <dgm:prSet presAssocID="{82AA7F52-AA42-45AF-8EF8-9C75FE2CE84E}" presName="txTwo" presStyleLbl="node2" presStyleIdx="2" presStyleCnt="3">
        <dgm:presLayoutVars>
          <dgm:chPref val="3"/>
        </dgm:presLayoutVars>
      </dgm:prSet>
      <dgm:spPr/>
    </dgm:pt>
    <dgm:pt modelId="{D8291238-3EF0-40EA-9F90-3F74BF24AF5D}" type="pres">
      <dgm:prSet presAssocID="{82AA7F52-AA42-45AF-8EF8-9C75FE2CE84E}" presName="parTransTwo" presStyleCnt="0"/>
      <dgm:spPr/>
    </dgm:pt>
    <dgm:pt modelId="{2C15AC11-7345-4CED-B024-5D0D17608104}" type="pres">
      <dgm:prSet presAssocID="{82AA7F52-AA42-45AF-8EF8-9C75FE2CE84E}" presName="horzTwo" presStyleCnt="0"/>
      <dgm:spPr/>
    </dgm:pt>
    <dgm:pt modelId="{9F9A2F64-769D-4521-A405-AEEC31D2A9E5}" type="pres">
      <dgm:prSet presAssocID="{C3A27155-8B35-4EAC-A40B-2D4AD4A70F50}" presName="vertThree" presStyleCnt="0"/>
      <dgm:spPr/>
    </dgm:pt>
    <dgm:pt modelId="{C00894AC-CDDE-4922-9638-D4C5E3518D17}" type="pres">
      <dgm:prSet presAssocID="{C3A27155-8B35-4EAC-A40B-2D4AD4A70F50}" presName="txThree" presStyleLbl="node3" presStyleIdx="2" presStyleCnt="3">
        <dgm:presLayoutVars>
          <dgm:chPref val="3"/>
        </dgm:presLayoutVars>
      </dgm:prSet>
      <dgm:spPr/>
    </dgm:pt>
    <dgm:pt modelId="{0290FC84-9543-4CE9-997C-2BA80EB332E6}" type="pres">
      <dgm:prSet presAssocID="{C3A27155-8B35-4EAC-A40B-2D4AD4A70F50}" presName="parTransThree" presStyleCnt="0"/>
      <dgm:spPr/>
    </dgm:pt>
    <dgm:pt modelId="{A034935A-7F8B-4ADC-B1CE-CBC6A5227971}" type="pres">
      <dgm:prSet presAssocID="{C3A27155-8B35-4EAC-A40B-2D4AD4A70F50}" presName="horzThree" presStyleCnt="0"/>
      <dgm:spPr/>
    </dgm:pt>
    <dgm:pt modelId="{74B35135-0C38-42F6-AD0B-F496D1D3C447}" type="pres">
      <dgm:prSet presAssocID="{8DDAFB03-CEC1-48F8-BF21-6D7BA973E313}" presName="vertFour" presStyleCnt="0">
        <dgm:presLayoutVars>
          <dgm:chPref val="3"/>
        </dgm:presLayoutVars>
      </dgm:prSet>
      <dgm:spPr/>
    </dgm:pt>
    <dgm:pt modelId="{389A5BCF-0E31-4613-A539-D738C6F458E9}" type="pres">
      <dgm:prSet presAssocID="{8DDAFB03-CEC1-48F8-BF21-6D7BA973E313}" presName="txFour" presStyleLbl="node4" presStyleIdx="2" presStyleCnt="3">
        <dgm:presLayoutVars>
          <dgm:chPref val="3"/>
        </dgm:presLayoutVars>
      </dgm:prSet>
      <dgm:spPr/>
    </dgm:pt>
    <dgm:pt modelId="{9916BCB2-5C22-4105-9FB3-75A5F3E4FE84}" type="pres">
      <dgm:prSet presAssocID="{8DDAFB03-CEC1-48F8-BF21-6D7BA973E313}" presName="horzFour" presStyleCnt="0"/>
      <dgm:spPr/>
    </dgm:pt>
  </dgm:ptLst>
  <dgm:cxnLst>
    <dgm:cxn modelId="{85CEED30-58BF-4448-BEA5-8211CD570B43}" srcId="{716FD96D-E877-4E59-A797-862DF35F3CB3}" destId="{9C0529E7-B3FD-4A2B-8E96-BE62F1BABACB}" srcOrd="0" destOrd="0" parTransId="{1AEA38AB-AB07-4AD0-ADE8-DFB8C6F38D56}" sibTransId="{8CDC154D-363F-4AC8-B690-38BB5CD0611C}"/>
    <dgm:cxn modelId="{0FC7C232-2AEA-4CA4-8A27-9283C9C34945}" srcId="{AB1C6577-98C2-487D-B2BB-4EF1E3B8FEB1}" destId="{2FC099A3-89BB-4565-974F-37A4BDDEFEC2}" srcOrd="0" destOrd="0" parTransId="{EF88FB06-FE03-4089-8505-6DC10CC4B716}" sibTransId="{5D3FB9E2-B611-4002-ABC2-08B4AF6341B6}"/>
    <dgm:cxn modelId="{DBD35B38-5605-47FA-B12C-0E167BC8D7D1}" type="presOf" srcId="{A139445E-7CDA-43C7-87B8-4DCD08EE26B1}" destId="{6A58AB54-1BFF-436C-AE97-D6C16B970CEA}" srcOrd="0" destOrd="0" presId="urn:microsoft.com/office/officeart/2005/8/layout/hierarchy4"/>
    <dgm:cxn modelId="{F177E138-F381-42D3-AE99-EABD9A4E7F8E}" srcId="{21E75EF2-DF01-49C0-B777-807D85782205}" destId="{716FD96D-E877-4E59-A797-862DF35F3CB3}" srcOrd="0" destOrd="0" parTransId="{90549982-E35B-4804-855E-7C2A4805E792}" sibTransId="{3402A4FB-6921-4743-8987-76FD6EC14366}"/>
    <dgm:cxn modelId="{9C87EF63-5F4D-4071-9C95-4839543CC504}" type="presOf" srcId="{2FC099A3-89BB-4565-974F-37A4BDDEFEC2}" destId="{AF6DA579-D12E-491F-892A-1F8AE033CE07}" srcOrd="0" destOrd="0" presId="urn:microsoft.com/office/officeart/2005/8/layout/hierarchy4"/>
    <dgm:cxn modelId="{329E4A4A-2A2F-4B84-91FE-FD4969D4B571}" srcId="{82AA7F52-AA42-45AF-8EF8-9C75FE2CE84E}" destId="{C3A27155-8B35-4EAC-A40B-2D4AD4A70F50}" srcOrd="0" destOrd="0" parTransId="{9A6D9D11-0583-4D4A-804F-CE7C1A48728A}" sibTransId="{332E74EA-2969-422D-9C30-620362EC0B62}"/>
    <dgm:cxn modelId="{AD5CD14F-5D71-4841-B6F6-6C62DF2D5113}" srcId="{C3A27155-8B35-4EAC-A40B-2D4AD4A70F50}" destId="{8DDAFB03-CEC1-48F8-BF21-6D7BA973E313}" srcOrd="0" destOrd="0" parTransId="{18FB3255-5928-4EE9-8A18-CBD5496BCC76}" sibTransId="{A501A545-69B1-4728-80C8-EC9BF5D99767}"/>
    <dgm:cxn modelId="{904C9E75-6981-4EA6-9143-5E955E2436C1}" type="presOf" srcId="{82AA7F52-AA42-45AF-8EF8-9C75FE2CE84E}" destId="{3DD6ED5E-33D4-4DF5-A875-EB7ACF95BB6E}" srcOrd="0" destOrd="0" presId="urn:microsoft.com/office/officeart/2005/8/layout/hierarchy4"/>
    <dgm:cxn modelId="{96196C7A-2276-44D8-8383-CA6344B26652}" type="presOf" srcId="{21E75EF2-DF01-49C0-B777-807D85782205}" destId="{E9075C4A-2164-4838-ADC8-7E053285F70E}" srcOrd="0" destOrd="0" presId="urn:microsoft.com/office/officeart/2005/8/layout/hierarchy4"/>
    <dgm:cxn modelId="{A50E437B-150E-4BA7-B14C-AA5DB6E6BB35}" type="presOf" srcId="{AB1C6577-98C2-487D-B2BB-4EF1E3B8FEB1}" destId="{C1494B4B-6776-4AFC-8248-10BDE4D2A08E}" srcOrd="0" destOrd="0" presId="urn:microsoft.com/office/officeart/2005/8/layout/hierarchy4"/>
    <dgm:cxn modelId="{9DDE4990-2785-4D8B-9FD5-9484DCFF6475}" srcId="{A139445E-7CDA-43C7-87B8-4DCD08EE26B1}" destId="{47A0635F-3D44-45AA-B699-5CA29B1EC10B}" srcOrd="0" destOrd="0" parTransId="{7F84B65C-8197-45A6-991E-BF036184CEA0}" sibTransId="{0C3CD290-A25C-4BE9-BA21-17FE057C1B85}"/>
    <dgm:cxn modelId="{F421869A-AD74-4FF0-9D70-72BC1519AC8C}" srcId="{9C0529E7-B3FD-4A2B-8E96-BE62F1BABACB}" destId="{A139445E-7CDA-43C7-87B8-4DCD08EE26B1}" srcOrd="0" destOrd="0" parTransId="{A915BADE-E07C-4B45-8B2B-60C880E27498}" sibTransId="{232A56CC-9038-479F-ACB7-515166CB3FBC}"/>
    <dgm:cxn modelId="{E81388A3-0784-48DA-B0C4-384BC3A5F7FF}" type="presOf" srcId="{C3A27155-8B35-4EAC-A40B-2D4AD4A70F50}" destId="{C00894AC-CDDE-4922-9638-D4C5E3518D17}" srcOrd="0" destOrd="0" presId="urn:microsoft.com/office/officeart/2005/8/layout/hierarchy4"/>
    <dgm:cxn modelId="{AA8ABDAF-D3B8-4479-96BE-88DE08FEA43A}" srcId="{716FD96D-E877-4E59-A797-862DF35F3CB3}" destId="{AB1C6577-98C2-487D-B2BB-4EF1E3B8FEB1}" srcOrd="1" destOrd="0" parTransId="{55500C5D-732E-491A-9D65-50EB54BE179A}" sibTransId="{161BDB53-420B-4081-984C-25C7EB4A11BC}"/>
    <dgm:cxn modelId="{C8334DB1-3B6C-4F32-8E2D-29E37BBD7DE5}" type="presOf" srcId="{47A0635F-3D44-45AA-B699-5CA29B1EC10B}" destId="{0215DAA2-DDCC-4443-97A6-9FACF7D3D85C}" srcOrd="0" destOrd="0" presId="urn:microsoft.com/office/officeart/2005/8/layout/hierarchy4"/>
    <dgm:cxn modelId="{6FABE3B5-E2B5-4CB8-90D0-64C8F8B527AE}" type="presOf" srcId="{41D40E49-5284-42C7-91E7-A999451E270D}" destId="{A1D0066E-FBFB-4EA8-AA2F-6CA7417DF253}" srcOrd="0" destOrd="0" presId="urn:microsoft.com/office/officeart/2005/8/layout/hierarchy4"/>
    <dgm:cxn modelId="{D19FB3B8-BA63-4C15-B4EA-F36411A90555}" srcId="{2FC099A3-89BB-4565-974F-37A4BDDEFEC2}" destId="{41D40E49-5284-42C7-91E7-A999451E270D}" srcOrd="0" destOrd="0" parTransId="{2318A1B7-9F15-44F8-8544-B76639B793FF}" sibTransId="{F4D67F7D-19C5-47DE-A847-A9F151514C8C}"/>
    <dgm:cxn modelId="{241725D2-27DF-4451-A353-125206405657}" type="presOf" srcId="{9C0529E7-B3FD-4A2B-8E96-BE62F1BABACB}" destId="{234962F9-7A3E-46C6-9055-FB57BE5F51B4}" srcOrd="0" destOrd="0" presId="urn:microsoft.com/office/officeart/2005/8/layout/hierarchy4"/>
    <dgm:cxn modelId="{0AFF07D6-3010-4091-BEE1-68908C7EF694}" type="presOf" srcId="{8DDAFB03-CEC1-48F8-BF21-6D7BA973E313}" destId="{389A5BCF-0E31-4613-A539-D738C6F458E9}" srcOrd="0" destOrd="0" presId="urn:microsoft.com/office/officeart/2005/8/layout/hierarchy4"/>
    <dgm:cxn modelId="{60117FEB-7480-4DBF-836F-AB1D5274D280}" srcId="{716FD96D-E877-4E59-A797-862DF35F3CB3}" destId="{82AA7F52-AA42-45AF-8EF8-9C75FE2CE84E}" srcOrd="2" destOrd="0" parTransId="{8F1454C9-7BE6-4034-A85F-04BDA49FC00B}" sibTransId="{28D38FFB-0B6F-4428-9815-757B4BD0C90E}"/>
    <dgm:cxn modelId="{A42AA7FB-F95E-4510-982B-6FED8EF4236F}" type="presOf" srcId="{716FD96D-E877-4E59-A797-862DF35F3CB3}" destId="{B09BA69D-5FA0-4F77-8A86-70E99F146854}" srcOrd="0" destOrd="0" presId="urn:microsoft.com/office/officeart/2005/8/layout/hierarchy4"/>
    <dgm:cxn modelId="{B51C4813-589A-495D-90AE-AC85277D4F8D}" type="presParOf" srcId="{E9075C4A-2164-4838-ADC8-7E053285F70E}" destId="{B0550CBC-8E18-423C-AE70-53749755337D}" srcOrd="0" destOrd="0" presId="urn:microsoft.com/office/officeart/2005/8/layout/hierarchy4"/>
    <dgm:cxn modelId="{0F393375-F8B3-4862-8BD9-196D177E096D}" type="presParOf" srcId="{B0550CBC-8E18-423C-AE70-53749755337D}" destId="{B09BA69D-5FA0-4F77-8A86-70E99F146854}" srcOrd="0" destOrd="0" presId="urn:microsoft.com/office/officeart/2005/8/layout/hierarchy4"/>
    <dgm:cxn modelId="{C8D2BB9B-37E2-4577-A58E-7E40F10A936A}" type="presParOf" srcId="{B0550CBC-8E18-423C-AE70-53749755337D}" destId="{9DEED5A1-0DB5-45C4-9433-1C2488FB4655}" srcOrd="1" destOrd="0" presId="urn:microsoft.com/office/officeart/2005/8/layout/hierarchy4"/>
    <dgm:cxn modelId="{29B99D13-7E33-4E3F-A76A-7D676ADD0AD6}" type="presParOf" srcId="{B0550CBC-8E18-423C-AE70-53749755337D}" destId="{B5EB6B1B-0343-444A-8C64-6B94DD02C41F}" srcOrd="2" destOrd="0" presId="urn:microsoft.com/office/officeart/2005/8/layout/hierarchy4"/>
    <dgm:cxn modelId="{1B313392-2E9A-438A-B771-324D08A3E861}" type="presParOf" srcId="{B5EB6B1B-0343-444A-8C64-6B94DD02C41F}" destId="{BE3BB942-C820-4DE9-AE05-721108B75425}" srcOrd="0" destOrd="0" presId="urn:microsoft.com/office/officeart/2005/8/layout/hierarchy4"/>
    <dgm:cxn modelId="{A5AEA70B-BF18-4BE8-B9DB-1187505A3FCD}" type="presParOf" srcId="{BE3BB942-C820-4DE9-AE05-721108B75425}" destId="{234962F9-7A3E-46C6-9055-FB57BE5F51B4}" srcOrd="0" destOrd="0" presId="urn:microsoft.com/office/officeart/2005/8/layout/hierarchy4"/>
    <dgm:cxn modelId="{34313325-CA6A-4934-B2EE-3DDA21EEA729}" type="presParOf" srcId="{BE3BB942-C820-4DE9-AE05-721108B75425}" destId="{9738F645-F08D-497B-899E-90F4C95DEDC7}" srcOrd="1" destOrd="0" presId="urn:microsoft.com/office/officeart/2005/8/layout/hierarchy4"/>
    <dgm:cxn modelId="{3A9493C5-D441-4CAF-9EC9-F92A28271121}" type="presParOf" srcId="{BE3BB942-C820-4DE9-AE05-721108B75425}" destId="{9CFB8580-676C-4D0E-91FC-F4D489134C80}" srcOrd="2" destOrd="0" presId="urn:microsoft.com/office/officeart/2005/8/layout/hierarchy4"/>
    <dgm:cxn modelId="{B5409250-57F4-4D65-B9CA-6D438B9DD114}" type="presParOf" srcId="{9CFB8580-676C-4D0E-91FC-F4D489134C80}" destId="{97397289-2DCF-44C3-8FB7-6E5E5CC3C409}" srcOrd="0" destOrd="0" presId="urn:microsoft.com/office/officeart/2005/8/layout/hierarchy4"/>
    <dgm:cxn modelId="{2C5DB1E4-3AFB-4FD0-9442-4DAFBDE83C0A}" type="presParOf" srcId="{97397289-2DCF-44C3-8FB7-6E5E5CC3C409}" destId="{6A58AB54-1BFF-436C-AE97-D6C16B970CEA}" srcOrd="0" destOrd="0" presId="urn:microsoft.com/office/officeart/2005/8/layout/hierarchy4"/>
    <dgm:cxn modelId="{0805D950-BF6D-4CC7-9D59-B43E36299FBF}" type="presParOf" srcId="{97397289-2DCF-44C3-8FB7-6E5E5CC3C409}" destId="{906AFC81-3D94-41BA-B0BD-CEB9EB2905C9}" srcOrd="1" destOrd="0" presId="urn:microsoft.com/office/officeart/2005/8/layout/hierarchy4"/>
    <dgm:cxn modelId="{35769011-3BFE-4110-8D9B-1BB32989CCC1}" type="presParOf" srcId="{97397289-2DCF-44C3-8FB7-6E5E5CC3C409}" destId="{22CCA7E9-75A1-4B96-8C49-752EA405E87E}" srcOrd="2" destOrd="0" presId="urn:microsoft.com/office/officeart/2005/8/layout/hierarchy4"/>
    <dgm:cxn modelId="{EA77C7E0-405D-4D26-B1D2-0986987E6B3A}" type="presParOf" srcId="{22CCA7E9-75A1-4B96-8C49-752EA405E87E}" destId="{00973969-284D-4A54-9296-7DC4544FFCD9}" srcOrd="0" destOrd="0" presId="urn:microsoft.com/office/officeart/2005/8/layout/hierarchy4"/>
    <dgm:cxn modelId="{CB4F9B36-4DD3-4C42-9AE2-4D3305EB26DA}" type="presParOf" srcId="{00973969-284D-4A54-9296-7DC4544FFCD9}" destId="{0215DAA2-DDCC-4443-97A6-9FACF7D3D85C}" srcOrd="0" destOrd="0" presId="urn:microsoft.com/office/officeart/2005/8/layout/hierarchy4"/>
    <dgm:cxn modelId="{E7F053A6-ED5D-40B8-81F1-0E94FDD9FAD3}" type="presParOf" srcId="{00973969-284D-4A54-9296-7DC4544FFCD9}" destId="{82D4C519-3ACE-4179-89DD-6D853DB0C102}" srcOrd="1" destOrd="0" presId="urn:microsoft.com/office/officeart/2005/8/layout/hierarchy4"/>
    <dgm:cxn modelId="{C3881C23-36FB-49CB-A5C8-98E2131B9FA0}" type="presParOf" srcId="{B5EB6B1B-0343-444A-8C64-6B94DD02C41F}" destId="{21C582D4-D989-464B-A760-41817D643E1E}" srcOrd="1" destOrd="0" presId="urn:microsoft.com/office/officeart/2005/8/layout/hierarchy4"/>
    <dgm:cxn modelId="{5328BE36-2119-49F4-998D-C7772B7CB666}" type="presParOf" srcId="{B5EB6B1B-0343-444A-8C64-6B94DD02C41F}" destId="{51140836-6390-4B5E-BF86-6F9894E80193}" srcOrd="2" destOrd="0" presId="urn:microsoft.com/office/officeart/2005/8/layout/hierarchy4"/>
    <dgm:cxn modelId="{2EBF79CD-236F-428A-84E3-B2CDD523C183}" type="presParOf" srcId="{51140836-6390-4B5E-BF86-6F9894E80193}" destId="{C1494B4B-6776-4AFC-8248-10BDE4D2A08E}" srcOrd="0" destOrd="0" presId="urn:microsoft.com/office/officeart/2005/8/layout/hierarchy4"/>
    <dgm:cxn modelId="{C1C50595-95C0-44C8-B2B5-F2F7CC2A7171}" type="presParOf" srcId="{51140836-6390-4B5E-BF86-6F9894E80193}" destId="{EEA981BC-D0D8-4C11-B8BD-A7B17F16B1AD}" srcOrd="1" destOrd="0" presId="urn:microsoft.com/office/officeart/2005/8/layout/hierarchy4"/>
    <dgm:cxn modelId="{2D35AF6E-B469-4C44-842D-D5764D91F899}" type="presParOf" srcId="{51140836-6390-4B5E-BF86-6F9894E80193}" destId="{CD7EB92E-CD37-4D26-B1A6-363F9CA9C7C0}" srcOrd="2" destOrd="0" presId="urn:microsoft.com/office/officeart/2005/8/layout/hierarchy4"/>
    <dgm:cxn modelId="{0DCF39A9-9F50-4254-A2A7-6B942DCA0CC0}" type="presParOf" srcId="{CD7EB92E-CD37-4D26-B1A6-363F9CA9C7C0}" destId="{C3DF0AE5-5D05-43CD-917F-D9AC9FD06AEB}" srcOrd="0" destOrd="0" presId="urn:microsoft.com/office/officeart/2005/8/layout/hierarchy4"/>
    <dgm:cxn modelId="{BC987358-238E-4994-83FA-657345D14C75}" type="presParOf" srcId="{C3DF0AE5-5D05-43CD-917F-D9AC9FD06AEB}" destId="{AF6DA579-D12E-491F-892A-1F8AE033CE07}" srcOrd="0" destOrd="0" presId="urn:microsoft.com/office/officeart/2005/8/layout/hierarchy4"/>
    <dgm:cxn modelId="{39873430-ABE9-4132-A1D7-86E81FF5A1CF}" type="presParOf" srcId="{C3DF0AE5-5D05-43CD-917F-D9AC9FD06AEB}" destId="{A9294A8B-FB22-4F13-9BB7-23F147D43A9D}" srcOrd="1" destOrd="0" presId="urn:microsoft.com/office/officeart/2005/8/layout/hierarchy4"/>
    <dgm:cxn modelId="{4D3937F2-58B4-4543-90BA-8C6190AE8BA7}" type="presParOf" srcId="{C3DF0AE5-5D05-43CD-917F-D9AC9FD06AEB}" destId="{A6ED9108-8B7A-43DA-BD70-1A6E04DBE499}" srcOrd="2" destOrd="0" presId="urn:microsoft.com/office/officeart/2005/8/layout/hierarchy4"/>
    <dgm:cxn modelId="{882D85C0-051A-438A-9312-061BCE3BCA10}" type="presParOf" srcId="{A6ED9108-8B7A-43DA-BD70-1A6E04DBE499}" destId="{D1394D87-77AE-4795-801B-D52093B8CAC2}" srcOrd="0" destOrd="0" presId="urn:microsoft.com/office/officeart/2005/8/layout/hierarchy4"/>
    <dgm:cxn modelId="{CA9AFC53-FE27-4BF7-9876-CB47AF02AF4A}" type="presParOf" srcId="{D1394D87-77AE-4795-801B-D52093B8CAC2}" destId="{A1D0066E-FBFB-4EA8-AA2F-6CA7417DF253}" srcOrd="0" destOrd="0" presId="urn:microsoft.com/office/officeart/2005/8/layout/hierarchy4"/>
    <dgm:cxn modelId="{BE76D71F-1F3B-4C14-A629-2C7024314C95}" type="presParOf" srcId="{D1394D87-77AE-4795-801B-D52093B8CAC2}" destId="{CCA47277-0DCE-48DD-996D-00617B8041A2}" srcOrd="1" destOrd="0" presId="urn:microsoft.com/office/officeart/2005/8/layout/hierarchy4"/>
    <dgm:cxn modelId="{F3D80591-A013-46BC-9987-3F0603F22443}" type="presParOf" srcId="{B5EB6B1B-0343-444A-8C64-6B94DD02C41F}" destId="{1EA63E5E-7EF0-4BFB-A651-9FBCA000F226}" srcOrd="3" destOrd="0" presId="urn:microsoft.com/office/officeart/2005/8/layout/hierarchy4"/>
    <dgm:cxn modelId="{880F5F23-EF40-4860-B1F3-473D6A57306C}" type="presParOf" srcId="{B5EB6B1B-0343-444A-8C64-6B94DD02C41F}" destId="{C51CF0B8-80FC-4F00-9320-26037CADCE0E}" srcOrd="4" destOrd="0" presId="urn:microsoft.com/office/officeart/2005/8/layout/hierarchy4"/>
    <dgm:cxn modelId="{2992A786-6E62-4E0A-9A03-D9A465576F19}" type="presParOf" srcId="{C51CF0B8-80FC-4F00-9320-26037CADCE0E}" destId="{3DD6ED5E-33D4-4DF5-A875-EB7ACF95BB6E}" srcOrd="0" destOrd="0" presId="urn:microsoft.com/office/officeart/2005/8/layout/hierarchy4"/>
    <dgm:cxn modelId="{E7EA339B-E31A-4435-A888-D816E40B2B1A}" type="presParOf" srcId="{C51CF0B8-80FC-4F00-9320-26037CADCE0E}" destId="{D8291238-3EF0-40EA-9F90-3F74BF24AF5D}" srcOrd="1" destOrd="0" presId="urn:microsoft.com/office/officeart/2005/8/layout/hierarchy4"/>
    <dgm:cxn modelId="{7FB2677B-245C-45CF-88F5-DB681AA2B9DD}" type="presParOf" srcId="{C51CF0B8-80FC-4F00-9320-26037CADCE0E}" destId="{2C15AC11-7345-4CED-B024-5D0D17608104}" srcOrd="2" destOrd="0" presId="urn:microsoft.com/office/officeart/2005/8/layout/hierarchy4"/>
    <dgm:cxn modelId="{3DF2B9C4-5C1F-46AB-9D02-0E00E09AE8BD}" type="presParOf" srcId="{2C15AC11-7345-4CED-B024-5D0D17608104}" destId="{9F9A2F64-769D-4521-A405-AEEC31D2A9E5}" srcOrd="0" destOrd="0" presId="urn:microsoft.com/office/officeart/2005/8/layout/hierarchy4"/>
    <dgm:cxn modelId="{ECE7DE4E-269D-4C88-B5BE-D40E7A40664C}" type="presParOf" srcId="{9F9A2F64-769D-4521-A405-AEEC31D2A9E5}" destId="{C00894AC-CDDE-4922-9638-D4C5E3518D17}" srcOrd="0" destOrd="0" presId="urn:microsoft.com/office/officeart/2005/8/layout/hierarchy4"/>
    <dgm:cxn modelId="{87F65F80-6C34-4904-A538-344FF72F3D75}" type="presParOf" srcId="{9F9A2F64-769D-4521-A405-AEEC31D2A9E5}" destId="{0290FC84-9543-4CE9-997C-2BA80EB332E6}" srcOrd="1" destOrd="0" presId="urn:microsoft.com/office/officeart/2005/8/layout/hierarchy4"/>
    <dgm:cxn modelId="{AB6E48B7-2FF6-4C54-8636-BD11FF6C48CF}" type="presParOf" srcId="{9F9A2F64-769D-4521-A405-AEEC31D2A9E5}" destId="{A034935A-7F8B-4ADC-B1CE-CBC6A5227971}" srcOrd="2" destOrd="0" presId="urn:microsoft.com/office/officeart/2005/8/layout/hierarchy4"/>
    <dgm:cxn modelId="{ED912301-1E3A-48DF-B2D9-3F54AB84C854}" type="presParOf" srcId="{A034935A-7F8B-4ADC-B1CE-CBC6A5227971}" destId="{74B35135-0C38-42F6-AD0B-F496D1D3C447}" srcOrd="0" destOrd="0" presId="urn:microsoft.com/office/officeart/2005/8/layout/hierarchy4"/>
    <dgm:cxn modelId="{BD78215E-BA1D-4AC7-9ED2-14EB06606CB9}" type="presParOf" srcId="{74B35135-0C38-42F6-AD0B-F496D1D3C447}" destId="{389A5BCF-0E31-4613-A539-D738C6F458E9}" srcOrd="0" destOrd="0" presId="urn:microsoft.com/office/officeart/2005/8/layout/hierarchy4"/>
    <dgm:cxn modelId="{748FCD40-E484-44F4-A71C-065050A4853E}" type="presParOf" srcId="{74B35135-0C38-42F6-AD0B-F496D1D3C447}" destId="{9916BCB2-5C22-4105-9FB3-75A5F3E4FE84}" srcOrd="1" destOrd="0" presId="urn:microsoft.com/office/officeart/2005/8/layout/hierarchy4"/>
  </dgm:cxnLst>
  <dgm:bg/>
  <dgm:whole/>
  <dgm:extLst>
    <a:ext uri="http://schemas.microsoft.com/office/drawing/2008/diagram">
      <dsp:dataModelExt xmlns:dsp="http://schemas.microsoft.com/office/drawing/2008/diagram" relId="rId6" minVer="http://schemas.openxmlformats.org/drawingml/2006/diagram"/>
    </a:ext>
    <a:ext uri="{C62137D5-CB1D-491B-B009-E17868A290BF}">
      <dgm14:recolorImg xmlns:dgm14="http://schemas.microsoft.com/office/drawing/2010/diagram" val="1"/>
    </a:ext>
  </dgm:extLst>
</dgm:dataModel>
</file>

<file path=ppt/diagrams/data4.xml><?xml version="1.0" encoding="utf-8"?>
<dgm:dataModel xmlns:dgm="http://schemas.openxmlformats.org/drawingml/2006/diagram" xmlns:a="http://schemas.openxmlformats.org/drawingml/2006/main">
  <dgm:ptLst>
    <dgm:pt modelId="{21E75EF2-DF01-49C0-B777-807D85782205}" type="doc">
      <dgm:prSet loTypeId="urn:microsoft.com/office/officeart/2005/8/layout/hierarchy4" loCatId="hierarchy" qsTypeId="urn:microsoft.com/office/officeart/2005/8/quickstyle/simple1" qsCatId="simple" csTypeId="urn:microsoft.com/office/officeart/2005/8/colors/accent0_1" csCatId="mainScheme" phldr="1"/>
      <dgm:spPr/>
      <dgm:t>
        <a:bodyPr/>
        <a:lstStyle/>
        <a:p>
          <a:endParaRPr lang="en-US"/>
        </a:p>
      </dgm:t>
    </dgm:pt>
    <dgm:pt modelId="{9C0529E7-B3FD-4A2B-8E96-BE62F1BABACB}">
      <dgm:prSet phldrT="[Text]" custT="1"/>
      <dgm:spPr/>
      <dgm:t>
        <a:bodyPr/>
        <a:lstStyle/>
        <a:p>
          <a:r>
            <a:rPr lang="en-US" sz="1800" dirty="0"/>
            <a:t>Study 1</a:t>
          </a:r>
        </a:p>
      </dgm:t>
    </dgm:pt>
    <dgm:pt modelId="{1AEA38AB-AB07-4AD0-ADE8-DFB8C6F38D56}" type="parTrans" cxnId="{85CEED30-58BF-4448-BEA5-8211CD570B43}">
      <dgm:prSet/>
      <dgm:spPr/>
      <dgm:t>
        <a:bodyPr/>
        <a:lstStyle/>
        <a:p>
          <a:endParaRPr lang="en-US" sz="1800"/>
        </a:p>
      </dgm:t>
    </dgm:pt>
    <dgm:pt modelId="{8CDC154D-363F-4AC8-B690-38BB5CD0611C}" type="sibTrans" cxnId="{85CEED30-58BF-4448-BEA5-8211CD570B43}">
      <dgm:prSet/>
      <dgm:spPr/>
      <dgm:t>
        <a:bodyPr/>
        <a:lstStyle/>
        <a:p>
          <a:endParaRPr lang="en-US" sz="1800"/>
        </a:p>
      </dgm:t>
    </dgm:pt>
    <dgm:pt modelId="{AB1C6577-98C2-487D-B2BB-4EF1E3B8FEB1}">
      <dgm:prSet phldrT="[Text]" custT="1"/>
      <dgm:spPr/>
      <dgm:t>
        <a:bodyPr/>
        <a:lstStyle/>
        <a:p>
          <a:r>
            <a:rPr lang="en-US" sz="1800" dirty="0"/>
            <a:t>R</a:t>
          </a:r>
          <a:r>
            <a:rPr lang="en-US" altLang="zh-CN" sz="1800" dirty="0"/>
            <a:t>esults</a:t>
          </a:r>
          <a:endParaRPr lang="en-US" sz="1800" dirty="0"/>
        </a:p>
      </dgm:t>
    </dgm:pt>
    <dgm:pt modelId="{55500C5D-732E-491A-9D65-50EB54BE179A}" type="parTrans" cxnId="{AA8ABDAF-D3B8-4479-96BE-88DE08FEA43A}">
      <dgm:prSet/>
      <dgm:spPr/>
      <dgm:t>
        <a:bodyPr/>
        <a:lstStyle/>
        <a:p>
          <a:endParaRPr lang="en-US" sz="1800"/>
        </a:p>
      </dgm:t>
    </dgm:pt>
    <dgm:pt modelId="{161BDB53-420B-4081-984C-25C7EB4A11BC}" type="sibTrans" cxnId="{AA8ABDAF-D3B8-4479-96BE-88DE08FEA43A}">
      <dgm:prSet/>
      <dgm:spPr/>
      <dgm:t>
        <a:bodyPr/>
        <a:lstStyle/>
        <a:p>
          <a:endParaRPr lang="en-US" sz="1800"/>
        </a:p>
      </dgm:t>
    </dgm:pt>
    <dgm:pt modelId="{716FD96D-E877-4E59-A797-862DF35F3CB3}">
      <dgm:prSet phldrT="[Text]" custT="1"/>
      <dgm:spPr/>
      <dgm:t>
        <a:bodyPr/>
        <a:lstStyle/>
        <a:p>
          <a:r>
            <a:rPr lang="en-US" sz="1800" dirty="0"/>
            <a:t>Agent Advantage Effect </a:t>
          </a:r>
          <a:br>
            <a:rPr lang="en-US" sz="1800" dirty="0"/>
          </a:br>
          <a:r>
            <a:rPr lang="en-US" sz="1800" dirty="0"/>
            <a:t>in pictures</a:t>
          </a:r>
        </a:p>
      </dgm:t>
    </dgm:pt>
    <dgm:pt modelId="{90549982-E35B-4804-855E-7C2A4805E792}" type="parTrans" cxnId="{F177E138-F381-42D3-AE99-EABD9A4E7F8E}">
      <dgm:prSet/>
      <dgm:spPr/>
      <dgm:t>
        <a:bodyPr/>
        <a:lstStyle/>
        <a:p>
          <a:endParaRPr lang="en-US" sz="1800"/>
        </a:p>
      </dgm:t>
    </dgm:pt>
    <dgm:pt modelId="{3402A4FB-6921-4743-8987-76FD6EC14366}" type="sibTrans" cxnId="{F177E138-F381-42D3-AE99-EABD9A4E7F8E}">
      <dgm:prSet/>
      <dgm:spPr/>
      <dgm:t>
        <a:bodyPr/>
        <a:lstStyle/>
        <a:p>
          <a:endParaRPr lang="en-US" sz="1800"/>
        </a:p>
      </dgm:t>
    </dgm:pt>
    <dgm:pt modelId="{47A0635F-3D44-45AA-B699-5CA29B1EC10B}">
      <dgm:prSet phldrT="[Text]" custT="1"/>
      <dgm:spPr/>
      <dgm:t>
        <a:bodyPr/>
        <a:lstStyle/>
        <a:p>
          <a:r>
            <a:rPr lang="en-US" sz="1800" dirty="0"/>
            <a:t>Study the underlying process of the agent advantage effect</a:t>
          </a:r>
        </a:p>
      </dgm:t>
    </dgm:pt>
    <dgm:pt modelId="{7F84B65C-8197-45A6-991E-BF036184CEA0}" type="parTrans" cxnId="{9DDE4990-2785-4D8B-9FD5-9484DCFF6475}">
      <dgm:prSet/>
      <dgm:spPr/>
      <dgm:t>
        <a:bodyPr/>
        <a:lstStyle/>
        <a:p>
          <a:endParaRPr lang="en-US" sz="1800"/>
        </a:p>
      </dgm:t>
    </dgm:pt>
    <dgm:pt modelId="{0C3CD290-A25C-4BE9-BA21-17FE057C1B85}" type="sibTrans" cxnId="{9DDE4990-2785-4D8B-9FD5-9484DCFF6475}">
      <dgm:prSet/>
      <dgm:spPr/>
      <dgm:t>
        <a:bodyPr/>
        <a:lstStyle/>
        <a:p>
          <a:endParaRPr lang="en-US" sz="1800"/>
        </a:p>
      </dgm:t>
    </dgm:pt>
    <dgm:pt modelId="{A139445E-7CDA-43C7-87B8-4DCD08EE26B1}">
      <dgm:prSet phldrT="[Text]" custT="1"/>
      <dgm:spPr/>
      <dgm:t>
        <a:bodyPr/>
        <a:lstStyle/>
        <a:p>
          <a:r>
            <a:rPr lang="en-US" sz="1800" dirty="0"/>
            <a:t>Eye-tracking Study</a:t>
          </a:r>
        </a:p>
      </dgm:t>
    </dgm:pt>
    <dgm:pt modelId="{A915BADE-E07C-4B45-8B2B-60C880E27498}" type="parTrans" cxnId="{F421869A-AD74-4FF0-9D70-72BC1519AC8C}">
      <dgm:prSet/>
      <dgm:spPr/>
      <dgm:t>
        <a:bodyPr/>
        <a:lstStyle/>
        <a:p>
          <a:endParaRPr lang="en-US" sz="1800"/>
        </a:p>
      </dgm:t>
    </dgm:pt>
    <dgm:pt modelId="{232A56CC-9038-479F-ACB7-515166CB3FBC}" type="sibTrans" cxnId="{F421869A-AD74-4FF0-9D70-72BC1519AC8C}">
      <dgm:prSet/>
      <dgm:spPr/>
      <dgm:t>
        <a:bodyPr/>
        <a:lstStyle/>
        <a:p>
          <a:endParaRPr lang="en-US" sz="1800"/>
        </a:p>
      </dgm:t>
    </dgm:pt>
    <dgm:pt modelId="{2FC099A3-89BB-4565-974F-37A4BDDEFEC2}">
      <dgm:prSet phldrT="[Text]" custT="1"/>
      <dgm:spPr/>
      <dgm:t>
        <a:bodyPr/>
        <a:lstStyle/>
        <a:p>
          <a:r>
            <a:rPr lang="en-US" sz="1800" dirty="0"/>
            <a:t>1. Replicated the agent advantage effect: </a:t>
          </a:r>
          <a:r>
            <a:rPr lang="en-US" sz="1800" b="1" dirty="0">
              <a:solidFill>
                <a:srgbClr val="000000"/>
              </a:solidFill>
              <a:latin typeface="Calibri" panose="020F0502020204030204" pitchFamily="34" charset="0"/>
              <a:ea typeface="SimSun" panose="02010600030101010101" pitchFamily="2" charset="-122"/>
              <a:cs typeface="Calibri" panose="020F0502020204030204" pitchFamily="34" charset="0"/>
            </a:rPr>
            <a:t>RT </a:t>
          </a:r>
          <a:r>
            <a:rPr lang="en-US" sz="1800" b="1" baseline="-25000" dirty="0">
              <a:solidFill>
                <a:srgbClr val="000000"/>
              </a:solidFill>
              <a:latin typeface="Calibri" panose="020F0502020204030204" pitchFamily="34" charset="0"/>
              <a:ea typeface="SimSun" panose="02010600030101010101" pitchFamily="2" charset="-122"/>
              <a:cs typeface="Calibri" panose="020F0502020204030204" pitchFamily="34" charset="0"/>
            </a:rPr>
            <a:t>agent search</a:t>
          </a:r>
          <a:r>
            <a:rPr lang="en-US" sz="1800" b="1" dirty="0">
              <a:solidFill>
                <a:srgbClr val="000000"/>
              </a:solidFill>
              <a:latin typeface="Calibri" panose="020F0502020204030204" pitchFamily="34" charset="0"/>
              <a:ea typeface="SimSun" panose="02010600030101010101" pitchFamily="2" charset="-122"/>
              <a:cs typeface="Calibri" panose="020F0502020204030204" pitchFamily="34" charset="0"/>
            </a:rPr>
            <a:t>     &lt;     </a:t>
          </a:r>
          <a:r>
            <a:rPr kumimoji="0" lang="en-US" sz="1800" b="1" i="0" u="none" strike="noStrike" cap="none" spc="0" normalizeH="0" baseline="0" noProof="0" dirty="0">
              <a:ln>
                <a:noFill/>
              </a:ln>
              <a:solidFill>
                <a:srgbClr val="000000"/>
              </a:solidFill>
              <a:effectLst/>
              <a:uLnTx/>
              <a:uFillTx/>
              <a:latin typeface="Calibri" panose="020F0502020204030204" pitchFamily="34" charset="0"/>
              <a:ea typeface="SimSun" panose="02010600030101010101" pitchFamily="2" charset="-122"/>
              <a:cs typeface="Calibri" panose="020F0502020204030204" pitchFamily="34" charset="0"/>
            </a:rPr>
            <a:t>RT </a:t>
          </a:r>
          <a:r>
            <a:rPr kumimoji="0" lang="en-US" sz="1800" b="1" i="0" u="none" strike="noStrike" cap="none" spc="0" normalizeH="0" baseline="-25000" noProof="0" dirty="0">
              <a:ln>
                <a:noFill/>
              </a:ln>
              <a:solidFill>
                <a:srgbClr val="000000"/>
              </a:solidFill>
              <a:effectLst/>
              <a:uLnTx/>
              <a:uFillTx/>
              <a:latin typeface="Calibri" panose="020F0502020204030204" pitchFamily="34" charset="0"/>
              <a:ea typeface="SimSun" panose="02010600030101010101" pitchFamily="2" charset="-122"/>
              <a:cs typeface="Calibri" panose="020F0502020204030204" pitchFamily="34" charset="0"/>
            </a:rPr>
            <a:t>patient search</a:t>
          </a:r>
          <a:endParaRPr lang="en-US" sz="1800" dirty="0"/>
        </a:p>
      </dgm:t>
    </dgm:pt>
    <dgm:pt modelId="{EF88FB06-FE03-4089-8505-6DC10CC4B716}" type="parTrans" cxnId="{0FC7C232-2AEA-4CA4-8A27-9283C9C34945}">
      <dgm:prSet/>
      <dgm:spPr/>
      <dgm:t>
        <a:bodyPr/>
        <a:lstStyle/>
        <a:p>
          <a:endParaRPr lang="en-US" sz="1800"/>
        </a:p>
      </dgm:t>
    </dgm:pt>
    <dgm:pt modelId="{5D3FB9E2-B611-4002-ABC2-08B4AF6341B6}" type="sibTrans" cxnId="{0FC7C232-2AEA-4CA4-8A27-9283C9C34945}">
      <dgm:prSet/>
      <dgm:spPr/>
      <dgm:t>
        <a:bodyPr/>
        <a:lstStyle/>
        <a:p>
          <a:endParaRPr lang="en-US" sz="1800"/>
        </a:p>
      </dgm:t>
    </dgm:pt>
    <dgm:pt modelId="{41D40E49-5284-42C7-91E7-A999451E270D}">
      <dgm:prSet phldrT="[Text]" custT="1"/>
      <dgm:spPr/>
      <dgm:t>
        <a:bodyPr/>
        <a:lstStyle/>
        <a:p>
          <a:r>
            <a:rPr lang="en-US" sz="1800" dirty="0"/>
            <a:t>2.</a:t>
          </a:r>
          <a:r>
            <a:rPr lang="en-US" sz="1800" b="1" dirty="0">
              <a:latin typeface="Calibri" panose="020F0502020204030204" pitchFamily="34" charset="0"/>
              <a:ea typeface="SimSun" panose="02010600030101010101" pitchFamily="2" charset="-122"/>
              <a:cs typeface="Calibri" panose="020F0502020204030204" pitchFamily="34" charset="0"/>
            </a:rPr>
            <a:t> During the </a:t>
          </a:r>
          <a:r>
            <a:rPr lang="en-US" sz="1800" b="1" dirty="0">
              <a:solidFill>
                <a:srgbClr val="FF0000"/>
              </a:solidFill>
              <a:latin typeface="Calibri" panose="020F0502020204030204" pitchFamily="34" charset="0"/>
              <a:ea typeface="SimSun" panose="02010600030101010101" pitchFamily="2" charset="-122"/>
              <a:cs typeface="Calibri" panose="020F0502020204030204" pitchFamily="34" charset="0"/>
            </a:rPr>
            <a:t>patient</a:t>
          </a:r>
          <a:r>
            <a:rPr lang="en-US" sz="1800" b="1" dirty="0">
              <a:latin typeface="Calibri" panose="020F0502020204030204" pitchFamily="34" charset="0"/>
              <a:ea typeface="SimSun" panose="02010600030101010101" pitchFamily="2" charset="-122"/>
              <a:cs typeface="Calibri" panose="020F0502020204030204" pitchFamily="34" charset="0"/>
            </a:rPr>
            <a:t> search:                                </a:t>
          </a:r>
          <a:r>
            <a:rPr lang="en-US" sz="1800" b="1" dirty="0">
              <a:solidFill>
                <a:srgbClr val="000000"/>
              </a:solidFill>
              <a:latin typeface="Calibri" panose="020F0502020204030204" pitchFamily="34" charset="0"/>
              <a:ea typeface="SimSun" panose="02010600030101010101" pitchFamily="2" charset="-122"/>
              <a:cs typeface="Calibri" panose="020F0502020204030204" pitchFamily="34" charset="0"/>
            </a:rPr>
            <a:t>Last </a:t>
          </a:r>
          <a:r>
            <a:rPr lang="en-US" sz="1800" b="1" dirty="0" err="1">
              <a:solidFill>
                <a:srgbClr val="000000"/>
              </a:solidFill>
              <a:latin typeface="Calibri" panose="020F0502020204030204" pitchFamily="34" charset="0"/>
              <a:ea typeface="SimSun" panose="02010600030101010101" pitchFamily="2" charset="-122"/>
              <a:cs typeface="Calibri" panose="020F0502020204030204" pitchFamily="34" charset="0"/>
            </a:rPr>
            <a:t>Fixation</a:t>
          </a:r>
          <a:r>
            <a:rPr lang="en-US" sz="1800" b="1" baseline="-25000" dirty="0" err="1">
              <a:solidFill>
                <a:srgbClr val="000000"/>
              </a:solidFill>
              <a:latin typeface="Calibri" panose="020F0502020204030204" pitchFamily="34" charset="0"/>
              <a:ea typeface="SimSun" panose="02010600030101010101" pitchFamily="2" charset="-122"/>
              <a:cs typeface="Calibri" panose="020F0502020204030204" pitchFamily="34" charset="0"/>
            </a:rPr>
            <a:t>agent</a:t>
          </a:r>
          <a:r>
            <a:rPr lang="en-US" sz="1800" b="1" baseline="-25000" dirty="0">
              <a:solidFill>
                <a:srgbClr val="000000"/>
              </a:solidFill>
              <a:latin typeface="Calibri" panose="020F0502020204030204" pitchFamily="34" charset="0"/>
              <a:ea typeface="SimSun" panose="02010600030101010101" pitchFamily="2" charset="-122"/>
              <a:cs typeface="Calibri" panose="020F0502020204030204" pitchFamily="34" charset="0"/>
            </a:rPr>
            <a:t>     </a:t>
          </a:r>
          <a:r>
            <a:rPr lang="en-US" sz="1800" b="1" dirty="0">
              <a:solidFill>
                <a:srgbClr val="000000"/>
              </a:solidFill>
              <a:latin typeface="Calibri" panose="020F0502020204030204" pitchFamily="34" charset="0"/>
              <a:ea typeface="SimSun" panose="02010600030101010101" pitchFamily="2" charset="-122"/>
              <a:cs typeface="Calibri" panose="020F0502020204030204" pitchFamily="34" charset="0"/>
            </a:rPr>
            <a:t>&lt;    </a:t>
          </a:r>
          <a:r>
            <a:rPr kumimoji="0" lang="en-US" sz="1800" b="1" i="0" u="none" strike="noStrike" cap="none" spc="0" normalizeH="0" baseline="0" noProof="0" dirty="0">
              <a:ln>
                <a:noFill/>
              </a:ln>
              <a:solidFill>
                <a:srgbClr val="000000"/>
              </a:solidFill>
              <a:effectLst/>
              <a:uLnTx/>
              <a:uFillTx/>
              <a:latin typeface="Calibri" panose="020F0502020204030204" pitchFamily="34" charset="0"/>
              <a:ea typeface="SimSun" panose="02010600030101010101" pitchFamily="2" charset="-122"/>
              <a:cs typeface="Calibri" panose="020F0502020204030204" pitchFamily="34" charset="0"/>
            </a:rPr>
            <a:t>Last </a:t>
          </a:r>
          <a:r>
            <a:rPr kumimoji="0" lang="en-US" sz="1800" b="1" i="0" u="none" strike="noStrike" cap="none" spc="0" normalizeH="0" baseline="0" noProof="0" dirty="0" err="1">
              <a:ln>
                <a:noFill/>
              </a:ln>
              <a:solidFill>
                <a:srgbClr val="000000"/>
              </a:solidFill>
              <a:effectLst/>
              <a:uLnTx/>
              <a:uFillTx/>
              <a:latin typeface="Calibri" panose="020F0502020204030204" pitchFamily="34" charset="0"/>
              <a:ea typeface="SimSun" panose="02010600030101010101" pitchFamily="2" charset="-122"/>
              <a:cs typeface="Calibri" panose="020F0502020204030204" pitchFamily="34" charset="0"/>
            </a:rPr>
            <a:t>Fixation</a:t>
          </a:r>
          <a:r>
            <a:rPr kumimoji="0" lang="en-US" sz="1800" b="1" i="0" u="none" strike="noStrike" cap="none" spc="0" normalizeH="0" baseline="-25000" noProof="0" dirty="0" err="1">
              <a:ln>
                <a:noFill/>
              </a:ln>
              <a:solidFill>
                <a:srgbClr val="000000"/>
              </a:solidFill>
              <a:effectLst/>
              <a:uLnTx/>
              <a:uFillTx/>
              <a:latin typeface="Calibri" panose="020F0502020204030204" pitchFamily="34" charset="0"/>
              <a:ea typeface="SimSun" panose="02010600030101010101" pitchFamily="2" charset="-122"/>
              <a:cs typeface="Calibri" panose="020F0502020204030204" pitchFamily="34" charset="0"/>
            </a:rPr>
            <a:t>patient</a:t>
          </a:r>
          <a:r>
            <a:rPr lang="en-US" sz="1800" b="1" dirty="0">
              <a:latin typeface="Calibri" panose="020F0502020204030204" pitchFamily="34" charset="0"/>
              <a:ea typeface="SimSun" panose="02010600030101010101" pitchFamily="2" charset="-122"/>
              <a:cs typeface="Calibri" panose="020F0502020204030204" pitchFamily="34" charset="0"/>
            </a:rPr>
            <a:t> </a:t>
          </a:r>
          <a:endParaRPr lang="en-US" sz="1800" dirty="0"/>
        </a:p>
      </dgm:t>
    </dgm:pt>
    <dgm:pt modelId="{2318A1B7-9F15-44F8-8544-B76639B793FF}" type="parTrans" cxnId="{D19FB3B8-BA63-4C15-B4EA-F36411A90555}">
      <dgm:prSet/>
      <dgm:spPr/>
      <dgm:t>
        <a:bodyPr/>
        <a:lstStyle/>
        <a:p>
          <a:endParaRPr lang="en-US"/>
        </a:p>
      </dgm:t>
    </dgm:pt>
    <dgm:pt modelId="{F4D67F7D-19C5-47DE-A847-A9F151514C8C}" type="sibTrans" cxnId="{D19FB3B8-BA63-4C15-B4EA-F36411A90555}">
      <dgm:prSet/>
      <dgm:spPr/>
      <dgm:t>
        <a:bodyPr/>
        <a:lstStyle/>
        <a:p>
          <a:endParaRPr lang="en-US"/>
        </a:p>
      </dgm:t>
    </dgm:pt>
    <dgm:pt modelId="{E9075C4A-2164-4838-ADC8-7E053285F70E}" type="pres">
      <dgm:prSet presAssocID="{21E75EF2-DF01-49C0-B777-807D85782205}" presName="Name0" presStyleCnt="0">
        <dgm:presLayoutVars>
          <dgm:chPref val="1"/>
          <dgm:dir/>
          <dgm:animOne val="branch"/>
          <dgm:animLvl val="lvl"/>
          <dgm:resizeHandles/>
        </dgm:presLayoutVars>
      </dgm:prSet>
      <dgm:spPr/>
    </dgm:pt>
    <dgm:pt modelId="{B0550CBC-8E18-423C-AE70-53749755337D}" type="pres">
      <dgm:prSet presAssocID="{716FD96D-E877-4E59-A797-862DF35F3CB3}" presName="vertOne" presStyleCnt="0"/>
      <dgm:spPr/>
    </dgm:pt>
    <dgm:pt modelId="{B09BA69D-5FA0-4F77-8A86-70E99F146854}" type="pres">
      <dgm:prSet presAssocID="{716FD96D-E877-4E59-A797-862DF35F3CB3}" presName="txOne" presStyleLbl="node0" presStyleIdx="0" presStyleCnt="1">
        <dgm:presLayoutVars>
          <dgm:chPref val="3"/>
        </dgm:presLayoutVars>
      </dgm:prSet>
      <dgm:spPr/>
    </dgm:pt>
    <dgm:pt modelId="{9DEED5A1-0DB5-45C4-9433-1C2488FB4655}" type="pres">
      <dgm:prSet presAssocID="{716FD96D-E877-4E59-A797-862DF35F3CB3}" presName="parTransOne" presStyleCnt="0"/>
      <dgm:spPr/>
    </dgm:pt>
    <dgm:pt modelId="{B5EB6B1B-0343-444A-8C64-6B94DD02C41F}" type="pres">
      <dgm:prSet presAssocID="{716FD96D-E877-4E59-A797-862DF35F3CB3}" presName="horzOne" presStyleCnt="0"/>
      <dgm:spPr/>
    </dgm:pt>
    <dgm:pt modelId="{BE3BB942-C820-4DE9-AE05-721108B75425}" type="pres">
      <dgm:prSet presAssocID="{9C0529E7-B3FD-4A2B-8E96-BE62F1BABACB}" presName="vertTwo" presStyleCnt="0"/>
      <dgm:spPr/>
    </dgm:pt>
    <dgm:pt modelId="{234962F9-7A3E-46C6-9055-FB57BE5F51B4}" type="pres">
      <dgm:prSet presAssocID="{9C0529E7-B3FD-4A2B-8E96-BE62F1BABACB}" presName="txTwo" presStyleLbl="node2" presStyleIdx="0" presStyleCnt="2" custLinFactNeighborX="-114" custLinFactNeighborY="29930">
        <dgm:presLayoutVars>
          <dgm:chPref val="3"/>
        </dgm:presLayoutVars>
      </dgm:prSet>
      <dgm:spPr/>
    </dgm:pt>
    <dgm:pt modelId="{9738F645-F08D-497B-899E-90F4C95DEDC7}" type="pres">
      <dgm:prSet presAssocID="{9C0529E7-B3FD-4A2B-8E96-BE62F1BABACB}" presName="parTransTwo" presStyleCnt="0"/>
      <dgm:spPr/>
    </dgm:pt>
    <dgm:pt modelId="{9CFB8580-676C-4D0E-91FC-F4D489134C80}" type="pres">
      <dgm:prSet presAssocID="{9C0529E7-B3FD-4A2B-8E96-BE62F1BABACB}" presName="horzTwo" presStyleCnt="0"/>
      <dgm:spPr/>
    </dgm:pt>
    <dgm:pt modelId="{97397289-2DCF-44C3-8FB7-6E5E5CC3C409}" type="pres">
      <dgm:prSet presAssocID="{A139445E-7CDA-43C7-87B8-4DCD08EE26B1}" presName="vertThree" presStyleCnt="0"/>
      <dgm:spPr/>
    </dgm:pt>
    <dgm:pt modelId="{6A58AB54-1BFF-436C-AE97-D6C16B970CEA}" type="pres">
      <dgm:prSet presAssocID="{A139445E-7CDA-43C7-87B8-4DCD08EE26B1}" presName="txThree" presStyleLbl="node3" presStyleIdx="0" presStyleCnt="2">
        <dgm:presLayoutVars>
          <dgm:chPref val="3"/>
        </dgm:presLayoutVars>
      </dgm:prSet>
      <dgm:spPr/>
    </dgm:pt>
    <dgm:pt modelId="{906AFC81-3D94-41BA-B0BD-CEB9EB2905C9}" type="pres">
      <dgm:prSet presAssocID="{A139445E-7CDA-43C7-87B8-4DCD08EE26B1}" presName="parTransThree" presStyleCnt="0"/>
      <dgm:spPr/>
    </dgm:pt>
    <dgm:pt modelId="{22CCA7E9-75A1-4B96-8C49-752EA405E87E}" type="pres">
      <dgm:prSet presAssocID="{A139445E-7CDA-43C7-87B8-4DCD08EE26B1}" presName="horzThree" presStyleCnt="0"/>
      <dgm:spPr/>
    </dgm:pt>
    <dgm:pt modelId="{00973969-284D-4A54-9296-7DC4544FFCD9}" type="pres">
      <dgm:prSet presAssocID="{47A0635F-3D44-45AA-B699-5CA29B1EC10B}" presName="vertFour" presStyleCnt="0">
        <dgm:presLayoutVars>
          <dgm:chPref val="3"/>
        </dgm:presLayoutVars>
      </dgm:prSet>
      <dgm:spPr/>
    </dgm:pt>
    <dgm:pt modelId="{0215DAA2-DDCC-4443-97A6-9FACF7D3D85C}" type="pres">
      <dgm:prSet presAssocID="{47A0635F-3D44-45AA-B699-5CA29B1EC10B}" presName="txFour" presStyleLbl="node4" presStyleIdx="0" presStyleCnt="2">
        <dgm:presLayoutVars>
          <dgm:chPref val="3"/>
        </dgm:presLayoutVars>
      </dgm:prSet>
      <dgm:spPr/>
    </dgm:pt>
    <dgm:pt modelId="{82D4C519-3ACE-4179-89DD-6D853DB0C102}" type="pres">
      <dgm:prSet presAssocID="{47A0635F-3D44-45AA-B699-5CA29B1EC10B}" presName="horzFour" presStyleCnt="0"/>
      <dgm:spPr/>
    </dgm:pt>
    <dgm:pt modelId="{21C582D4-D989-464B-A760-41817D643E1E}" type="pres">
      <dgm:prSet presAssocID="{8CDC154D-363F-4AC8-B690-38BB5CD0611C}" presName="sibSpaceTwo" presStyleCnt="0"/>
      <dgm:spPr/>
    </dgm:pt>
    <dgm:pt modelId="{51140836-6390-4B5E-BF86-6F9894E80193}" type="pres">
      <dgm:prSet presAssocID="{AB1C6577-98C2-487D-B2BB-4EF1E3B8FEB1}" presName="vertTwo" presStyleCnt="0"/>
      <dgm:spPr/>
    </dgm:pt>
    <dgm:pt modelId="{C1494B4B-6776-4AFC-8248-10BDE4D2A08E}" type="pres">
      <dgm:prSet presAssocID="{AB1C6577-98C2-487D-B2BB-4EF1E3B8FEB1}" presName="txTwo" presStyleLbl="node2" presStyleIdx="1" presStyleCnt="2">
        <dgm:presLayoutVars>
          <dgm:chPref val="3"/>
        </dgm:presLayoutVars>
      </dgm:prSet>
      <dgm:spPr/>
    </dgm:pt>
    <dgm:pt modelId="{EEA981BC-D0D8-4C11-B8BD-A7B17F16B1AD}" type="pres">
      <dgm:prSet presAssocID="{AB1C6577-98C2-487D-B2BB-4EF1E3B8FEB1}" presName="parTransTwo" presStyleCnt="0"/>
      <dgm:spPr/>
    </dgm:pt>
    <dgm:pt modelId="{CD7EB92E-CD37-4D26-B1A6-363F9CA9C7C0}" type="pres">
      <dgm:prSet presAssocID="{AB1C6577-98C2-487D-B2BB-4EF1E3B8FEB1}" presName="horzTwo" presStyleCnt="0"/>
      <dgm:spPr/>
    </dgm:pt>
    <dgm:pt modelId="{C3DF0AE5-5D05-43CD-917F-D9AC9FD06AEB}" type="pres">
      <dgm:prSet presAssocID="{2FC099A3-89BB-4565-974F-37A4BDDEFEC2}" presName="vertThree" presStyleCnt="0"/>
      <dgm:spPr/>
    </dgm:pt>
    <dgm:pt modelId="{AF6DA579-D12E-491F-892A-1F8AE033CE07}" type="pres">
      <dgm:prSet presAssocID="{2FC099A3-89BB-4565-974F-37A4BDDEFEC2}" presName="txThree" presStyleLbl="node3" presStyleIdx="1" presStyleCnt="2">
        <dgm:presLayoutVars>
          <dgm:chPref val="3"/>
        </dgm:presLayoutVars>
      </dgm:prSet>
      <dgm:spPr/>
    </dgm:pt>
    <dgm:pt modelId="{A9294A8B-FB22-4F13-9BB7-23F147D43A9D}" type="pres">
      <dgm:prSet presAssocID="{2FC099A3-89BB-4565-974F-37A4BDDEFEC2}" presName="parTransThree" presStyleCnt="0"/>
      <dgm:spPr/>
    </dgm:pt>
    <dgm:pt modelId="{A6ED9108-8B7A-43DA-BD70-1A6E04DBE499}" type="pres">
      <dgm:prSet presAssocID="{2FC099A3-89BB-4565-974F-37A4BDDEFEC2}" presName="horzThree" presStyleCnt="0"/>
      <dgm:spPr/>
    </dgm:pt>
    <dgm:pt modelId="{D1394D87-77AE-4795-801B-D52093B8CAC2}" type="pres">
      <dgm:prSet presAssocID="{41D40E49-5284-42C7-91E7-A999451E270D}" presName="vertFour" presStyleCnt="0">
        <dgm:presLayoutVars>
          <dgm:chPref val="3"/>
        </dgm:presLayoutVars>
      </dgm:prSet>
      <dgm:spPr/>
    </dgm:pt>
    <dgm:pt modelId="{A1D0066E-FBFB-4EA8-AA2F-6CA7417DF253}" type="pres">
      <dgm:prSet presAssocID="{41D40E49-5284-42C7-91E7-A999451E270D}" presName="txFour" presStyleLbl="node4" presStyleIdx="1" presStyleCnt="2">
        <dgm:presLayoutVars>
          <dgm:chPref val="3"/>
        </dgm:presLayoutVars>
      </dgm:prSet>
      <dgm:spPr/>
    </dgm:pt>
    <dgm:pt modelId="{CCA47277-0DCE-48DD-996D-00617B8041A2}" type="pres">
      <dgm:prSet presAssocID="{41D40E49-5284-42C7-91E7-A999451E270D}" presName="horzFour" presStyleCnt="0"/>
      <dgm:spPr/>
    </dgm:pt>
  </dgm:ptLst>
  <dgm:cxnLst>
    <dgm:cxn modelId="{85CEED30-58BF-4448-BEA5-8211CD570B43}" srcId="{716FD96D-E877-4E59-A797-862DF35F3CB3}" destId="{9C0529E7-B3FD-4A2B-8E96-BE62F1BABACB}" srcOrd="0" destOrd="0" parTransId="{1AEA38AB-AB07-4AD0-ADE8-DFB8C6F38D56}" sibTransId="{8CDC154D-363F-4AC8-B690-38BB5CD0611C}"/>
    <dgm:cxn modelId="{0FC7C232-2AEA-4CA4-8A27-9283C9C34945}" srcId="{AB1C6577-98C2-487D-B2BB-4EF1E3B8FEB1}" destId="{2FC099A3-89BB-4565-974F-37A4BDDEFEC2}" srcOrd="0" destOrd="0" parTransId="{EF88FB06-FE03-4089-8505-6DC10CC4B716}" sibTransId="{5D3FB9E2-B611-4002-ABC2-08B4AF6341B6}"/>
    <dgm:cxn modelId="{DBD35B38-5605-47FA-B12C-0E167BC8D7D1}" type="presOf" srcId="{A139445E-7CDA-43C7-87B8-4DCD08EE26B1}" destId="{6A58AB54-1BFF-436C-AE97-D6C16B970CEA}" srcOrd="0" destOrd="0" presId="urn:microsoft.com/office/officeart/2005/8/layout/hierarchy4"/>
    <dgm:cxn modelId="{F177E138-F381-42D3-AE99-EABD9A4E7F8E}" srcId="{21E75EF2-DF01-49C0-B777-807D85782205}" destId="{716FD96D-E877-4E59-A797-862DF35F3CB3}" srcOrd="0" destOrd="0" parTransId="{90549982-E35B-4804-855E-7C2A4805E792}" sibTransId="{3402A4FB-6921-4743-8987-76FD6EC14366}"/>
    <dgm:cxn modelId="{9C87EF63-5F4D-4071-9C95-4839543CC504}" type="presOf" srcId="{2FC099A3-89BB-4565-974F-37A4BDDEFEC2}" destId="{AF6DA579-D12E-491F-892A-1F8AE033CE07}" srcOrd="0" destOrd="0" presId="urn:microsoft.com/office/officeart/2005/8/layout/hierarchy4"/>
    <dgm:cxn modelId="{96196C7A-2276-44D8-8383-CA6344B26652}" type="presOf" srcId="{21E75EF2-DF01-49C0-B777-807D85782205}" destId="{E9075C4A-2164-4838-ADC8-7E053285F70E}" srcOrd="0" destOrd="0" presId="urn:microsoft.com/office/officeart/2005/8/layout/hierarchy4"/>
    <dgm:cxn modelId="{A50E437B-150E-4BA7-B14C-AA5DB6E6BB35}" type="presOf" srcId="{AB1C6577-98C2-487D-B2BB-4EF1E3B8FEB1}" destId="{C1494B4B-6776-4AFC-8248-10BDE4D2A08E}" srcOrd="0" destOrd="0" presId="urn:microsoft.com/office/officeart/2005/8/layout/hierarchy4"/>
    <dgm:cxn modelId="{9DDE4990-2785-4D8B-9FD5-9484DCFF6475}" srcId="{A139445E-7CDA-43C7-87B8-4DCD08EE26B1}" destId="{47A0635F-3D44-45AA-B699-5CA29B1EC10B}" srcOrd="0" destOrd="0" parTransId="{7F84B65C-8197-45A6-991E-BF036184CEA0}" sibTransId="{0C3CD290-A25C-4BE9-BA21-17FE057C1B85}"/>
    <dgm:cxn modelId="{F421869A-AD74-4FF0-9D70-72BC1519AC8C}" srcId="{9C0529E7-B3FD-4A2B-8E96-BE62F1BABACB}" destId="{A139445E-7CDA-43C7-87B8-4DCD08EE26B1}" srcOrd="0" destOrd="0" parTransId="{A915BADE-E07C-4B45-8B2B-60C880E27498}" sibTransId="{232A56CC-9038-479F-ACB7-515166CB3FBC}"/>
    <dgm:cxn modelId="{AA8ABDAF-D3B8-4479-96BE-88DE08FEA43A}" srcId="{716FD96D-E877-4E59-A797-862DF35F3CB3}" destId="{AB1C6577-98C2-487D-B2BB-4EF1E3B8FEB1}" srcOrd="1" destOrd="0" parTransId="{55500C5D-732E-491A-9D65-50EB54BE179A}" sibTransId="{161BDB53-420B-4081-984C-25C7EB4A11BC}"/>
    <dgm:cxn modelId="{C8334DB1-3B6C-4F32-8E2D-29E37BBD7DE5}" type="presOf" srcId="{47A0635F-3D44-45AA-B699-5CA29B1EC10B}" destId="{0215DAA2-DDCC-4443-97A6-9FACF7D3D85C}" srcOrd="0" destOrd="0" presId="urn:microsoft.com/office/officeart/2005/8/layout/hierarchy4"/>
    <dgm:cxn modelId="{6FABE3B5-E2B5-4CB8-90D0-64C8F8B527AE}" type="presOf" srcId="{41D40E49-5284-42C7-91E7-A999451E270D}" destId="{A1D0066E-FBFB-4EA8-AA2F-6CA7417DF253}" srcOrd="0" destOrd="0" presId="urn:microsoft.com/office/officeart/2005/8/layout/hierarchy4"/>
    <dgm:cxn modelId="{D19FB3B8-BA63-4C15-B4EA-F36411A90555}" srcId="{2FC099A3-89BB-4565-974F-37A4BDDEFEC2}" destId="{41D40E49-5284-42C7-91E7-A999451E270D}" srcOrd="0" destOrd="0" parTransId="{2318A1B7-9F15-44F8-8544-B76639B793FF}" sibTransId="{F4D67F7D-19C5-47DE-A847-A9F151514C8C}"/>
    <dgm:cxn modelId="{241725D2-27DF-4451-A353-125206405657}" type="presOf" srcId="{9C0529E7-B3FD-4A2B-8E96-BE62F1BABACB}" destId="{234962F9-7A3E-46C6-9055-FB57BE5F51B4}" srcOrd="0" destOrd="0" presId="urn:microsoft.com/office/officeart/2005/8/layout/hierarchy4"/>
    <dgm:cxn modelId="{A42AA7FB-F95E-4510-982B-6FED8EF4236F}" type="presOf" srcId="{716FD96D-E877-4E59-A797-862DF35F3CB3}" destId="{B09BA69D-5FA0-4F77-8A86-70E99F146854}" srcOrd="0" destOrd="0" presId="urn:microsoft.com/office/officeart/2005/8/layout/hierarchy4"/>
    <dgm:cxn modelId="{B51C4813-589A-495D-90AE-AC85277D4F8D}" type="presParOf" srcId="{E9075C4A-2164-4838-ADC8-7E053285F70E}" destId="{B0550CBC-8E18-423C-AE70-53749755337D}" srcOrd="0" destOrd="0" presId="urn:microsoft.com/office/officeart/2005/8/layout/hierarchy4"/>
    <dgm:cxn modelId="{0F393375-F8B3-4862-8BD9-196D177E096D}" type="presParOf" srcId="{B0550CBC-8E18-423C-AE70-53749755337D}" destId="{B09BA69D-5FA0-4F77-8A86-70E99F146854}" srcOrd="0" destOrd="0" presId="urn:microsoft.com/office/officeart/2005/8/layout/hierarchy4"/>
    <dgm:cxn modelId="{C8D2BB9B-37E2-4577-A58E-7E40F10A936A}" type="presParOf" srcId="{B0550CBC-8E18-423C-AE70-53749755337D}" destId="{9DEED5A1-0DB5-45C4-9433-1C2488FB4655}" srcOrd="1" destOrd="0" presId="urn:microsoft.com/office/officeart/2005/8/layout/hierarchy4"/>
    <dgm:cxn modelId="{29B99D13-7E33-4E3F-A76A-7D676ADD0AD6}" type="presParOf" srcId="{B0550CBC-8E18-423C-AE70-53749755337D}" destId="{B5EB6B1B-0343-444A-8C64-6B94DD02C41F}" srcOrd="2" destOrd="0" presId="urn:microsoft.com/office/officeart/2005/8/layout/hierarchy4"/>
    <dgm:cxn modelId="{1B313392-2E9A-438A-B771-324D08A3E861}" type="presParOf" srcId="{B5EB6B1B-0343-444A-8C64-6B94DD02C41F}" destId="{BE3BB942-C820-4DE9-AE05-721108B75425}" srcOrd="0" destOrd="0" presId="urn:microsoft.com/office/officeart/2005/8/layout/hierarchy4"/>
    <dgm:cxn modelId="{A5AEA70B-BF18-4BE8-B9DB-1187505A3FCD}" type="presParOf" srcId="{BE3BB942-C820-4DE9-AE05-721108B75425}" destId="{234962F9-7A3E-46C6-9055-FB57BE5F51B4}" srcOrd="0" destOrd="0" presId="urn:microsoft.com/office/officeart/2005/8/layout/hierarchy4"/>
    <dgm:cxn modelId="{34313325-CA6A-4934-B2EE-3DDA21EEA729}" type="presParOf" srcId="{BE3BB942-C820-4DE9-AE05-721108B75425}" destId="{9738F645-F08D-497B-899E-90F4C95DEDC7}" srcOrd="1" destOrd="0" presId="urn:microsoft.com/office/officeart/2005/8/layout/hierarchy4"/>
    <dgm:cxn modelId="{3A9493C5-D441-4CAF-9EC9-F92A28271121}" type="presParOf" srcId="{BE3BB942-C820-4DE9-AE05-721108B75425}" destId="{9CFB8580-676C-4D0E-91FC-F4D489134C80}" srcOrd="2" destOrd="0" presId="urn:microsoft.com/office/officeart/2005/8/layout/hierarchy4"/>
    <dgm:cxn modelId="{B5409250-57F4-4D65-B9CA-6D438B9DD114}" type="presParOf" srcId="{9CFB8580-676C-4D0E-91FC-F4D489134C80}" destId="{97397289-2DCF-44C3-8FB7-6E5E5CC3C409}" srcOrd="0" destOrd="0" presId="urn:microsoft.com/office/officeart/2005/8/layout/hierarchy4"/>
    <dgm:cxn modelId="{2C5DB1E4-3AFB-4FD0-9442-4DAFBDE83C0A}" type="presParOf" srcId="{97397289-2DCF-44C3-8FB7-6E5E5CC3C409}" destId="{6A58AB54-1BFF-436C-AE97-D6C16B970CEA}" srcOrd="0" destOrd="0" presId="urn:microsoft.com/office/officeart/2005/8/layout/hierarchy4"/>
    <dgm:cxn modelId="{0805D950-BF6D-4CC7-9D59-B43E36299FBF}" type="presParOf" srcId="{97397289-2DCF-44C3-8FB7-6E5E5CC3C409}" destId="{906AFC81-3D94-41BA-B0BD-CEB9EB2905C9}" srcOrd="1" destOrd="0" presId="urn:microsoft.com/office/officeart/2005/8/layout/hierarchy4"/>
    <dgm:cxn modelId="{35769011-3BFE-4110-8D9B-1BB32989CCC1}" type="presParOf" srcId="{97397289-2DCF-44C3-8FB7-6E5E5CC3C409}" destId="{22CCA7E9-75A1-4B96-8C49-752EA405E87E}" srcOrd="2" destOrd="0" presId="urn:microsoft.com/office/officeart/2005/8/layout/hierarchy4"/>
    <dgm:cxn modelId="{EA77C7E0-405D-4D26-B1D2-0986987E6B3A}" type="presParOf" srcId="{22CCA7E9-75A1-4B96-8C49-752EA405E87E}" destId="{00973969-284D-4A54-9296-7DC4544FFCD9}" srcOrd="0" destOrd="0" presId="urn:microsoft.com/office/officeart/2005/8/layout/hierarchy4"/>
    <dgm:cxn modelId="{CB4F9B36-4DD3-4C42-9AE2-4D3305EB26DA}" type="presParOf" srcId="{00973969-284D-4A54-9296-7DC4544FFCD9}" destId="{0215DAA2-DDCC-4443-97A6-9FACF7D3D85C}" srcOrd="0" destOrd="0" presId="urn:microsoft.com/office/officeart/2005/8/layout/hierarchy4"/>
    <dgm:cxn modelId="{E7F053A6-ED5D-40B8-81F1-0E94FDD9FAD3}" type="presParOf" srcId="{00973969-284D-4A54-9296-7DC4544FFCD9}" destId="{82D4C519-3ACE-4179-89DD-6D853DB0C102}" srcOrd="1" destOrd="0" presId="urn:microsoft.com/office/officeart/2005/8/layout/hierarchy4"/>
    <dgm:cxn modelId="{C3881C23-36FB-49CB-A5C8-98E2131B9FA0}" type="presParOf" srcId="{B5EB6B1B-0343-444A-8C64-6B94DD02C41F}" destId="{21C582D4-D989-464B-A760-41817D643E1E}" srcOrd="1" destOrd="0" presId="urn:microsoft.com/office/officeart/2005/8/layout/hierarchy4"/>
    <dgm:cxn modelId="{5328BE36-2119-49F4-998D-C7772B7CB666}" type="presParOf" srcId="{B5EB6B1B-0343-444A-8C64-6B94DD02C41F}" destId="{51140836-6390-4B5E-BF86-6F9894E80193}" srcOrd="2" destOrd="0" presId="urn:microsoft.com/office/officeart/2005/8/layout/hierarchy4"/>
    <dgm:cxn modelId="{2EBF79CD-236F-428A-84E3-B2CDD523C183}" type="presParOf" srcId="{51140836-6390-4B5E-BF86-6F9894E80193}" destId="{C1494B4B-6776-4AFC-8248-10BDE4D2A08E}" srcOrd="0" destOrd="0" presId="urn:microsoft.com/office/officeart/2005/8/layout/hierarchy4"/>
    <dgm:cxn modelId="{C1C50595-95C0-44C8-B2B5-F2F7CC2A7171}" type="presParOf" srcId="{51140836-6390-4B5E-BF86-6F9894E80193}" destId="{EEA981BC-D0D8-4C11-B8BD-A7B17F16B1AD}" srcOrd="1" destOrd="0" presId="urn:microsoft.com/office/officeart/2005/8/layout/hierarchy4"/>
    <dgm:cxn modelId="{2D35AF6E-B469-4C44-842D-D5764D91F899}" type="presParOf" srcId="{51140836-6390-4B5E-BF86-6F9894E80193}" destId="{CD7EB92E-CD37-4D26-B1A6-363F9CA9C7C0}" srcOrd="2" destOrd="0" presId="urn:microsoft.com/office/officeart/2005/8/layout/hierarchy4"/>
    <dgm:cxn modelId="{0DCF39A9-9F50-4254-A2A7-6B942DCA0CC0}" type="presParOf" srcId="{CD7EB92E-CD37-4D26-B1A6-363F9CA9C7C0}" destId="{C3DF0AE5-5D05-43CD-917F-D9AC9FD06AEB}" srcOrd="0" destOrd="0" presId="urn:microsoft.com/office/officeart/2005/8/layout/hierarchy4"/>
    <dgm:cxn modelId="{BC987358-238E-4994-83FA-657345D14C75}" type="presParOf" srcId="{C3DF0AE5-5D05-43CD-917F-D9AC9FD06AEB}" destId="{AF6DA579-D12E-491F-892A-1F8AE033CE07}" srcOrd="0" destOrd="0" presId="urn:microsoft.com/office/officeart/2005/8/layout/hierarchy4"/>
    <dgm:cxn modelId="{39873430-ABE9-4132-A1D7-86E81FF5A1CF}" type="presParOf" srcId="{C3DF0AE5-5D05-43CD-917F-D9AC9FD06AEB}" destId="{A9294A8B-FB22-4F13-9BB7-23F147D43A9D}" srcOrd="1" destOrd="0" presId="urn:microsoft.com/office/officeart/2005/8/layout/hierarchy4"/>
    <dgm:cxn modelId="{4D3937F2-58B4-4543-90BA-8C6190AE8BA7}" type="presParOf" srcId="{C3DF0AE5-5D05-43CD-917F-D9AC9FD06AEB}" destId="{A6ED9108-8B7A-43DA-BD70-1A6E04DBE499}" srcOrd="2" destOrd="0" presId="urn:microsoft.com/office/officeart/2005/8/layout/hierarchy4"/>
    <dgm:cxn modelId="{882D85C0-051A-438A-9312-061BCE3BCA10}" type="presParOf" srcId="{A6ED9108-8B7A-43DA-BD70-1A6E04DBE499}" destId="{D1394D87-77AE-4795-801B-D52093B8CAC2}" srcOrd="0" destOrd="0" presId="urn:microsoft.com/office/officeart/2005/8/layout/hierarchy4"/>
    <dgm:cxn modelId="{CA9AFC53-FE27-4BF7-9876-CB47AF02AF4A}" type="presParOf" srcId="{D1394D87-77AE-4795-801B-D52093B8CAC2}" destId="{A1D0066E-FBFB-4EA8-AA2F-6CA7417DF253}" srcOrd="0" destOrd="0" presId="urn:microsoft.com/office/officeart/2005/8/layout/hierarchy4"/>
    <dgm:cxn modelId="{BE76D71F-1F3B-4C14-A629-2C7024314C95}" type="presParOf" srcId="{D1394D87-77AE-4795-801B-D52093B8CAC2}" destId="{CCA47277-0DCE-48DD-996D-00617B8041A2}" srcOrd="1" destOrd="0" presId="urn:microsoft.com/office/officeart/2005/8/layout/hierarchy4"/>
  </dgm:cxnLst>
  <dgm:bg/>
  <dgm:whole/>
  <dgm:extLst>
    <a:ext uri="http://schemas.microsoft.com/office/drawing/2008/diagram">
      <dsp:dataModelExt xmlns:dsp="http://schemas.microsoft.com/office/drawing/2008/diagram" relId="rId6" minVer="http://schemas.openxmlformats.org/drawingml/2006/diagram"/>
    </a:ext>
    <a:ext uri="{C62137D5-CB1D-491B-B009-E17868A290BF}">
      <dgm14:recolorImg xmlns:dgm14="http://schemas.microsoft.com/office/drawing/2010/diagram" val="1"/>
    </a:ext>
  </dgm:extLst>
</dgm:dataModel>
</file>

<file path=ppt/diagrams/data5.xml><?xml version="1.0" encoding="utf-8"?>
<dgm:dataModel xmlns:dgm="http://schemas.openxmlformats.org/drawingml/2006/diagram" xmlns:a="http://schemas.openxmlformats.org/drawingml/2006/main">
  <dgm:ptLst>
    <dgm:pt modelId="{21E75EF2-DF01-49C0-B777-807D85782205}" type="doc">
      <dgm:prSet loTypeId="urn:microsoft.com/office/officeart/2005/8/layout/hierarchy4" loCatId="hierarchy" qsTypeId="urn:microsoft.com/office/officeart/2005/8/quickstyle/simple1" qsCatId="simple" csTypeId="urn:microsoft.com/office/officeart/2005/8/colors/accent0_1" csCatId="mainScheme" phldr="1"/>
      <dgm:spPr/>
      <dgm:t>
        <a:bodyPr/>
        <a:lstStyle/>
        <a:p>
          <a:endParaRPr lang="en-US"/>
        </a:p>
      </dgm:t>
    </dgm:pt>
    <dgm:pt modelId="{82AA7F52-AA42-45AF-8EF8-9C75FE2CE84E}">
      <dgm:prSet phldrT="[Text]" custT="1"/>
      <dgm:spPr/>
      <dgm:t>
        <a:bodyPr/>
        <a:lstStyle/>
        <a:p>
          <a:r>
            <a:rPr lang="en-US" sz="1800" dirty="0"/>
            <a:t>R</a:t>
          </a:r>
          <a:r>
            <a:rPr lang="en-US" altLang="zh-CN" sz="1800" dirty="0"/>
            <a:t>esults</a:t>
          </a:r>
          <a:endParaRPr lang="en-US" sz="1800" dirty="0"/>
        </a:p>
      </dgm:t>
    </dgm:pt>
    <dgm:pt modelId="{8F1454C9-7BE6-4034-A85F-04BDA49FC00B}" type="parTrans" cxnId="{60117FEB-7480-4DBF-836F-AB1D5274D280}">
      <dgm:prSet/>
      <dgm:spPr/>
      <dgm:t>
        <a:bodyPr/>
        <a:lstStyle/>
        <a:p>
          <a:endParaRPr lang="en-US" sz="1800"/>
        </a:p>
      </dgm:t>
    </dgm:pt>
    <dgm:pt modelId="{28D38FFB-0B6F-4428-9815-757B4BD0C90E}" type="sibTrans" cxnId="{60117FEB-7480-4DBF-836F-AB1D5274D280}">
      <dgm:prSet/>
      <dgm:spPr/>
      <dgm:t>
        <a:bodyPr/>
        <a:lstStyle/>
        <a:p>
          <a:endParaRPr lang="en-US" sz="1800"/>
        </a:p>
      </dgm:t>
    </dgm:pt>
    <dgm:pt modelId="{AB1C6577-98C2-487D-B2BB-4EF1E3B8FEB1}">
      <dgm:prSet phldrT="[Text]" custT="1"/>
      <dgm:spPr/>
      <dgm:t>
        <a:bodyPr/>
        <a:lstStyle/>
        <a:p>
          <a:r>
            <a:rPr lang="en-US" sz="1800" dirty="0"/>
            <a:t>Study 2</a:t>
          </a:r>
        </a:p>
      </dgm:t>
    </dgm:pt>
    <dgm:pt modelId="{55500C5D-732E-491A-9D65-50EB54BE179A}" type="parTrans" cxnId="{AA8ABDAF-D3B8-4479-96BE-88DE08FEA43A}">
      <dgm:prSet/>
      <dgm:spPr/>
      <dgm:t>
        <a:bodyPr/>
        <a:lstStyle/>
        <a:p>
          <a:endParaRPr lang="en-US" sz="1800"/>
        </a:p>
      </dgm:t>
    </dgm:pt>
    <dgm:pt modelId="{161BDB53-420B-4081-984C-25C7EB4A11BC}" type="sibTrans" cxnId="{AA8ABDAF-D3B8-4479-96BE-88DE08FEA43A}">
      <dgm:prSet/>
      <dgm:spPr/>
      <dgm:t>
        <a:bodyPr/>
        <a:lstStyle/>
        <a:p>
          <a:endParaRPr lang="en-US" sz="1800"/>
        </a:p>
      </dgm:t>
    </dgm:pt>
    <dgm:pt modelId="{716FD96D-E877-4E59-A797-862DF35F3CB3}">
      <dgm:prSet phldrT="[Text]" custT="1"/>
      <dgm:spPr/>
      <dgm:t>
        <a:bodyPr/>
        <a:lstStyle/>
        <a:p>
          <a:r>
            <a:rPr lang="en-US" sz="1800" dirty="0"/>
            <a:t>Agent Advantage Effect </a:t>
          </a:r>
          <a:br>
            <a:rPr lang="en-US" sz="1800" dirty="0"/>
          </a:br>
          <a:r>
            <a:rPr lang="en-US" sz="1800" dirty="0"/>
            <a:t>in pictures</a:t>
          </a:r>
        </a:p>
      </dgm:t>
    </dgm:pt>
    <dgm:pt modelId="{90549982-E35B-4804-855E-7C2A4805E792}" type="parTrans" cxnId="{F177E138-F381-42D3-AE99-EABD9A4E7F8E}">
      <dgm:prSet/>
      <dgm:spPr/>
      <dgm:t>
        <a:bodyPr/>
        <a:lstStyle/>
        <a:p>
          <a:endParaRPr lang="en-US" sz="1800"/>
        </a:p>
      </dgm:t>
    </dgm:pt>
    <dgm:pt modelId="{3402A4FB-6921-4743-8987-76FD6EC14366}" type="sibTrans" cxnId="{F177E138-F381-42D3-AE99-EABD9A4E7F8E}">
      <dgm:prSet/>
      <dgm:spPr/>
      <dgm:t>
        <a:bodyPr/>
        <a:lstStyle/>
        <a:p>
          <a:endParaRPr lang="en-US" sz="1800"/>
        </a:p>
      </dgm:t>
    </dgm:pt>
    <dgm:pt modelId="{2FC099A3-89BB-4565-974F-37A4BDDEFEC2}">
      <dgm:prSet phldrT="[Text]" custT="1"/>
      <dgm:spPr/>
      <dgm:t>
        <a:bodyPr/>
        <a:lstStyle/>
        <a:p>
          <a:r>
            <a:rPr lang="en-US" sz="1800" dirty="0"/>
            <a:t>Motion Line Study</a:t>
          </a:r>
        </a:p>
      </dgm:t>
    </dgm:pt>
    <dgm:pt modelId="{EF88FB06-FE03-4089-8505-6DC10CC4B716}" type="parTrans" cxnId="{0FC7C232-2AEA-4CA4-8A27-9283C9C34945}">
      <dgm:prSet/>
      <dgm:spPr/>
      <dgm:t>
        <a:bodyPr/>
        <a:lstStyle/>
        <a:p>
          <a:endParaRPr lang="en-US" sz="1800"/>
        </a:p>
      </dgm:t>
    </dgm:pt>
    <dgm:pt modelId="{5D3FB9E2-B611-4002-ABC2-08B4AF6341B6}" type="sibTrans" cxnId="{0FC7C232-2AEA-4CA4-8A27-9283C9C34945}">
      <dgm:prSet/>
      <dgm:spPr/>
      <dgm:t>
        <a:bodyPr/>
        <a:lstStyle/>
        <a:p>
          <a:endParaRPr lang="en-US" sz="1800"/>
        </a:p>
      </dgm:t>
    </dgm:pt>
    <dgm:pt modelId="{C3A27155-8B35-4EAC-A40B-2D4AD4A70F50}">
      <dgm:prSet phldrT="[Text]" custT="1"/>
      <dgm:spPr/>
      <dgm:t>
        <a:bodyPr/>
        <a:lstStyle/>
        <a:p>
          <a:r>
            <a:rPr lang="en-US" sz="1800" dirty="0"/>
            <a:t>1. Replicated the agent advantage effect: </a:t>
          </a:r>
          <a:r>
            <a:rPr lang="en-US" sz="1800" b="1" dirty="0">
              <a:solidFill>
                <a:srgbClr val="000000"/>
              </a:solidFill>
              <a:latin typeface="Calibri" panose="020F0502020204030204" pitchFamily="34" charset="0"/>
              <a:ea typeface="SimSun" panose="02010600030101010101" pitchFamily="2" charset="-122"/>
              <a:cs typeface="Calibri" panose="020F0502020204030204" pitchFamily="34" charset="0"/>
            </a:rPr>
            <a:t>RT </a:t>
          </a:r>
          <a:r>
            <a:rPr lang="en-US" sz="1800" b="1" baseline="-25000" dirty="0">
              <a:solidFill>
                <a:srgbClr val="000000"/>
              </a:solidFill>
              <a:latin typeface="Calibri" panose="020F0502020204030204" pitchFamily="34" charset="0"/>
              <a:ea typeface="SimSun" panose="02010600030101010101" pitchFamily="2" charset="-122"/>
              <a:cs typeface="Calibri" panose="020F0502020204030204" pitchFamily="34" charset="0"/>
            </a:rPr>
            <a:t>agent search</a:t>
          </a:r>
          <a:r>
            <a:rPr lang="en-US" sz="1800" b="1" dirty="0">
              <a:solidFill>
                <a:srgbClr val="000000"/>
              </a:solidFill>
              <a:latin typeface="Calibri" panose="020F0502020204030204" pitchFamily="34" charset="0"/>
              <a:ea typeface="SimSun" panose="02010600030101010101" pitchFamily="2" charset="-122"/>
              <a:cs typeface="Calibri" panose="020F0502020204030204" pitchFamily="34" charset="0"/>
            </a:rPr>
            <a:t>     &lt;     </a:t>
          </a:r>
          <a:r>
            <a:rPr kumimoji="0" lang="en-US" sz="1800" b="1" i="0" u="none" strike="noStrike" cap="none" spc="0" normalizeH="0" baseline="0" noProof="0" dirty="0">
              <a:ln>
                <a:noFill/>
              </a:ln>
              <a:solidFill>
                <a:srgbClr val="000000"/>
              </a:solidFill>
              <a:effectLst/>
              <a:uLnTx/>
              <a:uFillTx/>
              <a:latin typeface="Calibri" panose="020F0502020204030204" pitchFamily="34" charset="0"/>
              <a:ea typeface="SimSun" panose="02010600030101010101" pitchFamily="2" charset="-122"/>
              <a:cs typeface="Calibri" panose="020F0502020204030204" pitchFamily="34" charset="0"/>
            </a:rPr>
            <a:t>RT </a:t>
          </a:r>
          <a:r>
            <a:rPr kumimoji="0" lang="en-US" sz="1800" b="1" i="0" u="none" strike="noStrike" cap="none" spc="0" normalizeH="0" baseline="-25000" noProof="0" dirty="0">
              <a:ln>
                <a:noFill/>
              </a:ln>
              <a:solidFill>
                <a:srgbClr val="000000"/>
              </a:solidFill>
              <a:effectLst/>
              <a:uLnTx/>
              <a:uFillTx/>
              <a:latin typeface="Calibri" panose="020F0502020204030204" pitchFamily="34" charset="0"/>
              <a:ea typeface="SimSun" panose="02010600030101010101" pitchFamily="2" charset="-122"/>
              <a:cs typeface="Calibri" panose="020F0502020204030204" pitchFamily="34" charset="0"/>
            </a:rPr>
            <a:t>patient search</a:t>
          </a:r>
          <a:endParaRPr lang="en-US" sz="1800" dirty="0"/>
        </a:p>
      </dgm:t>
    </dgm:pt>
    <dgm:pt modelId="{9A6D9D11-0583-4D4A-804F-CE7C1A48728A}" type="parTrans" cxnId="{329E4A4A-2A2F-4B84-91FE-FD4969D4B571}">
      <dgm:prSet/>
      <dgm:spPr/>
      <dgm:t>
        <a:bodyPr/>
        <a:lstStyle/>
        <a:p>
          <a:endParaRPr lang="en-US" sz="1800"/>
        </a:p>
      </dgm:t>
    </dgm:pt>
    <dgm:pt modelId="{332E74EA-2969-422D-9C30-620362EC0B62}" type="sibTrans" cxnId="{329E4A4A-2A2F-4B84-91FE-FD4969D4B571}">
      <dgm:prSet/>
      <dgm:spPr/>
      <dgm:t>
        <a:bodyPr/>
        <a:lstStyle/>
        <a:p>
          <a:endParaRPr lang="en-US" sz="1800"/>
        </a:p>
      </dgm:t>
    </dgm:pt>
    <dgm:pt modelId="{41D40E49-5284-42C7-91E7-A999451E270D}">
      <dgm:prSet phldrT="[Text]" custT="1"/>
      <dgm:spPr/>
      <dgm:t>
        <a:bodyPr/>
        <a:lstStyle/>
        <a:p>
          <a:r>
            <a:rPr lang="en-US" sz="1800" dirty="0"/>
            <a:t>Study how comic elements impact the agent advantage effect in single pictures</a:t>
          </a:r>
        </a:p>
      </dgm:t>
    </dgm:pt>
    <dgm:pt modelId="{2318A1B7-9F15-44F8-8544-B76639B793FF}" type="parTrans" cxnId="{D19FB3B8-BA63-4C15-B4EA-F36411A90555}">
      <dgm:prSet/>
      <dgm:spPr/>
      <dgm:t>
        <a:bodyPr/>
        <a:lstStyle/>
        <a:p>
          <a:endParaRPr lang="en-US"/>
        </a:p>
      </dgm:t>
    </dgm:pt>
    <dgm:pt modelId="{F4D67F7D-19C5-47DE-A847-A9F151514C8C}" type="sibTrans" cxnId="{D19FB3B8-BA63-4C15-B4EA-F36411A90555}">
      <dgm:prSet/>
      <dgm:spPr/>
      <dgm:t>
        <a:bodyPr/>
        <a:lstStyle/>
        <a:p>
          <a:endParaRPr lang="en-US"/>
        </a:p>
      </dgm:t>
    </dgm:pt>
    <dgm:pt modelId="{8DDAFB03-CEC1-48F8-BF21-6D7BA973E313}">
      <dgm:prSet phldrT="[Text]" custT="1"/>
      <dgm:spPr/>
      <dgm:t>
        <a:bodyPr/>
        <a:lstStyle/>
        <a:p>
          <a:r>
            <a:rPr lang="en-US" sz="1800" dirty="0"/>
            <a:t>2. Motion lines had no impact toward the agent advantage effect.</a:t>
          </a:r>
        </a:p>
      </dgm:t>
    </dgm:pt>
    <dgm:pt modelId="{18FB3255-5928-4EE9-8A18-CBD5496BCC76}" type="parTrans" cxnId="{AD5CD14F-5D71-4841-B6F6-6C62DF2D5113}">
      <dgm:prSet/>
      <dgm:spPr/>
      <dgm:t>
        <a:bodyPr/>
        <a:lstStyle/>
        <a:p>
          <a:endParaRPr lang="en-US"/>
        </a:p>
      </dgm:t>
    </dgm:pt>
    <dgm:pt modelId="{A501A545-69B1-4728-80C8-EC9BF5D99767}" type="sibTrans" cxnId="{AD5CD14F-5D71-4841-B6F6-6C62DF2D5113}">
      <dgm:prSet/>
      <dgm:spPr/>
      <dgm:t>
        <a:bodyPr/>
        <a:lstStyle/>
        <a:p>
          <a:endParaRPr lang="en-US"/>
        </a:p>
      </dgm:t>
    </dgm:pt>
    <dgm:pt modelId="{E9075C4A-2164-4838-ADC8-7E053285F70E}" type="pres">
      <dgm:prSet presAssocID="{21E75EF2-DF01-49C0-B777-807D85782205}" presName="Name0" presStyleCnt="0">
        <dgm:presLayoutVars>
          <dgm:chPref val="1"/>
          <dgm:dir/>
          <dgm:animOne val="branch"/>
          <dgm:animLvl val="lvl"/>
          <dgm:resizeHandles/>
        </dgm:presLayoutVars>
      </dgm:prSet>
      <dgm:spPr/>
    </dgm:pt>
    <dgm:pt modelId="{B0550CBC-8E18-423C-AE70-53749755337D}" type="pres">
      <dgm:prSet presAssocID="{716FD96D-E877-4E59-A797-862DF35F3CB3}" presName="vertOne" presStyleCnt="0"/>
      <dgm:spPr/>
    </dgm:pt>
    <dgm:pt modelId="{B09BA69D-5FA0-4F77-8A86-70E99F146854}" type="pres">
      <dgm:prSet presAssocID="{716FD96D-E877-4E59-A797-862DF35F3CB3}" presName="txOne" presStyleLbl="node0" presStyleIdx="0" presStyleCnt="1">
        <dgm:presLayoutVars>
          <dgm:chPref val="3"/>
        </dgm:presLayoutVars>
      </dgm:prSet>
      <dgm:spPr/>
    </dgm:pt>
    <dgm:pt modelId="{9DEED5A1-0DB5-45C4-9433-1C2488FB4655}" type="pres">
      <dgm:prSet presAssocID="{716FD96D-E877-4E59-A797-862DF35F3CB3}" presName="parTransOne" presStyleCnt="0"/>
      <dgm:spPr/>
    </dgm:pt>
    <dgm:pt modelId="{B5EB6B1B-0343-444A-8C64-6B94DD02C41F}" type="pres">
      <dgm:prSet presAssocID="{716FD96D-E877-4E59-A797-862DF35F3CB3}" presName="horzOne" presStyleCnt="0"/>
      <dgm:spPr/>
    </dgm:pt>
    <dgm:pt modelId="{51140836-6390-4B5E-BF86-6F9894E80193}" type="pres">
      <dgm:prSet presAssocID="{AB1C6577-98C2-487D-B2BB-4EF1E3B8FEB1}" presName="vertTwo" presStyleCnt="0"/>
      <dgm:spPr/>
    </dgm:pt>
    <dgm:pt modelId="{C1494B4B-6776-4AFC-8248-10BDE4D2A08E}" type="pres">
      <dgm:prSet presAssocID="{AB1C6577-98C2-487D-B2BB-4EF1E3B8FEB1}" presName="txTwo" presStyleLbl="node2" presStyleIdx="0" presStyleCnt="2">
        <dgm:presLayoutVars>
          <dgm:chPref val="3"/>
        </dgm:presLayoutVars>
      </dgm:prSet>
      <dgm:spPr/>
    </dgm:pt>
    <dgm:pt modelId="{EEA981BC-D0D8-4C11-B8BD-A7B17F16B1AD}" type="pres">
      <dgm:prSet presAssocID="{AB1C6577-98C2-487D-B2BB-4EF1E3B8FEB1}" presName="parTransTwo" presStyleCnt="0"/>
      <dgm:spPr/>
    </dgm:pt>
    <dgm:pt modelId="{CD7EB92E-CD37-4D26-B1A6-363F9CA9C7C0}" type="pres">
      <dgm:prSet presAssocID="{AB1C6577-98C2-487D-B2BB-4EF1E3B8FEB1}" presName="horzTwo" presStyleCnt="0"/>
      <dgm:spPr/>
    </dgm:pt>
    <dgm:pt modelId="{C3DF0AE5-5D05-43CD-917F-D9AC9FD06AEB}" type="pres">
      <dgm:prSet presAssocID="{2FC099A3-89BB-4565-974F-37A4BDDEFEC2}" presName="vertThree" presStyleCnt="0"/>
      <dgm:spPr/>
    </dgm:pt>
    <dgm:pt modelId="{AF6DA579-D12E-491F-892A-1F8AE033CE07}" type="pres">
      <dgm:prSet presAssocID="{2FC099A3-89BB-4565-974F-37A4BDDEFEC2}" presName="txThree" presStyleLbl="node3" presStyleIdx="0" presStyleCnt="2">
        <dgm:presLayoutVars>
          <dgm:chPref val="3"/>
        </dgm:presLayoutVars>
      </dgm:prSet>
      <dgm:spPr/>
    </dgm:pt>
    <dgm:pt modelId="{A9294A8B-FB22-4F13-9BB7-23F147D43A9D}" type="pres">
      <dgm:prSet presAssocID="{2FC099A3-89BB-4565-974F-37A4BDDEFEC2}" presName="parTransThree" presStyleCnt="0"/>
      <dgm:spPr/>
    </dgm:pt>
    <dgm:pt modelId="{A6ED9108-8B7A-43DA-BD70-1A6E04DBE499}" type="pres">
      <dgm:prSet presAssocID="{2FC099A3-89BB-4565-974F-37A4BDDEFEC2}" presName="horzThree" presStyleCnt="0"/>
      <dgm:spPr/>
    </dgm:pt>
    <dgm:pt modelId="{D1394D87-77AE-4795-801B-D52093B8CAC2}" type="pres">
      <dgm:prSet presAssocID="{41D40E49-5284-42C7-91E7-A999451E270D}" presName="vertFour" presStyleCnt="0">
        <dgm:presLayoutVars>
          <dgm:chPref val="3"/>
        </dgm:presLayoutVars>
      </dgm:prSet>
      <dgm:spPr/>
    </dgm:pt>
    <dgm:pt modelId="{A1D0066E-FBFB-4EA8-AA2F-6CA7417DF253}" type="pres">
      <dgm:prSet presAssocID="{41D40E49-5284-42C7-91E7-A999451E270D}" presName="txFour" presStyleLbl="node4" presStyleIdx="0" presStyleCnt="2">
        <dgm:presLayoutVars>
          <dgm:chPref val="3"/>
        </dgm:presLayoutVars>
      </dgm:prSet>
      <dgm:spPr/>
    </dgm:pt>
    <dgm:pt modelId="{CCA47277-0DCE-48DD-996D-00617B8041A2}" type="pres">
      <dgm:prSet presAssocID="{41D40E49-5284-42C7-91E7-A999451E270D}" presName="horzFour" presStyleCnt="0"/>
      <dgm:spPr/>
    </dgm:pt>
    <dgm:pt modelId="{1EA63E5E-7EF0-4BFB-A651-9FBCA000F226}" type="pres">
      <dgm:prSet presAssocID="{161BDB53-420B-4081-984C-25C7EB4A11BC}" presName="sibSpaceTwo" presStyleCnt="0"/>
      <dgm:spPr/>
    </dgm:pt>
    <dgm:pt modelId="{C51CF0B8-80FC-4F00-9320-26037CADCE0E}" type="pres">
      <dgm:prSet presAssocID="{82AA7F52-AA42-45AF-8EF8-9C75FE2CE84E}" presName="vertTwo" presStyleCnt="0"/>
      <dgm:spPr/>
    </dgm:pt>
    <dgm:pt modelId="{3DD6ED5E-33D4-4DF5-A875-EB7ACF95BB6E}" type="pres">
      <dgm:prSet presAssocID="{82AA7F52-AA42-45AF-8EF8-9C75FE2CE84E}" presName="txTwo" presStyleLbl="node2" presStyleIdx="1" presStyleCnt="2">
        <dgm:presLayoutVars>
          <dgm:chPref val="3"/>
        </dgm:presLayoutVars>
      </dgm:prSet>
      <dgm:spPr/>
    </dgm:pt>
    <dgm:pt modelId="{D8291238-3EF0-40EA-9F90-3F74BF24AF5D}" type="pres">
      <dgm:prSet presAssocID="{82AA7F52-AA42-45AF-8EF8-9C75FE2CE84E}" presName="parTransTwo" presStyleCnt="0"/>
      <dgm:spPr/>
    </dgm:pt>
    <dgm:pt modelId="{2C15AC11-7345-4CED-B024-5D0D17608104}" type="pres">
      <dgm:prSet presAssocID="{82AA7F52-AA42-45AF-8EF8-9C75FE2CE84E}" presName="horzTwo" presStyleCnt="0"/>
      <dgm:spPr/>
    </dgm:pt>
    <dgm:pt modelId="{9F9A2F64-769D-4521-A405-AEEC31D2A9E5}" type="pres">
      <dgm:prSet presAssocID="{C3A27155-8B35-4EAC-A40B-2D4AD4A70F50}" presName="vertThree" presStyleCnt="0"/>
      <dgm:spPr/>
    </dgm:pt>
    <dgm:pt modelId="{C00894AC-CDDE-4922-9638-D4C5E3518D17}" type="pres">
      <dgm:prSet presAssocID="{C3A27155-8B35-4EAC-A40B-2D4AD4A70F50}" presName="txThree" presStyleLbl="node3" presStyleIdx="1" presStyleCnt="2">
        <dgm:presLayoutVars>
          <dgm:chPref val="3"/>
        </dgm:presLayoutVars>
      </dgm:prSet>
      <dgm:spPr/>
    </dgm:pt>
    <dgm:pt modelId="{0290FC84-9543-4CE9-997C-2BA80EB332E6}" type="pres">
      <dgm:prSet presAssocID="{C3A27155-8B35-4EAC-A40B-2D4AD4A70F50}" presName="parTransThree" presStyleCnt="0"/>
      <dgm:spPr/>
    </dgm:pt>
    <dgm:pt modelId="{A034935A-7F8B-4ADC-B1CE-CBC6A5227971}" type="pres">
      <dgm:prSet presAssocID="{C3A27155-8B35-4EAC-A40B-2D4AD4A70F50}" presName="horzThree" presStyleCnt="0"/>
      <dgm:spPr/>
    </dgm:pt>
    <dgm:pt modelId="{74B35135-0C38-42F6-AD0B-F496D1D3C447}" type="pres">
      <dgm:prSet presAssocID="{8DDAFB03-CEC1-48F8-BF21-6D7BA973E313}" presName="vertFour" presStyleCnt="0">
        <dgm:presLayoutVars>
          <dgm:chPref val="3"/>
        </dgm:presLayoutVars>
      </dgm:prSet>
      <dgm:spPr/>
    </dgm:pt>
    <dgm:pt modelId="{389A5BCF-0E31-4613-A539-D738C6F458E9}" type="pres">
      <dgm:prSet presAssocID="{8DDAFB03-CEC1-48F8-BF21-6D7BA973E313}" presName="txFour" presStyleLbl="node4" presStyleIdx="1" presStyleCnt="2">
        <dgm:presLayoutVars>
          <dgm:chPref val="3"/>
        </dgm:presLayoutVars>
      </dgm:prSet>
      <dgm:spPr/>
    </dgm:pt>
    <dgm:pt modelId="{9916BCB2-5C22-4105-9FB3-75A5F3E4FE84}" type="pres">
      <dgm:prSet presAssocID="{8DDAFB03-CEC1-48F8-BF21-6D7BA973E313}" presName="horzFour" presStyleCnt="0"/>
      <dgm:spPr/>
    </dgm:pt>
  </dgm:ptLst>
  <dgm:cxnLst>
    <dgm:cxn modelId="{0FC7C232-2AEA-4CA4-8A27-9283C9C34945}" srcId="{AB1C6577-98C2-487D-B2BB-4EF1E3B8FEB1}" destId="{2FC099A3-89BB-4565-974F-37A4BDDEFEC2}" srcOrd="0" destOrd="0" parTransId="{EF88FB06-FE03-4089-8505-6DC10CC4B716}" sibTransId="{5D3FB9E2-B611-4002-ABC2-08B4AF6341B6}"/>
    <dgm:cxn modelId="{F177E138-F381-42D3-AE99-EABD9A4E7F8E}" srcId="{21E75EF2-DF01-49C0-B777-807D85782205}" destId="{716FD96D-E877-4E59-A797-862DF35F3CB3}" srcOrd="0" destOrd="0" parTransId="{90549982-E35B-4804-855E-7C2A4805E792}" sibTransId="{3402A4FB-6921-4743-8987-76FD6EC14366}"/>
    <dgm:cxn modelId="{9C87EF63-5F4D-4071-9C95-4839543CC504}" type="presOf" srcId="{2FC099A3-89BB-4565-974F-37A4BDDEFEC2}" destId="{AF6DA579-D12E-491F-892A-1F8AE033CE07}" srcOrd="0" destOrd="0" presId="urn:microsoft.com/office/officeart/2005/8/layout/hierarchy4"/>
    <dgm:cxn modelId="{329E4A4A-2A2F-4B84-91FE-FD4969D4B571}" srcId="{82AA7F52-AA42-45AF-8EF8-9C75FE2CE84E}" destId="{C3A27155-8B35-4EAC-A40B-2D4AD4A70F50}" srcOrd="0" destOrd="0" parTransId="{9A6D9D11-0583-4D4A-804F-CE7C1A48728A}" sibTransId="{332E74EA-2969-422D-9C30-620362EC0B62}"/>
    <dgm:cxn modelId="{AD5CD14F-5D71-4841-B6F6-6C62DF2D5113}" srcId="{C3A27155-8B35-4EAC-A40B-2D4AD4A70F50}" destId="{8DDAFB03-CEC1-48F8-BF21-6D7BA973E313}" srcOrd="0" destOrd="0" parTransId="{18FB3255-5928-4EE9-8A18-CBD5496BCC76}" sibTransId="{A501A545-69B1-4728-80C8-EC9BF5D99767}"/>
    <dgm:cxn modelId="{904C9E75-6981-4EA6-9143-5E955E2436C1}" type="presOf" srcId="{82AA7F52-AA42-45AF-8EF8-9C75FE2CE84E}" destId="{3DD6ED5E-33D4-4DF5-A875-EB7ACF95BB6E}" srcOrd="0" destOrd="0" presId="urn:microsoft.com/office/officeart/2005/8/layout/hierarchy4"/>
    <dgm:cxn modelId="{96196C7A-2276-44D8-8383-CA6344B26652}" type="presOf" srcId="{21E75EF2-DF01-49C0-B777-807D85782205}" destId="{E9075C4A-2164-4838-ADC8-7E053285F70E}" srcOrd="0" destOrd="0" presId="urn:microsoft.com/office/officeart/2005/8/layout/hierarchy4"/>
    <dgm:cxn modelId="{A50E437B-150E-4BA7-B14C-AA5DB6E6BB35}" type="presOf" srcId="{AB1C6577-98C2-487D-B2BB-4EF1E3B8FEB1}" destId="{C1494B4B-6776-4AFC-8248-10BDE4D2A08E}" srcOrd="0" destOrd="0" presId="urn:microsoft.com/office/officeart/2005/8/layout/hierarchy4"/>
    <dgm:cxn modelId="{E81388A3-0784-48DA-B0C4-384BC3A5F7FF}" type="presOf" srcId="{C3A27155-8B35-4EAC-A40B-2D4AD4A70F50}" destId="{C00894AC-CDDE-4922-9638-D4C5E3518D17}" srcOrd="0" destOrd="0" presId="urn:microsoft.com/office/officeart/2005/8/layout/hierarchy4"/>
    <dgm:cxn modelId="{AA8ABDAF-D3B8-4479-96BE-88DE08FEA43A}" srcId="{716FD96D-E877-4E59-A797-862DF35F3CB3}" destId="{AB1C6577-98C2-487D-B2BB-4EF1E3B8FEB1}" srcOrd="0" destOrd="0" parTransId="{55500C5D-732E-491A-9D65-50EB54BE179A}" sibTransId="{161BDB53-420B-4081-984C-25C7EB4A11BC}"/>
    <dgm:cxn modelId="{6FABE3B5-E2B5-4CB8-90D0-64C8F8B527AE}" type="presOf" srcId="{41D40E49-5284-42C7-91E7-A999451E270D}" destId="{A1D0066E-FBFB-4EA8-AA2F-6CA7417DF253}" srcOrd="0" destOrd="0" presId="urn:microsoft.com/office/officeart/2005/8/layout/hierarchy4"/>
    <dgm:cxn modelId="{D19FB3B8-BA63-4C15-B4EA-F36411A90555}" srcId="{2FC099A3-89BB-4565-974F-37A4BDDEFEC2}" destId="{41D40E49-5284-42C7-91E7-A999451E270D}" srcOrd="0" destOrd="0" parTransId="{2318A1B7-9F15-44F8-8544-B76639B793FF}" sibTransId="{F4D67F7D-19C5-47DE-A847-A9F151514C8C}"/>
    <dgm:cxn modelId="{0AFF07D6-3010-4091-BEE1-68908C7EF694}" type="presOf" srcId="{8DDAFB03-CEC1-48F8-BF21-6D7BA973E313}" destId="{389A5BCF-0E31-4613-A539-D738C6F458E9}" srcOrd="0" destOrd="0" presId="urn:microsoft.com/office/officeart/2005/8/layout/hierarchy4"/>
    <dgm:cxn modelId="{60117FEB-7480-4DBF-836F-AB1D5274D280}" srcId="{716FD96D-E877-4E59-A797-862DF35F3CB3}" destId="{82AA7F52-AA42-45AF-8EF8-9C75FE2CE84E}" srcOrd="1" destOrd="0" parTransId="{8F1454C9-7BE6-4034-A85F-04BDA49FC00B}" sibTransId="{28D38FFB-0B6F-4428-9815-757B4BD0C90E}"/>
    <dgm:cxn modelId="{A42AA7FB-F95E-4510-982B-6FED8EF4236F}" type="presOf" srcId="{716FD96D-E877-4E59-A797-862DF35F3CB3}" destId="{B09BA69D-5FA0-4F77-8A86-70E99F146854}" srcOrd="0" destOrd="0" presId="urn:microsoft.com/office/officeart/2005/8/layout/hierarchy4"/>
    <dgm:cxn modelId="{B51C4813-589A-495D-90AE-AC85277D4F8D}" type="presParOf" srcId="{E9075C4A-2164-4838-ADC8-7E053285F70E}" destId="{B0550CBC-8E18-423C-AE70-53749755337D}" srcOrd="0" destOrd="0" presId="urn:microsoft.com/office/officeart/2005/8/layout/hierarchy4"/>
    <dgm:cxn modelId="{0F393375-F8B3-4862-8BD9-196D177E096D}" type="presParOf" srcId="{B0550CBC-8E18-423C-AE70-53749755337D}" destId="{B09BA69D-5FA0-4F77-8A86-70E99F146854}" srcOrd="0" destOrd="0" presId="urn:microsoft.com/office/officeart/2005/8/layout/hierarchy4"/>
    <dgm:cxn modelId="{C8D2BB9B-37E2-4577-A58E-7E40F10A936A}" type="presParOf" srcId="{B0550CBC-8E18-423C-AE70-53749755337D}" destId="{9DEED5A1-0DB5-45C4-9433-1C2488FB4655}" srcOrd="1" destOrd="0" presId="urn:microsoft.com/office/officeart/2005/8/layout/hierarchy4"/>
    <dgm:cxn modelId="{29B99D13-7E33-4E3F-A76A-7D676ADD0AD6}" type="presParOf" srcId="{B0550CBC-8E18-423C-AE70-53749755337D}" destId="{B5EB6B1B-0343-444A-8C64-6B94DD02C41F}" srcOrd="2" destOrd="0" presId="urn:microsoft.com/office/officeart/2005/8/layout/hierarchy4"/>
    <dgm:cxn modelId="{5328BE36-2119-49F4-998D-C7772B7CB666}" type="presParOf" srcId="{B5EB6B1B-0343-444A-8C64-6B94DD02C41F}" destId="{51140836-6390-4B5E-BF86-6F9894E80193}" srcOrd="0" destOrd="0" presId="urn:microsoft.com/office/officeart/2005/8/layout/hierarchy4"/>
    <dgm:cxn modelId="{2EBF79CD-236F-428A-84E3-B2CDD523C183}" type="presParOf" srcId="{51140836-6390-4B5E-BF86-6F9894E80193}" destId="{C1494B4B-6776-4AFC-8248-10BDE4D2A08E}" srcOrd="0" destOrd="0" presId="urn:microsoft.com/office/officeart/2005/8/layout/hierarchy4"/>
    <dgm:cxn modelId="{C1C50595-95C0-44C8-B2B5-F2F7CC2A7171}" type="presParOf" srcId="{51140836-6390-4B5E-BF86-6F9894E80193}" destId="{EEA981BC-D0D8-4C11-B8BD-A7B17F16B1AD}" srcOrd="1" destOrd="0" presId="urn:microsoft.com/office/officeart/2005/8/layout/hierarchy4"/>
    <dgm:cxn modelId="{2D35AF6E-B469-4C44-842D-D5764D91F899}" type="presParOf" srcId="{51140836-6390-4B5E-BF86-6F9894E80193}" destId="{CD7EB92E-CD37-4D26-B1A6-363F9CA9C7C0}" srcOrd="2" destOrd="0" presId="urn:microsoft.com/office/officeart/2005/8/layout/hierarchy4"/>
    <dgm:cxn modelId="{0DCF39A9-9F50-4254-A2A7-6B942DCA0CC0}" type="presParOf" srcId="{CD7EB92E-CD37-4D26-B1A6-363F9CA9C7C0}" destId="{C3DF0AE5-5D05-43CD-917F-D9AC9FD06AEB}" srcOrd="0" destOrd="0" presId="urn:microsoft.com/office/officeart/2005/8/layout/hierarchy4"/>
    <dgm:cxn modelId="{BC987358-238E-4994-83FA-657345D14C75}" type="presParOf" srcId="{C3DF0AE5-5D05-43CD-917F-D9AC9FD06AEB}" destId="{AF6DA579-D12E-491F-892A-1F8AE033CE07}" srcOrd="0" destOrd="0" presId="urn:microsoft.com/office/officeart/2005/8/layout/hierarchy4"/>
    <dgm:cxn modelId="{39873430-ABE9-4132-A1D7-86E81FF5A1CF}" type="presParOf" srcId="{C3DF0AE5-5D05-43CD-917F-D9AC9FD06AEB}" destId="{A9294A8B-FB22-4F13-9BB7-23F147D43A9D}" srcOrd="1" destOrd="0" presId="urn:microsoft.com/office/officeart/2005/8/layout/hierarchy4"/>
    <dgm:cxn modelId="{4D3937F2-58B4-4543-90BA-8C6190AE8BA7}" type="presParOf" srcId="{C3DF0AE5-5D05-43CD-917F-D9AC9FD06AEB}" destId="{A6ED9108-8B7A-43DA-BD70-1A6E04DBE499}" srcOrd="2" destOrd="0" presId="urn:microsoft.com/office/officeart/2005/8/layout/hierarchy4"/>
    <dgm:cxn modelId="{882D85C0-051A-438A-9312-061BCE3BCA10}" type="presParOf" srcId="{A6ED9108-8B7A-43DA-BD70-1A6E04DBE499}" destId="{D1394D87-77AE-4795-801B-D52093B8CAC2}" srcOrd="0" destOrd="0" presId="urn:microsoft.com/office/officeart/2005/8/layout/hierarchy4"/>
    <dgm:cxn modelId="{CA9AFC53-FE27-4BF7-9876-CB47AF02AF4A}" type="presParOf" srcId="{D1394D87-77AE-4795-801B-D52093B8CAC2}" destId="{A1D0066E-FBFB-4EA8-AA2F-6CA7417DF253}" srcOrd="0" destOrd="0" presId="urn:microsoft.com/office/officeart/2005/8/layout/hierarchy4"/>
    <dgm:cxn modelId="{BE76D71F-1F3B-4C14-A629-2C7024314C95}" type="presParOf" srcId="{D1394D87-77AE-4795-801B-D52093B8CAC2}" destId="{CCA47277-0DCE-48DD-996D-00617B8041A2}" srcOrd="1" destOrd="0" presId="urn:microsoft.com/office/officeart/2005/8/layout/hierarchy4"/>
    <dgm:cxn modelId="{F3D80591-A013-46BC-9987-3F0603F22443}" type="presParOf" srcId="{B5EB6B1B-0343-444A-8C64-6B94DD02C41F}" destId="{1EA63E5E-7EF0-4BFB-A651-9FBCA000F226}" srcOrd="1" destOrd="0" presId="urn:microsoft.com/office/officeart/2005/8/layout/hierarchy4"/>
    <dgm:cxn modelId="{880F5F23-EF40-4860-B1F3-473D6A57306C}" type="presParOf" srcId="{B5EB6B1B-0343-444A-8C64-6B94DD02C41F}" destId="{C51CF0B8-80FC-4F00-9320-26037CADCE0E}" srcOrd="2" destOrd="0" presId="urn:microsoft.com/office/officeart/2005/8/layout/hierarchy4"/>
    <dgm:cxn modelId="{2992A786-6E62-4E0A-9A03-D9A465576F19}" type="presParOf" srcId="{C51CF0B8-80FC-4F00-9320-26037CADCE0E}" destId="{3DD6ED5E-33D4-4DF5-A875-EB7ACF95BB6E}" srcOrd="0" destOrd="0" presId="urn:microsoft.com/office/officeart/2005/8/layout/hierarchy4"/>
    <dgm:cxn modelId="{E7EA339B-E31A-4435-A888-D816E40B2B1A}" type="presParOf" srcId="{C51CF0B8-80FC-4F00-9320-26037CADCE0E}" destId="{D8291238-3EF0-40EA-9F90-3F74BF24AF5D}" srcOrd="1" destOrd="0" presId="urn:microsoft.com/office/officeart/2005/8/layout/hierarchy4"/>
    <dgm:cxn modelId="{7FB2677B-245C-45CF-88F5-DB681AA2B9DD}" type="presParOf" srcId="{C51CF0B8-80FC-4F00-9320-26037CADCE0E}" destId="{2C15AC11-7345-4CED-B024-5D0D17608104}" srcOrd="2" destOrd="0" presId="urn:microsoft.com/office/officeart/2005/8/layout/hierarchy4"/>
    <dgm:cxn modelId="{3DF2B9C4-5C1F-46AB-9D02-0E00E09AE8BD}" type="presParOf" srcId="{2C15AC11-7345-4CED-B024-5D0D17608104}" destId="{9F9A2F64-769D-4521-A405-AEEC31D2A9E5}" srcOrd="0" destOrd="0" presId="urn:microsoft.com/office/officeart/2005/8/layout/hierarchy4"/>
    <dgm:cxn modelId="{ECE7DE4E-269D-4C88-B5BE-D40E7A40664C}" type="presParOf" srcId="{9F9A2F64-769D-4521-A405-AEEC31D2A9E5}" destId="{C00894AC-CDDE-4922-9638-D4C5E3518D17}" srcOrd="0" destOrd="0" presId="urn:microsoft.com/office/officeart/2005/8/layout/hierarchy4"/>
    <dgm:cxn modelId="{87F65F80-6C34-4904-A538-344FF72F3D75}" type="presParOf" srcId="{9F9A2F64-769D-4521-A405-AEEC31D2A9E5}" destId="{0290FC84-9543-4CE9-997C-2BA80EB332E6}" srcOrd="1" destOrd="0" presId="urn:microsoft.com/office/officeart/2005/8/layout/hierarchy4"/>
    <dgm:cxn modelId="{AB6E48B7-2FF6-4C54-8636-BD11FF6C48CF}" type="presParOf" srcId="{9F9A2F64-769D-4521-A405-AEEC31D2A9E5}" destId="{A034935A-7F8B-4ADC-B1CE-CBC6A5227971}" srcOrd="2" destOrd="0" presId="urn:microsoft.com/office/officeart/2005/8/layout/hierarchy4"/>
    <dgm:cxn modelId="{ED912301-1E3A-48DF-B2D9-3F54AB84C854}" type="presParOf" srcId="{A034935A-7F8B-4ADC-B1CE-CBC6A5227971}" destId="{74B35135-0C38-42F6-AD0B-F496D1D3C447}" srcOrd="0" destOrd="0" presId="urn:microsoft.com/office/officeart/2005/8/layout/hierarchy4"/>
    <dgm:cxn modelId="{BD78215E-BA1D-4AC7-9ED2-14EB06606CB9}" type="presParOf" srcId="{74B35135-0C38-42F6-AD0B-F496D1D3C447}" destId="{389A5BCF-0E31-4613-A539-D738C6F458E9}" srcOrd="0" destOrd="0" presId="urn:microsoft.com/office/officeart/2005/8/layout/hierarchy4"/>
    <dgm:cxn modelId="{748FCD40-E484-44F4-A71C-065050A4853E}" type="presParOf" srcId="{74B35135-0C38-42F6-AD0B-F496D1D3C447}" destId="{9916BCB2-5C22-4105-9FB3-75A5F3E4FE84}" srcOrd="1" destOrd="0" presId="urn:microsoft.com/office/officeart/2005/8/layout/hierarchy4"/>
  </dgm:cxnLst>
  <dgm:bg/>
  <dgm:whole/>
  <dgm:extLst>
    <a:ext uri="http://schemas.microsoft.com/office/drawing/2008/diagram">
      <dsp:dataModelExt xmlns:dsp="http://schemas.microsoft.com/office/drawing/2008/diagram" relId="rId6" minVer="http://schemas.openxmlformats.org/drawingml/2006/diagram"/>
    </a:ext>
    <a:ext uri="{C62137D5-CB1D-491B-B009-E17868A290BF}">
      <dgm14:recolorImg xmlns:dgm14="http://schemas.microsoft.com/office/drawing/2010/diagram" val="1"/>
    </a:ext>
  </dgm:extLst>
</dgm:dataModel>
</file>

<file path=ppt/diagrams/data6.xml><?xml version="1.0" encoding="utf-8"?>
<dgm:dataModel xmlns:dgm="http://schemas.openxmlformats.org/drawingml/2006/diagram" xmlns:a="http://schemas.openxmlformats.org/drawingml/2006/main">
  <dgm:ptLst>
    <dgm:pt modelId="{21E75EF2-DF01-49C0-B777-807D85782205}" type="doc">
      <dgm:prSet loTypeId="urn:microsoft.com/office/officeart/2005/8/layout/hierarchy4" loCatId="hierarchy" qsTypeId="urn:microsoft.com/office/officeart/2005/8/quickstyle/simple1" qsCatId="simple" csTypeId="urn:microsoft.com/office/officeart/2005/8/colors/accent0_1" csCatId="mainScheme" phldr="1"/>
      <dgm:spPr/>
      <dgm:t>
        <a:bodyPr/>
        <a:lstStyle/>
        <a:p>
          <a:endParaRPr lang="en-US"/>
        </a:p>
      </dgm:t>
    </dgm:pt>
    <dgm:pt modelId="{9C0529E7-B3FD-4A2B-8E96-BE62F1BABACB}">
      <dgm:prSet phldrT="[Text]" custT="1"/>
      <dgm:spPr/>
      <dgm:t>
        <a:bodyPr/>
        <a:lstStyle/>
        <a:p>
          <a:r>
            <a:rPr lang="en-US" sz="1800" dirty="0"/>
            <a:t>Study 1</a:t>
          </a:r>
        </a:p>
      </dgm:t>
    </dgm:pt>
    <dgm:pt modelId="{1AEA38AB-AB07-4AD0-ADE8-DFB8C6F38D56}" type="parTrans" cxnId="{85CEED30-58BF-4448-BEA5-8211CD570B43}">
      <dgm:prSet/>
      <dgm:spPr/>
      <dgm:t>
        <a:bodyPr/>
        <a:lstStyle/>
        <a:p>
          <a:endParaRPr lang="en-US" sz="1800"/>
        </a:p>
      </dgm:t>
    </dgm:pt>
    <dgm:pt modelId="{8CDC154D-363F-4AC8-B690-38BB5CD0611C}" type="sibTrans" cxnId="{85CEED30-58BF-4448-BEA5-8211CD570B43}">
      <dgm:prSet/>
      <dgm:spPr/>
      <dgm:t>
        <a:bodyPr/>
        <a:lstStyle/>
        <a:p>
          <a:endParaRPr lang="en-US" sz="1800"/>
        </a:p>
      </dgm:t>
    </dgm:pt>
    <dgm:pt modelId="{82AA7F52-AA42-45AF-8EF8-9C75FE2CE84E}">
      <dgm:prSet phldrT="[Text]" custT="1"/>
      <dgm:spPr/>
      <dgm:t>
        <a:bodyPr/>
        <a:lstStyle/>
        <a:p>
          <a:r>
            <a:rPr lang="en-US" sz="1800" dirty="0"/>
            <a:t>Study 3</a:t>
          </a:r>
        </a:p>
      </dgm:t>
    </dgm:pt>
    <dgm:pt modelId="{8F1454C9-7BE6-4034-A85F-04BDA49FC00B}" type="parTrans" cxnId="{60117FEB-7480-4DBF-836F-AB1D5274D280}">
      <dgm:prSet/>
      <dgm:spPr/>
      <dgm:t>
        <a:bodyPr/>
        <a:lstStyle/>
        <a:p>
          <a:endParaRPr lang="en-US" sz="1800"/>
        </a:p>
      </dgm:t>
    </dgm:pt>
    <dgm:pt modelId="{28D38FFB-0B6F-4428-9815-757B4BD0C90E}" type="sibTrans" cxnId="{60117FEB-7480-4DBF-836F-AB1D5274D280}">
      <dgm:prSet/>
      <dgm:spPr/>
      <dgm:t>
        <a:bodyPr/>
        <a:lstStyle/>
        <a:p>
          <a:endParaRPr lang="en-US" sz="1800"/>
        </a:p>
      </dgm:t>
    </dgm:pt>
    <dgm:pt modelId="{AB1C6577-98C2-487D-B2BB-4EF1E3B8FEB1}">
      <dgm:prSet phldrT="[Text]" custT="1"/>
      <dgm:spPr/>
      <dgm:t>
        <a:bodyPr/>
        <a:lstStyle/>
        <a:p>
          <a:r>
            <a:rPr lang="en-US" sz="1800" dirty="0"/>
            <a:t>Study 2</a:t>
          </a:r>
        </a:p>
      </dgm:t>
    </dgm:pt>
    <dgm:pt modelId="{55500C5D-732E-491A-9D65-50EB54BE179A}" type="parTrans" cxnId="{AA8ABDAF-D3B8-4479-96BE-88DE08FEA43A}">
      <dgm:prSet/>
      <dgm:spPr/>
      <dgm:t>
        <a:bodyPr/>
        <a:lstStyle/>
        <a:p>
          <a:endParaRPr lang="en-US" sz="1800"/>
        </a:p>
      </dgm:t>
    </dgm:pt>
    <dgm:pt modelId="{161BDB53-420B-4081-984C-25C7EB4A11BC}" type="sibTrans" cxnId="{AA8ABDAF-D3B8-4479-96BE-88DE08FEA43A}">
      <dgm:prSet/>
      <dgm:spPr/>
      <dgm:t>
        <a:bodyPr/>
        <a:lstStyle/>
        <a:p>
          <a:endParaRPr lang="en-US" sz="1800"/>
        </a:p>
      </dgm:t>
    </dgm:pt>
    <dgm:pt modelId="{716FD96D-E877-4E59-A797-862DF35F3CB3}">
      <dgm:prSet phldrT="[Text]" custT="1"/>
      <dgm:spPr/>
      <dgm:t>
        <a:bodyPr/>
        <a:lstStyle/>
        <a:p>
          <a:r>
            <a:rPr lang="en-US" sz="1800" dirty="0"/>
            <a:t>Agent Advantage Effect </a:t>
          </a:r>
          <a:br>
            <a:rPr lang="en-US" sz="1800" dirty="0"/>
          </a:br>
          <a:r>
            <a:rPr lang="en-US" sz="1800" dirty="0"/>
            <a:t>in pictures</a:t>
          </a:r>
        </a:p>
      </dgm:t>
    </dgm:pt>
    <dgm:pt modelId="{90549982-E35B-4804-855E-7C2A4805E792}" type="parTrans" cxnId="{F177E138-F381-42D3-AE99-EABD9A4E7F8E}">
      <dgm:prSet/>
      <dgm:spPr/>
      <dgm:t>
        <a:bodyPr/>
        <a:lstStyle/>
        <a:p>
          <a:endParaRPr lang="en-US" sz="1800"/>
        </a:p>
      </dgm:t>
    </dgm:pt>
    <dgm:pt modelId="{3402A4FB-6921-4743-8987-76FD6EC14366}" type="sibTrans" cxnId="{F177E138-F381-42D3-AE99-EABD9A4E7F8E}">
      <dgm:prSet/>
      <dgm:spPr/>
      <dgm:t>
        <a:bodyPr/>
        <a:lstStyle/>
        <a:p>
          <a:endParaRPr lang="en-US" sz="1800"/>
        </a:p>
      </dgm:t>
    </dgm:pt>
    <dgm:pt modelId="{47A0635F-3D44-45AA-B699-5CA29B1EC10B}">
      <dgm:prSet phldrT="[Text]" custT="1"/>
      <dgm:spPr/>
      <dgm:t>
        <a:bodyPr/>
        <a:lstStyle/>
        <a:p>
          <a:r>
            <a:rPr lang="en-US" sz="1800" dirty="0"/>
            <a:t>Study the underlying process of the agent advantage effect</a:t>
          </a:r>
        </a:p>
      </dgm:t>
    </dgm:pt>
    <dgm:pt modelId="{7F84B65C-8197-45A6-991E-BF036184CEA0}" type="parTrans" cxnId="{9DDE4990-2785-4D8B-9FD5-9484DCFF6475}">
      <dgm:prSet/>
      <dgm:spPr/>
      <dgm:t>
        <a:bodyPr/>
        <a:lstStyle/>
        <a:p>
          <a:endParaRPr lang="en-US" sz="1800"/>
        </a:p>
      </dgm:t>
    </dgm:pt>
    <dgm:pt modelId="{0C3CD290-A25C-4BE9-BA21-17FE057C1B85}" type="sibTrans" cxnId="{9DDE4990-2785-4D8B-9FD5-9484DCFF6475}">
      <dgm:prSet/>
      <dgm:spPr/>
      <dgm:t>
        <a:bodyPr/>
        <a:lstStyle/>
        <a:p>
          <a:endParaRPr lang="en-US" sz="1800"/>
        </a:p>
      </dgm:t>
    </dgm:pt>
    <dgm:pt modelId="{A139445E-7CDA-43C7-87B8-4DCD08EE26B1}">
      <dgm:prSet phldrT="[Text]" custT="1"/>
      <dgm:spPr/>
      <dgm:t>
        <a:bodyPr/>
        <a:lstStyle/>
        <a:p>
          <a:r>
            <a:rPr lang="en-US" sz="1800" dirty="0"/>
            <a:t>Eye-tracking Study</a:t>
          </a:r>
        </a:p>
      </dgm:t>
    </dgm:pt>
    <dgm:pt modelId="{A915BADE-E07C-4B45-8B2B-60C880E27498}" type="parTrans" cxnId="{F421869A-AD74-4FF0-9D70-72BC1519AC8C}">
      <dgm:prSet/>
      <dgm:spPr/>
      <dgm:t>
        <a:bodyPr/>
        <a:lstStyle/>
        <a:p>
          <a:endParaRPr lang="en-US" sz="1800"/>
        </a:p>
      </dgm:t>
    </dgm:pt>
    <dgm:pt modelId="{232A56CC-9038-479F-ACB7-515166CB3FBC}" type="sibTrans" cxnId="{F421869A-AD74-4FF0-9D70-72BC1519AC8C}">
      <dgm:prSet/>
      <dgm:spPr/>
      <dgm:t>
        <a:bodyPr/>
        <a:lstStyle/>
        <a:p>
          <a:endParaRPr lang="en-US" sz="1800"/>
        </a:p>
      </dgm:t>
    </dgm:pt>
    <dgm:pt modelId="{2FC099A3-89BB-4565-974F-37A4BDDEFEC2}">
      <dgm:prSet phldrT="[Text]" custT="1"/>
      <dgm:spPr/>
      <dgm:t>
        <a:bodyPr/>
        <a:lstStyle/>
        <a:p>
          <a:r>
            <a:rPr lang="en-US" sz="1800" dirty="0"/>
            <a:t>Motion Line Study</a:t>
          </a:r>
        </a:p>
      </dgm:t>
    </dgm:pt>
    <dgm:pt modelId="{EF88FB06-FE03-4089-8505-6DC10CC4B716}" type="parTrans" cxnId="{0FC7C232-2AEA-4CA4-8A27-9283C9C34945}">
      <dgm:prSet/>
      <dgm:spPr/>
      <dgm:t>
        <a:bodyPr/>
        <a:lstStyle/>
        <a:p>
          <a:endParaRPr lang="en-US" sz="1800"/>
        </a:p>
      </dgm:t>
    </dgm:pt>
    <dgm:pt modelId="{5D3FB9E2-B611-4002-ABC2-08B4AF6341B6}" type="sibTrans" cxnId="{0FC7C232-2AEA-4CA4-8A27-9283C9C34945}">
      <dgm:prSet/>
      <dgm:spPr/>
      <dgm:t>
        <a:bodyPr/>
        <a:lstStyle/>
        <a:p>
          <a:endParaRPr lang="en-US" sz="1800"/>
        </a:p>
      </dgm:t>
    </dgm:pt>
    <dgm:pt modelId="{C3A27155-8B35-4EAC-A40B-2D4AD4A70F50}">
      <dgm:prSet phldrT="[Text]" custT="1"/>
      <dgm:spPr/>
      <dgm:t>
        <a:bodyPr/>
        <a:lstStyle/>
        <a:p>
          <a:r>
            <a:rPr lang="en-US" sz="1800" dirty="0"/>
            <a:t>A</a:t>
          </a:r>
          <a:r>
            <a:rPr lang="en-US" altLang="zh-CN" sz="1800" dirty="0"/>
            <a:t>bstract Fish</a:t>
          </a:r>
          <a:r>
            <a:rPr lang="en-US" sz="1800" dirty="0"/>
            <a:t> Study</a:t>
          </a:r>
        </a:p>
      </dgm:t>
    </dgm:pt>
    <dgm:pt modelId="{9A6D9D11-0583-4D4A-804F-CE7C1A48728A}" type="parTrans" cxnId="{329E4A4A-2A2F-4B84-91FE-FD4969D4B571}">
      <dgm:prSet/>
      <dgm:spPr/>
      <dgm:t>
        <a:bodyPr/>
        <a:lstStyle/>
        <a:p>
          <a:endParaRPr lang="en-US" sz="1800"/>
        </a:p>
      </dgm:t>
    </dgm:pt>
    <dgm:pt modelId="{332E74EA-2969-422D-9C30-620362EC0B62}" type="sibTrans" cxnId="{329E4A4A-2A2F-4B84-91FE-FD4969D4B571}">
      <dgm:prSet/>
      <dgm:spPr/>
      <dgm:t>
        <a:bodyPr/>
        <a:lstStyle/>
        <a:p>
          <a:endParaRPr lang="en-US" sz="1800"/>
        </a:p>
      </dgm:t>
    </dgm:pt>
    <dgm:pt modelId="{41D40E49-5284-42C7-91E7-A999451E270D}">
      <dgm:prSet phldrT="[Text]" custT="1"/>
      <dgm:spPr/>
      <dgm:t>
        <a:bodyPr/>
        <a:lstStyle/>
        <a:p>
          <a:r>
            <a:rPr lang="en-US" sz="1800" dirty="0"/>
            <a:t>Study how comic elements impact the agent advantage effect in single pictures</a:t>
          </a:r>
        </a:p>
      </dgm:t>
    </dgm:pt>
    <dgm:pt modelId="{2318A1B7-9F15-44F8-8544-B76639B793FF}" type="parTrans" cxnId="{D19FB3B8-BA63-4C15-B4EA-F36411A90555}">
      <dgm:prSet/>
      <dgm:spPr/>
      <dgm:t>
        <a:bodyPr/>
        <a:lstStyle/>
        <a:p>
          <a:endParaRPr lang="en-US"/>
        </a:p>
      </dgm:t>
    </dgm:pt>
    <dgm:pt modelId="{F4D67F7D-19C5-47DE-A847-A9F151514C8C}" type="sibTrans" cxnId="{D19FB3B8-BA63-4C15-B4EA-F36411A90555}">
      <dgm:prSet/>
      <dgm:spPr/>
      <dgm:t>
        <a:bodyPr/>
        <a:lstStyle/>
        <a:p>
          <a:endParaRPr lang="en-US"/>
        </a:p>
      </dgm:t>
    </dgm:pt>
    <dgm:pt modelId="{8DDAFB03-CEC1-48F8-BF21-6D7BA973E313}">
      <dgm:prSet phldrT="[Text]" custT="1"/>
      <dgm:spPr/>
      <dgm:t>
        <a:bodyPr/>
        <a:lstStyle/>
        <a:p>
          <a:r>
            <a:rPr lang="en-US" sz="1800" dirty="0"/>
            <a:t>Study the agent advantage effect in with abstract fish</a:t>
          </a:r>
        </a:p>
      </dgm:t>
    </dgm:pt>
    <dgm:pt modelId="{18FB3255-5928-4EE9-8A18-CBD5496BCC76}" type="parTrans" cxnId="{AD5CD14F-5D71-4841-B6F6-6C62DF2D5113}">
      <dgm:prSet/>
      <dgm:spPr/>
      <dgm:t>
        <a:bodyPr/>
        <a:lstStyle/>
        <a:p>
          <a:endParaRPr lang="en-US"/>
        </a:p>
      </dgm:t>
    </dgm:pt>
    <dgm:pt modelId="{A501A545-69B1-4728-80C8-EC9BF5D99767}" type="sibTrans" cxnId="{AD5CD14F-5D71-4841-B6F6-6C62DF2D5113}">
      <dgm:prSet/>
      <dgm:spPr/>
      <dgm:t>
        <a:bodyPr/>
        <a:lstStyle/>
        <a:p>
          <a:endParaRPr lang="en-US"/>
        </a:p>
      </dgm:t>
    </dgm:pt>
    <dgm:pt modelId="{E9075C4A-2164-4838-ADC8-7E053285F70E}" type="pres">
      <dgm:prSet presAssocID="{21E75EF2-DF01-49C0-B777-807D85782205}" presName="Name0" presStyleCnt="0">
        <dgm:presLayoutVars>
          <dgm:chPref val="1"/>
          <dgm:dir/>
          <dgm:animOne val="branch"/>
          <dgm:animLvl val="lvl"/>
          <dgm:resizeHandles/>
        </dgm:presLayoutVars>
      </dgm:prSet>
      <dgm:spPr/>
    </dgm:pt>
    <dgm:pt modelId="{B0550CBC-8E18-423C-AE70-53749755337D}" type="pres">
      <dgm:prSet presAssocID="{716FD96D-E877-4E59-A797-862DF35F3CB3}" presName="vertOne" presStyleCnt="0"/>
      <dgm:spPr/>
    </dgm:pt>
    <dgm:pt modelId="{B09BA69D-5FA0-4F77-8A86-70E99F146854}" type="pres">
      <dgm:prSet presAssocID="{716FD96D-E877-4E59-A797-862DF35F3CB3}" presName="txOne" presStyleLbl="node0" presStyleIdx="0" presStyleCnt="1">
        <dgm:presLayoutVars>
          <dgm:chPref val="3"/>
        </dgm:presLayoutVars>
      </dgm:prSet>
      <dgm:spPr/>
    </dgm:pt>
    <dgm:pt modelId="{9DEED5A1-0DB5-45C4-9433-1C2488FB4655}" type="pres">
      <dgm:prSet presAssocID="{716FD96D-E877-4E59-A797-862DF35F3CB3}" presName="parTransOne" presStyleCnt="0"/>
      <dgm:spPr/>
    </dgm:pt>
    <dgm:pt modelId="{B5EB6B1B-0343-444A-8C64-6B94DD02C41F}" type="pres">
      <dgm:prSet presAssocID="{716FD96D-E877-4E59-A797-862DF35F3CB3}" presName="horzOne" presStyleCnt="0"/>
      <dgm:spPr/>
    </dgm:pt>
    <dgm:pt modelId="{BE3BB942-C820-4DE9-AE05-721108B75425}" type="pres">
      <dgm:prSet presAssocID="{9C0529E7-B3FD-4A2B-8E96-BE62F1BABACB}" presName="vertTwo" presStyleCnt="0"/>
      <dgm:spPr/>
    </dgm:pt>
    <dgm:pt modelId="{234962F9-7A3E-46C6-9055-FB57BE5F51B4}" type="pres">
      <dgm:prSet presAssocID="{9C0529E7-B3FD-4A2B-8E96-BE62F1BABACB}" presName="txTwo" presStyleLbl="node2" presStyleIdx="0" presStyleCnt="3" custLinFactNeighborX="-114" custLinFactNeighborY="29930">
        <dgm:presLayoutVars>
          <dgm:chPref val="3"/>
        </dgm:presLayoutVars>
      </dgm:prSet>
      <dgm:spPr/>
    </dgm:pt>
    <dgm:pt modelId="{9738F645-F08D-497B-899E-90F4C95DEDC7}" type="pres">
      <dgm:prSet presAssocID="{9C0529E7-B3FD-4A2B-8E96-BE62F1BABACB}" presName="parTransTwo" presStyleCnt="0"/>
      <dgm:spPr/>
    </dgm:pt>
    <dgm:pt modelId="{9CFB8580-676C-4D0E-91FC-F4D489134C80}" type="pres">
      <dgm:prSet presAssocID="{9C0529E7-B3FD-4A2B-8E96-BE62F1BABACB}" presName="horzTwo" presStyleCnt="0"/>
      <dgm:spPr/>
    </dgm:pt>
    <dgm:pt modelId="{97397289-2DCF-44C3-8FB7-6E5E5CC3C409}" type="pres">
      <dgm:prSet presAssocID="{A139445E-7CDA-43C7-87B8-4DCD08EE26B1}" presName="vertThree" presStyleCnt="0"/>
      <dgm:spPr/>
    </dgm:pt>
    <dgm:pt modelId="{6A58AB54-1BFF-436C-AE97-D6C16B970CEA}" type="pres">
      <dgm:prSet presAssocID="{A139445E-7CDA-43C7-87B8-4DCD08EE26B1}" presName="txThree" presStyleLbl="node3" presStyleIdx="0" presStyleCnt="3">
        <dgm:presLayoutVars>
          <dgm:chPref val="3"/>
        </dgm:presLayoutVars>
      </dgm:prSet>
      <dgm:spPr/>
    </dgm:pt>
    <dgm:pt modelId="{906AFC81-3D94-41BA-B0BD-CEB9EB2905C9}" type="pres">
      <dgm:prSet presAssocID="{A139445E-7CDA-43C7-87B8-4DCD08EE26B1}" presName="parTransThree" presStyleCnt="0"/>
      <dgm:spPr/>
    </dgm:pt>
    <dgm:pt modelId="{22CCA7E9-75A1-4B96-8C49-752EA405E87E}" type="pres">
      <dgm:prSet presAssocID="{A139445E-7CDA-43C7-87B8-4DCD08EE26B1}" presName="horzThree" presStyleCnt="0"/>
      <dgm:spPr/>
    </dgm:pt>
    <dgm:pt modelId="{00973969-284D-4A54-9296-7DC4544FFCD9}" type="pres">
      <dgm:prSet presAssocID="{47A0635F-3D44-45AA-B699-5CA29B1EC10B}" presName="vertFour" presStyleCnt="0">
        <dgm:presLayoutVars>
          <dgm:chPref val="3"/>
        </dgm:presLayoutVars>
      </dgm:prSet>
      <dgm:spPr/>
    </dgm:pt>
    <dgm:pt modelId="{0215DAA2-DDCC-4443-97A6-9FACF7D3D85C}" type="pres">
      <dgm:prSet presAssocID="{47A0635F-3D44-45AA-B699-5CA29B1EC10B}" presName="txFour" presStyleLbl="node4" presStyleIdx="0" presStyleCnt="3">
        <dgm:presLayoutVars>
          <dgm:chPref val="3"/>
        </dgm:presLayoutVars>
      </dgm:prSet>
      <dgm:spPr/>
    </dgm:pt>
    <dgm:pt modelId="{82D4C519-3ACE-4179-89DD-6D853DB0C102}" type="pres">
      <dgm:prSet presAssocID="{47A0635F-3D44-45AA-B699-5CA29B1EC10B}" presName="horzFour" presStyleCnt="0"/>
      <dgm:spPr/>
    </dgm:pt>
    <dgm:pt modelId="{21C582D4-D989-464B-A760-41817D643E1E}" type="pres">
      <dgm:prSet presAssocID="{8CDC154D-363F-4AC8-B690-38BB5CD0611C}" presName="sibSpaceTwo" presStyleCnt="0"/>
      <dgm:spPr/>
    </dgm:pt>
    <dgm:pt modelId="{51140836-6390-4B5E-BF86-6F9894E80193}" type="pres">
      <dgm:prSet presAssocID="{AB1C6577-98C2-487D-B2BB-4EF1E3B8FEB1}" presName="vertTwo" presStyleCnt="0"/>
      <dgm:spPr/>
    </dgm:pt>
    <dgm:pt modelId="{C1494B4B-6776-4AFC-8248-10BDE4D2A08E}" type="pres">
      <dgm:prSet presAssocID="{AB1C6577-98C2-487D-B2BB-4EF1E3B8FEB1}" presName="txTwo" presStyleLbl="node2" presStyleIdx="1" presStyleCnt="3">
        <dgm:presLayoutVars>
          <dgm:chPref val="3"/>
        </dgm:presLayoutVars>
      </dgm:prSet>
      <dgm:spPr/>
    </dgm:pt>
    <dgm:pt modelId="{EEA981BC-D0D8-4C11-B8BD-A7B17F16B1AD}" type="pres">
      <dgm:prSet presAssocID="{AB1C6577-98C2-487D-B2BB-4EF1E3B8FEB1}" presName="parTransTwo" presStyleCnt="0"/>
      <dgm:spPr/>
    </dgm:pt>
    <dgm:pt modelId="{CD7EB92E-CD37-4D26-B1A6-363F9CA9C7C0}" type="pres">
      <dgm:prSet presAssocID="{AB1C6577-98C2-487D-B2BB-4EF1E3B8FEB1}" presName="horzTwo" presStyleCnt="0"/>
      <dgm:spPr/>
    </dgm:pt>
    <dgm:pt modelId="{C3DF0AE5-5D05-43CD-917F-D9AC9FD06AEB}" type="pres">
      <dgm:prSet presAssocID="{2FC099A3-89BB-4565-974F-37A4BDDEFEC2}" presName="vertThree" presStyleCnt="0"/>
      <dgm:spPr/>
    </dgm:pt>
    <dgm:pt modelId="{AF6DA579-D12E-491F-892A-1F8AE033CE07}" type="pres">
      <dgm:prSet presAssocID="{2FC099A3-89BB-4565-974F-37A4BDDEFEC2}" presName="txThree" presStyleLbl="node3" presStyleIdx="1" presStyleCnt="3">
        <dgm:presLayoutVars>
          <dgm:chPref val="3"/>
        </dgm:presLayoutVars>
      </dgm:prSet>
      <dgm:spPr/>
    </dgm:pt>
    <dgm:pt modelId="{A9294A8B-FB22-4F13-9BB7-23F147D43A9D}" type="pres">
      <dgm:prSet presAssocID="{2FC099A3-89BB-4565-974F-37A4BDDEFEC2}" presName="parTransThree" presStyleCnt="0"/>
      <dgm:spPr/>
    </dgm:pt>
    <dgm:pt modelId="{A6ED9108-8B7A-43DA-BD70-1A6E04DBE499}" type="pres">
      <dgm:prSet presAssocID="{2FC099A3-89BB-4565-974F-37A4BDDEFEC2}" presName="horzThree" presStyleCnt="0"/>
      <dgm:spPr/>
    </dgm:pt>
    <dgm:pt modelId="{D1394D87-77AE-4795-801B-D52093B8CAC2}" type="pres">
      <dgm:prSet presAssocID="{41D40E49-5284-42C7-91E7-A999451E270D}" presName="vertFour" presStyleCnt="0">
        <dgm:presLayoutVars>
          <dgm:chPref val="3"/>
        </dgm:presLayoutVars>
      </dgm:prSet>
      <dgm:spPr/>
    </dgm:pt>
    <dgm:pt modelId="{A1D0066E-FBFB-4EA8-AA2F-6CA7417DF253}" type="pres">
      <dgm:prSet presAssocID="{41D40E49-5284-42C7-91E7-A999451E270D}" presName="txFour" presStyleLbl="node4" presStyleIdx="1" presStyleCnt="3">
        <dgm:presLayoutVars>
          <dgm:chPref val="3"/>
        </dgm:presLayoutVars>
      </dgm:prSet>
      <dgm:spPr/>
    </dgm:pt>
    <dgm:pt modelId="{CCA47277-0DCE-48DD-996D-00617B8041A2}" type="pres">
      <dgm:prSet presAssocID="{41D40E49-5284-42C7-91E7-A999451E270D}" presName="horzFour" presStyleCnt="0"/>
      <dgm:spPr/>
    </dgm:pt>
    <dgm:pt modelId="{1EA63E5E-7EF0-4BFB-A651-9FBCA000F226}" type="pres">
      <dgm:prSet presAssocID="{161BDB53-420B-4081-984C-25C7EB4A11BC}" presName="sibSpaceTwo" presStyleCnt="0"/>
      <dgm:spPr/>
    </dgm:pt>
    <dgm:pt modelId="{C51CF0B8-80FC-4F00-9320-26037CADCE0E}" type="pres">
      <dgm:prSet presAssocID="{82AA7F52-AA42-45AF-8EF8-9C75FE2CE84E}" presName="vertTwo" presStyleCnt="0"/>
      <dgm:spPr/>
    </dgm:pt>
    <dgm:pt modelId="{3DD6ED5E-33D4-4DF5-A875-EB7ACF95BB6E}" type="pres">
      <dgm:prSet presAssocID="{82AA7F52-AA42-45AF-8EF8-9C75FE2CE84E}" presName="txTwo" presStyleLbl="node2" presStyleIdx="2" presStyleCnt="3">
        <dgm:presLayoutVars>
          <dgm:chPref val="3"/>
        </dgm:presLayoutVars>
      </dgm:prSet>
      <dgm:spPr/>
    </dgm:pt>
    <dgm:pt modelId="{D8291238-3EF0-40EA-9F90-3F74BF24AF5D}" type="pres">
      <dgm:prSet presAssocID="{82AA7F52-AA42-45AF-8EF8-9C75FE2CE84E}" presName="parTransTwo" presStyleCnt="0"/>
      <dgm:spPr/>
    </dgm:pt>
    <dgm:pt modelId="{2C15AC11-7345-4CED-B024-5D0D17608104}" type="pres">
      <dgm:prSet presAssocID="{82AA7F52-AA42-45AF-8EF8-9C75FE2CE84E}" presName="horzTwo" presStyleCnt="0"/>
      <dgm:spPr/>
    </dgm:pt>
    <dgm:pt modelId="{9F9A2F64-769D-4521-A405-AEEC31D2A9E5}" type="pres">
      <dgm:prSet presAssocID="{C3A27155-8B35-4EAC-A40B-2D4AD4A70F50}" presName="vertThree" presStyleCnt="0"/>
      <dgm:spPr/>
    </dgm:pt>
    <dgm:pt modelId="{C00894AC-CDDE-4922-9638-D4C5E3518D17}" type="pres">
      <dgm:prSet presAssocID="{C3A27155-8B35-4EAC-A40B-2D4AD4A70F50}" presName="txThree" presStyleLbl="node3" presStyleIdx="2" presStyleCnt="3">
        <dgm:presLayoutVars>
          <dgm:chPref val="3"/>
        </dgm:presLayoutVars>
      </dgm:prSet>
      <dgm:spPr/>
    </dgm:pt>
    <dgm:pt modelId="{0290FC84-9543-4CE9-997C-2BA80EB332E6}" type="pres">
      <dgm:prSet presAssocID="{C3A27155-8B35-4EAC-A40B-2D4AD4A70F50}" presName="parTransThree" presStyleCnt="0"/>
      <dgm:spPr/>
    </dgm:pt>
    <dgm:pt modelId="{A034935A-7F8B-4ADC-B1CE-CBC6A5227971}" type="pres">
      <dgm:prSet presAssocID="{C3A27155-8B35-4EAC-A40B-2D4AD4A70F50}" presName="horzThree" presStyleCnt="0"/>
      <dgm:spPr/>
    </dgm:pt>
    <dgm:pt modelId="{74B35135-0C38-42F6-AD0B-F496D1D3C447}" type="pres">
      <dgm:prSet presAssocID="{8DDAFB03-CEC1-48F8-BF21-6D7BA973E313}" presName="vertFour" presStyleCnt="0">
        <dgm:presLayoutVars>
          <dgm:chPref val="3"/>
        </dgm:presLayoutVars>
      </dgm:prSet>
      <dgm:spPr/>
    </dgm:pt>
    <dgm:pt modelId="{389A5BCF-0E31-4613-A539-D738C6F458E9}" type="pres">
      <dgm:prSet presAssocID="{8DDAFB03-CEC1-48F8-BF21-6D7BA973E313}" presName="txFour" presStyleLbl="node4" presStyleIdx="2" presStyleCnt="3">
        <dgm:presLayoutVars>
          <dgm:chPref val="3"/>
        </dgm:presLayoutVars>
      </dgm:prSet>
      <dgm:spPr/>
    </dgm:pt>
    <dgm:pt modelId="{9916BCB2-5C22-4105-9FB3-75A5F3E4FE84}" type="pres">
      <dgm:prSet presAssocID="{8DDAFB03-CEC1-48F8-BF21-6D7BA973E313}" presName="horzFour" presStyleCnt="0"/>
      <dgm:spPr/>
    </dgm:pt>
  </dgm:ptLst>
  <dgm:cxnLst>
    <dgm:cxn modelId="{85CEED30-58BF-4448-BEA5-8211CD570B43}" srcId="{716FD96D-E877-4E59-A797-862DF35F3CB3}" destId="{9C0529E7-B3FD-4A2B-8E96-BE62F1BABACB}" srcOrd="0" destOrd="0" parTransId="{1AEA38AB-AB07-4AD0-ADE8-DFB8C6F38D56}" sibTransId="{8CDC154D-363F-4AC8-B690-38BB5CD0611C}"/>
    <dgm:cxn modelId="{0FC7C232-2AEA-4CA4-8A27-9283C9C34945}" srcId="{AB1C6577-98C2-487D-B2BB-4EF1E3B8FEB1}" destId="{2FC099A3-89BB-4565-974F-37A4BDDEFEC2}" srcOrd="0" destOrd="0" parTransId="{EF88FB06-FE03-4089-8505-6DC10CC4B716}" sibTransId="{5D3FB9E2-B611-4002-ABC2-08B4AF6341B6}"/>
    <dgm:cxn modelId="{DBD35B38-5605-47FA-B12C-0E167BC8D7D1}" type="presOf" srcId="{A139445E-7CDA-43C7-87B8-4DCD08EE26B1}" destId="{6A58AB54-1BFF-436C-AE97-D6C16B970CEA}" srcOrd="0" destOrd="0" presId="urn:microsoft.com/office/officeart/2005/8/layout/hierarchy4"/>
    <dgm:cxn modelId="{F177E138-F381-42D3-AE99-EABD9A4E7F8E}" srcId="{21E75EF2-DF01-49C0-B777-807D85782205}" destId="{716FD96D-E877-4E59-A797-862DF35F3CB3}" srcOrd="0" destOrd="0" parTransId="{90549982-E35B-4804-855E-7C2A4805E792}" sibTransId="{3402A4FB-6921-4743-8987-76FD6EC14366}"/>
    <dgm:cxn modelId="{9C87EF63-5F4D-4071-9C95-4839543CC504}" type="presOf" srcId="{2FC099A3-89BB-4565-974F-37A4BDDEFEC2}" destId="{AF6DA579-D12E-491F-892A-1F8AE033CE07}" srcOrd="0" destOrd="0" presId="urn:microsoft.com/office/officeart/2005/8/layout/hierarchy4"/>
    <dgm:cxn modelId="{329E4A4A-2A2F-4B84-91FE-FD4969D4B571}" srcId="{82AA7F52-AA42-45AF-8EF8-9C75FE2CE84E}" destId="{C3A27155-8B35-4EAC-A40B-2D4AD4A70F50}" srcOrd="0" destOrd="0" parTransId="{9A6D9D11-0583-4D4A-804F-CE7C1A48728A}" sibTransId="{332E74EA-2969-422D-9C30-620362EC0B62}"/>
    <dgm:cxn modelId="{AD5CD14F-5D71-4841-B6F6-6C62DF2D5113}" srcId="{C3A27155-8B35-4EAC-A40B-2D4AD4A70F50}" destId="{8DDAFB03-CEC1-48F8-BF21-6D7BA973E313}" srcOrd="0" destOrd="0" parTransId="{18FB3255-5928-4EE9-8A18-CBD5496BCC76}" sibTransId="{A501A545-69B1-4728-80C8-EC9BF5D99767}"/>
    <dgm:cxn modelId="{904C9E75-6981-4EA6-9143-5E955E2436C1}" type="presOf" srcId="{82AA7F52-AA42-45AF-8EF8-9C75FE2CE84E}" destId="{3DD6ED5E-33D4-4DF5-A875-EB7ACF95BB6E}" srcOrd="0" destOrd="0" presId="urn:microsoft.com/office/officeart/2005/8/layout/hierarchy4"/>
    <dgm:cxn modelId="{96196C7A-2276-44D8-8383-CA6344B26652}" type="presOf" srcId="{21E75EF2-DF01-49C0-B777-807D85782205}" destId="{E9075C4A-2164-4838-ADC8-7E053285F70E}" srcOrd="0" destOrd="0" presId="urn:microsoft.com/office/officeart/2005/8/layout/hierarchy4"/>
    <dgm:cxn modelId="{A50E437B-150E-4BA7-B14C-AA5DB6E6BB35}" type="presOf" srcId="{AB1C6577-98C2-487D-B2BB-4EF1E3B8FEB1}" destId="{C1494B4B-6776-4AFC-8248-10BDE4D2A08E}" srcOrd="0" destOrd="0" presId="urn:microsoft.com/office/officeart/2005/8/layout/hierarchy4"/>
    <dgm:cxn modelId="{9DDE4990-2785-4D8B-9FD5-9484DCFF6475}" srcId="{A139445E-7CDA-43C7-87B8-4DCD08EE26B1}" destId="{47A0635F-3D44-45AA-B699-5CA29B1EC10B}" srcOrd="0" destOrd="0" parTransId="{7F84B65C-8197-45A6-991E-BF036184CEA0}" sibTransId="{0C3CD290-A25C-4BE9-BA21-17FE057C1B85}"/>
    <dgm:cxn modelId="{F421869A-AD74-4FF0-9D70-72BC1519AC8C}" srcId="{9C0529E7-B3FD-4A2B-8E96-BE62F1BABACB}" destId="{A139445E-7CDA-43C7-87B8-4DCD08EE26B1}" srcOrd="0" destOrd="0" parTransId="{A915BADE-E07C-4B45-8B2B-60C880E27498}" sibTransId="{232A56CC-9038-479F-ACB7-515166CB3FBC}"/>
    <dgm:cxn modelId="{E81388A3-0784-48DA-B0C4-384BC3A5F7FF}" type="presOf" srcId="{C3A27155-8B35-4EAC-A40B-2D4AD4A70F50}" destId="{C00894AC-CDDE-4922-9638-D4C5E3518D17}" srcOrd="0" destOrd="0" presId="urn:microsoft.com/office/officeart/2005/8/layout/hierarchy4"/>
    <dgm:cxn modelId="{AA8ABDAF-D3B8-4479-96BE-88DE08FEA43A}" srcId="{716FD96D-E877-4E59-A797-862DF35F3CB3}" destId="{AB1C6577-98C2-487D-B2BB-4EF1E3B8FEB1}" srcOrd="1" destOrd="0" parTransId="{55500C5D-732E-491A-9D65-50EB54BE179A}" sibTransId="{161BDB53-420B-4081-984C-25C7EB4A11BC}"/>
    <dgm:cxn modelId="{C8334DB1-3B6C-4F32-8E2D-29E37BBD7DE5}" type="presOf" srcId="{47A0635F-3D44-45AA-B699-5CA29B1EC10B}" destId="{0215DAA2-DDCC-4443-97A6-9FACF7D3D85C}" srcOrd="0" destOrd="0" presId="urn:microsoft.com/office/officeart/2005/8/layout/hierarchy4"/>
    <dgm:cxn modelId="{6FABE3B5-E2B5-4CB8-90D0-64C8F8B527AE}" type="presOf" srcId="{41D40E49-5284-42C7-91E7-A999451E270D}" destId="{A1D0066E-FBFB-4EA8-AA2F-6CA7417DF253}" srcOrd="0" destOrd="0" presId="urn:microsoft.com/office/officeart/2005/8/layout/hierarchy4"/>
    <dgm:cxn modelId="{D19FB3B8-BA63-4C15-B4EA-F36411A90555}" srcId="{2FC099A3-89BB-4565-974F-37A4BDDEFEC2}" destId="{41D40E49-5284-42C7-91E7-A999451E270D}" srcOrd="0" destOrd="0" parTransId="{2318A1B7-9F15-44F8-8544-B76639B793FF}" sibTransId="{F4D67F7D-19C5-47DE-A847-A9F151514C8C}"/>
    <dgm:cxn modelId="{241725D2-27DF-4451-A353-125206405657}" type="presOf" srcId="{9C0529E7-B3FD-4A2B-8E96-BE62F1BABACB}" destId="{234962F9-7A3E-46C6-9055-FB57BE5F51B4}" srcOrd="0" destOrd="0" presId="urn:microsoft.com/office/officeart/2005/8/layout/hierarchy4"/>
    <dgm:cxn modelId="{0AFF07D6-3010-4091-BEE1-68908C7EF694}" type="presOf" srcId="{8DDAFB03-CEC1-48F8-BF21-6D7BA973E313}" destId="{389A5BCF-0E31-4613-A539-D738C6F458E9}" srcOrd="0" destOrd="0" presId="urn:microsoft.com/office/officeart/2005/8/layout/hierarchy4"/>
    <dgm:cxn modelId="{60117FEB-7480-4DBF-836F-AB1D5274D280}" srcId="{716FD96D-E877-4E59-A797-862DF35F3CB3}" destId="{82AA7F52-AA42-45AF-8EF8-9C75FE2CE84E}" srcOrd="2" destOrd="0" parTransId="{8F1454C9-7BE6-4034-A85F-04BDA49FC00B}" sibTransId="{28D38FFB-0B6F-4428-9815-757B4BD0C90E}"/>
    <dgm:cxn modelId="{A42AA7FB-F95E-4510-982B-6FED8EF4236F}" type="presOf" srcId="{716FD96D-E877-4E59-A797-862DF35F3CB3}" destId="{B09BA69D-5FA0-4F77-8A86-70E99F146854}" srcOrd="0" destOrd="0" presId="urn:microsoft.com/office/officeart/2005/8/layout/hierarchy4"/>
    <dgm:cxn modelId="{B51C4813-589A-495D-90AE-AC85277D4F8D}" type="presParOf" srcId="{E9075C4A-2164-4838-ADC8-7E053285F70E}" destId="{B0550CBC-8E18-423C-AE70-53749755337D}" srcOrd="0" destOrd="0" presId="urn:microsoft.com/office/officeart/2005/8/layout/hierarchy4"/>
    <dgm:cxn modelId="{0F393375-F8B3-4862-8BD9-196D177E096D}" type="presParOf" srcId="{B0550CBC-8E18-423C-AE70-53749755337D}" destId="{B09BA69D-5FA0-4F77-8A86-70E99F146854}" srcOrd="0" destOrd="0" presId="urn:microsoft.com/office/officeart/2005/8/layout/hierarchy4"/>
    <dgm:cxn modelId="{C8D2BB9B-37E2-4577-A58E-7E40F10A936A}" type="presParOf" srcId="{B0550CBC-8E18-423C-AE70-53749755337D}" destId="{9DEED5A1-0DB5-45C4-9433-1C2488FB4655}" srcOrd="1" destOrd="0" presId="urn:microsoft.com/office/officeart/2005/8/layout/hierarchy4"/>
    <dgm:cxn modelId="{29B99D13-7E33-4E3F-A76A-7D676ADD0AD6}" type="presParOf" srcId="{B0550CBC-8E18-423C-AE70-53749755337D}" destId="{B5EB6B1B-0343-444A-8C64-6B94DD02C41F}" srcOrd="2" destOrd="0" presId="urn:microsoft.com/office/officeart/2005/8/layout/hierarchy4"/>
    <dgm:cxn modelId="{1B313392-2E9A-438A-B771-324D08A3E861}" type="presParOf" srcId="{B5EB6B1B-0343-444A-8C64-6B94DD02C41F}" destId="{BE3BB942-C820-4DE9-AE05-721108B75425}" srcOrd="0" destOrd="0" presId="urn:microsoft.com/office/officeart/2005/8/layout/hierarchy4"/>
    <dgm:cxn modelId="{A5AEA70B-BF18-4BE8-B9DB-1187505A3FCD}" type="presParOf" srcId="{BE3BB942-C820-4DE9-AE05-721108B75425}" destId="{234962F9-7A3E-46C6-9055-FB57BE5F51B4}" srcOrd="0" destOrd="0" presId="urn:microsoft.com/office/officeart/2005/8/layout/hierarchy4"/>
    <dgm:cxn modelId="{34313325-CA6A-4934-B2EE-3DDA21EEA729}" type="presParOf" srcId="{BE3BB942-C820-4DE9-AE05-721108B75425}" destId="{9738F645-F08D-497B-899E-90F4C95DEDC7}" srcOrd="1" destOrd="0" presId="urn:microsoft.com/office/officeart/2005/8/layout/hierarchy4"/>
    <dgm:cxn modelId="{3A9493C5-D441-4CAF-9EC9-F92A28271121}" type="presParOf" srcId="{BE3BB942-C820-4DE9-AE05-721108B75425}" destId="{9CFB8580-676C-4D0E-91FC-F4D489134C80}" srcOrd="2" destOrd="0" presId="urn:microsoft.com/office/officeart/2005/8/layout/hierarchy4"/>
    <dgm:cxn modelId="{B5409250-57F4-4D65-B9CA-6D438B9DD114}" type="presParOf" srcId="{9CFB8580-676C-4D0E-91FC-F4D489134C80}" destId="{97397289-2DCF-44C3-8FB7-6E5E5CC3C409}" srcOrd="0" destOrd="0" presId="urn:microsoft.com/office/officeart/2005/8/layout/hierarchy4"/>
    <dgm:cxn modelId="{2C5DB1E4-3AFB-4FD0-9442-4DAFBDE83C0A}" type="presParOf" srcId="{97397289-2DCF-44C3-8FB7-6E5E5CC3C409}" destId="{6A58AB54-1BFF-436C-AE97-D6C16B970CEA}" srcOrd="0" destOrd="0" presId="urn:microsoft.com/office/officeart/2005/8/layout/hierarchy4"/>
    <dgm:cxn modelId="{0805D950-BF6D-4CC7-9D59-B43E36299FBF}" type="presParOf" srcId="{97397289-2DCF-44C3-8FB7-6E5E5CC3C409}" destId="{906AFC81-3D94-41BA-B0BD-CEB9EB2905C9}" srcOrd="1" destOrd="0" presId="urn:microsoft.com/office/officeart/2005/8/layout/hierarchy4"/>
    <dgm:cxn modelId="{35769011-3BFE-4110-8D9B-1BB32989CCC1}" type="presParOf" srcId="{97397289-2DCF-44C3-8FB7-6E5E5CC3C409}" destId="{22CCA7E9-75A1-4B96-8C49-752EA405E87E}" srcOrd="2" destOrd="0" presId="urn:microsoft.com/office/officeart/2005/8/layout/hierarchy4"/>
    <dgm:cxn modelId="{EA77C7E0-405D-4D26-B1D2-0986987E6B3A}" type="presParOf" srcId="{22CCA7E9-75A1-4B96-8C49-752EA405E87E}" destId="{00973969-284D-4A54-9296-7DC4544FFCD9}" srcOrd="0" destOrd="0" presId="urn:microsoft.com/office/officeart/2005/8/layout/hierarchy4"/>
    <dgm:cxn modelId="{CB4F9B36-4DD3-4C42-9AE2-4D3305EB26DA}" type="presParOf" srcId="{00973969-284D-4A54-9296-7DC4544FFCD9}" destId="{0215DAA2-DDCC-4443-97A6-9FACF7D3D85C}" srcOrd="0" destOrd="0" presId="urn:microsoft.com/office/officeart/2005/8/layout/hierarchy4"/>
    <dgm:cxn modelId="{E7F053A6-ED5D-40B8-81F1-0E94FDD9FAD3}" type="presParOf" srcId="{00973969-284D-4A54-9296-7DC4544FFCD9}" destId="{82D4C519-3ACE-4179-89DD-6D853DB0C102}" srcOrd="1" destOrd="0" presId="urn:microsoft.com/office/officeart/2005/8/layout/hierarchy4"/>
    <dgm:cxn modelId="{C3881C23-36FB-49CB-A5C8-98E2131B9FA0}" type="presParOf" srcId="{B5EB6B1B-0343-444A-8C64-6B94DD02C41F}" destId="{21C582D4-D989-464B-A760-41817D643E1E}" srcOrd="1" destOrd="0" presId="urn:microsoft.com/office/officeart/2005/8/layout/hierarchy4"/>
    <dgm:cxn modelId="{5328BE36-2119-49F4-998D-C7772B7CB666}" type="presParOf" srcId="{B5EB6B1B-0343-444A-8C64-6B94DD02C41F}" destId="{51140836-6390-4B5E-BF86-6F9894E80193}" srcOrd="2" destOrd="0" presId="urn:microsoft.com/office/officeart/2005/8/layout/hierarchy4"/>
    <dgm:cxn modelId="{2EBF79CD-236F-428A-84E3-B2CDD523C183}" type="presParOf" srcId="{51140836-6390-4B5E-BF86-6F9894E80193}" destId="{C1494B4B-6776-4AFC-8248-10BDE4D2A08E}" srcOrd="0" destOrd="0" presId="urn:microsoft.com/office/officeart/2005/8/layout/hierarchy4"/>
    <dgm:cxn modelId="{C1C50595-95C0-44C8-B2B5-F2F7CC2A7171}" type="presParOf" srcId="{51140836-6390-4B5E-BF86-6F9894E80193}" destId="{EEA981BC-D0D8-4C11-B8BD-A7B17F16B1AD}" srcOrd="1" destOrd="0" presId="urn:microsoft.com/office/officeart/2005/8/layout/hierarchy4"/>
    <dgm:cxn modelId="{2D35AF6E-B469-4C44-842D-D5764D91F899}" type="presParOf" srcId="{51140836-6390-4B5E-BF86-6F9894E80193}" destId="{CD7EB92E-CD37-4D26-B1A6-363F9CA9C7C0}" srcOrd="2" destOrd="0" presId="urn:microsoft.com/office/officeart/2005/8/layout/hierarchy4"/>
    <dgm:cxn modelId="{0DCF39A9-9F50-4254-A2A7-6B942DCA0CC0}" type="presParOf" srcId="{CD7EB92E-CD37-4D26-B1A6-363F9CA9C7C0}" destId="{C3DF0AE5-5D05-43CD-917F-D9AC9FD06AEB}" srcOrd="0" destOrd="0" presId="urn:microsoft.com/office/officeart/2005/8/layout/hierarchy4"/>
    <dgm:cxn modelId="{BC987358-238E-4994-83FA-657345D14C75}" type="presParOf" srcId="{C3DF0AE5-5D05-43CD-917F-D9AC9FD06AEB}" destId="{AF6DA579-D12E-491F-892A-1F8AE033CE07}" srcOrd="0" destOrd="0" presId="urn:microsoft.com/office/officeart/2005/8/layout/hierarchy4"/>
    <dgm:cxn modelId="{39873430-ABE9-4132-A1D7-86E81FF5A1CF}" type="presParOf" srcId="{C3DF0AE5-5D05-43CD-917F-D9AC9FD06AEB}" destId="{A9294A8B-FB22-4F13-9BB7-23F147D43A9D}" srcOrd="1" destOrd="0" presId="urn:microsoft.com/office/officeart/2005/8/layout/hierarchy4"/>
    <dgm:cxn modelId="{4D3937F2-58B4-4543-90BA-8C6190AE8BA7}" type="presParOf" srcId="{C3DF0AE5-5D05-43CD-917F-D9AC9FD06AEB}" destId="{A6ED9108-8B7A-43DA-BD70-1A6E04DBE499}" srcOrd="2" destOrd="0" presId="urn:microsoft.com/office/officeart/2005/8/layout/hierarchy4"/>
    <dgm:cxn modelId="{882D85C0-051A-438A-9312-061BCE3BCA10}" type="presParOf" srcId="{A6ED9108-8B7A-43DA-BD70-1A6E04DBE499}" destId="{D1394D87-77AE-4795-801B-D52093B8CAC2}" srcOrd="0" destOrd="0" presId="urn:microsoft.com/office/officeart/2005/8/layout/hierarchy4"/>
    <dgm:cxn modelId="{CA9AFC53-FE27-4BF7-9876-CB47AF02AF4A}" type="presParOf" srcId="{D1394D87-77AE-4795-801B-D52093B8CAC2}" destId="{A1D0066E-FBFB-4EA8-AA2F-6CA7417DF253}" srcOrd="0" destOrd="0" presId="urn:microsoft.com/office/officeart/2005/8/layout/hierarchy4"/>
    <dgm:cxn modelId="{BE76D71F-1F3B-4C14-A629-2C7024314C95}" type="presParOf" srcId="{D1394D87-77AE-4795-801B-D52093B8CAC2}" destId="{CCA47277-0DCE-48DD-996D-00617B8041A2}" srcOrd="1" destOrd="0" presId="urn:microsoft.com/office/officeart/2005/8/layout/hierarchy4"/>
    <dgm:cxn modelId="{F3D80591-A013-46BC-9987-3F0603F22443}" type="presParOf" srcId="{B5EB6B1B-0343-444A-8C64-6B94DD02C41F}" destId="{1EA63E5E-7EF0-4BFB-A651-9FBCA000F226}" srcOrd="3" destOrd="0" presId="urn:microsoft.com/office/officeart/2005/8/layout/hierarchy4"/>
    <dgm:cxn modelId="{880F5F23-EF40-4860-B1F3-473D6A57306C}" type="presParOf" srcId="{B5EB6B1B-0343-444A-8C64-6B94DD02C41F}" destId="{C51CF0B8-80FC-4F00-9320-26037CADCE0E}" srcOrd="4" destOrd="0" presId="urn:microsoft.com/office/officeart/2005/8/layout/hierarchy4"/>
    <dgm:cxn modelId="{2992A786-6E62-4E0A-9A03-D9A465576F19}" type="presParOf" srcId="{C51CF0B8-80FC-4F00-9320-26037CADCE0E}" destId="{3DD6ED5E-33D4-4DF5-A875-EB7ACF95BB6E}" srcOrd="0" destOrd="0" presId="urn:microsoft.com/office/officeart/2005/8/layout/hierarchy4"/>
    <dgm:cxn modelId="{E7EA339B-E31A-4435-A888-D816E40B2B1A}" type="presParOf" srcId="{C51CF0B8-80FC-4F00-9320-26037CADCE0E}" destId="{D8291238-3EF0-40EA-9F90-3F74BF24AF5D}" srcOrd="1" destOrd="0" presId="urn:microsoft.com/office/officeart/2005/8/layout/hierarchy4"/>
    <dgm:cxn modelId="{7FB2677B-245C-45CF-88F5-DB681AA2B9DD}" type="presParOf" srcId="{C51CF0B8-80FC-4F00-9320-26037CADCE0E}" destId="{2C15AC11-7345-4CED-B024-5D0D17608104}" srcOrd="2" destOrd="0" presId="urn:microsoft.com/office/officeart/2005/8/layout/hierarchy4"/>
    <dgm:cxn modelId="{3DF2B9C4-5C1F-46AB-9D02-0E00E09AE8BD}" type="presParOf" srcId="{2C15AC11-7345-4CED-B024-5D0D17608104}" destId="{9F9A2F64-769D-4521-A405-AEEC31D2A9E5}" srcOrd="0" destOrd="0" presId="urn:microsoft.com/office/officeart/2005/8/layout/hierarchy4"/>
    <dgm:cxn modelId="{ECE7DE4E-269D-4C88-B5BE-D40E7A40664C}" type="presParOf" srcId="{9F9A2F64-769D-4521-A405-AEEC31D2A9E5}" destId="{C00894AC-CDDE-4922-9638-D4C5E3518D17}" srcOrd="0" destOrd="0" presId="urn:microsoft.com/office/officeart/2005/8/layout/hierarchy4"/>
    <dgm:cxn modelId="{87F65F80-6C34-4904-A538-344FF72F3D75}" type="presParOf" srcId="{9F9A2F64-769D-4521-A405-AEEC31D2A9E5}" destId="{0290FC84-9543-4CE9-997C-2BA80EB332E6}" srcOrd="1" destOrd="0" presId="urn:microsoft.com/office/officeart/2005/8/layout/hierarchy4"/>
    <dgm:cxn modelId="{AB6E48B7-2FF6-4C54-8636-BD11FF6C48CF}" type="presParOf" srcId="{9F9A2F64-769D-4521-A405-AEEC31D2A9E5}" destId="{A034935A-7F8B-4ADC-B1CE-CBC6A5227971}" srcOrd="2" destOrd="0" presId="urn:microsoft.com/office/officeart/2005/8/layout/hierarchy4"/>
    <dgm:cxn modelId="{ED912301-1E3A-48DF-B2D9-3F54AB84C854}" type="presParOf" srcId="{A034935A-7F8B-4ADC-B1CE-CBC6A5227971}" destId="{74B35135-0C38-42F6-AD0B-F496D1D3C447}" srcOrd="0" destOrd="0" presId="urn:microsoft.com/office/officeart/2005/8/layout/hierarchy4"/>
    <dgm:cxn modelId="{BD78215E-BA1D-4AC7-9ED2-14EB06606CB9}" type="presParOf" srcId="{74B35135-0C38-42F6-AD0B-F496D1D3C447}" destId="{389A5BCF-0E31-4613-A539-D738C6F458E9}" srcOrd="0" destOrd="0" presId="urn:microsoft.com/office/officeart/2005/8/layout/hierarchy4"/>
    <dgm:cxn modelId="{748FCD40-E484-44F4-A71C-065050A4853E}" type="presParOf" srcId="{74B35135-0C38-42F6-AD0B-F496D1D3C447}" destId="{9916BCB2-5C22-4105-9FB3-75A5F3E4FE84}" srcOrd="1" destOrd="0" presId="urn:microsoft.com/office/officeart/2005/8/layout/hierarchy4"/>
  </dgm:cxnLst>
  <dgm:bg/>
  <dgm:whole/>
  <dgm:extLst>
    <a:ext uri="http://schemas.microsoft.com/office/drawing/2008/diagram">
      <dsp:dataModelExt xmlns:dsp="http://schemas.microsoft.com/office/drawing/2008/diagram" relId="rId6" minVer="http://schemas.openxmlformats.org/drawingml/2006/diagram"/>
    </a:ext>
    <a:ext uri="{C62137D5-CB1D-491B-B009-E17868A290BF}">
      <dgm14:recolorImg xmlns:dgm14="http://schemas.microsoft.com/office/drawing/2010/diagram" val="1"/>
    </a:ext>
  </dgm:extLst>
</dgm:dataModel>
</file>

<file path=ppt/diagrams/data7.xml><?xml version="1.0" encoding="utf-8"?>
<dgm:dataModel xmlns:dgm="http://schemas.openxmlformats.org/drawingml/2006/diagram" xmlns:a="http://schemas.openxmlformats.org/drawingml/2006/main">
  <dgm:ptLst>
    <dgm:pt modelId="{21E75EF2-DF01-49C0-B777-807D85782205}" type="doc">
      <dgm:prSet loTypeId="urn:microsoft.com/office/officeart/2005/8/layout/hierarchy4" loCatId="hierarchy" qsTypeId="urn:microsoft.com/office/officeart/2005/8/quickstyle/simple1" qsCatId="simple" csTypeId="urn:microsoft.com/office/officeart/2005/8/colors/accent0_1" csCatId="mainScheme" phldr="1"/>
      <dgm:spPr/>
      <dgm:t>
        <a:bodyPr/>
        <a:lstStyle/>
        <a:p>
          <a:endParaRPr lang="en-US"/>
        </a:p>
      </dgm:t>
    </dgm:pt>
    <dgm:pt modelId="{9C0529E7-B3FD-4A2B-8E96-BE62F1BABACB}">
      <dgm:prSet phldrT="[Text]" custT="1"/>
      <dgm:spPr/>
      <dgm:t>
        <a:bodyPr/>
        <a:lstStyle/>
        <a:p>
          <a:r>
            <a:rPr lang="en-US" sz="1800" dirty="0"/>
            <a:t>Study 1</a:t>
          </a:r>
        </a:p>
      </dgm:t>
    </dgm:pt>
    <dgm:pt modelId="{1AEA38AB-AB07-4AD0-ADE8-DFB8C6F38D56}" type="parTrans" cxnId="{85CEED30-58BF-4448-BEA5-8211CD570B43}">
      <dgm:prSet/>
      <dgm:spPr/>
      <dgm:t>
        <a:bodyPr/>
        <a:lstStyle/>
        <a:p>
          <a:endParaRPr lang="en-US" sz="1800"/>
        </a:p>
      </dgm:t>
    </dgm:pt>
    <dgm:pt modelId="{8CDC154D-363F-4AC8-B690-38BB5CD0611C}" type="sibTrans" cxnId="{85CEED30-58BF-4448-BEA5-8211CD570B43}">
      <dgm:prSet/>
      <dgm:spPr/>
      <dgm:t>
        <a:bodyPr/>
        <a:lstStyle/>
        <a:p>
          <a:endParaRPr lang="en-US" sz="1800"/>
        </a:p>
      </dgm:t>
    </dgm:pt>
    <dgm:pt modelId="{82AA7F52-AA42-45AF-8EF8-9C75FE2CE84E}">
      <dgm:prSet phldrT="[Text]" custT="1"/>
      <dgm:spPr/>
      <dgm:t>
        <a:bodyPr/>
        <a:lstStyle/>
        <a:p>
          <a:r>
            <a:rPr lang="en-US" sz="1800" dirty="0"/>
            <a:t>Study 3</a:t>
          </a:r>
        </a:p>
      </dgm:t>
    </dgm:pt>
    <dgm:pt modelId="{8F1454C9-7BE6-4034-A85F-04BDA49FC00B}" type="parTrans" cxnId="{60117FEB-7480-4DBF-836F-AB1D5274D280}">
      <dgm:prSet/>
      <dgm:spPr/>
      <dgm:t>
        <a:bodyPr/>
        <a:lstStyle/>
        <a:p>
          <a:endParaRPr lang="en-US" sz="1800"/>
        </a:p>
      </dgm:t>
    </dgm:pt>
    <dgm:pt modelId="{28D38FFB-0B6F-4428-9815-757B4BD0C90E}" type="sibTrans" cxnId="{60117FEB-7480-4DBF-836F-AB1D5274D280}">
      <dgm:prSet/>
      <dgm:spPr/>
      <dgm:t>
        <a:bodyPr/>
        <a:lstStyle/>
        <a:p>
          <a:endParaRPr lang="en-US" sz="1800"/>
        </a:p>
      </dgm:t>
    </dgm:pt>
    <dgm:pt modelId="{AB1C6577-98C2-487D-B2BB-4EF1E3B8FEB1}">
      <dgm:prSet phldrT="[Text]" custT="1"/>
      <dgm:spPr/>
      <dgm:t>
        <a:bodyPr/>
        <a:lstStyle/>
        <a:p>
          <a:r>
            <a:rPr lang="en-US" sz="1800" dirty="0"/>
            <a:t>Study 2</a:t>
          </a:r>
        </a:p>
      </dgm:t>
    </dgm:pt>
    <dgm:pt modelId="{55500C5D-732E-491A-9D65-50EB54BE179A}" type="parTrans" cxnId="{AA8ABDAF-D3B8-4479-96BE-88DE08FEA43A}">
      <dgm:prSet/>
      <dgm:spPr/>
      <dgm:t>
        <a:bodyPr/>
        <a:lstStyle/>
        <a:p>
          <a:endParaRPr lang="en-US" sz="1800"/>
        </a:p>
      </dgm:t>
    </dgm:pt>
    <dgm:pt modelId="{161BDB53-420B-4081-984C-25C7EB4A11BC}" type="sibTrans" cxnId="{AA8ABDAF-D3B8-4479-96BE-88DE08FEA43A}">
      <dgm:prSet/>
      <dgm:spPr/>
      <dgm:t>
        <a:bodyPr/>
        <a:lstStyle/>
        <a:p>
          <a:endParaRPr lang="en-US" sz="1800"/>
        </a:p>
      </dgm:t>
    </dgm:pt>
    <dgm:pt modelId="{716FD96D-E877-4E59-A797-862DF35F3CB3}">
      <dgm:prSet phldrT="[Text]" custT="1"/>
      <dgm:spPr/>
      <dgm:t>
        <a:bodyPr/>
        <a:lstStyle/>
        <a:p>
          <a:r>
            <a:rPr lang="en-US" sz="1800" dirty="0"/>
            <a:t>Agent Advantage Effect </a:t>
          </a:r>
          <a:br>
            <a:rPr lang="en-US" sz="1800" dirty="0"/>
          </a:br>
          <a:r>
            <a:rPr lang="en-US" sz="1800" dirty="0"/>
            <a:t>in pictures</a:t>
          </a:r>
        </a:p>
      </dgm:t>
    </dgm:pt>
    <dgm:pt modelId="{90549982-E35B-4804-855E-7C2A4805E792}" type="parTrans" cxnId="{F177E138-F381-42D3-AE99-EABD9A4E7F8E}">
      <dgm:prSet/>
      <dgm:spPr/>
      <dgm:t>
        <a:bodyPr/>
        <a:lstStyle/>
        <a:p>
          <a:endParaRPr lang="en-US" sz="1800"/>
        </a:p>
      </dgm:t>
    </dgm:pt>
    <dgm:pt modelId="{3402A4FB-6921-4743-8987-76FD6EC14366}" type="sibTrans" cxnId="{F177E138-F381-42D3-AE99-EABD9A4E7F8E}">
      <dgm:prSet/>
      <dgm:spPr/>
      <dgm:t>
        <a:bodyPr/>
        <a:lstStyle/>
        <a:p>
          <a:endParaRPr lang="en-US" sz="1800"/>
        </a:p>
      </dgm:t>
    </dgm:pt>
    <dgm:pt modelId="{47A0635F-3D44-45AA-B699-5CA29B1EC10B}">
      <dgm:prSet phldrT="[Text]" custT="1"/>
      <dgm:spPr/>
      <dgm:t>
        <a:bodyPr/>
        <a:lstStyle/>
        <a:p>
          <a:r>
            <a:rPr lang="en-US" sz="1800" dirty="0"/>
            <a:t>Study the underlying process of the agent advantage effect</a:t>
          </a:r>
        </a:p>
      </dgm:t>
    </dgm:pt>
    <dgm:pt modelId="{7F84B65C-8197-45A6-991E-BF036184CEA0}" type="parTrans" cxnId="{9DDE4990-2785-4D8B-9FD5-9484DCFF6475}">
      <dgm:prSet/>
      <dgm:spPr/>
      <dgm:t>
        <a:bodyPr/>
        <a:lstStyle/>
        <a:p>
          <a:endParaRPr lang="en-US" sz="1800"/>
        </a:p>
      </dgm:t>
    </dgm:pt>
    <dgm:pt modelId="{0C3CD290-A25C-4BE9-BA21-17FE057C1B85}" type="sibTrans" cxnId="{9DDE4990-2785-4D8B-9FD5-9484DCFF6475}">
      <dgm:prSet/>
      <dgm:spPr/>
      <dgm:t>
        <a:bodyPr/>
        <a:lstStyle/>
        <a:p>
          <a:endParaRPr lang="en-US" sz="1800"/>
        </a:p>
      </dgm:t>
    </dgm:pt>
    <dgm:pt modelId="{A139445E-7CDA-43C7-87B8-4DCD08EE26B1}">
      <dgm:prSet phldrT="[Text]" custT="1"/>
      <dgm:spPr/>
      <dgm:t>
        <a:bodyPr/>
        <a:lstStyle/>
        <a:p>
          <a:r>
            <a:rPr lang="en-US" sz="1800" dirty="0"/>
            <a:t>Eye-tracking Study</a:t>
          </a:r>
        </a:p>
      </dgm:t>
    </dgm:pt>
    <dgm:pt modelId="{A915BADE-E07C-4B45-8B2B-60C880E27498}" type="parTrans" cxnId="{F421869A-AD74-4FF0-9D70-72BC1519AC8C}">
      <dgm:prSet/>
      <dgm:spPr/>
      <dgm:t>
        <a:bodyPr/>
        <a:lstStyle/>
        <a:p>
          <a:endParaRPr lang="en-US" sz="1800"/>
        </a:p>
      </dgm:t>
    </dgm:pt>
    <dgm:pt modelId="{232A56CC-9038-479F-ACB7-515166CB3FBC}" type="sibTrans" cxnId="{F421869A-AD74-4FF0-9D70-72BC1519AC8C}">
      <dgm:prSet/>
      <dgm:spPr/>
      <dgm:t>
        <a:bodyPr/>
        <a:lstStyle/>
        <a:p>
          <a:endParaRPr lang="en-US" sz="1800"/>
        </a:p>
      </dgm:t>
    </dgm:pt>
    <dgm:pt modelId="{2FC099A3-89BB-4565-974F-37A4BDDEFEC2}">
      <dgm:prSet phldrT="[Text]" custT="1"/>
      <dgm:spPr/>
      <dgm:t>
        <a:bodyPr/>
        <a:lstStyle/>
        <a:p>
          <a:r>
            <a:rPr lang="en-US" sz="1800" dirty="0"/>
            <a:t>Motion Line Study</a:t>
          </a:r>
        </a:p>
      </dgm:t>
    </dgm:pt>
    <dgm:pt modelId="{EF88FB06-FE03-4089-8505-6DC10CC4B716}" type="parTrans" cxnId="{0FC7C232-2AEA-4CA4-8A27-9283C9C34945}">
      <dgm:prSet/>
      <dgm:spPr/>
      <dgm:t>
        <a:bodyPr/>
        <a:lstStyle/>
        <a:p>
          <a:endParaRPr lang="en-US" sz="1800"/>
        </a:p>
      </dgm:t>
    </dgm:pt>
    <dgm:pt modelId="{5D3FB9E2-B611-4002-ABC2-08B4AF6341B6}" type="sibTrans" cxnId="{0FC7C232-2AEA-4CA4-8A27-9283C9C34945}">
      <dgm:prSet/>
      <dgm:spPr/>
      <dgm:t>
        <a:bodyPr/>
        <a:lstStyle/>
        <a:p>
          <a:endParaRPr lang="en-US" sz="1800"/>
        </a:p>
      </dgm:t>
    </dgm:pt>
    <dgm:pt modelId="{C3A27155-8B35-4EAC-A40B-2D4AD4A70F50}">
      <dgm:prSet phldrT="[Text]" custT="1"/>
      <dgm:spPr/>
      <dgm:t>
        <a:bodyPr/>
        <a:lstStyle/>
        <a:p>
          <a:r>
            <a:rPr lang="en-US" sz="1800" dirty="0"/>
            <a:t>Ambiguity Study</a:t>
          </a:r>
        </a:p>
      </dgm:t>
    </dgm:pt>
    <dgm:pt modelId="{9A6D9D11-0583-4D4A-804F-CE7C1A48728A}" type="parTrans" cxnId="{329E4A4A-2A2F-4B84-91FE-FD4969D4B571}">
      <dgm:prSet/>
      <dgm:spPr/>
      <dgm:t>
        <a:bodyPr/>
        <a:lstStyle/>
        <a:p>
          <a:endParaRPr lang="en-US" sz="1800"/>
        </a:p>
      </dgm:t>
    </dgm:pt>
    <dgm:pt modelId="{332E74EA-2969-422D-9C30-620362EC0B62}" type="sibTrans" cxnId="{329E4A4A-2A2F-4B84-91FE-FD4969D4B571}">
      <dgm:prSet/>
      <dgm:spPr/>
      <dgm:t>
        <a:bodyPr/>
        <a:lstStyle/>
        <a:p>
          <a:endParaRPr lang="en-US" sz="1800"/>
        </a:p>
      </dgm:t>
    </dgm:pt>
    <dgm:pt modelId="{41D40E49-5284-42C7-91E7-A999451E270D}">
      <dgm:prSet phldrT="[Text]" custT="1"/>
      <dgm:spPr/>
      <dgm:t>
        <a:bodyPr/>
        <a:lstStyle/>
        <a:p>
          <a:r>
            <a:rPr lang="en-US" sz="1800" dirty="0"/>
            <a:t>Study how comic elements impact the agent advantage effect in single pictures</a:t>
          </a:r>
        </a:p>
      </dgm:t>
    </dgm:pt>
    <dgm:pt modelId="{2318A1B7-9F15-44F8-8544-B76639B793FF}" type="parTrans" cxnId="{D19FB3B8-BA63-4C15-B4EA-F36411A90555}">
      <dgm:prSet/>
      <dgm:spPr/>
      <dgm:t>
        <a:bodyPr/>
        <a:lstStyle/>
        <a:p>
          <a:endParaRPr lang="en-US"/>
        </a:p>
      </dgm:t>
    </dgm:pt>
    <dgm:pt modelId="{F4D67F7D-19C5-47DE-A847-A9F151514C8C}" type="sibTrans" cxnId="{D19FB3B8-BA63-4C15-B4EA-F36411A90555}">
      <dgm:prSet/>
      <dgm:spPr/>
      <dgm:t>
        <a:bodyPr/>
        <a:lstStyle/>
        <a:p>
          <a:endParaRPr lang="en-US"/>
        </a:p>
      </dgm:t>
    </dgm:pt>
    <dgm:pt modelId="{8DDAFB03-CEC1-48F8-BF21-6D7BA973E313}">
      <dgm:prSet phldrT="[Text]" custT="1"/>
      <dgm:spPr/>
      <dgm:t>
        <a:bodyPr/>
        <a:lstStyle/>
        <a:p>
          <a:r>
            <a:rPr lang="en-US" sz="1800" dirty="0"/>
            <a:t>Study the agent advantage effect in dynamics</a:t>
          </a:r>
        </a:p>
      </dgm:t>
    </dgm:pt>
    <dgm:pt modelId="{18FB3255-5928-4EE9-8A18-CBD5496BCC76}" type="parTrans" cxnId="{AD5CD14F-5D71-4841-B6F6-6C62DF2D5113}">
      <dgm:prSet/>
      <dgm:spPr/>
      <dgm:t>
        <a:bodyPr/>
        <a:lstStyle/>
        <a:p>
          <a:endParaRPr lang="en-US"/>
        </a:p>
      </dgm:t>
    </dgm:pt>
    <dgm:pt modelId="{A501A545-69B1-4728-80C8-EC9BF5D99767}" type="sibTrans" cxnId="{AD5CD14F-5D71-4841-B6F6-6C62DF2D5113}">
      <dgm:prSet/>
      <dgm:spPr/>
      <dgm:t>
        <a:bodyPr/>
        <a:lstStyle/>
        <a:p>
          <a:endParaRPr lang="en-US"/>
        </a:p>
      </dgm:t>
    </dgm:pt>
    <dgm:pt modelId="{E9075C4A-2164-4838-ADC8-7E053285F70E}" type="pres">
      <dgm:prSet presAssocID="{21E75EF2-DF01-49C0-B777-807D85782205}" presName="Name0" presStyleCnt="0">
        <dgm:presLayoutVars>
          <dgm:chPref val="1"/>
          <dgm:dir/>
          <dgm:animOne val="branch"/>
          <dgm:animLvl val="lvl"/>
          <dgm:resizeHandles/>
        </dgm:presLayoutVars>
      </dgm:prSet>
      <dgm:spPr/>
    </dgm:pt>
    <dgm:pt modelId="{B0550CBC-8E18-423C-AE70-53749755337D}" type="pres">
      <dgm:prSet presAssocID="{716FD96D-E877-4E59-A797-862DF35F3CB3}" presName="vertOne" presStyleCnt="0"/>
      <dgm:spPr/>
    </dgm:pt>
    <dgm:pt modelId="{B09BA69D-5FA0-4F77-8A86-70E99F146854}" type="pres">
      <dgm:prSet presAssocID="{716FD96D-E877-4E59-A797-862DF35F3CB3}" presName="txOne" presStyleLbl="node0" presStyleIdx="0" presStyleCnt="1">
        <dgm:presLayoutVars>
          <dgm:chPref val="3"/>
        </dgm:presLayoutVars>
      </dgm:prSet>
      <dgm:spPr/>
    </dgm:pt>
    <dgm:pt modelId="{9DEED5A1-0DB5-45C4-9433-1C2488FB4655}" type="pres">
      <dgm:prSet presAssocID="{716FD96D-E877-4E59-A797-862DF35F3CB3}" presName="parTransOne" presStyleCnt="0"/>
      <dgm:spPr/>
    </dgm:pt>
    <dgm:pt modelId="{B5EB6B1B-0343-444A-8C64-6B94DD02C41F}" type="pres">
      <dgm:prSet presAssocID="{716FD96D-E877-4E59-A797-862DF35F3CB3}" presName="horzOne" presStyleCnt="0"/>
      <dgm:spPr/>
    </dgm:pt>
    <dgm:pt modelId="{BE3BB942-C820-4DE9-AE05-721108B75425}" type="pres">
      <dgm:prSet presAssocID="{9C0529E7-B3FD-4A2B-8E96-BE62F1BABACB}" presName="vertTwo" presStyleCnt="0"/>
      <dgm:spPr/>
    </dgm:pt>
    <dgm:pt modelId="{234962F9-7A3E-46C6-9055-FB57BE5F51B4}" type="pres">
      <dgm:prSet presAssocID="{9C0529E7-B3FD-4A2B-8E96-BE62F1BABACB}" presName="txTwo" presStyleLbl="node2" presStyleIdx="0" presStyleCnt="3" custLinFactNeighborX="-114" custLinFactNeighborY="29930">
        <dgm:presLayoutVars>
          <dgm:chPref val="3"/>
        </dgm:presLayoutVars>
      </dgm:prSet>
      <dgm:spPr/>
    </dgm:pt>
    <dgm:pt modelId="{9738F645-F08D-497B-899E-90F4C95DEDC7}" type="pres">
      <dgm:prSet presAssocID="{9C0529E7-B3FD-4A2B-8E96-BE62F1BABACB}" presName="parTransTwo" presStyleCnt="0"/>
      <dgm:spPr/>
    </dgm:pt>
    <dgm:pt modelId="{9CFB8580-676C-4D0E-91FC-F4D489134C80}" type="pres">
      <dgm:prSet presAssocID="{9C0529E7-B3FD-4A2B-8E96-BE62F1BABACB}" presName="horzTwo" presStyleCnt="0"/>
      <dgm:spPr/>
    </dgm:pt>
    <dgm:pt modelId="{97397289-2DCF-44C3-8FB7-6E5E5CC3C409}" type="pres">
      <dgm:prSet presAssocID="{A139445E-7CDA-43C7-87B8-4DCD08EE26B1}" presName="vertThree" presStyleCnt="0"/>
      <dgm:spPr/>
    </dgm:pt>
    <dgm:pt modelId="{6A58AB54-1BFF-436C-AE97-D6C16B970CEA}" type="pres">
      <dgm:prSet presAssocID="{A139445E-7CDA-43C7-87B8-4DCD08EE26B1}" presName="txThree" presStyleLbl="node3" presStyleIdx="0" presStyleCnt="3">
        <dgm:presLayoutVars>
          <dgm:chPref val="3"/>
        </dgm:presLayoutVars>
      </dgm:prSet>
      <dgm:spPr/>
    </dgm:pt>
    <dgm:pt modelId="{906AFC81-3D94-41BA-B0BD-CEB9EB2905C9}" type="pres">
      <dgm:prSet presAssocID="{A139445E-7CDA-43C7-87B8-4DCD08EE26B1}" presName="parTransThree" presStyleCnt="0"/>
      <dgm:spPr/>
    </dgm:pt>
    <dgm:pt modelId="{22CCA7E9-75A1-4B96-8C49-752EA405E87E}" type="pres">
      <dgm:prSet presAssocID="{A139445E-7CDA-43C7-87B8-4DCD08EE26B1}" presName="horzThree" presStyleCnt="0"/>
      <dgm:spPr/>
    </dgm:pt>
    <dgm:pt modelId="{00973969-284D-4A54-9296-7DC4544FFCD9}" type="pres">
      <dgm:prSet presAssocID="{47A0635F-3D44-45AA-B699-5CA29B1EC10B}" presName="vertFour" presStyleCnt="0">
        <dgm:presLayoutVars>
          <dgm:chPref val="3"/>
        </dgm:presLayoutVars>
      </dgm:prSet>
      <dgm:spPr/>
    </dgm:pt>
    <dgm:pt modelId="{0215DAA2-DDCC-4443-97A6-9FACF7D3D85C}" type="pres">
      <dgm:prSet presAssocID="{47A0635F-3D44-45AA-B699-5CA29B1EC10B}" presName="txFour" presStyleLbl="node4" presStyleIdx="0" presStyleCnt="3">
        <dgm:presLayoutVars>
          <dgm:chPref val="3"/>
        </dgm:presLayoutVars>
      </dgm:prSet>
      <dgm:spPr/>
    </dgm:pt>
    <dgm:pt modelId="{82D4C519-3ACE-4179-89DD-6D853DB0C102}" type="pres">
      <dgm:prSet presAssocID="{47A0635F-3D44-45AA-B699-5CA29B1EC10B}" presName="horzFour" presStyleCnt="0"/>
      <dgm:spPr/>
    </dgm:pt>
    <dgm:pt modelId="{21C582D4-D989-464B-A760-41817D643E1E}" type="pres">
      <dgm:prSet presAssocID="{8CDC154D-363F-4AC8-B690-38BB5CD0611C}" presName="sibSpaceTwo" presStyleCnt="0"/>
      <dgm:spPr/>
    </dgm:pt>
    <dgm:pt modelId="{51140836-6390-4B5E-BF86-6F9894E80193}" type="pres">
      <dgm:prSet presAssocID="{AB1C6577-98C2-487D-B2BB-4EF1E3B8FEB1}" presName="vertTwo" presStyleCnt="0"/>
      <dgm:spPr/>
    </dgm:pt>
    <dgm:pt modelId="{C1494B4B-6776-4AFC-8248-10BDE4D2A08E}" type="pres">
      <dgm:prSet presAssocID="{AB1C6577-98C2-487D-B2BB-4EF1E3B8FEB1}" presName="txTwo" presStyleLbl="node2" presStyleIdx="1" presStyleCnt="3">
        <dgm:presLayoutVars>
          <dgm:chPref val="3"/>
        </dgm:presLayoutVars>
      </dgm:prSet>
      <dgm:spPr/>
    </dgm:pt>
    <dgm:pt modelId="{EEA981BC-D0D8-4C11-B8BD-A7B17F16B1AD}" type="pres">
      <dgm:prSet presAssocID="{AB1C6577-98C2-487D-B2BB-4EF1E3B8FEB1}" presName="parTransTwo" presStyleCnt="0"/>
      <dgm:spPr/>
    </dgm:pt>
    <dgm:pt modelId="{CD7EB92E-CD37-4D26-B1A6-363F9CA9C7C0}" type="pres">
      <dgm:prSet presAssocID="{AB1C6577-98C2-487D-B2BB-4EF1E3B8FEB1}" presName="horzTwo" presStyleCnt="0"/>
      <dgm:spPr/>
    </dgm:pt>
    <dgm:pt modelId="{C3DF0AE5-5D05-43CD-917F-D9AC9FD06AEB}" type="pres">
      <dgm:prSet presAssocID="{2FC099A3-89BB-4565-974F-37A4BDDEFEC2}" presName="vertThree" presStyleCnt="0"/>
      <dgm:spPr/>
    </dgm:pt>
    <dgm:pt modelId="{AF6DA579-D12E-491F-892A-1F8AE033CE07}" type="pres">
      <dgm:prSet presAssocID="{2FC099A3-89BB-4565-974F-37A4BDDEFEC2}" presName="txThree" presStyleLbl="node3" presStyleIdx="1" presStyleCnt="3">
        <dgm:presLayoutVars>
          <dgm:chPref val="3"/>
        </dgm:presLayoutVars>
      </dgm:prSet>
      <dgm:spPr/>
    </dgm:pt>
    <dgm:pt modelId="{A9294A8B-FB22-4F13-9BB7-23F147D43A9D}" type="pres">
      <dgm:prSet presAssocID="{2FC099A3-89BB-4565-974F-37A4BDDEFEC2}" presName="parTransThree" presStyleCnt="0"/>
      <dgm:spPr/>
    </dgm:pt>
    <dgm:pt modelId="{A6ED9108-8B7A-43DA-BD70-1A6E04DBE499}" type="pres">
      <dgm:prSet presAssocID="{2FC099A3-89BB-4565-974F-37A4BDDEFEC2}" presName="horzThree" presStyleCnt="0"/>
      <dgm:spPr/>
    </dgm:pt>
    <dgm:pt modelId="{D1394D87-77AE-4795-801B-D52093B8CAC2}" type="pres">
      <dgm:prSet presAssocID="{41D40E49-5284-42C7-91E7-A999451E270D}" presName="vertFour" presStyleCnt="0">
        <dgm:presLayoutVars>
          <dgm:chPref val="3"/>
        </dgm:presLayoutVars>
      </dgm:prSet>
      <dgm:spPr/>
    </dgm:pt>
    <dgm:pt modelId="{A1D0066E-FBFB-4EA8-AA2F-6CA7417DF253}" type="pres">
      <dgm:prSet presAssocID="{41D40E49-5284-42C7-91E7-A999451E270D}" presName="txFour" presStyleLbl="node4" presStyleIdx="1" presStyleCnt="3">
        <dgm:presLayoutVars>
          <dgm:chPref val="3"/>
        </dgm:presLayoutVars>
      </dgm:prSet>
      <dgm:spPr/>
    </dgm:pt>
    <dgm:pt modelId="{CCA47277-0DCE-48DD-996D-00617B8041A2}" type="pres">
      <dgm:prSet presAssocID="{41D40E49-5284-42C7-91E7-A999451E270D}" presName="horzFour" presStyleCnt="0"/>
      <dgm:spPr/>
    </dgm:pt>
    <dgm:pt modelId="{1EA63E5E-7EF0-4BFB-A651-9FBCA000F226}" type="pres">
      <dgm:prSet presAssocID="{161BDB53-420B-4081-984C-25C7EB4A11BC}" presName="sibSpaceTwo" presStyleCnt="0"/>
      <dgm:spPr/>
    </dgm:pt>
    <dgm:pt modelId="{C51CF0B8-80FC-4F00-9320-26037CADCE0E}" type="pres">
      <dgm:prSet presAssocID="{82AA7F52-AA42-45AF-8EF8-9C75FE2CE84E}" presName="vertTwo" presStyleCnt="0"/>
      <dgm:spPr/>
    </dgm:pt>
    <dgm:pt modelId="{3DD6ED5E-33D4-4DF5-A875-EB7ACF95BB6E}" type="pres">
      <dgm:prSet presAssocID="{82AA7F52-AA42-45AF-8EF8-9C75FE2CE84E}" presName="txTwo" presStyleLbl="node2" presStyleIdx="2" presStyleCnt="3">
        <dgm:presLayoutVars>
          <dgm:chPref val="3"/>
        </dgm:presLayoutVars>
      </dgm:prSet>
      <dgm:spPr/>
    </dgm:pt>
    <dgm:pt modelId="{D8291238-3EF0-40EA-9F90-3F74BF24AF5D}" type="pres">
      <dgm:prSet presAssocID="{82AA7F52-AA42-45AF-8EF8-9C75FE2CE84E}" presName="parTransTwo" presStyleCnt="0"/>
      <dgm:spPr/>
    </dgm:pt>
    <dgm:pt modelId="{2C15AC11-7345-4CED-B024-5D0D17608104}" type="pres">
      <dgm:prSet presAssocID="{82AA7F52-AA42-45AF-8EF8-9C75FE2CE84E}" presName="horzTwo" presStyleCnt="0"/>
      <dgm:spPr/>
    </dgm:pt>
    <dgm:pt modelId="{9F9A2F64-769D-4521-A405-AEEC31D2A9E5}" type="pres">
      <dgm:prSet presAssocID="{C3A27155-8B35-4EAC-A40B-2D4AD4A70F50}" presName="vertThree" presStyleCnt="0"/>
      <dgm:spPr/>
    </dgm:pt>
    <dgm:pt modelId="{C00894AC-CDDE-4922-9638-D4C5E3518D17}" type="pres">
      <dgm:prSet presAssocID="{C3A27155-8B35-4EAC-A40B-2D4AD4A70F50}" presName="txThree" presStyleLbl="node3" presStyleIdx="2" presStyleCnt="3">
        <dgm:presLayoutVars>
          <dgm:chPref val="3"/>
        </dgm:presLayoutVars>
      </dgm:prSet>
      <dgm:spPr/>
    </dgm:pt>
    <dgm:pt modelId="{0290FC84-9543-4CE9-997C-2BA80EB332E6}" type="pres">
      <dgm:prSet presAssocID="{C3A27155-8B35-4EAC-A40B-2D4AD4A70F50}" presName="parTransThree" presStyleCnt="0"/>
      <dgm:spPr/>
    </dgm:pt>
    <dgm:pt modelId="{A034935A-7F8B-4ADC-B1CE-CBC6A5227971}" type="pres">
      <dgm:prSet presAssocID="{C3A27155-8B35-4EAC-A40B-2D4AD4A70F50}" presName="horzThree" presStyleCnt="0"/>
      <dgm:spPr/>
    </dgm:pt>
    <dgm:pt modelId="{74B35135-0C38-42F6-AD0B-F496D1D3C447}" type="pres">
      <dgm:prSet presAssocID="{8DDAFB03-CEC1-48F8-BF21-6D7BA973E313}" presName="vertFour" presStyleCnt="0">
        <dgm:presLayoutVars>
          <dgm:chPref val="3"/>
        </dgm:presLayoutVars>
      </dgm:prSet>
      <dgm:spPr/>
    </dgm:pt>
    <dgm:pt modelId="{389A5BCF-0E31-4613-A539-D738C6F458E9}" type="pres">
      <dgm:prSet presAssocID="{8DDAFB03-CEC1-48F8-BF21-6D7BA973E313}" presName="txFour" presStyleLbl="node4" presStyleIdx="2" presStyleCnt="3">
        <dgm:presLayoutVars>
          <dgm:chPref val="3"/>
        </dgm:presLayoutVars>
      </dgm:prSet>
      <dgm:spPr/>
    </dgm:pt>
    <dgm:pt modelId="{9916BCB2-5C22-4105-9FB3-75A5F3E4FE84}" type="pres">
      <dgm:prSet presAssocID="{8DDAFB03-CEC1-48F8-BF21-6D7BA973E313}" presName="horzFour" presStyleCnt="0"/>
      <dgm:spPr/>
    </dgm:pt>
  </dgm:ptLst>
  <dgm:cxnLst>
    <dgm:cxn modelId="{85CEED30-58BF-4448-BEA5-8211CD570B43}" srcId="{716FD96D-E877-4E59-A797-862DF35F3CB3}" destId="{9C0529E7-B3FD-4A2B-8E96-BE62F1BABACB}" srcOrd="0" destOrd="0" parTransId="{1AEA38AB-AB07-4AD0-ADE8-DFB8C6F38D56}" sibTransId="{8CDC154D-363F-4AC8-B690-38BB5CD0611C}"/>
    <dgm:cxn modelId="{0FC7C232-2AEA-4CA4-8A27-9283C9C34945}" srcId="{AB1C6577-98C2-487D-B2BB-4EF1E3B8FEB1}" destId="{2FC099A3-89BB-4565-974F-37A4BDDEFEC2}" srcOrd="0" destOrd="0" parTransId="{EF88FB06-FE03-4089-8505-6DC10CC4B716}" sibTransId="{5D3FB9E2-B611-4002-ABC2-08B4AF6341B6}"/>
    <dgm:cxn modelId="{DBD35B38-5605-47FA-B12C-0E167BC8D7D1}" type="presOf" srcId="{A139445E-7CDA-43C7-87B8-4DCD08EE26B1}" destId="{6A58AB54-1BFF-436C-AE97-D6C16B970CEA}" srcOrd="0" destOrd="0" presId="urn:microsoft.com/office/officeart/2005/8/layout/hierarchy4"/>
    <dgm:cxn modelId="{F177E138-F381-42D3-AE99-EABD9A4E7F8E}" srcId="{21E75EF2-DF01-49C0-B777-807D85782205}" destId="{716FD96D-E877-4E59-A797-862DF35F3CB3}" srcOrd="0" destOrd="0" parTransId="{90549982-E35B-4804-855E-7C2A4805E792}" sibTransId="{3402A4FB-6921-4743-8987-76FD6EC14366}"/>
    <dgm:cxn modelId="{9C87EF63-5F4D-4071-9C95-4839543CC504}" type="presOf" srcId="{2FC099A3-89BB-4565-974F-37A4BDDEFEC2}" destId="{AF6DA579-D12E-491F-892A-1F8AE033CE07}" srcOrd="0" destOrd="0" presId="urn:microsoft.com/office/officeart/2005/8/layout/hierarchy4"/>
    <dgm:cxn modelId="{329E4A4A-2A2F-4B84-91FE-FD4969D4B571}" srcId="{82AA7F52-AA42-45AF-8EF8-9C75FE2CE84E}" destId="{C3A27155-8B35-4EAC-A40B-2D4AD4A70F50}" srcOrd="0" destOrd="0" parTransId="{9A6D9D11-0583-4D4A-804F-CE7C1A48728A}" sibTransId="{332E74EA-2969-422D-9C30-620362EC0B62}"/>
    <dgm:cxn modelId="{AD5CD14F-5D71-4841-B6F6-6C62DF2D5113}" srcId="{C3A27155-8B35-4EAC-A40B-2D4AD4A70F50}" destId="{8DDAFB03-CEC1-48F8-BF21-6D7BA973E313}" srcOrd="0" destOrd="0" parTransId="{18FB3255-5928-4EE9-8A18-CBD5496BCC76}" sibTransId="{A501A545-69B1-4728-80C8-EC9BF5D99767}"/>
    <dgm:cxn modelId="{904C9E75-6981-4EA6-9143-5E955E2436C1}" type="presOf" srcId="{82AA7F52-AA42-45AF-8EF8-9C75FE2CE84E}" destId="{3DD6ED5E-33D4-4DF5-A875-EB7ACF95BB6E}" srcOrd="0" destOrd="0" presId="urn:microsoft.com/office/officeart/2005/8/layout/hierarchy4"/>
    <dgm:cxn modelId="{96196C7A-2276-44D8-8383-CA6344B26652}" type="presOf" srcId="{21E75EF2-DF01-49C0-B777-807D85782205}" destId="{E9075C4A-2164-4838-ADC8-7E053285F70E}" srcOrd="0" destOrd="0" presId="urn:microsoft.com/office/officeart/2005/8/layout/hierarchy4"/>
    <dgm:cxn modelId="{A50E437B-150E-4BA7-B14C-AA5DB6E6BB35}" type="presOf" srcId="{AB1C6577-98C2-487D-B2BB-4EF1E3B8FEB1}" destId="{C1494B4B-6776-4AFC-8248-10BDE4D2A08E}" srcOrd="0" destOrd="0" presId="urn:microsoft.com/office/officeart/2005/8/layout/hierarchy4"/>
    <dgm:cxn modelId="{9DDE4990-2785-4D8B-9FD5-9484DCFF6475}" srcId="{A139445E-7CDA-43C7-87B8-4DCD08EE26B1}" destId="{47A0635F-3D44-45AA-B699-5CA29B1EC10B}" srcOrd="0" destOrd="0" parTransId="{7F84B65C-8197-45A6-991E-BF036184CEA0}" sibTransId="{0C3CD290-A25C-4BE9-BA21-17FE057C1B85}"/>
    <dgm:cxn modelId="{F421869A-AD74-4FF0-9D70-72BC1519AC8C}" srcId="{9C0529E7-B3FD-4A2B-8E96-BE62F1BABACB}" destId="{A139445E-7CDA-43C7-87B8-4DCD08EE26B1}" srcOrd="0" destOrd="0" parTransId="{A915BADE-E07C-4B45-8B2B-60C880E27498}" sibTransId="{232A56CC-9038-479F-ACB7-515166CB3FBC}"/>
    <dgm:cxn modelId="{E81388A3-0784-48DA-B0C4-384BC3A5F7FF}" type="presOf" srcId="{C3A27155-8B35-4EAC-A40B-2D4AD4A70F50}" destId="{C00894AC-CDDE-4922-9638-D4C5E3518D17}" srcOrd="0" destOrd="0" presId="urn:microsoft.com/office/officeart/2005/8/layout/hierarchy4"/>
    <dgm:cxn modelId="{AA8ABDAF-D3B8-4479-96BE-88DE08FEA43A}" srcId="{716FD96D-E877-4E59-A797-862DF35F3CB3}" destId="{AB1C6577-98C2-487D-B2BB-4EF1E3B8FEB1}" srcOrd="1" destOrd="0" parTransId="{55500C5D-732E-491A-9D65-50EB54BE179A}" sibTransId="{161BDB53-420B-4081-984C-25C7EB4A11BC}"/>
    <dgm:cxn modelId="{C8334DB1-3B6C-4F32-8E2D-29E37BBD7DE5}" type="presOf" srcId="{47A0635F-3D44-45AA-B699-5CA29B1EC10B}" destId="{0215DAA2-DDCC-4443-97A6-9FACF7D3D85C}" srcOrd="0" destOrd="0" presId="urn:microsoft.com/office/officeart/2005/8/layout/hierarchy4"/>
    <dgm:cxn modelId="{6FABE3B5-E2B5-4CB8-90D0-64C8F8B527AE}" type="presOf" srcId="{41D40E49-5284-42C7-91E7-A999451E270D}" destId="{A1D0066E-FBFB-4EA8-AA2F-6CA7417DF253}" srcOrd="0" destOrd="0" presId="urn:microsoft.com/office/officeart/2005/8/layout/hierarchy4"/>
    <dgm:cxn modelId="{D19FB3B8-BA63-4C15-B4EA-F36411A90555}" srcId="{2FC099A3-89BB-4565-974F-37A4BDDEFEC2}" destId="{41D40E49-5284-42C7-91E7-A999451E270D}" srcOrd="0" destOrd="0" parTransId="{2318A1B7-9F15-44F8-8544-B76639B793FF}" sibTransId="{F4D67F7D-19C5-47DE-A847-A9F151514C8C}"/>
    <dgm:cxn modelId="{241725D2-27DF-4451-A353-125206405657}" type="presOf" srcId="{9C0529E7-B3FD-4A2B-8E96-BE62F1BABACB}" destId="{234962F9-7A3E-46C6-9055-FB57BE5F51B4}" srcOrd="0" destOrd="0" presId="urn:microsoft.com/office/officeart/2005/8/layout/hierarchy4"/>
    <dgm:cxn modelId="{0AFF07D6-3010-4091-BEE1-68908C7EF694}" type="presOf" srcId="{8DDAFB03-CEC1-48F8-BF21-6D7BA973E313}" destId="{389A5BCF-0E31-4613-A539-D738C6F458E9}" srcOrd="0" destOrd="0" presId="urn:microsoft.com/office/officeart/2005/8/layout/hierarchy4"/>
    <dgm:cxn modelId="{60117FEB-7480-4DBF-836F-AB1D5274D280}" srcId="{716FD96D-E877-4E59-A797-862DF35F3CB3}" destId="{82AA7F52-AA42-45AF-8EF8-9C75FE2CE84E}" srcOrd="2" destOrd="0" parTransId="{8F1454C9-7BE6-4034-A85F-04BDA49FC00B}" sibTransId="{28D38FFB-0B6F-4428-9815-757B4BD0C90E}"/>
    <dgm:cxn modelId="{A42AA7FB-F95E-4510-982B-6FED8EF4236F}" type="presOf" srcId="{716FD96D-E877-4E59-A797-862DF35F3CB3}" destId="{B09BA69D-5FA0-4F77-8A86-70E99F146854}" srcOrd="0" destOrd="0" presId="urn:microsoft.com/office/officeart/2005/8/layout/hierarchy4"/>
    <dgm:cxn modelId="{B51C4813-589A-495D-90AE-AC85277D4F8D}" type="presParOf" srcId="{E9075C4A-2164-4838-ADC8-7E053285F70E}" destId="{B0550CBC-8E18-423C-AE70-53749755337D}" srcOrd="0" destOrd="0" presId="urn:microsoft.com/office/officeart/2005/8/layout/hierarchy4"/>
    <dgm:cxn modelId="{0F393375-F8B3-4862-8BD9-196D177E096D}" type="presParOf" srcId="{B0550CBC-8E18-423C-AE70-53749755337D}" destId="{B09BA69D-5FA0-4F77-8A86-70E99F146854}" srcOrd="0" destOrd="0" presId="urn:microsoft.com/office/officeart/2005/8/layout/hierarchy4"/>
    <dgm:cxn modelId="{C8D2BB9B-37E2-4577-A58E-7E40F10A936A}" type="presParOf" srcId="{B0550CBC-8E18-423C-AE70-53749755337D}" destId="{9DEED5A1-0DB5-45C4-9433-1C2488FB4655}" srcOrd="1" destOrd="0" presId="urn:microsoft.com/office/officeart/2005/8/layout/hierarchy4"/>
    <dgm:cxn modelId="{29B99D13-7E33-4E3F-A76A-7D676ADD0AD6}" type="presParOf" srcId="{B0550CBC-8E18-423C-AE70-53749755337D}" destId="{B5EB6B1B-0343-444A-8C64-6B94DD02C41F}" srcOrd="2" destOrd="0" presId="urn:microsoft.com/office/officeart/2005/8/layout/hierarchy4"/>
    <dgm:cxn modelId="{1B313392-2E9A-438A-B771-324D08A3E861}" type="presParOf" srcId="{B5EB6B1B-0343-444A-8C64-6B94DD02C41F}" destId="{BE3BB942-C820-4DE9-AE05-721108B75425}" srcOrd="0" destOrd="0" presId="urn:microsoft.com/office/officeart/2005/8/layout/hierarchy4"/>
    <dgm:cxn modelId="{A5AEA70B-BF18-4BE8-B9DB-1187505A3FCD}" type="presParOf" srcId="{BE3BB942-C820-4DE9-AE05-721108B75425}" destId="{234962F9-7A3E-46C6-9055-FB57BE5F51B4}" srcOrd="0" destOrd="0" presId="urn:microsoft.com/office/officeart/2005/8/layout/hierarchy4"/>
    <dgm:cxn modelId="{34313325-CA6A-4934-B2EE-3DDA21EEA729}" type="presParOf" srcId="{BE3BB942-C820-4DE9-AE05-721108B75425}" destId="{9738F645-F08D-497B-899E-90F4C95DEDC7}" srcOrd="1" destOrd="0" presId="urn:microsoft.com/office/officeart/2005/8/layout/hierarchy4"/>
    <dgm:cxn modelId="{3A9493C5-D441-4CAF-9EC9-F92A28271121}" type="presParOf" srcId="{BE3BB942-C820-4DE9-AE05-721108B75425}" destId="{9CFB8580-676C-4D0E-91FC-F4D489134C80}" srcOrd="2" destOrd="0" presId="urn:microsoft.com/office/officeart/2005/8/layout/hierarchy4"/>
    <dgm:cxn modelId="{B5409250-57F4-4D65-B9CA-6D438B9DD114}" type="presParOf" srcId="{9CFB8580-676C-4D0E-91FC-F4D489134C80}" destId="{97397289-2DCF-44C3-8FB7-6E5E5CC3C409}" srcOrd="0" destOrd="0" presId="urn:microsoft.com/office/officeart/2005/8/layout/hierarchy4"/>
    <dgm:cxn modelId="{2C5DB1E4-3AFB-4FD0-9442-4DAFBDE83C0A}" type="presParOf" srcId="{97397289-2DCF-44C3-8FB7-6E5E5CC3C409}" destId="{6A58AB54-1BFF-436C-AE97-D6C16B970CEA}" srcOrd="0" destOrd="0" presId="urn:microsoft.com/office/officeart/2005/8/layout/hierarchy4"/>
    <dgm:cxn modelId="{0805D950-BF6D-4CC7-9D59-B43E36299FBF}" type="presParOf" srcId="{97397289-2DCF-44C3-8FB7-6E5E5CC3C409}" destId="{906AFC81-3D94-41BA-B0BD-CEB9EB2905C9}" srcOrd="1" destOrd="0" presId="urn:microsoft.com/office/officeart/2005/8/layout/hierarchy4"/>
    <dgm:cxn modelId="{35769011-3BFE-4110-8D9B-1BB32989CCC1}" type="presParOf" srcId="{97397289-2DCF-44C3-8FB7-6E5E5CC3C409}" destId="{22CCA7E9-75A1-4B96-8C49-752EA405E87E}" srcOrd="2" destOrd="0" presId="urn:microsoft.com/office/officeart/2005/8/layout/hierarchy4"/>
    <dgm:cxn modelId="{EA77C7E0-405D-4D26-B1D2-0986987E6B3A}" type="presParOf" srcId="{22CCA7E9-75A1-4B96-8C49-752EA405E87E}" destId="{00973969-284D-4A54-9296-7DC4544FFCD9}" srcOrd="0" destOrd="0" presId="urn:microsoft.com/office/officeart/2005/8/layout/hierarchy4"/>
    <dgm:cxn modelId="{CB4F9B36-4DD3-4C42-9AE2-4D3305EB26DA}" type="presParOf" srcId="{00973969-284D-4A54-9296-7DC4544FFCD9}" destId="{0215DAA2-DDCC-4443-97A6-9FACF7D3D85C}" srcOrd="0" destOrd="0" presId="urn:microsoft.com/office/officeart/2005/8/layout/hierarchy4"/>
    <dgm:cxn modelId="{E7F053A6-ED5D-40B8-81F1-0E94FDD9FAD3}" type="presParOf" srcId="{00973969-284D-4A54-9296-7DC4544FFCD9}" destId="{82D4C519-3ACE-4179-89DD-6D853DB0C102}" srcOrd="1" destOrd="0" presId="urn:microsoft.com/office/officeart/2005/8/layout/hierarchy4"/>
    <dgm:cxn modelId="{C3881C23-36FB-49CB-A5C8-98E2131B9FA0}" type="presParOf" srcId="{B5EB6B1B-0343-444A-8C64-6B94DD02C41F}" destId="{21C582D4-D989-464B-A760-41817D643E1E}" srcOrd="1" destOrd="0" presId="urn:microsoft.com/office/officeart/2005/8/layout/hierarchy4"/>
    <dgm:cxn modelId="{5328BE36-2119-49F4-998D-C7772B7CB666}" type="presParOf" srcId="{B5EB6B1B-0343-444A-8C64-6B94DD02C41F}" destId="{51140836-6390-4B5E-BF86-6F9894E80193}" srcOrd="2" destOrd="0" presId="urn:microsoft.com/office/officeart/2005/8/layout/hierarchy4"/>
    <dgm:cxn modelId="{2EBF79CD-236F-428A-84E3-B2CDD523C183}" type="presParOf" srcId="{51140836-6390-4B5E-BF86-6F9894E80193}" destId="{C1494B4B-6776-4AFC-8248-10BDE4D2A08E}" srcOrd="0" destOrd="0" presId="urn:microsoft.com/office/officeart/2005/8/layout/hierarchy4"/>
    <dgm:cxn modelId="{C1C50595-95C0-44C8-B2B5-F2F7CC2A7171}" type="presParOf" srcId="{51140836-6390-4B5E-BF86-6F9894E80193}" destId="{EEA981BC-D0D8-4C11-B8BD-A7B17F16B1AD}" srcOrd="1" destOrd="0" presId="urn:microsoft.com/office/officeart/2005/8/layout/hierarchy4"/>
    <dgm:cxn modelId="{2D35AF6E-B469-4C44-842D-D5764D91F899}" type="presParOf" srcId="{51140836-6390-4B5E-BF86-6F9894E80193}" destId="{CD7EB92E-CD37-4D26-B1A6-363F9CA9C7C0}" srcOrd="2" destOrd="0" presId="urn:microsoft.com/office/officeart/2005/8/layout/hierarchy4"/>
    <dgm:cxn modelId="{0DCF39A9-9F50-4254-A2A7-6B942DCA0CC0}" type="presParOf" srcId="{CD7EB92E-CD37-4D26-B1A6-363F9CA9C7C0}" destId="{C3DF0AE5-5D05-43CD-917F-D9AC9FD06AEB}" srcOrd="0" destOrd="0" presId="urn:microsoft.com/office/officeart/2005/8/layout/hierarchy4"/>
    <dgm:cxn modelId="{BC987358-238E-4994-83FA-657345D14C75}" type="presParOf" srcId="{C3DF0AE5-5D05-43CD-917F-D9AC9FD06AEB}" destId="{AF6DA579-D12E-491F-892A-1F8AE033CE07}" srcOrd="0" destOrd="0" presId="urn:microsoft.com/office/officeart/2005/8/layout/hierarchy4"/>
    <dgm:cxn modelId="{39873430-ABE9-4132-A1D7-86E81FF5A1CF}" type="presParOf" srcId="{C3DF0AE5-5D05-43CD-917F-D9AC9FD06AEB}" destId="{A9294A8B-FB22-4F13-9BB7-23F147D43A9D}" srcOrd="1" destOrd="0" presId="urn:microsoft.com/office/officeart/2005/8/layout/hierarchy4"/>
    <dgm:cxn modelId="{4D3937F2-58B4-4543-90BA-8C6190AE8BA7}" type="presParOf" srcId="{C3DF0AE5-5D05-43CD-917F-D9AC9FD06AEB}" destId="{A6ED9108-8B7A-43DA-BD70-1A6E04DBE499}" srcOrd="2" destOrd="0" presId="urn:microsoft.com/office/officeart/2005/8/layout/hierarchy4"/>
    <dgm:cxn modelId="{882D85C0-051A-438A-9312-061BCE3BCA10}" type="presParOf" srcId="{A6ED9108-8B7A-43DA-BD70-1A6E04DBE499}" destId="{D1394D87-77AE-4795-801B-D52093B8CAC2}" srcOrd="0" destOrd="0" presId="urn:microsoft.com/office/officeart/2005/8/layout/hierarchy4"/>
    <dgm:cxn modelId="{CA9AFC53-FE27-4BF7-9876-CB47AF02AF4A}" type="presParOf" srcId="{D1394D87-77AE-4795-801B-D52093B8CAC2}" destId="{A1D0066E-FBFB-4EA8-AA2F-6CA7417DF253}" srcOrd="0" destOrd="0" presId="urn:microsoft.com/office/officeart/2005/8/layout/hierarchy4"/>
    <dgm:cxn modelId="{BE76D71F-1F3B-4C14-A629-2C7024314C95}" type="presParOf" srcId="{D1394D87-77AE-4795-801B-D52093B8CAC2}" destId="{CCA47277-0DCE-48DD-996D-00617B8041A2}" srcOrd="1" destOrd="0" presId="urn:microsoft.com/office/officeart/2005/8/layout/hierarchy4"/>
    <dgm:cxn modelId="{F3D80591-A013-46BC-9987-3F0603F22443}" type="presParOf" srcId="{B5EB6B1B-0343-444A-8C64-6B94DD02C41F}" destId="{1EA63E5E-7EF0-4BFB-A651-9FBCA000F226}" srcOrd="3" destOrd="0" presId="urn:microsoft.com/office/officeart/2005/8/layout/hierarchy4"/>
    <dgm:cxn modelId="{880F5F23-EF40-4860-B1F3-473D6A57306C}" type="presParOf" srcId="{B5EB6B1B-0343-444A-8C64-6B94DD02C41F}" destId="{C51CF0B8-80FC-4F00-9320-26037CADCE0E}" srcOrd="4" destOrd="0" presId="urn:microsoft.com/office/officeart/2005/8/layout/hierarchy4"/>
    <dgm:cxn modelId="{2992A786-6E62-4E0A-9A03-D9A465576F19}" type="presParOf" srcId="{C51CF0B8-80FC-4F00-9320-26037CADCE0E}" destId="{3DD6ED5E-33D4-4DF5-A875-EB7ACF95BB6E}" srcOrd="0" destOrd="0" presId="urn:microsoft.com/office/officeart/2005/8/layout/hierarchy4"/>
    <dgm:cxn modelId="{E7EA339B-E31A-4435-A888-D816E40B2B1A}" type="presParOf" srcId="{C51CF0B8-80FC-4F00-9320-26037CADCE0E}" destId="{D8291238-3EF0-40EA-9F90-3F74BF24AF5D}" srcOrd="1" destOrd="0" presId="urn:microsoft.com/office/officeart/2005/8/layout/hierarchy4"/>
    <dgm:cxn modelId="{7FB2677B-245C-45CF-88F5-DB681AA2B9DD}" type="presParOf" srcId="{C51CF0B8-80FC-4F00-9320-26037CADCE0E}" destId="{2C15AC11-7345-4CED-B024-5D0D17608104}" srcOrd="2" destOrd="0" presId="urn:microsoft.com/office/officeart/2005/8/layout/hierarchy4"/>
    <dgm:cxn modelId="{3DF2B9C4-5C1F-46AB-9D02-0E00E09AE8BD}" type="presParOf" srcId="{2C15AC11-7345-4CED-B024-5D0D17608104}" destId="{9F9A2F64-769D-4521-A405-AEEC31D2A9E5}" srcOrd="0" destOrd="0" presId="urn:microsoft.com/office/officeart/2005/8/layout/hierarchy4"/>
    <dgm:cxn modelId="{ECE7DE4E-269D-4C88-B5BE-D40E7A40664C}" type="presParOf" srcId="{9F9A2F64-769D-4521-A405-AEEC31D2A9E5}" destId="{C00894AC-CDDE-4922-9638-D4C5E3518D17}" srcOrd="0" destOrd="0" presId="urn:microsoft.com/office/officeart/2005/8/layout/hierarchy4"/>
    <dgm:cxn modelId="{87F65F80-6C34-4904-A538-344FF72F3D75}" type="presParOf" srcId="{9F9A2F64-769D-4521-A405-AEEC31D2A9E5}" destId="{0290FC84-9543-4CE9-997C-2BA80EB332E6}" srcOrd="1" destOrd="0" presId="urn:microsoft.com/office/officeart/2005/8/layout/hierarchy4"/>
    <dgm:cxn modelId="{AB6E48B7-2FF6-4C54-8636-BD11FF6C48CF}" type="presParOf" srcId="{9F9A2F64-769D-4521-A405-AEEC31D2A9E5}" destId="{A034935A-7F8B-4ADC-B1CE-CBC6A5227971}" srcOrd="2" destOrd="0" presId="urn:microsoft.com/office/officeart/2005/8/layout/hierarchy4"/>
    <dgm:cxn modelId="{ED912301-1E3A-48DF-B2D9-3F54AB84C854}" type="presParOf" srcId="{A034935A-7F8B-4ADC-B1CE-CBC6A5227971}" destId="{74B35135-0C38-42F6-AD0B-F496D1D3C447}" srcOrd="0" destOrd="0" presId="urn:microsoft.com/office/officeart/2005/8/layout/hierarchy4"/>
    <dgm:cxn modelId="{BD78215E-BA1D-4AC7-9ED2-14EB06606CB9}" type="presParOf" srcId="{74B35135-0C38-42F6-AD0B-F496D1D3C447}" destId="{389A5BCF-0E31-4613-A539-D738C6F458E9}" srcOrd="0" destOrd="0" presId="urn:microsoft.com/office/officeart/2005/8/layout/hierarchy4"/>
    <dgm:cxn modelId="{748FCD40-E484-44F4-A71C-065050A4853E}" type="presParOf" srcId="{74B35135-0C38-42F6-AD0B-F496D1D3C447}" destId="{9916BCB2-5C22-4105-9FB3-75A5F3E4FE84}" srcOrd="1" destOrd="0" presId="urn:microsoft.com/office/officeart/2005/8/layout/hierarchy4"/>
  </dgm:cxnLst>
  <dgm:bg/>
  <dgm:whole/>
  <dgm:extLst>
    <a:ext uri="http://schemas.microsoft.com/office/drawing/2008/diagram">
      <dsp:dataModelExt xmlns:dsp="http://schemas.microsoft.com/office/drawing/2008/diagram" relId="rId6" minVer="http://schemas.openxmlformats.org/drawingml/2006/diagram"/>
    </a:ext>
    <a:ext uri="{C62137D5-CB1D-491B-B009-E17868A290BF}">
      <dgm14:recolorImg xmlns:dgm14="http://schemas.microsoft.com/office/drawing/2010/diagram" val="1"/>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0EA830D-3F59-4D72-932C-751797D72FA2}">
      <dsp:nvSpPr>
        <dsp:cNvPr id="0" name=""/>
        <dsp:cNvSpPr/>
      </dsp:nvSpPr>
      <dsp:spPr>
        <a:xfrm>
          <a:off x="12531" y="0"/>
          <a:ext cx="1590436" cy="883575"/>
        </a:xfrm>
        <a:prstGeom prst="roundRect">
          <a:avLst>
            <a:gd name="adj" fmla="val 10000"/>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Incoming Sensory Information</a:t>
          </a:r>
        </a:p>
      </dsp:txBody>
      <dsp:txXfrm>
        <a:off x="38410" y="25879"/>
        <a:ext cx="1538678" cy="831817"/>
      </dsp:txXfrm>
    </dsp:sp>
    <dsp:sp modelId="{736D4EB1-FD83-4C6B-8F4D-0EEA955E4240}">
      <dsp:nvSpPr>
        <dsp:cNvPr id="0" name=""/>
        <dsp:cNvSpPr/>
      </dsp:nvSpPr>
      <dsp:spPr>
        <a:xfrm rot="5400000">
          <a:off x="642079" y="905665"/>
          <a:ext cx="331340" cy="397609"/>
        </a:xfrm>
        <a:prstGeom prst="rightArrow">
          <a:avLst>
            <a:gd name="adj1" fmla="val 60000"/>
            <a:gd name="adj2" fmla="val 50000"/>
          </a:avLst>
        </a:prstGeom>
        <a:solidFill>
          <a:schemeClr val="dk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a:p>
      </dsp:txBody>
      <dsp:txXfrm rot="-5400000">
        <a:off x="688467" y="938799"/>
        <a:ext cx="238565" cy="231938"/>
      </dsp:txXfrm>
    </dsp:sp>
    <dsp:sp modelId="{6E294C6D-863E-4E8C-A541-CEF07B1CB6D5}">
      <dsp:nvSpPr>
        <dsp:cNvPr id="0" name=""/>
        <dsp:cNvSpPr/>
      </dsp:nvSpPr>
      <dsp:spPr>
        <a:xfrm>
          <a:off x="12531" y="1325364"/>
          <a:ext cx="1590436" cy="883575"/>
        </a:xfrm>
        <a:prstGeom prst="roundRect">
          <a:avLst>
            <a:gd name="adj" fmla="val 10000"/>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Event models</a:t>
          </a:r>
        </a:p>
      </dsp:txBody>
      <dsp:txXfrm>
        <a:off x="38410" y="1351243"/>
        <a:ext cx="1538678" cy="831817"/>
      </dsp:txXfrm>
    </dsp:sp>
    <dsp:sp modelId="{E71A5071-C16F-414E-88DC-4D8C33B1B467}">
      <dsp:nvSpPr>
        <dsp:cNvPr id="0" name=""/>
        <dsp:cNvSpPr/>
      </dsp:nvSpPr>
      <dsp:spPr>
        <a:xfrm rot="5400000">
          <a:off x="642079" y="2231029"/>
          <a:ext cx="331340" cy="397609"/>
        </a:xfrm>
        <a:prstGeom prst="rightArrow">
          <a:avLst>
            <a:gd name="adj1" fmla="val 60000"/>
            <a:gd name="adj2" fmla="val 50000"/>
          </a:avLst>
        </a:prstGeom>
        <a:solidFill>
          <a:schemeClr val="dk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a:p>
      </dsp:txBody>
      <dsp:txXfrm rot="-5400000">
        <a:off x="688467" y="2264163"/>
        <a:ext cx="238565" cy="231938"/>
      </dsp:txXfrm>
    </dsp:sp>
    <dsp:sp modelId="{CCF909EB-F627-4B2E-882B-3B4B960FA1D1}">
      <dsp:nvSpPr>
        <dsp:cNvPr id="0" name=""/>
        <dsp:cNvSpPr/>
      </dsp:nvSpPr>
      <dsp:spPr>
        <a:xfrm>
          <a:off x="12531" y="2650727"/>
          <a:ext cx="1590436" cy="883575"/>
        </a:xfrm>
        <a:prstGeom prst="roundRect">
          <a:avLst>
            <a:gd name="adj" fmla="val 10000"/>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Comprehend Daily Environment</a:t>
          </a:r>
        </a:p>
      </dsp:txBody>
      <dsp:txXfrm>
        <a:off x="38410" y="2676606"/>
        <a:ext cx="1538678" cy="83181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644D2B3-1443-4702-A22E-92AE34050D22}">
      <dsp:nvSpPr>
        <dsp:cNvPr id="0" name=""/>
        <dsp:cNvSpPr/>
      </dsp:nvSpPr>
      <dsp:spPr>
        <a:xfrm>
          <a:off x="0" y="0"/>
          <a:ext cx="932501" cy="641086"/>
        </a:xfrm>
        <a:prstGeom prst="roundRect">
          <a:avLst>
            <a:gd name="adj" fmla="val 10000"/>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solidFill>
                <a:srgbClr val="C00000"/>
              </a:solidFill>
            </a:rPr>
            <a:t>Event Roles</a:t>
          </a:r>
        </a:p>
      </dsp:txBody>
      <dsp:txXfrm>
        <a:off x="18777" y="18777"/>
        <a:ext cx="894947" cy="603532"/>
      </dsp:txXfrm>
    </dsp:sp>
    <dsp:sp modelId="{BA59BB6F-F03A-427D-B5BB-AEFBC87A5F5D}">
      <dsp:nvSpPr>
        <dsp:cNvPr id="0" name=""/>
        <dsp:cNvSpPr/>
      </dsp:nvSpPr>
      <dsp:spPr>
        <a:xfrm>
          <a:off x="1026134" y="204912"/>
          <a:ext cx="198502" cy="231260"/>
        </a:xfrm>
        <a:prstGeom prst="rightArrow">
          <a:avLst>
            <a:gd name="adj1" fmla="val 60000"/>
            <a:gd name="adj2" fmla="val 50000"/>
          </a:avLst>
        </a:prstGeom>
        <a:solidFill>
          <a:schemeClr val="dk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a:off x="1026134" y="251164"/>
        <a:ext cx="138951" cy="138756"/>
      </dsp:txXfrm>
    </dsp:sp>
    <dsp:sp modelId="{DB3A046E-3157-491E-9DAB-DDDC5AFE70ED}">
      <dsp:nvSpPr>
        <dsp:cNvPr id="0" name=""/>
        <dsp:cNvSpPr/>
      </dsp:nvSpPr>
      <dsp:spPr>
        <a:xfrm>
          <a:off x="1307033" y="0"/>
          <a:ext cx="932501" cy="641086"/>
        </a:xfrm>
        <a:prstGeom prst="roundRect">
          <a:avLst>
            <a:gd name="adj" fmla="val 10000"/>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t>Agent and Patient</a:t>
          </a:r>
        </a:p>
      </dsp:txBody>
      <dsp:txXfrm>
        <a:off x="1325810" y="18777"/>
        <a:ext cx="894947" cy="60353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09BA69D-5FA0-4F77-8A86-70E99F146854}">
      <dsp:nvSpPr>
        <dsp:cNvPr id="0" name=""/>
        <dsp:cNvSpPr/>
      </dsp:nvSpPr>
      <dsp:spPr>
        <a:xfrm>
          <a:off x="2970" y="872"/>
          <a:ext cx="8260429" cy="935632"/>
        </a:xfrm>
        <a:prstGeom prst="roundRect">
          <a:avLst>
            <a:gd name="adj" fmla="val 10000"/>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Agent Advantage Effect </a:t>
          </a:r>
          <a:br>
            <a:rPr lang="en-US" sz="1800" kern="1200" dirty="0"/>
          </a:br>
          <a:r>
            <a:rPr lang="en-US" sz="1800" kern="1200" dirty="0"/>
            <a:t>in pictures</a:t>
          </a:r>
        </a:p>
      </dsp:txBody>
      <dsp:txXfrm>
        <a:off x="30374" y="28276"/>
        <a:ext cx="8205621" cy="880824"/>
      </dsp:txXfrm>
    </dsp:sp>
    <dsp:sp modelId="{234962F9-7A3E-46C6-9055-FB57BE5F51B4}">
      <dsp:nvSpPr>
        <dsp:cNvPr id="0" name=""/>
        <dsp:cNvSpPr/>
      </dsp:nvSpPr>
      <dsp:spPr>
        <a:xfrm>
          <a:off x="0" y="1074977"/>
          <a:ext cx="2607458" cy="935632"/>
        </a:xfrm>
        <a:prstGeom prst="roundRect">
          <a:avLst>
            <a:gd name="adj" fmla="val 10000"/>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Study 1</a:t>
          </a:r>
        </a:p>
      </dsp:txBody>
      <dsp:txXfrm>
        <a:off x="27404" y="1102381"/>
        <a:ext cx="2552650" cy="880824"/>
      </dsp:txXfrm>
    </dsp:sp>
    <dsp:sp modelId="{6A58AB54-1BFF-436C-AE97-D6C16B970CEA}">
      <dsp:nvSpPr>
        <dsp:cNvPr id="0" name=""/>
        <dsp:cNvSpPr/>
      </dsp:nvSpPr>
      <dsp:spPr>
        <a:xfrm>
          <a:off x="2970" y="2085286"/>
          <a:ext cx="2607458" cy="935632"/>
        </a:xfrm>
        <a:prstGeom prst="roundRect">
          <a:avLst>
            <a:gd name="adj" fmla="val 10000"/>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Eye-tracking Study</a:t>
          </a:r>
        </a:p>
      </dsp:txBody>
      <dsp:txXfrm>
        <a:off x="30374" y="2112690"/>
        <a:ext cx="2552650" cy="880824"/>
      </dsp:txXfrm>
    </dsp:sp>
    <dsp:sp modelId="{0215DAA2-DDCC-4443-97A6-9FACF7D3D85C}">
      <dsp:nvSpPr>
        <dsp:cNvPr id="0" name=""/>
        <dsp:cNvSpPr/>
      </dsp:nvSpPr>
      <dsp:spPr>
        <a:xfrm>
          <a:off x="2970" y="3127494"/>
          <a:ext cx="2607458" cy="935632"/>
        </a:xfrm>
        <a:prstGeom prst="roundRect">
          <a:avLst>
            <a:gd name="adj" fmla="val 10000"/>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Study the underlying process of the agent advantage effect</a:t>
          </a:r>
        </a:p>
      </dsp:txBody>
      <dsp:txXfrm>
        <a:off x="30374" y="3154898"/>
        <a:ext cx="2552650" cy="880824"/>
      </dsp:txXfrm>
    </dsp:sp>
    <dsp:sp modelId="{C1494B4B-6776-4AFC-8248-10BDE4D2A08E}">
      <dsp:nvSpPr>
        <dsp:cNvPr id="0" name=""/>
        <dsp:cNvSpPr/>
      </dsp:nvSpPr>
      <dsp:spPr>
        <a:xfrm>
          <a:off x="2829456" y="1043079"/>
          <a:ext cx="2607458" cy="935632"/>
        </a:xfrm>
        <a:prstGeom prst="roundRect">
          <a:avLst>
            <a:gd name="adj" fmla="val 10000"/>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Study 2</a:t>
          </a:r>
        </a:p>
      </dsp:txBody>
      <dsp:txXfrm>
        <a:off x="2856860" y="1070483"/>
        <a:ext cx="2552650" cy="880824"/>
      </dsp:txXfrm>
    </dsp:sp>
    <dsp:sp modelId="{AF6DA579-D12E-491F-892A-1F8AE033CE07}">
      <dsp:nvSpPr>
        <dsp:cNvPr id="0" name=""/>
        <dsp:cNvSpPr/>
      </dsp:nvSpPr>
      <dsp:spPr>
        <a:xfrm>
          <a:off x="2829456" y="2085286"/>
          <a:ext cx="2607458" cy="935632"/>
        </a:xfrm>
        <a:prstGeom prst="roundRect">
          <a:avLst>
            <a:gd name="adj" fmla="val 10000"/>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Motion Line Study</a:t>
          </a:r>
        </a:p>
      </dsp:txBody>
      <dsp:txXfrm>
        <a:off x="2856860" y="2112690"/>
        <a:ext cx="2552650" cy="880824"/>
      </dsp:txXfrm>
    </dsp:sp>
    <dsp:sp modelId="{A1D0066E-FBFB-4EA8-AA2F-6CA7417DF253}">
      <dsp:nvSpPr>
        <dsp:cNvPr id="0" name=""/>
        <dsp:cNvSpPr/>
      </dsp:nvSpPr>
      <dsp:spPr>
        <a:xfrm>
          <a:off x="2829456" y="3127494"/>
          <a:ext cx="2607458" cy="935632"/>
        </a:xfrm>
        <a:prstGeom prst="roundRect">
          <a:avLst>
            <a:gd name="adj" fmla="val 10000"/>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Study how comic elements impact the agent advantage effect in single pictures</a:t>
          </a:r>
        </a:p>
      </dsp:txBody>
      <dsp:txXfrm>
        <a:off x="2856860" y="3154898"/>
        <a:ext cx="2552650" cy="880824"/>
      </dsp:txXfrm>
    </dsp:sp>
    <dsp:sp modelId="{3DD6ED5E-33D4-4DF5-A875-EB7ACF95BB6E}">
      <dsp:nvSpPr>
        <dsp:cNvPr id="0" name=""/>
        <dsp:cNvSpPr/>
      </dsp:nvSpPr>
      <dsp:spPr>
        <a:xfrm>
          <a:off x="5655941" y="1043079"/>
          <a:ext cx="2607458" cy="935632"/>
        </a:xfrm>
        <a:prstGeom prst="roundRect">
          <a:avLst>
            <a:gd name="adj" fmla="val 10000"/>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Study 3</a:t>
          </a:r>
        </a:p>
      </dsp:txBody>
      <dsp:txXfrm>
        <a:off x="5683345" y="1070483"/>
        <a:ext cx="2552650" cy="880824"/>
      </dsp:txXfrm>
    </dsp:sp>
    <dsp:sp modelId="{C00894AC-CDDE-4922-9638-D4C5E3518D17}">
      <dsp:nvSpPr>
        <dsp:cNvPr id="0" name=""/>
        <dsp:cNvSpPr/>
      </dsp:nvSpPr>
      <dsp:spPr>
        <a:xfrm>
          <a:off x="5655941" y="2085286"/>
          <a:ext cx="2607458" cy="935632"/>
        </a:xfrm>
        <a:prstGeom prst="roundRect">
          <a:avLst>
            <a:gd name="adj" fmla="val 10000"/>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A</a:t>
          </a:r>
          <a:r>
            <a:rPr lang="en-US" altLang="zh-CN" sz="1800" kern="1200" dirty="0"/>
            <a:t>bstract Fish</a:t>
          </a:r>
          <a:r>
            <a:rPr lang="en-US" sz="1800" kern="1200" dirty="0"/>
            <a:t> Study</a:t>
          </a:r>
        </a:p>
      </dsp:txBody>
      <dsp:txXfrm>
        <a:off x="5683345" y="2112690"/>
        <a:ext cx="2552650" cy="880824"/>
      </dsp:txXfrm>
    </dsp:sp>
    <dsp:sp modelId="{389A5BCF-0E31-4613-A539-D738C6F458E9}">
      <dsp:nvSpPr>
        <dsp:cNvPr id="0" name=""/>
        <dsp:cNvSpPr/>
      </dsp:nvSpPr>
      <dsp:spPr>
        <a:xfrm>
          <a:off x="5655941" y="3127494"/>
          <a:ext cx="2607458" cy="935632"/>
        </a:xfrm>
        <a:prstGeom prst="roundRect">
          <a:avLst>
            <a:gd name="adj" fmla="val 10000"/>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Study the agent advantage effect in with abstract fish</a:t>
          </a:r>
        </a:p>
      </dsp:txBody>
      <dsp:txXfrm>
        <a:off x="5683345" y="3154898"/>
        <a:ext cx="2552650" cy="88082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09BA69D-5FA0-4F77-8A86-70E99F146854}">
      <dsp:nvSpPr>
        <dsp:cNvPr id="0" name=""/>
        <dsp:cNvSpPr/>
      </dsp:nvSpPr>
      <dsp:spPr>
        <a:xfrm>
          <a:off x="3051" y="872"/>
          <a:ext cx="8260268" cy="935632"/>
        </a:xfrm>
        <a:prstGeom prst="roundRect">
          <a:avLst>
            <a:gd name="adj" fmla="val 10000"/>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Agent Advantage Effect </a:t>
          </a:r>
          <a:br>
            <a:rPr lang="en-US" sz="1800" kern="1200" dirty="0"/>
          </a:br>
          <a:r>
            <a:rPr lang="en-US" sz="1800" kern="1200" dirty="0"/>
            <a:t>in pictures</a:t>
          </a:r>
        </a:p>
      </dsp:txBody>
      <dsp:txXfrm>
        <a:off x="30455" y="28276"/>
        <a:ext cx="8205460" cy="880824"/>
      </dsp:txXfrm>
    </dsp:sp>
    <dsp:sp modelId="{234962F9-7A3E-46C6-9055-FB57BE5F51B4}">
      <dsp:nvSpPr>
        <dsp:cNvPr id="0" name=""/>
        <dsp:cNvSpPr/>
      </dsp:nvSpPr>
      <dsp:spPr>
        <a:xfrm>
          <a:off x="0" y="1074977"/>
          <a:ext cx="3963660" cy="935632"/>
        </a:xfrm>
        <a:prstGeom prst="roundRect">
          <a:avLst>
            <a:gd name="adj" fmla="val 10000"/>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Study 1</a:t>
          </a:r>
        </a:p>
      </dsp:txBody>
      <dsp:txXfrm>
        <a:off x="27404" y="1102381"/>
        <a:ext cx="3908852" cy="880824"/>
      </dsp:txXfrm>
    </dsp:sp>
    <dsp:sp modelId="{6A58AB54-1BFF-436C-AE97-D6C16B970CEA}">
      <dsp:nvSpPr>
        <dsp:cNvPr id="0" name=""/>
        <dsp:cNvSpPr/>
      </dsp:nvSpPr>
      <dsp:spPr>
        <a:xfrm>
          <a:off x="3051" y="2085286"/>
          <a:ext cx="3963660" cy="935632"/>
        </a:xfrm>
        <a:prstGeom prst="roundRect">
          <a:avLst>
            <a:gd name="adj" fmla="val 10000"/>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Eye-tracking Study</a:t>
          </a:r>
        </a:p>
      </dsp:txBody>
      <dsp:txXfrm>
        <a:off x="30455" y="2112690"/>
        <a:ext cx="3908852" cy="880824"/>
      </dsp:txXfrm>
    </dsp:sp>
    <dsp:sp modelId="{0215DAA2-DDCC-4443-97A6-9FACF7D3D85C}">
      <dsp:nvSpPr>
        <dsp:cNvPr id="0" name=""/>
        <dsp:cNvSpPr/>
      </dsp:nvSpPr>
      <dsp:spPr>
        <a:xfrm>
          <a:off x="3051" y="3127494"/>
          <a:ext cx="3963660" cy="935632"/>
        </a:xfrm>
        <a:prstGeom prst="roundRect">
          <a:avLst>
            <a:gd name="adj" fmla="val 10000"/>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Study the underlying process of the agent advantage effect</a:t>
          </a:r>
        </a:p>
      </dsp:txBody>
      <dsp:txXfrm>
        <a:off x="30455" y="3154898"/>
        <a:ext cx="3908852" cy="880824"/>
      </dsp:txXfrm>
    </dsp:sp>
    <dsp:sp modelId="{C1494B4B-6776-4AFC-8248-10BDE4D2A08E}">
      <dsp:nvSpPr>
        <dsp:cNvPr id="0" name=""/>
        <dsp:cNvSpPr/>
      </dsp:nvSpPr>
      <dsp:spPr>
        <a:xfrm>
          <a:off x="4299659" y="1043079"/>
          <a:ext cx="3963660" cy="935632"/>
        </a:xfrm>
        <a:prstGeom prst="roundRect">
          <a:avLst>
            <a:gd name="adj" fmla="val 10000"/>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R</a:t>
          </a:r>
          <a:r>
            <a:rPr lang="en-US" altLang="zh-CN" sz="1800" kern="1200" dirty="0"/>
            <a:t>esults</a:t>
          </a:r>
          <a:endParaRPr lang="en-US" sz="1800" kern="1200" dirty="0"/>
        </a:p>
      </dsp:txBody>
      <dsp:txXfrm>
        <a:off x="4327063" y="1070483"/>
        <a:ext cx="3908852" cy="880824"/>
      </dsp:txXfrm>
    </dsp:sp>
    <dsp:sp modelId="{AF6DA579-D12E-491F-892A-1F8AE033CE07}">
      <dsp:nvSpPr>
        <dsp:cNvPr id="0" name=""/>
        <dsp:cNvSpPr/>
      </dsp:nvSpPr>
      <dsp:spPr>
        <a:xfrm>
          <a:off x="4299659" y="2085286"/>
          <a:ext cx="3963660" cy="935632"/>
        </a:xfrm>
        <a:prstGeom prst="roundRect">
          <a:avLst>
            <a:gd name="adj" fmla="val 10000"/>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1. Replicated the agent advantage effect: </a:t>
          </a:r>
          <a:r>
            <a:rPr lang="en-US" sz="1800" b="1" kern="1200" dirty="0">
              <a:solidFill>
                <a:srgbClr val="000000"/>
              </a:solidFill>
              <a:latin typeface="Calibri" panose="020F0502020204030204" pitchFamily="34" charset="0"/>
              <a:ea typeface="SimSun" panose="02010600030101010101" pitchFamily="2" charset="-122"/>
              <a:cs typeface="Calibri" panose="020F0502020204030204" pitchFamily="34" charset="0"/>
            </a:rPr>
            <a:t>RT </a:t>
          </a:r>
          <a:r>
            <a:rPr lang="en-US" sz="1800" b="1" kern="1200" baseline="-25000" dirty="0">
              <a:solidFill>
                <a:srgbClr val="000000"/>
              </a:solidFill>
              <a:latin typeface="Calibri" panose="020F0502020204030204" pitchFamily="34" charset="0"/>
              <a:ea typeface="SimSun" panose="02010600030101010101" pitchFamily="2" charset="-122"/>
              <a:cs typeface="Calibri" panose="020F0502020204030204" pitchFamily="34" charset="0"/>
            </a:rPr>
            <a:t>agent search</a:t>
          </a:r>
          <a:r>
            <a:rPr lang="en-US" sz="1800" b="1" kern="1200" dirty="0">
              <a:solidFill>
                <a:srgbClr val="000000"/>
              </a:solidFill>
              <a:latin typeface="Calibri" panose="020F0502020204030204" pitchFamily="34" charset="0"/>
              <a:ea typeface="SimSun" panose="02010600030101010101" pitchFamily="2" charset="-122"/>
              <a:cs typeface="Calibri" panose="020F0502020204030204" pitchFamily="34" charset="0"/>
            </a:rPr>
            <a:t>     &lt;     </a:t>
          </a:r>
          <a:r>
            <a:rPr kumimoji="0" lang="en-US" sz="1800" b="1" i="0" u="none" strike="noStrike" kern="1200" cap="none" spc="0" normalizeH="0" baseline="0" noProof="0" dirty="0">
              <a:ln>
                <a:noFill/>
              </a:ln>
              <a:solidFill>
                <a:srgbClr val="000000"/>
              </a:solidFill>
              <a:effectLst/>
              <a:uLnTx/>
              <a:uFillTx/>
              <a:latin typeface="Calibri" panose="020F0502020204030204" pitchFamily="34" charset="0"/>
              <a:ea typeface="SimSun" panose="02010600030101010101" pitchFamily="2" charset="-122"/>
              <a:cs typeface="Calibri" panose="020F0502020204030204" pitchFamily="34" charset="0"/>
            </a:rPr>
            <a:t>RT </a:t>
          </a:r>
          <a:r>
            <a:rPr kumimoji="0" lang="en-US" sz="1800" b="1" i="0" u="none" strike="noStrike" kern="1200" cap="none" spc="0" normalizeH="0" baseline="-25000" noProof="0" dirty="0">
              <a:ln>
                <a:noFill/>
              </a:ln>
              <a:solidFill>
                <a:srgbClr val="000000"/>
              </a:solidFill>
              <a:effectLst/>
              <a:uLnTx/>
              <a:uFillTx/>
              <a:latin typeface="Calibri" panose="020F0502020204030204" pitchFamily="34" charset="0"/>
              <a:ea typeface="SimSun" panose="02010600030101010101" pitchFamily="2" charset="-122"/>
              <a:cs typeface="Calibri" panose="020F0502020204030204" pitchFamily="34" charset="0"/>
            </a:rPr>
            <a:t>patient search</a:t>
          </a:r>
          <a:endParaRPr lang="en-US" sz="1800" kern="1200" dirty="0"/>
        </a:p>
      </dsp:txBody>
      <dsp:txXfrm>
        <a:off x="4327063" y="2112690"/>
        <a:ext cx="3908852" cy="880824"/>
      </dsp:txXfrm>
    </dsp:sp>
    <dsp:sp modelId="{A1D0066E-FBFB-4EA8-AA2F-6CA7417DF253}">
      <dsp:nvSpPr>
        <dsp:cNvPr id="0" name=""/>
        <dsp:cNvSpPr/>
      </dsp:nvSpPr>
      <dsp:spPr>
        <a:xfrm>
          <a:off x="4299659" y="3127494"/>
          <a:ext cx="3963660" cy="935632"/>
        </a:xfrm>
        <a:prstGeom prst="roundRect">
          <a:avLst>
            <a:gd name="adj" fmla="val 10000"/>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2.</a:t>
          </a:r>
          <a:r>
            <a:rPr lang="en-US" sz="1800" b="1" kern="1200" dirty="0">
              <a:latin typeface="Calibri" panose="020F0502020204030204" pitchFamily="34" charset="0"/>
              <a:ea typeface="SimSun" panose="02010600030101010101" pitchFamily="2" charset="-122"/>
              <a:cs typeface="Calibri" panose="020F0502020204030204" pitchFamily="34" charset="0"/>
            </a:rPr>
            <a:t> During the </a:t>
          </a:r>
          <a:r>
            <a:rPr lang="en-US" sz="1800" b="1" kern="1200" dirty="0">
              <a:solidFill>
                <a:srgbClr val="FF0000"/>
              </a:solidFill>
              <a:latin typeface="Calibri" panose="020F0502020204030204" pitchFamily="34" charset="0"/>
              <a:ea typeface="SimSun" panose="02010600030101010101" pitchFamily="2" charset="-122"/>
              <a:cs typeface="Calibri" panose="020F0502020204030204" pitchFamily="34" charset="0"/>
            </a:rPr>
            <a:t>patient</a:t>
          </a:r>
          <a:r>
            <a:rPr lang="en-US" sz="1800" b="1" kern="1200" dirty="0">
              <a:latin typeface="Calibri" panose="020F0502020204030204" pitchFamily="34" charset="0"/>
              <a:ea typeface="SimSun" panose="02010600030101010101" pitchFamily="2" charset="-122"/>
              <a:cs typeface="Calibri" panose="020F0502020204030204" pitchFamily="34" charset="0"/>
            </a:rPr>
            <a:t> search:                                </a:t>
          </a:r>
          <a:r>
            <a:rPr lang="en-US" sz="1800" b="1" kern="1200" dirty="0">
              <a:solidFill>
                <a:srgbClr val="000000"/>
              </a:solidFill>
              <a:latin typeface="Calibri" panose="020F0502020204030204" pitchFamily="34" charset="0"/>
              <a:ea typeface="SimSun" panose="02010600030101010101" pitchFamily="2" charset="-122"/>
              <a:cs typeface="Calibri" panose="020F0502020204030204" pitchFamily="34" charset="0"/>
            </a:rPr>
            <a:t>Last </a:t>
          </a:r>
          <a:r>
            <a:rPr lang="en-US" sz="1800" b="1" kern="1200" dirty="0" err="1">
              <a:solidFill>
                <a:srgbClr val="000000"/>
              </a:solidFill>
              <a:latin typeface="Calibri" panose="020F0502020204030204" pitchFamily="34" charset="0"/>
              <a:ea typeface="SimSun" panose="02010600030101010101" pitchFamily="2" charset="-122"/>
              <a:cs typeface="Calibri" panose="020F0502020204030204" pitchFamily="34" charset="0"/>
            </a:rPr>
            <a:t>Fixation</a:t>
          </a:r>
          <a:r>
            <a:rPr lang="en-US" sz="1800" b="1" kern="1200" baseline="-25000" dirty="0" err="1">
              <a:solidFill>
                <a:srgbClr val="000000"/>
              </a:solidFill>
              <a:latin typeface="Calibri" panose="020F0502020204030204" pitchFamily="34" charset="0"/>
              <a:ea typeface="SimSun" panose="02010600030101010101" pitchFamily="2" charset="-122"/>
              <a:cs typeface="Calibri" panose="020F0502020204030204" pitchFamily="34" charset="0"/>
            </a:rPr>
            <a:t>agent</a:t>
          </a:r>
          <a:r>
            <a:rPr lang="en-US" sz="1800" b="1" kern="1200" baseline="-25000" dirty="0">
              <a:solidFill>
                <a:srgbClr val="000000"/>
              </a:solidFill>
              <a:latin typeface="Calibri" panose="020F0502020204030204" pitchFamily="34" charset="0"/>
              <a:ea typeface="SimSun" panose="02010600030101010101" pitchFamily="2" charset="-122"/>
              <a:cs typeface="Calibri" panose="020F0502020204030204" pitchFamily="34" charset="0"/>
            </a:rPr>
            <a:t>     </a:t>
          </a:r>
          <a:r>
            <a:rPr lang="en-US" sz="1800" b="1" kern="1200" dirty="0">
              <a:solidFill>
                <a:srgbClr val="000000"/>
              </a:solidFill>
              <a:latin typeface="Calibri" panose="020F0502020204030204" pitchFamily="34" charset="0"/>
              <a:ea typeface="SimSun" panose="02010600030101010101" pitchFamily="2" charset="-122"/>
              <a:cs typeface="Calibri" panose="020F0502020204030204" pitchFamily="34" charset="0"/>
            </a:rPr>
            <a:t>&lt;    </a:t>
          </a:r>
          <a:r>
            <a:rPr kumimoji="0" lang="en-US" sz="1800" b="1" i="0" u="none" strike="noStrike" kern="1200" cap="none" spc="0" normalizeH="0" baseline="0" noProof="0" dirty="0">
              <a:ln>
                <a:noFill/>
              </a:ln>
              <a:solidFill>
                <a:srgbClr val="000000"/>
              </a:solidFill>
              <a:effectLst/>
              <a:uLnTx/>
              <a:uFillTx/>
              <a:latin typeface="Calibri" panose="020F0502020204030204" pitchFamily="34" charset="0"/>
              <a:ea typeface="SimSun" panose="02010600030101010101" pitchFamily="2" charset="-122"/>
              <a:cs typeface="Calibri" panose="020F0502020204030204" pitchFamily="34" charset="0"/>
            </a:rPr>
            <a:t>Last </a:t>
          </a:r>
          <a:r>
            <a:rPr kumimoji="0" lang="en-US" sz="1800" b="1" i="0" u="none" strike="noStrike" kern="1200" cap="none" spc="0" normalizeH="0" baseline="0" noProof="0" dirty="0" err="1">
              <a:ln>
                <a:noFill/>
              </a:ln>
              <a:solidFill>
                <a:srgbClr val="000000"/>
              </a:solidFill>
              <a:effectLst/>
              <a:uLnTx/>
              <a:uFillTx/>
              <a:latin typeface="Calibri" panose="020F0502020204030204" pitchFamily="34" charset="0"/>
              <a:ea typeface="SimSun" panose="02010600030101010101" pitchFamily="2" charset="-122"/>
              <a:cs typeface="Calibri" panose="020F0502020204030204" pitchFamily="34" charset="0"/>
            </a:rPr>
            <a:t>Fixation</a:t>
          </a:r>
          <a:r>
            <a:rPr kumimoji="0" lang="en-US" sz="1800" b="1" i="0" u="none" strike="noStrike" kern="1200" cap="none" spc="0" normalizeH="0" baseline="-25000" noProof="0" dirty="0" err="1">
              <a:ln>
                <a:noFill/>
              </a:ln>
              <a:solidFill>
                <a:srgbClr val="000000"/>
              </a:solidFill>
              <a:effectLst/>
              <a:uLnTx/>
              <a:uFillTx/>
              <a:latin typeface="Calibri" panose="020F0502020204030204" pitchFamily="34" charset="0"/>
              <a:ea typeface="SimSun" panose="02010600030101010101" pitchFamily="2" charset="-122"/>
              <a:cs typeface="Calibri" panose="020F0502020204030204" pitchFamily="34" charset="0"/>
            </a:rPr>
            <a:t>patient</a:t>
          </a:r>
          <a:r>
            <a:rPr lang="en-US" sz="1800" b="1" kern="1200" dirty="0">
              <a:latin typeface="Calibri" panose="020F0502020204030204" pitchFamily="34" charset="0"/>
              <a:ea typeface="SimSun" panose="02010600030101010101" pitchFamily="2" charset="-122"/>
              <a:cs typeface="Calibri" panose="020F0502020204030204" pitchFamily="34" charset="0"/>
            </a:rPr>
            <a:t> </a:t>
          </a:r>
          <a:endParaRPr lang="en-US" sz="1800" kern="1200" dirty="0"/>
        </a:p>
      </dsp:txBody>
      <dsp:txXfrm>
        <a:off x="4327063" y="3154898"/>
        <a:ext cx="3908852" cy="880824"/>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09BA69D-5FA0-4F77-8A86-70E99F146854}">
      <dsp:nvSpPr>
        <dsp:cNvPr id="0" name=""/>
        <dsp:cNvSpPr/>
      </dsp:nvSpPr>
      <dsp:spPr>
        <a:xfrm>
          <a:off x="3051" y="872"/>
          <a:ext cx="8260268" cy="935632"/>
        </a:xfrm>
        <a:prstGeom prst="roundRect">
          <a:avLst>
            <a:gd name="adj" fmla="val 10000"/>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Agent Advantage Effect </a:t>
          </a:r>
          <a:br>
            <a:rPr lang="en-US" sz="1800" kern="1200" dirty="0"/>
          </a:br>
          <a:r>
            <a:rPr lang="en-US" sz="1800" kern="1200" dirty="0"/>
            <a:t>in pictures</a:t>
          </a:r>
        </a:p>
      </dsp:txBody>
      <dsp:txXfrm>
        <a:off x="30455" y="28276"/>
        <a:ext cx="8205460" cy="880824"/>
      </dsp:txXfrm>
    </dsp:sp>
    <dsp:sp modelId="{C1494B4B-6776-4AFC-8248-10BDE4D2A08E}">
      <dsp:nvSpPr>
        <dsp:cNvPr id="0" name=""/>
        <dsp:cNvSpPr/>
      </dsp:nvSpPr>
      <dsp:spPr>
        <a:xfrm>
          <a:off x="3051" y="1043079"/>
          <a:ext cx="3963660" cy="935632"/>
        </a:xfrm>
        <a:prstGeom prst="roundRect">
          <a:avLst>
            <a:gd name="adj" fmla="val 10000"/>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Study 2</a:t>
          </a:r>
        </a:p>
      </dsp:txBody>
      <dsp:txXfrm>
        <a:off x="30455" y="1070483"/>
        <a:ext cx="3908852" cy="880824"/>
      </dsp:txXfrm>
    </dsp:sp>
    <dsp:sp modelId="{AF6DA579-D12E-491F-892A-1F8AE033CE07}">
      <dsp:nvSpPr>
        <dsp:cNvPr id="0" name=""/>
        <dsp:cNvSpPr/>
      </dsp:nvSpPr>
      <dsp:spPr>
        <a:xfrm>
          <a:off x="3051" y="2085286"/>
          <a:ext cx="3963660" cy="935632"/>
        </a:xfrm>
        <a:prstGeom prst="roundRect">
          <a:avLst>
            <a:gd name="adj" fmla="val 10000"/>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Motion Line Study</a:t>
          </a:r>
        </a:p>
      </dsp:txBody>
      <dsp:txXfrm>
        <a:off x="30455" y="2112690"/>
        <a:ext cx="3908852" cy="880824"/>
      </dsp:txXfrm>
    </dsp:sp>
    <dsp:sp modelId="{A1D0066E-FBFB-4EA8-AA2F-6CA7417DF253}">
      <dsp:nvSpPr>
        <dsp:cNvPr id="0" name=""/>
        <dsp:cNvSpPr/>
      </dsp:nvSpPr>
      <dsp:spPr>
        <a:xfrm>
          <a:off x="3051" y="3127494"/>
          <a:ext cx="3963660" cy="935632"/>
        </a:xfrm>
        <a:prstGeom prst="roundRect">
          <a:avLst>
            <a:gd name="adj" fmla="val 10000"/>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Study how comic elements impact the agent advantage effect in single pictures</a:t>
          </a:r>
        </a:p>
      </dsp:txBody>
      <dsp:txXfrm>
        <a:off x="30455" y="3154898"/>
        <a:ext cx="3908852" cy="880824"/>
      </dsp:txXfrm>
    </dsp:sp>
    <dsp:sp modelId="{3DD6ED5E-33D4-4DF5-A875-EB7ACF95BB6E}">
      <dsp:nvSpPr>
        <dsp:cNvPr id="0" name=""/>
        <dsp:cNvSpPr/>
      </dsp:nvSpPr>
      <dsp:spPr>
        <a:xfrm>
          <a:off x="4299659" y="1043079"/>
          <a:ext cx="3963660" cy="935632"/>
        </a:xfrm>
        <a:prstGeom prst="roundRect">
          <a:avLst>
            <a:gd name="adj" fmla="val 10000"/>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R</a:t>
          </a:r>
          <a:r>
            <a:rPr lang="en-US" altLang="zh-CN" sz="1800" kern="1200" dirty="0"/>
            <a:t>esults</a:t>
          </a:r>
          <a:endParaRPr lang="en-US" sz="1800" kern="1200" dirty="0"/>
        </a:p>
      </dsp:txBody>
      <dsp:txXfrm>
        <a:off x="4327063" y="1070483"/>
        <a:ext cx="3908852" cy="880824"/>
      </dsp:txXfrm>
    </dsp:sp>
    <dsp:sp modelId="{C00894AC-CDDE-4922-9638-D4C5E3518D17}">
      <dsp:nvSpPr>
        <dsp:cNvPr id="0" name=""/>
        <dsp:cNvSpPr/>
      </dsp:nvSpPr>
      <dsp:spPr>
        <a:xfrm>
          <a:off x="4299659" y="2085286"/>
          <a:ext cx="3963660" cy="935632"/>
        </a:xfrm>
        <a:prstGeom prst="roundRect">
          <a:avLst>
            <a:gd name="adj" fmla="val 10000"/>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1. Replicated the agent advantage effect: </a:t>
          </a:r>
          <a:r>
            <a:rPr lang="en-US" sz="1800" b="1" kern="1200" dirty="0">
              <a:solidFill>
                <a:srgbClr val="000000"/>
              </a:solidFill>
              <a:latin typeface="Calibri" panose="020F0502020204030204" pitchFamily="34" charset="0"/>
              <a:ea typeface="SimSun" panose="02010600030101010101" pitchFamily="2" charset="-122"/>
              <a:cs typeface="Calibri" panose="020F0502020204030204" pitchFamily="34" charset="0"/>
            </a:rPr>
            <a:t>RT </a:t>
          </a:r>
          <a:r>
            <a:rPr lang="en-US" sz="1800" b="1" kern="1200" baseline="-25000" dirty="0">
              <a:solidFill>
                <a:srgbClr val="000000"/>
              </a:solidFill>
              <a:latin typeface="Calibri" panose="020F0502020204030204" pitchFamily="34" charset="0"/>
              <a:ea typeface="SimSun" panose="02010600030101010101" pitchFamily="2" charset="-122"/>
              <a:cs typeface="Calibri" panose="020F0502020204030204" pitchFamily="34" charset="0"/>
            </a:rPr>
            <a:t>agent search</a:t>
          </a:r>
          <a:r>
            <a:rPr lang="en-US" sz="1800" b="1" kern="1200" dirty="0">
              <a:solidFill>
                <a:srgbClr val="000000"/>
              </a:solidFill>
              <a:latin typeface="Calibri" panose="020F0502020204030204" pitchFamily="34" charset="0"/>
              <a:ea typeface="SimSun" panose="02010600030101010101" pitchFamily="2" charset="-122"/>
              <a:cs typeface="Calibri" panose="020F0502020204030204" pitchFamily="34" charset="0"/>
            </a:rPr>
            <a:t>     &lt;     </a:t>
          </a:r>
          <a:r>
            <a:rPr kumimoji="0" lang="en-US" sz="1800" b="1" i="0" u="none" strike="noStrike" kern="1200" cap="none" spc="0" normalizeH="0" baseline="0" noProof="0" dirty="0">
              <a:ln>
                <a:noFill/>
              </a:ln>
              <a:solidFill>
                <a:srgbClr val="000000"/>
              </a:solidFill>
              <a:effectLst/>
              <a:uLnTx/>
              <a:uFillTx/>
              <a:latin typeface="Calibri" panose="020F0502020204030204" pitchFamily="34" charset="0"/>
              <a:ea typeface="SimSun" panose="02010600030101010101" pitchFamily="2" charset="-122"/>
              <a:cs typeface="Calibri" panose="020F0502020204030204" pitchFamily="34" charset="0"/>
            </a:rPr>
            <a:t>RT </a:t>
          </a:r>
          <a:r>
            <a:rPr kumimoji="0" lang="en-US" sz="1800" b="1" i="0" u="none" strike="noStrike" kern="1200" cap="none" spc="0" normalizeH="0" baseline="-25000" noProof="0" dirty="0">
              <a:ln>
                <a:noFill/>
              </a:ln>
              <a:solidFill>
                <a:srgbClr val="000000"/>
              </a:solidFill>
              <a:effectLst/>
              <a:uLnTx/>
              <a:uFillTx/>
              <a:latin typeface="Calibri" panose="020F0502020204030204" pitchFamily="34" charset="0"/>
              <a:ea typeface="SimSun" panose="02010600030101010101" pitchFamily="2" charset="-122"/>
              <a:cs typeface="Calibri" panose="020F0502020204030204" pitchFamily="34" charset="0"/>
            </a:rPr>
            <a:t>patient search</a:t>
          </a:r>
          <a:endParaRPr lang="en-US" sz="1800" kern="1200" dirty="0"/>
        </a:p>
      </dsp:txBody>
      <dsp:txXfrm>
        <a:off x="4327063" y="2112690"/>
        <a:ext cx="3908852" cy="880824"/>
      </dsp:txXfrm>
    </dsp:sp>
    <dsp:sp modelId="{389A5BCF-0E31-4613-A539-D738C6F458E9}">
      <dsp:nvSpPr>
        <dsp:cNvPr id="0" name=""/>
        <dsp:cNvSpPr/>
      </dsp:nvSpPr>
      <dsp:spPr>
        <a:xfrm>
          <a:off x="4299659" y="3127494"/>
          <a:ext cx="3963660" cy="935632"/>
        </a:xfrm>
        <a:prstGeom prst="roundRect">
          <a:avLst>
            <a:gd name="adj" fmla="val 10000"/>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2. Motion lines had no impact toward the agent advantage effect.</a:t>
          </a:r>
        </a:p>
      </dsp:txBody>
      <dsp:txXfrm>
        <a:off x="4327063" y="3154898"/>
        <a:ext cx="3908852" cy="880824"/>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09BA69D-5FA0-4F77-8A86-70E99F146854}">
      <dsp:nvSpPr>
        <dsp:cNvPr id="0" name=""/>
        <dsp:cNvSpPr/>
      </dsp:nvSpPr>
      <dsp:spPr>
        <a:xfrm>
          <a:off x="2970" y="872"/>
          <a:ext cx="8260429" cy="935632"/>
        </a:xfrm>
        <a:prstGeom prst="roundRect">
          <a:avLst>
            <a:gd name="adj" fmla="val 10000"/>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Agent Advantage Effect </a:t>
          </a:r>
          <a:br>
            <a:rPr lang="en-US" sz="1800" kern="1200" dirty="0"/>
          </a:br>
          <a:r>
            <a:rPr lang="en-US" sz="1800" kern="1200" dirty="0"/>
            <a:t>in pictures</a:t>
          </a:r>
        </a:p>
      </dsp:txBody>
      <dsp:txXfrm>
        <a:off x="30374" y="28276"/>
        <a:ext cx="8205621" cy="880824"/>
      </dsp:txXfrm>
    </dsp:sp>
    <dsp:sp modelId="{234962F9-7A3E-46C6-9055-FB57BE5F51B4}">
      <dsp:nvSpPr>
        <dsp:cNvPr id="0" name=""/>
        <dsp:cNvSpPr/>
      </dsp:nvSpPr>
      <dsp:spPr>
        <a:xfrm>
          <a:off x="0" y="1074977"/>
          <a:ext cx="2607458" cy="935632"/>
        </a:xfrm>
        <a:prstGeom prst="roundRect">
          <a:avLst>
            <a:gd name="adj" fmla="val 10000"/>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Study 1</a:t>
          </a:r>
        </a:p>
      </dsp:txBody>
      <dsp:txXfrm>
        <a:off x="27404" y="1102381"/>
        <a:ext cx="2552650" cy="880824"/>
      </dsp:txXfrm>
    </dsp:sp>
    <dsp:sp modelId="{6A58AB54-1BFF-436C-AE97-D6C16B970CEA}">
      <dsp:nvSpPr>
        <dsp:cNvPr id="0" name=""/>
        <dsp:cNvSpPr/>
      </dsp:nvSpPr>
      <dsp:spPr>
        <a:xfrm>
          <a:off x="2970" y="2085286"/>
          <a:ext cx="2607458" cy="935632"/>
        </a:xfrm>
        <a:prstGeom prst="roundRect">
          <a:avLst>
            <a:gd name="adj" fmla="val 10000"/>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Eye-tracking Study</a:t>
          </a:r>
        </a:p>
      </dsp:txBody>
      <dsp:txXfrm>
        <a:off x="30374" y="2112690"/>
        <a:ext cx="2552650" cy="880824"/>
      </dsp:txXfrm>
    </dsp:sp>
    <dsp:sp modelId="{0215DAA2-DDCC-4443-97A6-9FACF7D3D85C}">
      <dsp:nvSpPr>
        <dsp:cNvPr id="0" name=""/>
        <dsp:cNvSpPr/>
      </dsp:nvSpPr>
      <dsp:spPr>
        <a:xfrm>
          <a:off x="2970" y="3127494"/>
          <a:ext cx="2607458" cy="935632"/>
        </a:xfrm>
        <a:prstGeom prst="roundRect">
          <a:avLst>
            <a:gd name="adj" fmla="val 10000"/>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Study the underlying process of the agent advantage effect</a:t>
          </a:r>
        </a:p>
      </dsp:txBody>
      <dsp:txXfrm>
        <a:off x="30374" y="3154898"/>
        <a:ext cx="2552650" cy="880824"/>
      </dsp:txXfrm>
    </dsp:sp>
    <dsp:sp modelId="{C1494B4B-6776-4AFC-8248-10BDE4D2A08E}">
      <dsp:nvSpPr>
        <dsp:cNvPr id="0" name=""/>
        <dsp:cNvSpPr/>
      </dsp:nvSpPr>
      <dsp:spPr>
        <a:xfrm>
          <a:off x="2829456" y="1043079"/>
          <a:ext cx="2607458" cy="935632"/>
        </a:xfrm>
        <a:prstGeom prst="roundRect">
          <a:avLst>
            <a:gd name="adj" fmla="val 10000"/>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Study 2</a:t>
          </a:r>
        </a:p>
      </dsp:txBody>
      <dsp:txXfrm>
        <a:off x="2856860" y="1070483"/>
        <a:ext cx="2552650" cy="880824"/>
      </dsp:txXfrm>
    </dsp:sp>
    <dsp:sp modelId="{AF6DA579-D12E-491F-892A-1F8AE033CE07}">
      <dsp:nvSpPr>
        <dsp:cNvPr id="0" name=""/>
        <dsp:cNvSpPr/>
      </dsp:nvSpPr>
      <dsp:spPr>
        <a:xfrm>
          <a:off x="2829456" y="2085286"/>
          <a:ext cx="2607458" cy="935632"/>
        </a:xfrm>
        <a:prstGeom prst="roundRect">
          <a:avLst>
            <a:gd name="adj" fmla="val 10000"/>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Motion Line Study</a:t>
          </a:r>
        </a:p>
      </dsp:txBody>
      <dsp:txXfrm>
        <a:off x="2856860" y="2112690"/>
        <a:ext cx="2552650" cy="880824"/>
      </dsp:txXfrm>
    </dsp:sp>
    <dsp:sp modelId="{A1D0066E-FBFB-4EA8-AA2F-6CA7417DF253}">
      <dsp:nvSpPr>
        <dsp:cNvPr id="0" name=""/>
        <dsp:cNvSpPr/>
      </dsp:nvSpPr>
      <dsp:spPr>
        <a:xfrm>
          <a:off x="2829456" y="3127494"/>
          <a:ext cx="2607458" cy="935632"/>
        </a:xfrm>
        <a:prstGeom prst="roundRect">
          <a:avLst>
            <a:gd name="adj" fmla="val 10000"/>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Study how comic elements impact the agent advantage effect in single pictures</a:t>
          </a:r>
        </a:p>
      </dsp:txBody>
      <dsp:txXfrm>
        <a:off x="2856860" y="3154898"/>
        <a:ext cx="2552650" cy="880824"/>
      </dsp:txXfrm>
    </dsp:sp>
    <dsp:sp modelId="{3DD6ED5E-33D4-4DF5-A875-EB7ACF95BB6E}">
      <dsp:nvSpPr>
        <dsp:cNvPr id="0" name=""/>
        <dsp:cNvSpPr/>
      </dsp:nvSpPr>
      <dsp:spPr>
        <a:xfrm>
          <a:off x="5655941" y="1043079"/>
          <a:ext cx="2607458" cy="935632"/>
        </a:xfrm>
        <a:prstGeom prst="roundRect">
          <a:avLst>
            <a:gd name="adj" fmla="val 10000"/>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Study 3</a:t>
          </a:r>
        </a:p>
      </dsp:txBody>
      <dsp:txXfrm>
        <a:off x="5683345" y="1070483"/>
        <a:ext cx="2552650" cy="880824"/>
      </dsp:txXfrm>
    </dsp:sp>
    <dsp:sp modelId="{C00894AC-CDDE-4922-9638-D4C5E3518D17}">
      <dsp:nvSpPr>
        <dsp:cNvPr id="0" name=""/>
        <dsp:cNvSpPr/>
      </dsp:nvSpPr>
      <dsp:spPr>
        <a:xfrm>
          <a:off x="5655941" y="2085286"/>
          <a:ext cx="2607458" cy="935632"/>
        </a:xfrm>
        <a:prstGeom prst="roundRect">
          <a:avLst>
            <a:gd name="adj" fmla="val 10000"/>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A</a:t>
          </a:r>
          <a:r>
            <a:rPr lang="en-US" altLang="zh-CN" sz="1800" kern="1200" dirty="0"/>
            <a:t>bstract Fish</a:t>
          </a:r>
          <a:r>
            <a:rPr lang="en-US" sz="1800" kern="1200" dirty="0"/>
            <a:t> Study</a:t>
          </a:r>
        </a:p>
      </dsp:txBody>
      <dsp:txXfrm>
        <a:off x="5683345" y="2112690"/>
        <a:ext cx="2552650" cy="880824"/>
      </dsp:txXfrm>
    </dsp:sp>
    <dsp:sp modelId="{389A5BCF-0E31-4613-A539-D738C6F458E9}">
      <dsp:nvSpPr>
        <dsp:cNvPr id="0" name=""/>
        <dsp:cNvSpPr/>
      </dsp:nvSpPr>
      <dsp:spPr>
        <a:xfrm>
          <a:off x="5655941" y="3127494"/>
          <a:ext cx="2607458" cy="935632"/>
        </a:xfrm>
        <a:prstGeom prst="roundRect">
          <a:avLst>
            <a:gd name="adj" fmla="val 10000"/>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Study the agent advantage effect in with abstract fish</a:t>
          </a:r>
        </a:p>
      </dsp:txBody>
      <dsp:txXfrm>
        <a:off x="5683345" y="3154898"/>
        <a:ext cx="2552650" cy="880824"/>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09BA69D-5FA0-4F77-8A86-70E99F146854}">
      <dsp:nvSpPr>
        <dsp:cNvPr id="0" name=""/>
        <dsp:cNvSpPr/>
      </dsp:nvSpPr>
      <dsp:spPr>
        <a:xfrm>
          <a:off x="2970" y="872"/>
          <a:ext cx="8260429" cy="935632"/>
        </a:xfrm>
        <a:prstGeom prst="roundRect">
          <a:avLst>
            <a:gd name="adj" fmla="val 10000"/>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Agent Advantage Effect </a:t>
          </a:r>
          <a:br>
            <a:rPr lang="en-US" sz="1800" kern="1200" dirty="0"/>
          </a:br>
          <a:r>
            <a:rPr lang="en-US" sz="1800" kern="1200" dirty="0"/>
            <a:t>in pictures</a:t>
          </a:r>
        </a:p>
      </dsp:txBody>
      <dsp:txXfrm>
        <a:off x="30374" y="28276"/>
        <a:ext cx="8205621" cy="880824"/>
      </dsp:txXfrm>
    </dsp:sp>
    <dsp:sp modelId="{234962F9-7A3E-46C6-9055-FB57BE5F51B4}">
      <dsp:nvSpPr>
        <dsp:cNvPr id="0" name=""/>
        <dsp:cNvSpPr/>
      </dsp:nvSpPr>
      <dsp:spPr>
        <a:xfrm>
          <a:off x="0" y="1074977"/>
          <a:ext cx="2607458" cy="935632"/>
        </a:xfrm>
        <a:prstGeom prst="roundRect">
          <a:avLst>
            <a:gd name="adj" fmla="val 10000"/>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Study 1</a:t>
          </a:r>
        </a:p>
      </dsp:txBody>
      <dsp:txXfrm>
        <a:off x="27404" y="1102381"/>
        <a:ext cx="2552650" cy="880824"/>
      </dsp:txXfrm>
    </dsp:sp>
    <dsp:sp modelId="{6A58AB54-1BFF-436C-AE97-D6C16B970CEA}">
      <dsp:nvSpPr>
        <dsp:cNvPr id="0" name=""/>
        <dsp:cNvSpPr/>
      </dsp:nvSpPr>
      <dsp:spPr>
        <a:xfrm>
          <a:off x="2970" y="2085286"/>
          <a:ext cx="2607458" cy="935632"/>
        </a:xfrm>
        <a:prstGeom prst="roundRect">
          <a:avLst>
            <a:gd name="adj" fmla="val 10000"/>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Eye-tracking Study</a:t>
          </a:r>
        </a:p>
      </dsp:txBody>
      <dsp:txXfrm>
        <a:off x="30374" y="2112690"/>
        <a:ext cx="2552650" cy="880824"/>
      </dsp:txXfrm>
    </dsp:sp>
    <dsp:sp modelId="{0215DAA2-DDCC-4443-97A6-9FACF7D3D85C}">
      <dsp:nvSpPr>
        <dsp:cNvPr id="0" name=""/>
        <dsp:cNvSpPr/>
      </dsp:nvSpPr>
      <dsp:spPr>
        <a:xfrm>
          <a:off x="2970" y="3127494"/>
          <a:ext cx="2607458" cy="935632"/>
        </a:xfrm>
        <a:prstGeom prst="roundRect">
          <a:avLst>
            <a:gd name="adj" fmla="val 10000"/>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Study the underlying process of the agent advantage effect</a:t>
          </a:r>
        </a:p>
      </dsp:txBody>
      <dsp:txXfrm>
        <a:off x="30374" y="3154898"/>
        <a:ext cx="2552650" cy="880824"/>
      </dsp:txXfrm>
    </dsp:sp>
    <dsp:sp modelId="{C1494B4B-6776-4AFC-8248-10BDE4D2A08E}">
      <dsp:nvSpPr>
        <dsp:cNvPr id="0" name=""/>
        <dsp:cNvSpPr/>
      </dsp:nvSpPr>
      <dsp:spPr>
        <a:xfrm>
          <a:off x="2829456" y="1043079"/>
          <a:ext cx="2607458" cy="935632"/>
        </a:xfrm>
        <a:prstGeom prst="roundRect">
          <a:avLst>
            <a:gd name="adj" fmla="val 10000"/>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Study 2</a:t>
          </a:r>
        </a:p>
      </dsp:txBody>
      <dsp:txXfrm>
        <a:off x="2856860" y="1070483"/>
        <a:ext cx="2552650" cy="880824"/>
      </dsp:txXfrm>
    </dsp:sp>
    <dsp:sp modelId="{AF6DA579-D12E-491F-892A-1F8AE033CE07}">
      <dsp:nvSpPr>
        <dsp:cNvPr id="0" name=""/>
        <dsp:cNvSpPr/>
      </dsp:nvSpPr>
      <dsp:spPr>
        <a:xfrm>
          <a:off x="2829456" y="2085286"/>
          <a:ext cx="2607458" cy="935632"/>
        </a:xfrm>
        <a:prstGeom prst="roundRect">
          <a:avLst>
            <a:gd name="adj" fmla="val 10000"/>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Motion Line Study</a:t>
          </a:r>
        </a:p>
      </dsp:txBody>
      <dsp:txXfrm>
        <a:off x="2856860" y="2112690"/>
        <a:ext cx="2552650" cy="880824"/>
      </dsp:txXfrm>
    </dsp:sp>
    <dsp:sp modelId="{A1D0066E-FBFB-4EA8-AA2F-6CA7417DF253}">
      <dsp:nvSpPr>
        <dsp:cNvPr id="0" name=""/>
        <dsp:cNvSpPr/>
      </dsp:nvSpPr>
      <dsp:spPr>
        <a:xfrm>
          <a:off x="2829456" y="3127494"/>
          <a:ext cx="2607458" cy="935632"/>
        </a:xfrm>
        <a:prstGeom prst="roundRect">
          <a:avLst>
            <a:gd name="adj" fmla="val 10000"/>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Study how comic elements impact the agent advantage effect in single pictures</a:t>
          </a:r>
        </a:p>
      </dsp:txBody>
      <dsp:txXfrm>
        <a:off x="2856860" y="3154898"/>
        <a:ext cx="2552650" cy="880824"/>
      </dsp:txXfrm>
    </dsp:sp>
    <dsp:sp modelId="{3DD6ED5E-33D4-4DF5-A875-EB7ACF95BB6E}">
      <dsp:nvSpPr>
        <dsp:cNvPr id="0" name=""/>
        <dsp:cNvSpPr/>
      </dsp:nvSpPr>
      <dsp:spPr>
        <a:xfrm>
          <a:off x="5655941" y="1043079"/>
          <a:ext cx="2607458" cy="935632"/>
        </a:xfrm>
        <a:prstGeom prst="roundRect">
          <a:avLst>
            <a:gd name="adj" fmla="val 10000"/>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Study 3</a:t>
          </a:r>
        </a:p>
      </dsp:txBody>
      <dsp:txXfrm>
        <a:off x="5683345" y="1070483"/>
        <a:ext cx="2552650" cy="880824"/>
      </dsp:txXfrm>
    </dsp:sp>
    <dsp:sp modelId="{C00894AC-CDDE-4922-9638-D4C5E3518D17}">
      <dsp:nvSpPr>
        <dsp:cNvPr id="0" name=""/>
        <dsp:cNvSpPr/>
      </dsp:nvSpPr>
      <dsp:spPr>
        <a:xfrm>
          <a:off x="5655941" y="2085286"/>
          <a:ext cx="2607458" cy="935632"/>
        </a:xfrm>
        <a:prstGeom prst="roundRect">
          <a:avLst>
            <a:gd name="adj" fmla="val 10000"/>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Ambiguity Study</a:t>
          </a:r>
        </a:p>
      </dsp:txBody>
      <dsp:txXfrm>
        <a:off x="5683345" y="2112690"/>
        <a:ext cx="2552650" cy="880824"/>
      </dsp:txXfrm>
    </dsp:sp>
    <dsp:sp modelId="{389A5BCF-0E31-4613-A539-D738C6F458E9}">
      <dsp:nvSpPr>
        <dsp:cNvPr id="0" name=""/>
        <dsp:cNvSpPr/>
      </dsp:nvSpPr>
      <dsp:spPr>
        <a:xfrm>
          <a:off x="5655941" y="3127494"/>
          <a:ext cx="2607458" cy="935632"/>
        </a:xfrm>
        <a:prstGeom prst="roundRect">
          <a:avLst>
            <a:gd name="adj" fmla="val 10000"/>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Study the agent advantage effect in dynamics</a:t>
          </a:r>
        </a:p>
      </dsp:txBody>
      <dsp:txXfrm>
        <a:off x="5683345" y="3154898"/>
        <a:ext cx="2552650" cy="880824"/>
      </dsp:txXfrm>
    </dsp:sp>
  </dsp:spTree>
</dsp:drawing>
</file>

<file path=ppt/diagrams/layout1.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ierarchy4">
  <dgm:title val=""/>
  <dgm:desc val=""/>
  <dgm:catLst>
    <dgm:cat type="hierarchy" pri="4000"/>
    <dgm:cat type="list" pri="24000"/>
    <dgm:cat type="relationship" pri="10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T"/>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t"/>
              </dgm:alg>
            </dgm:if>
            <dgm:else name="Name1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T"/>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t"/>
                    </dgm:alg>
                  </dgm:if>
                  <dgm:else name="Name17">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T"/>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t"/>
                          </dgm:alg>
                        </dgm:if>
                        <dgm:else name="Name24">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T"/>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t"/>
                                </dgm:alg>
                              </dgm:if>
                              <dgm:else name="Name3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hierarchy4">
  <dgm:title val=""/>
  <dgm:desc val=""/>
  <dgm:catLst>
    <dgm:cat type="hierarchy" pri="4000"/>
    <dgm:cat type="list" pri="24000"/>
    <dgm:cat type="relationship" pri="10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T"/>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t"/>
              </dgm:alg>
            </dgm:if>
            <dgm:else name="Name1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T"/>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t"/>
                    </dgm:alg>
                  </dgm:if>
                  <dgm:else name="Name17">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T"/>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t"/>
                          </dgm:alg>
                        </dgm:if>
                        <dgm:else name="Name24">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T"/>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t"/>
                                </dgm:alg>
                              </dgm:if>
                              <dgm:else name="Name3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hierarchy4">
  <dgm:title val=""/>
  <dgm:desc val=""/>
  <dgm:catLst>
    <dgm:cat type="hierarchy" pri="4000"/>
    <dgm:cat type="list" pri="24000"/>
    <dgm:cat type="relationship" pri="10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T"/>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t"/>
              </dgm:alg>
            </dgm:if>
            <dgm:else name="Name1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T"/>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t"/>
                    </dgm:alg>
                  </dgm:if>
                  <dgm:else name="Name17">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T"/>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t"/>
                          </dgm:alg>
                        </dgm:if>
                        <dgm:else name="Name24">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T"/>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t"/>
                                </dgm:alg>
                              </dgm:if>
                              <dgm:else name="Name3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hierarchy4">
  <dgm:title val=""/>
  <dgm:desc val=""/>
  <dgm:catLst>
    <dgm:cat type="hierarchy" pri="4000"/>
    <dgm:cat type="list" pri="24000"/>
    <dgm:cat type="relationship" pri="10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T"/>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t"/>
              </dgm:alg>
            </dgm:if>
            <dgm:else name="Name1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T"/>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t"/>
                    </dgm:alg>
                  </dgm:if>
                  <dgm:else name="Name17">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T"/>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t"/>
                          </dgm:alg>
                        </dgm:if>
                        <dgm:else name="Name24">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T"/>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t"/>
                                </dgm:alg>
                              </dgm:if>
                              <dgm:else name="Name3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hierarchy4">
  <dgm:title val=""/>
  <dgm:desc val=""/>
  <dgm:catLst>
    <dgm:cat type="hierarchy" pri="4000"/>
    <dgm:cat type="list" pri="24000"/>
    <dgm:cat type="relationship" pri="10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T"/>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t"/>
              </dgm:alg>
            </dgm:if>
            <dgm:else name="Name1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T"/>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t"/>
                    </dgm:alg>
                  </dgm:if>
                  <dgm:else name="Name17">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T"/>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t"/>
                          </dgm:alg>
                        </dgm:if>
                        <dgm:else name="Name24">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T"/>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t"/>
                                </dgm:alg>
                              </dgm:if>
                              <dgm:else name="Name3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55925" cy="496888"/>
          </a:xfrm>
          <a:prstGeom prst="rect">
            <a:avLst/>
          </a:prstGeom>
        </p:spPr>
        <p:txBody>
          <a:bodyPr vert="horz" lIns="91322" tIns="45661" rIns="91322" bIns="45661" rtlCol="0"/>
          <a:lstStyle>
            <a:lvl1pPr algn="l">
              <a:defRPr sz="1200">
                <a:latin typeface="Arial" charset="0"/>
                <a:cs typeface="+mn-cs"/>
              </a:defRPr>
            </a:lvl1pPr>
          </a:lstStyle>
          <a:p>
            <a:pPr>
              <a:defRPr/>
            </a:pPr>
            <a:endParaRPr lang="de-DE"/>
          </a:p>
        </p:txBody>
      </p:sp>
      <p:sp>
        <p:nvSpPr>
          <p:cNvPr id="3" name="Datumsplatzhalter 2"/>
          <p:cNvSpPr>
            <a:spLocks noGrp="1"/>
          </p:cNvSpPr>
          <p:nvPr>
            <p:ph type="dt" sz="quarter" idx="1"/>
          </p:nvPr>
        </p:nvSpPr>
        <p:spPr>
          <a:xfrm>
            <a:off x="3862388" y="0"/>
            <a:ext cx="2955925" cy="496888"/>
          </a:xfrm>
          <a:prstGeom prst="rect">
            <a:avLst/>
          </a:prstGeom>
        </p:spPr>
        <p:txBody>
          <a:bodyPr vert="horz" lIns="91322" tIns="45661" rIns="91322" bIns="45661" rtlCol="0"/>
          <a:lstStyle>
            <a:lvl1pPr algn="r">
              <a:defRPr sz="1200">
                <a:latin typeface="Arial" charset="0"/>
                <a:cs typeface="+mn-cs"/>
              </a:defRPr>
            </a:lvl1pPr>
          </a:lstStyle>
          <a:p>
            <a:pPr>
              <a:defRPr/>
            </a:pPr>
            <a:fld id="{64F7B59A-83A2-4A4C-AB6A-2DFE2FE95F69}" type="datetimeFigureOut">
              <a:rPr lang="de-DE"/>
              <a:pPr>
                <a:defRPr/>
              </a:pPr>
              <a:t>09.04.2025</a:t>
            </a:fld>
            <a:endParaRPr lang="de-DE"/>
          </a:p>
        </p:txBody>
      </p:sp>
      <p:sp>
        <p:nvSpPr>
          <p:cNvPr id="4" name="Fußzeilenplatzhalter 3"/>
          <p:cNvSpPr>
            <a:spLocks noGrp="1"/>
          </p:cNvSpPr>
          <p:nvPr>
            <p:ph type="ftr" sz="quarter" idx="2"/>
          </p:nvPr>
        </p:nvSpPr>
        <p:spPr>
          <a:xfrm>
            <a:off x="0" y="9420225"/>
            <a:ext cx="2955925" cy="496888"/>
          </a:xfrm>
          <a:prstGeom prst="rect">
            <a:avLst/>
          </a:prstGeom>
        </p:spPr>
        <p:txBody>
          <a:bodyPr vert="horz" lIns="91322" tIns="45661" rIns="91322" bIns="45661" rtlCol="0" anchor="b"/>
          <a:lstStyle>
            <a:lvl1pPr algn="l">
              <a:defRPr sz="1200">
                <a:latin typeface="Arial" charset="0"/>
                <a:cs typeface="+mn-cs"/>
              </a:defRPr>
            </a:lvl1pPr>
          </a:lstStyle>
          <a:p>
            <a:pPr>
              <a:defRPr/>
            </a:pPr>
            <a:endParaRPr lang="de-DE"/>
          </a:p>
        </p:txBody>
      </p:sp>
      <p:sp>
        <p:nvSpPr>
          <p:cNvPr id="5" name="Foliennummernplatzhalter 4"/>
          <p:cNvSpPr>
            <a:spLocks noGrp="1"/>
          </p:cNvSpPr>
          <p:nvPr>
            <p:ph type="sldNum" sz="quarter" idx="3"/>
          </p:nvPr>
        </p:nvSpPr>
        <p:spPr>
          <a:xfrm>
            <a:off x="3862388" y="9420225"/>
            <a:ext cx="2955925" cy="496888"/>
          </a:xfrm>
          <a:prstGeom prst="rect">
            <a:avLst/>
          </a:prstGeom>
        </p:spPr>
        <p:txBody>
          <a:bodyPr vert="horz" wrap="square" lIns="91322" tIns="45661" rIns="91322" bIns="45661" numCol="1" anchor="b" anchorCtr="0" compatLnSpc="1">
            <a:prstTxWarp prst="textNoShape">
              <a:avLst/>
            </a:prstTxWarp>
          </a:bodyPr>
          <a:lstStyle>
            <a:lvl1pPr algn="r">
              <a:defRPr sz="1200"/>
            </a:lvl1pPr>
          </a:lstStyle>
          <a:p>
            <a:fld id="{0ECB423F-C3A7-4345-B851-175740C3DFE6}" type="slidenum">
              <a:rPr lang="de-DE" altLang="de-DE"/>
              <a:pPr/>
              <a:t>‹#›</a:t>
            </a:fld>
            <a:endParaRPr lang="de-DE" altLang="de-DE"/>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54338" cy="496888"/>
          </a:xfrm>
          <a:prstGeom prst="rect">
            <a:avLst/>
          </a:prstGeom>
        </p:spPr>
        <p:txBody>
          <a:bodyPr vert="horz" lIns="91322" tIns="45661" rIns="91322" bIns="45661" rtlCol="0"/>
          <a:lstStyle>
            <a:lvl1pPr algn="l">
              <a:defRPr sz="1200">
                <a:latin typeface="Arial" charset="0"/>
                <a:cs typeface="+mn-cs"/>
              </a:defRPr>
            </a:lvl1pPr>
          </a:lstStyle>
          <a:p>
            <a:pPr>
              <a:defRPr/>
            </a:pPr>
            <a:endParaRPr lang="de-DE"/>
          </a:p>
        </p:txBody>
      </p:sp>
      <p:sp>
        <p:nvSpPr>
          <p:cNvPr id="3" name="Datumsplatzhalter 2"/>
          <p:cNvSpPr>
            <a:spLocks noGrp="1"/>
          </p:cNvSpPr>
          <p:nvPr>
            <p:ph type="dt" idx="1"/>
          </p:nvPr>
        </p:nvSpPr>
        <p:spPr>
          <a:xfrm>
            <a:off x="3863975" y="0"/>
            <a:ext cx="2954338" cy="496888"/>
          </a:xfrm>
          <a:prstGeom prst="rect">
            <a:avLst/>
          </a:prstGeom>
        </p:spPr>
        <p:txBody>
          <a:bodyPr vert="horz" lIns="91322" tIns="45661" rIns="91322" bIns="45661" rtlCol="0"/>
          <a:lstStyle>
            <a:lvl1pPr algn="r">
              <a:defRPr sz="1200">
                <a:latin typeface="Arial" charset="0"/>
                <a:cs typeface="+mn-cs"/>
              </a:defRPr>
            </a:lvl1pPr>
          </a:lstStyle>
          <a:p>
            <a:pPr>
              <a:defRPr/>
            </a:pPr>
            <a:fld id="{67E9498A-CFCD-479F-B668-77A7B89317B0}" type="datetimeFigureOut">
              <a:rPr lang="de-DE"/>
              <a:pPr>
                <a:defRPr/>
              </a:pPr>
              <a:t>09.04.2025</a:t>
            </a:fld>
            <a:endParaRPr lang="de-DE"/>
          </a:p>
        </p:txBody>
      </p:sp>
      <p:sp>
        <p:nvSpPr>
          <p:cNvPr id="4" name="Folienbildplatzhalter 3"/>
          <p:cNvSpPr>
            <a:spLocks noGrp="1" noRot="1" noChangeAspect="1"/>
          </p:cNvSpPr>
          <p:nvPr>
            <p:ph type="sldImg" idx="2"/>
          </p:nvPr>
        </p:nvSpPr>
        <p:spPr>
          <a:xfrm>
            <a:off x="925513" y="590550"/>
            <a:ext cx="4968875" cy="3727450"/>
          </a:xfrm>
          <a:prstGeom prst="rect">
            <a:avLst/>
          </a:prstGeom>
          <a:noFill/>
          <a:ln w="12700">
            <a:solidFill>
              <a:prstClr val="black"/>
            </a:solidFill>
          </a:ln>
        </p:spPr>
        <p:txBody>
          <a:bodyPr vert="horz" lIns="91322" tIns="45661" rIns="91322" bIns="45661" rtlCol="0" anchor="ctr"/>
          <a:lstStyle/>
          <a:p>
            <a:pPr lvl="0"/>
            <a:endParaRPr lang="de-DE" noProof="0"/>
          </a:p>
        </p:txBody>
      </p:sp>
      <p:sp>
        <p:nvSpPr>
          <p:cNvPr id="33797" name="Notizenplatzhalter 4"/>
          <p:cNvSpPr>
            <a:spLocks noGrp="1"/>
          </p:cNvSpPr>
          <p:nvPr>
            <p:ph type="body" sz="quarter" idx="3"/>
          </p:nvPr>
        </p:nvSpPr>
        <p:spPr bwMode="auto">
          <a:xfrm>
            <a:off x="928688" y="4710113"/>
            <a:ext cx="5240337" cy="4464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endParaRPr lang="en-US" altLang="en-US" noProof="0"/>
          </a:p>
          <a:p>
            <a:pPr lvl="0"/>
            <a:endParaRPr lang="en-US" altLang="en-US" noProof="0"/>
          </a:p>
          <a:p>
            <a:pPr lvl="0"/>
            <a:endParaRPr lang="en-US" altLang="en-US" noProof="0"/>
          </a:p>
          <a:p>
            <a:pPr lvl="0"/>
            <a:endParaRPr lang="en-US" altLang="en-US" noProof="0"/>
          </a:p>
        </p:txBody>
      </p:sp>
      <p:sp>
        <p:nvSpPr>
          <p:cNvPr id="6" name="Fußzeilenplatzhalter 5"/>
          <p:cNvSpPr>
            <a:spLocks noGrp="1"/>
          </p:cNvSpPr>
          <p:nvPr>
            <p:ph type="ftr" sz="quarter" idx="4"/>
          </p:nvPr>
        </p:nvSpPr>
        <p:spPr>
          <a:xfrm>
            <a:off x="0" y="9420225"/>
            <a:ext cx="2954338" cy="496888"/>
          </a:xfrm>
          <a:prstGeom prst="rect">
            <a:avLst/>
          </a:prstGeom>
        </p:spPr>
        <p:txBody>
          <a:bodyPr vert="horz" lIns="91322" tIns="45661" rIns="91322" bIns="45661" rtlCol="0" anchor="b"/>
          <a:lstStyle>
            <a:lvl1pPr algn="l">
              <a:defRPr sz="1200">
                <a:latin typeface="Arial" charset="0"/>
                <a:cs typeface="+mn-cs"/>
              </a:defRPr>
            </a:lvl1pPr>
          </a:lstStyle>
          <a:p>
            <a:pPr>
              <a:defRPr/>
            </a:pPr>
            <a:endParaRPr lang="de-DE"/>
          </a:p>
        </p:txBody>
      </p:sp>
      <p:sp>
        <p:nvSpPr>
          <p:cNvPr id="7" name="Foliennummernplatzhalter 6"/>
          <p:cNvSpPr>
            <a:spLocks noGrp="1"/>
          </p:cNvSpPr>
          <p:nvPr>
            <p:ph type="sldNum" sz="quarter" idx="5"/>
          </p:nvPr>
        </p:nvSpPr>
        <p:spPr>
          <a:xfrm>
            <a:off x="3863975" y="9420225"/>
            <a:ext cx="2954338" cy="496888"/>
          </a:xfrm>
          <a:prstGeom prst="rect">
            <a:avLst/>
          </a:prstGeom>
        </p:spPr>
        <p:txBody>
          <a:bodyPr vert="horz" wrap="square" lIns="91322" tIns="45661" rIns="91322" bIns="45661" numCol="1" anchor="b" anchorCtr="0" compatLnSpc="1">
            <a:prstTxWarp prst="textNoShape">
              <a:avLst/>
            </a:prstTxWarp>
          </a:bodyPr>
          <a:lstStyle>
            <a:lvl1pPr algn="r">
              <a:defRPr sz="1200"/>
            </a:lvl1pPr>
          </a:lstStyle>
          <a:p>
            <a:fld id="{76117C67-C18E-41B6-AEB0-6520CF16A7FE}" type="slidenum">
              <a:rPr lang="de-DE" altLang="de-DE"/>
              <a:pPr/>
              <a:t>‹#›</a:t>
            </a:fld>
            <a:endParaRPr lang="de-DE" altLang="de-DE"/>
          </a:p>
        </p:txBody>
      </p:sp>
    </p:spTree>
  </p:cSld>
  <p:clrMap bg1="lt1" tx1="dk1" bg2="lt2" tx2="dk2" accent1="accent1" accent2="accent2" accent3="accent3" accent4="accent4" accent5="accent5" accent6="accent6" hlink="hlink" folHlink="folHlink"/>
  <p:notesStyle>
    <a:lvl1pPr algn="l" rtl="0" eaLnBrk="0" fontAlgn="base" hangingPunct="0">
      <a:lnSpc>
        <a:spcPts val="1600"/>
      </a:lnSpc>
      <a:spcBef>
        <a:spcPts val="800"/>
      </a:spcBef>
      <a:spcAft>
        <a:spcPct val="0"/>
      </a:spcAft>
      <a:defRPr sz="1400" kern="1200">
        <a:solidFill>
          <a:schemeClr val="tx1"/>
        </a:solidFill>
        <a:latin typeface="Arial" panose="020B0604020202020204" pitchFamily="34" charset="0"/>
        <a:ea typeface="+mn-ea"/>
        <a:cs typeface="Arial" panose="020B0604020202020204" pitchFamily="34" charset="0"/>
      </a:defRPr>
    </a:lvl1pPr>
    <a:lvl2pPr marL="742950" indent="-285750" algn="l" rtl="0" eaLnBrk="0" fontAlgn="base" hangingPunct="0">
      <a:spcBef>
        <a:spcPct val="30000"/>
      </a:spcBef>
      <a:spcAft>
        <a:spcPct val="0"/>
      </a:spcAft>
      <a:defRPr sz="1200" kern="1200">
        <a:solidFill>
          <a:schemeClr val="tx1"/>
        </a:solidFill>
        <a:latin typeface="Arial" panose="020B0604020202020204" pitchFamily="34" charset="0"/>
        <a:ea typeface="+mn-ea"/>
        <a:cs typeface="Arial" panose="020B0604020202020204" pitchFamily="34" charset="0"/>
      </a:defRPr>
    </a:lvl2pPr>
    <a:lvl3pPr marL="1143000" indent="-228600" algn="l" rtl="0" eaLnBrk="0" fontAlgn="base" hangingPunct="0">
      <a:spcBef>
        <a:spcPct val="30000"/>
      </a:spcBef>
      <a:spcAft>
        <a:spcPct val="0"/>
      </a:spcAft>
      <a:defRPr sz="1200" kern="1200">
        <a:solidFill>
          <a:schemeClr val="tx1"/>
        </a:solidFill>
        <a:latin typeface="Arial" panose="020B0604020202020204" pitchFamily="34" charset="0"/>
        <a:ea typeface="+mn-ea"/>
        <a:cs typeface="Arial" panose="020B0604020202020204" pitchFamily="34" charset="0"/>
      </a:defRPr>
    </a:lvl3pPr>
    <a:lvl4pPr marL="1600200" indent="-228600" algn="l" rtl="0" eaLnBrk="0" fontAlgn="base" hangingPunct="0">
      <a:spcBef>
        <a:spcPct val="30000"/>
      </a:spcBef>
      <a:spcAft>
        <a:spcPct val="0"/>
      </a:spcAft>
      <a:defRPr sz="1200" kern="1200">
        <a:solidFill>
          <a:schemeClr val="tx1"/>
        </a:solidFill>
        <a:latin typeface="Arial" panose="020B0604020202020204" pitchFamily="34" charset="0"/>
        <a:ea typeface="+mn-ea"/>
        <a:cs typeface="Arial" panose="020B0604020202020204" pitchFamily="34" charset="0"/>
      </a:defRPr>
    </a:lvl4pPr>
    <a:lvl5pPr marL="2057400" indent="-228600" algn="l" rtl="0" eaLnBrk="0" fontAlgn="base" hangingPunct="0">
      <a:spcBef>
        <a:spcPct val="30000"/>
      </a:spcBef>
      <a:spcAft>
        <a:spcPct val="0"/>
      </a:spcAft>
      <a:defRPr sz="1200"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6117C67-C18E-41B6-AEB0-6520CF16A7FE}" type="slidenum">
              <a:rPr lang="de-DE" altLang="de-DE" smtClean="0"/>
              <a:pPr/>
              <a:t>1</a:t>
            </a:fld>
            <a:endParaRPr lang="de-DE" altLang="de-DE"/>
          </a:p>
        </p:txBody>
      </p:sp>
    </p:spTree>
    <p:extLst>
      <p:ext uri="{BB962C8B-B14F-4D97-AF65-F5344CB8AC3E}">
        <p14:creationId xmlns:p14="http://schemas.microsoft.com/office/powerpoint/2010/main" val="30408586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6117C67-C18E-41B6-AEB0-6520CF16A7FE}" type="slidenum">
              <a:rPr lang="de-DE" altLang="de-DE" smtClean="0"/>
              <a:pPr/>
              <a:t>2</a:t>
            </a:fld>
            <a:endParaRPr lang="de-DE" altLang="de-DE"/>
          </a:p>
        </p:txBody>
      </p:sp>
    </p:spTree>
    <p:extLst>
      <p:ext uri="{BB962C8B-B14F-4D97-AF65-F5344CB8AC3E}">
        <p14:creationId xmlns:p14="http://schemas.microsoft.com/office/powerpoint/2010/main" val="39525656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6117C67-C18E-41B6-AEB0-6520CF16A7FE}" type="slidenum">
              <a:rPr lang="de-DE" altLang="de-DE" smtClean="0"/>
              <a:pPr/>
              <a:t>3</a:t>
            </a:fld>
            <a:endParaRPr lang="de-DE" altLang="de-DE"/>
          </a:p>
        </p:txBody>
      </p:sp>
    </p:spTree>
    <p:extLst>
      <p:ext uri="{BB962C8B-B14F-4D97-AF65-F5344CB8AC3E}">
        <p14:creationId xmlns:p14="http://schemas.microsoft.com/office/powerpoint/2010/main" val="40668556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A0AE6D-3E97-7670-E4D2-35B53E0AA6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878CCD-C11A-9776-1548-9614D9B0696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C0EED97-3C70-F442-CEA5-7E78E2ECCA54}"/>
              </a:ext>
            </a:extLst>
          </p:cNvPr>
          <p:cNvSpPr>
            <a:spLocks noGrp="1"/>
          </p:cNvSpPr>
          <p:nvPr>
            <p:ph type="body" idx="1"/>
          </p:nvPr>
        </p:nvSpPr>
        <p:spPr/>
        <p:txBody>
          <a:bodyPr/>
          <a:lstStyle/>
          <a:p>
            <a:pPr marL="0" marR="0" lvl="0" indent="0" algn="l" defTabSz="914400" rtl="0" eaLnBrk="0" fontAlgn="base" latinLnBrk="0" hangingPunct="0">
              <a:lnSpc>
                <a:spcPts val="1600"/>
              </a:lnSpc>
              <a:spcBef>
                <a:spcPts val="800"/>
              </a:spcBef>
              <a:spcAft>
                <a:spcPct val="0"/>
              </a:spcAft>
              <a:buClrTx/>
              <a:buSzTx/>
              <a:buFontTx/>
              <a:buNone/>
              <a:tabLst/>
              <a:defRPr/>
            </a:pPr>
            <a:r>
              <a:rPr lang="en-US" sz="1400" dirty="0">
                <a:solidFill>
                  <a:srgbClr val="000000"/>
                </a:solidFill>
                <a:latin typeface="Calibri" panose="020F0502020204030204" pitchFamily="34" charset="0"/>
                <a:ea typeface="SimSun" panose="02010600030101010101" pitchFamily="2" charset="-122"/>
                <a:cs typeface="Calibri" panose="020F0502020204030204" pitchFamily="34" charset="0"/>
              </a:rPr>
              <a:t>Each image was subtended 20.4° visual angle horizontally and 15.4° vertically.</a:t>
            </a:r>
          </a:p>
          <a:p>
            <a:endParaRPr lang="en-US" dirty="0"/>
          </a:p>
        </p:txBody>
      </p:sp>
      <p:sp>
        <p:nvSpPr>
          <p:cNvPr id="4" name="Slide Number Placeholder 3">
            <a:extLst>
              <a:ext uri="{FF2B5EF4-FFF2-40B4-BE49-F238E27FC236}">
                <a16:creationId xmlns:a16="http://schemas.microsoft.com/office/drawing/2014/main" id="{99132E06-BE6A-61D9-A60E-F2A6F3816D56}"/>
              </a:ext>
            </a:extLst>
          </p:cNvPr>
          <p:cNvSpPr>
            <a:spLocks noGrp="1"/>
          </p:cNvSpPr>
          <p:nvPr>
            <p:ph type="sldNum" sz="quarter" idx="5"/>
          </p:nvPr>
        </p:nvSpPr>
        <p:spPr/>
        <p:txBody>
          <a:bodyPr/>
          <a:lstStyle/>
          <a:p>
            <a:fld id="{76117C67-C18E-41B6-AEB0-6520CF16A7FE}" type="slidenum">
              <a:rPr lang="de-DE" altLang="de-DE" smtClean="0"/>
              <a:pPr/>
              <a:t>11</a:t>
            </a:fld>
            <a:endParaRPr lang="de-DE" altLang="de-DE"/>
          </a:p>
        </p:txBody>
      </p:sp>
    </p:spTree>
    <p:extLst>
      <p:ext uri="{BB962C8B-B14F-4D97-AF65-F5344CB8AC3E}">
        <p14:creationId xmlns:p14="http://schemas.microsoft.com/office/powerpoint/2010/main" val="11660051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7967AE-262C-F23C-8570-458AAA664A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530C12-CBDB-30E5-7197-329EC3FD9C0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CFBA824-3797-4ADD-3D42-9BFFAFADA8A6}"/>
              </a:ext>
            </a:extLst>
          </p:cNvPr>
          <p:cNvSpPr>
            <a:spLocks noGrp="1"/>
          </p:cNvSpPr>
          <p:nvPr>
            <p:ph type="body" idx="1"/>
          </p:nvPr>
        </p:nvSpPr>
        <p:spPr/>
        <p:txBody>
          <a:bodyPr/>
          <a:lstStyle/>
          <a:p>
            <a:pPr marL="0" marR="0" lvl="0" indent="0" algn="l" defTabSz="914400" rtl="0" eaLnBrk="0" fontAlgn="base" latinLnBrk="0" hangingPunct="0">
              <a:lnSpc>
                <a:spcPts val="1600"/>
              </a:lnSpc>
              <a:spcBef>
                <a:spcPts val="800"/>
              </a:spcBef>
              <a:spcAft>
                <a:spcPct val="0"/>
              </a:spcAft>
              <a:buClrTx/>
              <a:buSzTx/>
              <a:buFontTx/>
              <a:buNone/>
              <a:tabLst/>
              <a:defRPr/>
            </a:pPr>
            <a:r>
              <a:rPr lang="en-US" sz="1400" dirty="0">
                <a:solidFill>
                  <a:srgbClr val="000000"/>
                </a:solidFill>
                <a:latin typeface="Calibri" panose="020F0502020204030204" pitchFamily="34" charset="0"/>
                <a:ea typeface="SimSun" panose="02010600030101010101" pitchFamily="2" charset="-122"/>
                <a:cs typeface="Calibri" panose="020F0502020204030204" pitchFamily="34" charset="0"/>
              </a:rPr>
              <a:t>Each image was subtended 20.4° visual angle horizontally and 15.4° vertically.</a:t>
            </a:r>
          </a:p>
          <a:p>
            <a:endParaRPr lang="en-US" dirty="0"/>
          </a:p>
        </p:txBody>
      </p:sp>
      <p:sp>
        <p:nvSpPr>
          <p:cNvPr id="4" name="Slide Number Placeholder 3">
            <a:extLst>
              <a:ext uri="{FF2B5EF4-FFF2-40B4-BE49-F238E27FC236}">
                <a16:creationId xmlns:a16="http://schemas.microsoft.com/office/drawing/2014/main" id="{2610EB48-5505-4BB8-B0C5-0795C1D64E1D}"/>
              </a:ext>
            </a:extLst>
          </p:cNvPr>
          <p:cNvSpPr>
            <a:spLocks noGrp="1"/>
          </p:cNvSpPr>
          <p:nvPr>
            <p:ph type="sldNum" sz="quarter" idx="5"/>
          </p:nvPr>
        </p:nvSpPr>
        <p:spPr/>
        <p:txBody>
          <a:bodyPr/>
          <a:lstStyle/>
          <a:p>
            <a:fld id="{76117C67-C18E-41B6-AEB0-6520CF16A7FE}" type="slidenum">
              <a:rPr lang="de-DE" altLang="de-DE" smtClean="0"/>
              <a:pPr/>
              <a:t>12</a:t>
            </a:fld>
            <a:endParaRPr lang="de-DE" altLang="de-DE"/>
          </a:p>
        </p:txBody>
      </p:sp>
    </p:spTree>
    <p:extLst>
      <p:ext uri="{BB962C8B-B14F-4D97-AF65-F5344CB8AC3E}">
        <p14:creationId xmlns:p14="http://schemas.microsoft.com/office/powerpoint/2010/main" val="26799129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6B46B3-35C1-97C7-E370-33CF9B7AA3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3220F6-2813-3D6B-7033-D7E53DB34C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013928D-8249-9672-284B-26C9228C3BDB}"/>
              </a:ext>
            </a:extLst>
          </p:cNvPr>
          <p:cNvSpPr>
            <a:spLocks noGrp="1"/>
          </p:cNvSpPr>
          <p:nvPr>
            <p:ph type="body" idx="1"/>
          </p:nvPr>
        </p:nvSpPr>
        <p:spPr/>
        <p:txBody>
          <a:bodyPr/>
          <a:lstStyle/>
          <a:p>
            <a:pPr marL="0" marR="0" lvl="0" indent="0" algn="l" defTabSz="914400" rtl="0" eaLnBrk="0" fontAlgn="base" latinLnBrk="0" hangingPunct="0">
              <a:lnSpc>
                <a:spcPts val="1600"/>
              </a:lnSpc>
              <a:spcBef>
                <a:spcPts val="800"/>
              </a:spcBef>
              <a:spcAft>
                <a:spcPct val="0"/>
              </a:spcAft>
              <a:buClrTx/>
              <a:buSzTx/>
              <a:buFontTx/>
              <a:buNone/>
              <a:tabLst/>
              <a:defRPr/>
            </a:pPr>
            <a:r>
              <a:rPr lang="en-US" sz="1400" dirty="0">
                <a:solidFill>
                  <a:srgbClr val="000000"/>
                </a:solidFill>
                <a:latin typeface="Calibri" panose="020F0502020204030204" pitchFamily="34" charset="0"/>
                <a:ea typeface="SimSun" panose="02010600030101010101" pitchFamily="2" charset="-122"/>
                <a:cs typeface="Calibri" panose="020F0502020204030204" pitchFamily="34" charset="0"/>
              </a:rPr>
              <a:t>Each image was subtended 20.4° visual angle horizontally and 15.4° vertically.</a:t>
            </a:r>
          </a:p>
          <a:p>
            <a:endParaRPr lang="en-US" dirty="0"/>
          </a:p>
        </p:txBody>
      </p:sp>
      <p:sp>
        <p:nvSpPr>
          <p:cNvPr id="4" name="Slide Number Placeholder 3">
            <a:extLst>
              <a:ext uri="{FF2B5EF4-FFF2-40B4-BE49-F238E27FC236}">
                <a16:creationId xmlns:a16="http://schemas.microsoft.com/office/drawing/2014/main" id="{1774A869-653E-AF02-C78F-19DDC0262E1E}"/>
              </a:ext>
            </a:extLst>
          </p:cNvPr>
          <p:cNvSpPr>
            <a:spLocks noGrp="1"/>
          </p:cNvSpPr>
          <p:nvPr>
            <p:ph type="sldNum" sz="quarter" idx="5"/>
          </p:nvPr>
        </p:nvSpPr>
        <p:spPr/>
        <p:txBody>
          <a:bodyPr/>
          <a:lstStyle/>
          <a:p>
            <a:fld id="{76117C67-C18E-41B6-AEB0-6520CF16A7FE}" type="slidenum">
              <a:rPr lang="de-DE" altLang="de-DE" smtClean="0"/>
              <a:pPr/>
              <a:t>13</a:t>
            </a:fld>
            <a:endParaRPr lang="de-DE" altLang="de-DE"/>
          </a:p>
        </p:txBody>
      </p:sp>
    </p:spTree>
    <p:extLst>
      <p:ext uri="{BB962C8B-B14F-4D97-AF65-F5344CB8AC3E}">
        <p14:creationId xmlns:p14="http://schemas.microsoft.com/office/powerpoint/2010/main" val="10881133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61E3AD-AB87-AA96-3934-CA0CB6B6C2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3D1F0B-8122-15C7-03FF-B80991C9C8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637049-C53D-3379-8939-7BAB5DE21180}"/>
              </a:ext>
            </a:extLst>
          </p:cNvPr>
          <p:cNvSpPr>
            <a:spLocks noGrp="1"/>
          </p:cNvSpPr>
          <p:nvPr>
            <p:ph type="body" idx="1"/>
          </p:nvPr>
        </p:nvSpPr>
        <p:spPr/>
        <p:txBody>
          <a:bodyPr/>
          <a:lstStyle/>
          <a:p>
            <a:pPr marL="0" marR="0" lvl="0" indent="0" algn="l" defTabSz="914400" rtl="0" eaLnBrk="0" fontAlgn="base" latinLnBrk="0" hangingPunct="0">
              <a:lnSpc>
                <a:spcPts val="1600"/>
              </a:lnSpc>
              <a:spcBef>
                <a:spcPts val="800"/>
              </a:spcBef>
              <a:spcAft>
                <a:spcPct val="0"/>
              </a:spcAft>
              <a:buClrTx/>
              <a:buSzTx/>
              <a:buFontTx/>
              <a:buNone/>
              <a:tabLst/>
              <a:defRPr/>
            </a:pPr>
            <a:r>
              <a:rPr lang="en-US" altLang="zh-CN" dirty="0">
                <a:solidFill>
                  <a:srgbClr val="000000"/>
                </a:solidFill>
                <a:latin typeface="Calibri" panose="020F0502020204030204" pitchFamily="34" charset="0"/>
                <a:ea typeface="SimSun" panose="02010600030101010101" pitchFamily="2" charset="-122"/>
                <a:cs typeface="Calibri" panose="020F0502020204030204" pitchFamily="34" charset="0"/>
              </a:rPr>
              <a:t>Change of positions, if didn’t, we add eyes</a:t>
            </a:r>
            <a:endParaRPr lang="en-US" dirty="0"/>
          </a:p>
        </p:txBody>
      </p:sp>
      <p:sp>
        <p:nvSpPr>
          <p:cNvPr id="4" name="Slide Number Placeholder 3">
            <a:extLst>
              <a:ext uri="{FF2B5EF4-FFF2-40B4-BE49-F238E27FC236}">
                <a16:creationId xmlns:a16="http://schemas.microsoft.com/office/drawing/2014/main" id="{4BFF51A7-A6E4-4E35-36B4-43601A91EB9C}"/>
              </a:ext>
            </a:extLst>
          </p:cNvPr>
          <p:cNvSpPr>
            <a:spLocks noGrp="1"/>
          </p:cNvSpPr>
          <p:nvPr>
            <p:ph type="sldNum" sz="quarter" idx="5"/>
          </p:nvPr>
        </p:nvSpPr>
        <p:spPr/>
        <p:txBody>
          <a:bodyPr/>
          <a:lstStyle/>
          <a:p>
            <a:fld id="{76117C67-C18E-41B6-AEB0-6520CF16A7FE}" type="slidenum">
              <a:rPr lang="de-DE" altLang="de-DE" smtClean="0"/>
              <a:pPr/>
              <a:t>14</a:t>
            </a:fld>
            <a:endParaRPr lang="de-DE" altLang="de-DE"/>
          </a:p>
        </p:txBody>
      </p:sp>
    </p:spTree>
    <p:extLst>
      <p:ext uri="{BB962C8B-B14F-4D97-AF65-F5344CB8AC3E}">
        <p14:creationId xmlns:p14="http://schemas.microsoft.com/office/powerpoint/2010/main" val="16090657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017976-A71F-EBBC-69D3-423B4F804F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FBAEBD-558E-4630-D520-6D55A01B4D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55E198A-2D83-1C95-0934-6C9570491017}"/>
              </a:ext>
            </a:extLst>
          </p:cNvPr>
          <p:cNvSpPr>
            <a:spLocks noGrp="1"/>
          </p:cNvSpPr>
          <p:nvPr>
            <p:ph type="body" idx="1"/>
          </p:nvPr>
        </p:nvSpPr>
        <p:spPr/>
        <p:txBody>
          <a:bodyPr/>
          <a:lstStyle/>
          <a:p>
            <a:pPr marL="0" marR="0" lvl="0" indent="0" algn="l" defTabSz="914400" rtl="0" eaLnBrk="0" fontAlgn="base" latinLnBrk="0" hangingPunct="0">
              <a:lnSpc>
                <a:spcPts val="1600"/>
              </a:lnSpc>
              <a:spcBef>
                <a:spcPts val="800"/>
              </a:spcBef>
              <a:spcAft>
                <a:spcPct val="0"/>
              </a:spcAft>
              <a:buClrTx/>
              <a:buSzTx/>
              <a:buFontTx/>
              <a:buNone/>
              <a:tabLst/>
              <a:defRPr/>
            </a:pPr>
            <a:r>
              <a:rPr lang="en-US" sz="1400" dirty="0">
                <a:solidFill>
                  <a:srgbClr val="000000"/>
                </a:solidFill>
                <a:latin typeface="Calibri" panose="020F0502020204030204" pitchFamily="34" charset="0"/>
                <a:ea typeface="SimSun" panose="02010600030101010101" pitchFamily="2" charset="-122"/>
                <a:cs typeface="Calibri" panose="020F0502020204030204" pitchFamily="34" charset="0"/>
              </a:rPr>
              <a:t>Each image was subtended 20.4° visual angle horizontally and 15.4° vertically.</a:t>
            </a:r>
          </a:p>
          <a:p>
            <a:endParaRPr lang="en-US" dirty="0"/>
          </a:p>
        </p:txBody>
      </p:sp>
      <p:sp>
        <p:nvSpPr>
          <p:cNvPr id="4" name="Slide Number Placeholder 3">
            <a:extLst>
              <a:ext uri="{FF2B5EF4-FFF2-40B4-BE49-F238E27FC236}">
                <a16:creationId xmlns:a16="http://schemas.microsoft.com/office/drawing/2014/main" id="{412606C2-C29B-842A-496D-ADCD2316ED07}"/>
              </a:ext>
            </a:extLst>
          </p:cNvPr>
          <p:cNvSpPr>
            <a:spLocks noGrp="1"/>
          </p:cNvSpPr>
          <p:nvPr>
            <p:ph type="sldNum" sz="quarter" idx="5"/>
          </p:nvPr>
        </p:nvSpPr>
        <p:spPr/>
        <p:txBody>
          <a:bodyPr/>
          <a:lstStyle/>
          <a:p>
            <a:fld id="{76117C67-C18E-41B6-AEB0-6520CF16A7FE}" type="slidenum">
              <a:rPr lang="de-DE" altLang="de-DE" smtClean="0"/>
              <a:pPr/>
              <a:t>16</a:t>
            </a:fld>
            <a:endParaRPr lang="de-DE" altLang="de-DE"/>
          </a:p>
        </p:txBody>
      </p:sp>
    </p:spTree>
    <p:extLst>
      <p:ext uri="{BB962C8B-B14F-4D97-AF65-F5344CB8AC3E}">
        <p14:creationId xmlns:p14="http://schemas.microsoft.com/office/powerpoint/2010/main" val="34154647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4875AB-848D-7607-BD0E-6A5A8243D9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012A3A-46CC-BDD0-395E-F265726478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5E14317-034B-443E-BA21-1D8CE0627E03}"/>
              </a:ext>
            </a:extLst>
          </p:cNvPr>
          <p:cNvSpPr>
            <a:spLocks noGrp="1"/>
          </p:cNvSpPr>
          <p:nvPr>
            <p:ph type="body" idx="1"/>
          </p:nvPr>
        </p:nvSpPr>
        <p:spPr/>
        <p:txBody>
          <a:bodyPr/>
          <a:lstStyle/>
          <a:p>
            <a:r>
              <a:rPr lang="en-US" dirty="0"/>
              <a:t>Biting orientation</a:t>
            </a:r>
          </a:p>
        </p:txBody>
      </p:sp>
      <p:sp>
        <p:nvSpPr>
          <p:cNvPr id="4" name="Slide Number Placeholder 3">
            <a:extLst>
              <a:ext uri="{FF2B5EF4-FFF2-40B4-BE49-F238E27FC236}">
                <a16:creationId xmlns:a16="http://schemas.microsoft.com/office/drawing/2014/main" id="{53CE9A79-0EC9-FC5D-F8BD-846B184D22FC}"/>
              </a:ext>
            </a:extLst>
          </p:cNvPr>
          <p:cNvSpPr>
            <a:spLocks noGrp="1"/>
          </p:cNvSpPr>
          <p:nvPr>
            <p:ph type="sldNum" sz="quarter" idx="5"/>
          </p:nvPr>
        </p:nvSpPr>
        <p:spPr/>
        <p:txBody>
          <a:bodyPr/>
          <a:lstStyle/>
          <a:p>
            <a:fld id="{76117C67-C18E-41B6-AEB0-6520CF16A7FE}" type="slidenum">
              <a:rPr lang="de-DE" altLang="de-DE" smtClean="0"/>
              <a:pPr/>
              <a:t>17</a:t>
            </a:fld>
            <a:endParaRPr lang="de-DE" altLang="de-DE"/>
          </a:p>
        </p:txBody>
      </p:sp>
    </p:spTree>
    <p:extLst>
      <p:ext uri="{BB962C8B-B14F-4D97-AF65-F5344CB8AC3E}">
        <p14:creationId xmlns:p14="http://schemas.microsoft.com/office/powerpoint/2010/main" val="143308782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dirty="0">
                <a:effectLst/>
                <a:latin typeface="Calibri" panose="020F0502020204030204" pitchFamily="34" charset="0"/>
                <a:ea typeface="Times New Roman" panose="02020603050405020304" pitchFamily="18" charset="0"/>
                <a:cs typeface="Calibri" panose="020F0502020204030204" pitchFamily="34" charset="0"/>
              </a:rPr>
              <a:t>We predict that the difference in reaction times between the agent search and patient search will be larger for the face-to-face stimuli than for the face-to-tail stimuli. Thus, participants will respond with faster reaction times when locating the agent compared to locating the patient in the face-to-face condition, and this difference is expected to be larger than the difference observed in the face-to-tail condition.</a:t>
            </a:r>
            <a:endParaRPr lang="en-US" dirty="0"/>
          </a:p>
        </p:txBody>
      </p:sp>
      <p:sp>
        <p:nvSpPr>
          <p:cNvPr id="4" name="Slide Number Placeholder 3"/>
          <p:cNvSpPr>
            <a:spLocks noGrp="1"/>
          </p:cNvSpPr>
          <p:nvPr>
            <p:ph type="sldNum" sz="quarter" idx="5"/>
          </p:nvPr>
        </p:nvSpPr>
        <p:spPr/>
        <p:txBody>
          <a:bodyPr/>
          <a:lstStyle/>
          <a:p>
            <a:fld id="{76117C67-C18E-41B6-AEB0-6520CF16A7FE}" type="slidenum">
              <a:rPr lang="de-DE" altLang="de-DE" smtClean="0"/>
              <a:pPr/>
              <a:t>18</a:t>
            </a:fld>
            <a:endParaRPr lang="de-DE" altLang="de-DE"/>
          </a:p>
        </p:txBody>
      </p:sp>
    </p:spTree>
    <p:extLst>
      <p:ext uri="{BB962C8B-B14F-4D97-AF65-F5344CB8AC3E}">
        <p14:creationId xmlns:p14="http://schemas.microsoft.com/office/powerpoint/2010/main" val="22761812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06691A-EA03-76FD-DD6B-9C6BF760B8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1AF45D-9163-8720-FDAE-FDF474F0FD0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6DFFFDD-19E1-52E1-3225-D690C58C6F94}"/>
              </a:ext>
            </a:extLst>
          </p:cNvPr>
          <p:cNvSpPr>
            <a:spLocks noGrp="1"/>
          </p:cNvSpPr>
          <p:nvPr>
            <p:ph type="body" idx="1"/>
          </p:nvPr>
        </p:nvSpPr>
        <p:spPr/>
        <p:txBody>
          <a:bodyPr/>
          <a:lstStyle/>
          <a:p>
            <a:r>
              <a:rPr lang="en-US" dirty="0">
                <a:solidFill>
                  <a:srgbClr val="000000"/>
                </a:solidFill>
                <a:latin typeface="Calibri" panose="020F0502020204030204" pitchFamily="34" charset="0"/>
                <a:ea typeface="SimSun" panose="02010600030101010101" pitchFamily="2" charset="-122"/>
                <a:cs typeface="Calibri" panose="020F0502020204030204" pitchFamily="34" charset="0"/>
              </a:rPr>
              <a:t>repeated-measures 2 (search-task: agent search, patient search) x 2 (biting orientation: face-to-face, face-to-tail) ANOVA with the dependent measure response time, thus investigating the interaction of biting orientation and search task. </a:t>
            </a:r>
          </a:p>
          <a:p>
            <a:endParaRPr lang="en-US" dirty="0"/>
          </a:p>
        </p:txBody>
      </p:sp>
      <p:sp>
        <p:nvSpPr>
          <p:cNvPr id="4" name="Slide Number Placeholder 3">
            <a:extLst>
              <a:ext uri="{FF2B5EF4-FFF2-40B4-BE49-F238E27FC236}">
                <a16:creationId xmlns:a16="http://schemas.microsoft.com/office/drawing/2014/main" id="{19E5BAC5-6F26-DE13-5514-9DD54FCDFA63}"/>
              </a:ext>
            </a:extLst>
          </p:cNvPr>
          <p:cNvSpPr>
            <a:spLocks noGrp="1"/>
          </p:cNvSpPr>
          <p:nvPr>
            <p:ph type="sldNum" sz="quarter" idx="5"/>
          </p:nvPr>
        </p:nvSpPr>
        <p:spPr/>
        <p:txBody>
          <a:bodyPr/>
          <a:lstStyle/>
          <a:p>
            <a:fld id="{76117C67-C18E-41B6-AEB0-6520CF16A7FE}" type="slidenum">
              <a:rPr lang="de-DE" altLang="de-DE" smtClean="0"/>
              <a:pPr/>
              <a:t>19</a:t>
            </a:fld>
            <a:endParaRPr lang="de-DE" altLang="de-DE"/>
          </a:p>
        </p:txBody>
      </p:sp>
    </p:spTree>
    <p:extLst>
      <p:ext uri="{BB962C8B-B14F-4D97-AF65-F5344CB8AC3E}">
        <p14:creationId xmlns:p14="http://schemas.microsoft.com/office/powerpoint/2010/main" val="42517619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FAC9EE-9DCB-9050-BE7A-CB83F93C42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20968A-4729-80DB-1B02-54EAF9FD2CC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C317D0F-CB25-167A-4316-2F3D5D83A1F7}"/>
              </a:ext>
            </a:extLst>
          </p:cNvPr>
          <p:cNvSpPr>
            <a:spLocks noGrp="1"/>
          </p:cNvSpPr>
          <p:nvPr>
            <p:ph type="body" idx="1"/>
          </p:nvPr>
        </p:nvSpPr>
        <p:spPr/>
        <p:txBody>
          <a:bodyPr/>
          <a:lstStyle/>
          <a:p>
            <a:pPr marL="0" marR="0" lvl="0" indent="0" algn="l" defTabSz="914400" rtl="0" eaLnBrk="0" fontAlgn="base" latinLnBrk="0" hangingPunct="0">
              <a:lnSpc>
                <a:spcPts val="1600"/>
              </a:lnSpc>
              <a:spcBef>
                <a:spcPts val="800"/>
              </a:spcBef>
              <a:spcAft>
                <a:spcPct val="0"/>
              </a:spcAft>
              <a:buClrTx/>
              <a:buSzTx/>
              <a:buFontTx/>
              <a:buNone/>
              <a:tabLst/>
              <a:defRPr/>
            </a:pPr>
            <a:r>
              <a:rPr lang="en-US" sz="1400" dirty="0">
                <a:solidFill>
                  <a:srgbClr val="000000"/>
                </a:solidFill>
                <a:latin typeface="Calibri" panose="020F0502020204030204" pitchFamily="34" charset="0"/>
                <a:ea typeface="SimSun" panose="02010600030101010101" pitchFamily="2" charset="-122"/>
                <a:cs typeface="Calibri" panose="020F0502020204030204" pitchFamily="34" charset="0"/>
              </a:rPr>
              <a:t>Each image was subtended 20.4° visual angle horizontally and 15.4° vertically.</a:t>
            </a:r>
          </a:p>
          <a:p>
            <a:endParaRPr lang="en-US" dirty="0"/>
          </a:p>
        </p:txBody>
      </p:sp>
      <p:sp>
        <p:nvSpPr>
          <p:cNvPr id="4" name="Slide Number Placeholder 3">
            <a:extLst>
              <a:ext uri="{FF2B5EF4-FFF2-40B4-BE49-F238E27FC236}">
                <a16:creationId xmlns:a16="http://schemas.microsoft.com/office/drawing/2014/main" id="{863BB00E-F142-272D-53EF-1DBF187A7713}"/>
              </a:ext>
            </a:extLst>
          </p:cNvPr>
          <p:cNvSpPr>
            <a:spLocks noGrp="1"/>
          </p:cNvSpPr>
          <p:nvPr>
            <p:ph type="sldNum" sz="quarter" idx="5"/>
          </p:nvPr>
        </p:nvSpPr>
        <p:spPr/>
        <p:txBody>
          <a:bodyPr/>
          <a:lstStyle/>
          <a:p>
            <a:fld id="{76117C67-C18E-41B6-AEB0-6520CF16A7FE}" type="slidenum">
              <a:rPr lang="de-DE" altLang="de-DE" smtClean="0"/>
              <a:pPr/>
              <a:t>20</a:t>
            </a:fld>
            <a:endParaRPr lang="de-DE" altLang="de-DE"/>
          </a:p>
        </p:txBody>
      </p:sp>
    </p:spTree>
    <p:extLst>
      <p:ext uri="{BB962C8B-B14F-4D97-AF65-F5344CB8AC3E}">
        <p14:creationId xmlns:p14="http://schemas.microsoft.com/office/powerpoint/2010/main" val="267746051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502EBE-91B7-0DDE-D400-EA265383A3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004F5A-868F-E62B-E15F-B952DA8FD0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DB0FC47-7328-0EDB-592D-C150976A80AA}"/>
              </a:ext>
            </a:extLst>
          </p:cNvPr>
          <p:cNvSpPr>
            <a:spLocks noGrp="1"/>
          </p:cNvSpPr>
          <p:nvPr>
            <p:ph type="body" idx="1"/>
          </p:nvPr>
        </p:nvSpPr>
        <p:spPr/>
        <p:txBody>
          <a:bodyPr/>
          <a:lstStyle/>
          <a:p>
            <a:pPr marL="0" marR="0" lvl="0" indent="0" algn="l" defTabSz="914400" rtl="0" eaLnBrk="0" fontAlgn="base" latinLnBrk="0" hangingPunct="0">
              <a:lnSpc>
                <a:spcPts val="1600"/>
              </a:lnSpc>
              <a:spcBef>
                <a:spcPts val="800"/>
              </a:spcBef>
              <a:spcAft>
                <a:spcPct val="0"/>
              </a:spcAft>
              <a:buClrTx/>
              <a:buSzTx/>
              <a:buFontTx/>
              <a:buNone/>
              <a:tabLst/>
              <a:defRPr/>
            </a:pPr>
            <a:r>
              <a:rPr lang="en-US" sz="1400" dirty="0">
                <a:solidFill>
                  <a:srgbClr val="000000"/>
                </a:solidFill>
                <a:latin typeface="Calibri" panose="020F0502020204030204" pitchFamily="34" charset="0"/>
                <a:ea typeface="SimSun" panose="02010600030101010101" pitchFamily="2" charset="-122"/>
                <a:cs typeface="Calibri" panose="020F0502020204030204" pitchFamily="34" charset="0"/>
              </a:rPr>
              <a:t>Each image was subtended 20.4° visual angle horizontally and 15.4° vertically.</a:t>
            </a:r>
          </a:p>
          <a:p>
            <a:endParaRPr lang="en-US" dirty="0"/>
          </a:p>
        </p:txBody>
      </p:sp>
      <p:sp>
        <p:nvSpPr>
          <p:cNvPr id="4" name="Slide Number Placeholder 3">
            <a:extLst>
              <a:ext uri="{FF2B5EF4-FFF2-40B4-BE49-F238E27FC236}">
                <a16:creationId xmlns:a16="http://schemas.microsoft.com/office/drawing/2014/main" id="{47884D64-4BC9-F42B-BC2E-A9103D469248}"/>
              </a:ext>
            </a:extLst>
          </p:cNvPr>
          <p:cNvSpPr>
            <a:spLocks noGrp="1"/>
          </p:cNvSpPr>
          <p:nvPr>
            <p:ph type="sldNum" sz="quarter" idx="5"/>
          </p:nvPr>
        </p:nvSpPr>
        <p:spPr/>
        <p:txBody>
          <a:bodyPr/>
          <a:lstStyle/>
          <a:p>
            <a:fld id="{76117C67-C18E-41B6-AEB0-6520CF16A7FE}" type="slidenum">
              <a:rPr lang="de-DE" altLang="de-DE" smtClean="0"/>
              <a:pPr/>
              <a:t>21</a:t>
            </a:fld>
            <a:endParaRPr lang="de-DE" altLang="de-DE"/>
          </a:p>
        </p:txBody>
      </p:sp>
    </p:spTree>
    <p:extLst>
      <p:ext uri="{BB962C8B-B14F-4D97-AF65-F5344CB8AC3E}">
        <p14:creationId xmlns:p14="http://schemas.microsoft.com/office/powerpoint/2010/main" val="258147817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B9C18C-6AFB-1D86-F866-4CB9A1B998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640CB8-A187-2098-06A8-BCE96B3DD60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333C9C-BCAC-6F86-8775-806F2CF0FA35}"/>
              </a:ext>
            </a:extLst>
          </p:cNvPr>
          <p:cNvSpPr>
            <a:spLocks noGrp="1"/>
          </p:cNvSpPr>
          <p:nvPr>
            <p:ph type="body" idx="1"/>
          </p:nvPr>
        </p:nvSpPr>
        <p:spPr/>
        <p:txBody>
          <a:bodyPr/>
          <a:lstStyle/>
          <a:p>
            <a:r>
              <a:rPr lang="en-US" dirty="0"/>
              <a:t>For each bin,  mean proportion of time participants fixated on the </a:t>
            </a:r>
          </a:p>
          <a:p>
            <a:r>
              <a:rPr lang="en-US" dirty="0"/>
              <a:t>This suggested that at the beginning of the trial, the proportion of fixation on the agent fish and the patient fish was similar during both the agent search and the patient search. However, toward the end of the search task, just before participants made their decision, it seemed that there might be a higher proportion of fixation on the patient fish compared to the agent fish during the patient search but not the agent search.</a:t>
            </a:r>
          </a:p>
        </p:txBody>
      </p:sp>
      <p:sp>
        <p:nvSpPr>
          <p:cNvPr id="4" name="Slide Number Placeholder 3">
            <a:extLst>
              <a:ext uri="{FF2B5EF4-FFF2-40B4-BE49-F238E27FC236}">
                <a16:creationId xmlns:a16="http://schemas.microsoft.com/office/drawing/2014/main" id="{BB29351E-D028-FED5-BA1B-81B701278800}"/>
              </a:ext>
            </a:extLst>
          </p:cNvPr>
          <p:cNvSpPr>
            <a:spLocks noGrp="1"/>
          </p:cNvSpPr>
          <p:nvPr>
            <p:ph type="sldNum" sz="quarter" idx="5"/>
          </p:nvPr>
        </p:nvSpPr>
        <p:spPr/>
        <p:txBody>
          <a:bodyPr/>
          <a:lstStyle/>
          <a:p>
            <a:fld id="{76117C67-C18E-41B6-AEB0-6520CF16A7FE}" type="slidenum">
              <a:rPr lang="de-DE" altLang="de-DE" smtClean="0"/>
              <a:pPr/>
              <a:t>22</a:t>
            </a:fld>
            <a:endParaRPr lang="de-DE" altLang="de-DE"/>
          </a:p>
        </p:txBody>
      </p:sp>
    </p:spTree>
    <p:extLst>
      <p:ext uri="{BB962C8B-B14F-4D97-AF65-F5344CB8AC3E}">
        <p14:creationId xmlns:p14="http://schemas.microsoft.com/office/powerpoint/2010/main" val="125172113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213DE1-7DD1-5EA3-8E13-EB5BC06A23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27188F-31F3-3A45-B4BA-15CD7F24F0C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37974FC-2222-407F-E7F7-9A8A434A56C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F55F3EB-3A62-CB0C-A410-BE7285C79C73}"/>
              </a:ext>
            </a:extLst>
          </p:cNvPr>
          <p:cNvSpPr>
            <a:spLocks noGrp="1"/>
          </p:cNvSpPr>
          <p:nvPr>
            <p:ph type="sldNum" sz="quarter" idx="5"/>
          </p:nvPr>
        </p:nvSpPr>
        <p:spPr/>
        <p:txBody>
          <a:bodyPr/>
          <a:lstStyle/>
          <a:p>
            <a:fld id="{76117C67-C18E-41B6-AEB0-6520CF16A7FE}" type="slidenum">
              <a:rPr lang="de-DE" altLang="de-DE" smtClean="0"/>
              <a:pPr/>
              <a:t>23</a:t>
            </a:fld>
            <a:endParaRPr lang="de-DE" altLang="de-DE"/>
          </a:p>
        </p:txBody>
      </p:sp>
    </p:spTree>
    <p:extLst>
      <p:ext uri="{BB962C8B-B14F-4D97-AF65-F5344CB8AC3E}">
        <p14:creationId xmlns:p14="http://schemas.microsoft.com/office/powerpoint/2010/main" val="324823072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B221C6-B0BB-7A62-01FD-6BDAD9ED4C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409BEC-7B59-B371-BC3A-8C6D5816CF8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5B48728-9BC7-BB8B-302F-A8C1D5FC07E6}"/>
              </a:ext>
            </a:extLst>
          </p:cNvPr>
          <p:cNvSpPr>
            <a:spLocks noGrp="1"/>
          </p:cNvSpPr>
          <p:nvPr>
            <p:ph type="body" idx="1"/>
          </p:nvPr>
        </p:nvSpPr>
        <p:spPr/>
        <p:txBody>
          <a:bodyPr/>
          <a:lstStyle/>
          <a:p>
            <a:pPr marL="0" marR="0" lvl="0" indent="0" algn="l" defTabSz="914400" rtl="0" eaLnBrk="0" fontAlgn="base" latinLnBrk="0" hangingPunct="0">
              <a:lnSpc>
                <a:spcPts val="1600"/>
              </a:lnSpc>
              <a:spcBef>
                <a:spcPts val="800"/>
              </a:spcBef>
              <a:spcAft>
                <a:spcPct val="0"/>
              </a:spcAft>
              <a:buClrTx/>
              <a:buSzTx/>
              <a:buFontTx/>
              <a:buNone/>
              <a:tabLst/>
              <a:defRPr/>
            </a:pPr>
            <a:r>
              <a:rPr lang="en-US" sz="1400" dirty="0">
                <a:solidFill>
                  <a:srgbClr val="000000"/>
                </a:solidFill>
                <a:latin typeface="Calibri" panose="020F0502020204030204" pitchFamily="34" charset="0"/>
                <a:ea typeface="SimSun" panose="02010600030101010101" pitchFamily="2" charset="-122"/>
                <a:cs typeface="Calibri" panose="020F0502020204030204" pitchFamily="34" charset="0"/>
              </a:rPr>
              <a:t>Each image was subtended 20.4° visual angle horizontally and 15.4° vertically.</a:t>
            </a:r>
          </a:p>
          <a:p>
            <a:endParaRPr lang="en-US" dirty="0"/>
          </a:p>
        </p:txBody>
      </p:sp>
      <p:sp>
        <p:nvSpPr>
          <p:cNvPr id="4" name="Slide Number Placeholder 3">
            <a:extLst>
              <a:ext uri="{FF2B5EF4-FFF2-40B4-BE49-F238E27FC236}">
                <a16:creationId xmlns:a16="http://schemas.microsoft.com/office/drawing/2014/main" id="{27260110-CB97-5CE9-8256-3EFB8C405263}"/>
              </a:ext>
            </a:extLst>
          </p:cNvPr>
          <p:cNvSpPr>
            <a:spLocks noGrp="1"/>
          </p:cNvSpPr>
          <p:nvPr>
            <p:ph type="sldNum" sz="quarter" idx="5"/>
          </p:nvPr>
        </p:nvSpPr>
        <p:spPr/>
        <p:txBody>
          <a:bodyPr/>
          <a:lstStyle/>
          <a:p>
            <a:fld id="{76117C67-C18E-41B6-AEB0-6520CF16A7FE}" type="slidenum">
              <a:rPr lang="de-DE" altLang="de-DE" smtClean="0"/>
              <a:pPr/>
              <a:t>31</a:t>
            </a:fld>
            <a:endParaRPr lang="de-DE" altLang="de-DE"/>
          </a:p>
        </p:txBody>
      </p:sp>
    </p:spTree>
    <p:extLst>
      <p:ext uri="{BB962C8B-B14F-4D97-AF65-F5344CB8AC3E}">
        <p14:creationId xmlns:p14="http://schemas.microsoft.com/office/powerpoint/2010/main" val="28730469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F7CEE3-52E4-02A0-41F2-34F2718068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0C713C-082C-1EAF-B01A-BD5BE3ED1BF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7E4330-695C-3735-E999-E6C10E97FB97}"/>
              </a:ext>
            </a:extLst>
          </p:cNvPr>
          <p:cNvSpPr>
            <a:spLocks noGrp="1"/>
          </p:cNvSpPr>
          <p:nvPr>
            <p:ph type="body" idx="1"/>
          </p:nvPr>
        </p:nvSpPr>
        <p:spPr/>
        <p:txBody>
          <a:bodyPr/>
          <a:lstStyle/>
          <a:p>
            <a:pPr marL="0" marR="0" lvl="0" indent="0" algn="l" defTabSz="914400" rtl="0" eaLnBrk="0" fontAlgn="base" latinLnBrk="0" hangingPunct="0">
              <a:lnSpc>
                <a:spcPts val="1600"/>
              </a:lnSpc>
              <a:spcBef>
                <a:spcPts val="800"/>
              </a:spcBef>
              <a:spcAft>
                <a:spcPct val="0"/>
              </a:spcAft>
              <a:buClrTx/>
              <a:buSzTx/>
              <a:buFontTx/>
              <a:buNone/>
              <a:tabLst/>
              <a:defRPr/>
            </a:pPr>
            <a:r>
              <a:rPr lang="en-US" sz="1400" dirty="0">
                <a:solidFill>
                  <a:srgbClr val="000000"/>
                </a:solidFill>
                <a:latin typeface="Calibri" panose="020F0502020204030204" pitchFamily="34" charset="0"/>
                <a:ea typeface="SimSun" panose="02010600030101010101" pitchFamily="2" charset="-122"/>
                <a:cs typeface="Calibri" panose="020F0502020204030204" pitchFamily="34" charset="0"/>
              </a:rPr>
              <a:t>Each image was subtended 20.4° visual angle horizontally and 15.4° vertically.</a:t>
            </a:r>
          </a:p>
          <a:p>
            <a:endParaRPr lang="en-US" dirty="0"/>
          </a:p>
        </p:txBody>
      </p:sp>
      <p:sp>
        <p:nvSpPr>
          <p:cNvPr id="4" name="Slide Number Placeholder 3">
            <a:extLst>
              <a:ext uri="{FF2B5EF4-FFF2-40B4-BE49-F238E27FC236}">
                <a16:creationId xmlns:a16="http://schemas.microsoft.com/office/drawing/2014/main" id="{4D51037D-4BF0-3E7E-42AF-30EA3ACAE52D}"/>
              </a:ext>
            </a:extLst>
          </p:cNvPr>
          <p:cNvSpPr>
            <a:spLocks noGrp="1"/>
          </p:cNvSpPr>
          <p:nvPr>
            <p:ph type="sldNum" sz="quarter" idx="5"/>
          </p:nvPr>
        </p:nvSpPr>
        <p:spPr/>
        <p:txBody>
          <a:bodyPr/>
          <a:lstStyle/>
          <a:p>
            <a:fld id="{76117C67-C18E-41B6-AEB0-6520CF16A7FE}" type="slidenum">
              <a:rPr lang="de-DE" altLang="de-DE" smtClean="0"/>
              <a:pPr/>
              <a:t>32</a:t>
            </a:fld>
            <a:endParaRPr lang="de-DE" altLang="de-DE"/>
          </a:p>
        </p:txBody>
      </p:sp>
    </p:spTree>
    <p:extLst>
      <p:ext uri="{BB962C8B-B14F-4D97-AF65-F5344CB8AC3E}">
        <p14:creationId xmlns:p14="http://schemas.microsoft.com/office/powerpoint/2010/main" val="273947568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C6B78C-37A8-155B-E5AA-B3C843EE3C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4738DA-3F32-2F74-DE1E-019D132545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5CA73A-4CEA-AFA9-FE4F-B07588F54814}"/>
              </a:ext>
            </a:extLst>
          </p:cNvPr>
          <p:cNvSpPr>
            <a:spLocks noGrp="1"/>
          </p:cNvSpPr>
          <p:nvPr>
            <p:ph type="body" idx="1"/>
          </p:nvPr>
        </p:nvSpPr>
        <p:spPr/>
        <p:txBody>
          <a:bodyPr/>
          <a:lstStyle/>
          <a:p>
            <a:pPr marL="0" marR="0" lvl="0" indent="0" algn="l" defTabSz="914400" rtl="0" eaLnBrk="0" fontAlgn="base" latinLnBrk="0" hangingPunct="0">
              <a:lnSpc>
                <a:spcPts val="1600"/>
              </a:lnSpc>
              <a:spcBef>
                <a:spcPts val="800"/>
              </a:spcBef>
              <a:spcAft>
                <a:spcPct val="0"/>
              </a:spcAft>
              <a:buClrTx/>
              <a:buSzTx/>
              <a:buFontTx/>
              <a:buNone/>
              <a:tabLst/>
              <a:defRPr/>
            </a:pPr>
            <a:r>
              <a:rPr lang="en-US" sz="1400" dirty="0">
                <a:solidFill>
                  <a:srgbClr val="000000"/>
                </a:solidFill>
                <a:latin typeface="Calibri" panose="020F0502020204030204" pitchFamily="34" charset="0"/>
                <a:ea typeface="SimSun" panose="02010600030101010101" pitchFamily="2" charset="-122"/>
                <a:cs typeface="Calibri" panose="020F0502020204030204" pitchFamily="34" charset="0"/>
              </a:rPr>
              <a:t>Each image was subtended 20.4° visual angle horizontally and 15.4° vertically.</a:t>
            </a:r>
          </a:p>
          <a:p>
            <a:endParaRPr lang="en-US" dirty="0"/>
          </a:p>
        </p:txBody>
      </p:sp>
      <p:sp>
        <p:nvSpPr>
          <p:cNvPr id="4" name="Slide Number Placeholder 3">
            <a:extLst>
              <a:ext uri="{FF2B5EF4-FFF2-40B4-BE49-F238E27FC236}">
                <a16:creationId xmlns:a16="http://schemas.microsoft.com/office/drawing/2014/main" id="{94483470-05BC-65EC-501B-C9F50D49487B}"/>
              </a:ext>
            </a:extLst>
          </p:cNvPr>
          <p:cNvSpPr>
            <a:spLocks noGrp="1"/>
          </p:cNvSpPr>
          <p:nvPr>
            <p:ph type="sldNum" sz="quarter" idx="5"/>
          </p:nvPr>
        </p:nvSpPr>
        <p:spPr/>
        <p:txBody>
          <a:bodyPr/>
          <a:lstStyle/>
          <a:p>
            <a:fld id="{76117C67-C18E-41B6-AEB0-6520CF16A7FE}" type="slidenum">
              <a:rPr lang="de-DE" altLang="de-DE" smtClean="0"/>
              <a:pPr/>
              <a:t>33</a:t>
            </a:fld>
            <a:endParaRPr lang="de-DE" altLang="de-DE"/>
          </a:p>
        </p:txBody>
      </p:sp>
    </p:spTree>
    <p:extLst>
      <p:ext uri="{BB962C8B-B14F-4D97-AF65-F5344CB8AC3E}">
        <p14:creationId xmlns:p14="http://schemas.microsoft.com/office/powerpoint/2010/main" val="394624366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600E61-4AF0-B93C-979B-09B0A4C304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0E66C7-A27E-8E94-63E6-5E17A3C270F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40EE322-E03D-0C97-56CD-8BD4272192A0}"/>
              </a:ext>
            </a:extLst>
          </p:cNvPr>
          <p:cNvSpPr>
            <a:spLocks noGrp="1"/>
          </p:cNvSpPr>
          <p:nvPr>
            <p:ph type="body" idx="1"/>
          </p:nvPr>
        </p:nvSpPr>
        <p:spPr/>
        <p:txBody>
          <a:bodyPr/>
          <a:lstStyle/>
          <a:p>
            <a:pPr marL="0" marR="0" lvl="0" indent="0" algn="l" defTabSz="914400" rtl="0" eaLnBrk="0" fontAlgn="base" latinLnBrk="0" hangingPunct="0">
              <a:lnSpc>
                <a:spcPts val="1600"/>
              </a:lnSpc>
              <a:spcBef>
                <a:spcPts val="800"/>
              </a:spcBef>
              <a:spcAft>
                <a:spcPct val="0"/>
              </a:spcAft>
              <a:buClrTx/>
              <a:buSzTx/>
              <a:buFontTx/>
              <a:buNone/>
              <a:tabLst/>
              <a:defRPr/>
            </a:pPr>
            <a:r>
              <a:rPr lang="en-US" sz="1400" dirty="0">
                <a:solidFill>
                  <a:srgbClr val="000000"/>
                </a:solidFill>
                <a:latin typeface="Calibri" panose="020F0502020204030204" pitchFamily="34" charset="0"/>
                <a:ea typeface="SimSun" panose="02010600030101010101" pitchFamily="2" charset="-122"/>
                <a:cs typeface="Calibri" panose="020F0502020204030204" pitchFamily="34" charset="0"/>
              </a:rPr>
              <a:t>Each image was subtended 20.4° visual angle horizontally and 15.4° vertically.</a:t>
            </a:r>
          </a:p>
          <a:p>
            <a:endParaRPr lang="en-US" dirty="0"/>
          </a:p>
        </p:txBody>
      </p:sp>
      <p:sp>
        <p:nvSpPr>
          <p:cNvPr id="4" name="Slide Number Placeholder 3">
            <a:extLst>
              <a:ext uri="{FF2B5EF4-FFF2-40B4-BE49-F238E27FC236}">
                <a16:creationId xmlns:a16="http://schemas.microsoft.com/office/drawing/2014/main" id="{A040957B-1C69-9C71-D806-9A08608EB154}"/>
              </a:ext>
            </a:extLst>
          </p:cNvPr>
          <p:cNvSpPr>
            <a:spLocks noGrp="1"/>
          </p:cNvSpPr>
          <p:nvPr>
            <p:ph type="sldNum" sz="quarter" idx="5"/>
          </p:nvPr>
        </p:nvSpPr>
        <p:spPr/>
        <p:txBody>
          <a:bodyPr/>
          <a:lstStyle/>
          <a:p>
            <a:fld id="{76117C67-C18E-41B6-AEB0-6520CF16A7FE}" type="slidenum">
              <a:rPr lang="de-DE" altLang="de-DE" smtClean="0"/>
              <a:pPr/>
              <a:t>34</a:t>
            </a:fld>
            <a:endParaRPr lang="de-DE" altLang="de-DE"/>
          </a:p>
        </p:txBody>
      </p:sp>
    </p:spTree>
    <p:extLst>
      <p:ext uri="{BB962C8B-B14F-4D97-AF65-F5344CB8AC3E}">
        <p14:creationId xmlns:p14="http://schemas.microsoft.com/office/powerpoint/2010/main" val="354209236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Agent advantage effect is the core</a:t>
            </a:r>
          </a:p>
        </p:txBody>
      </p:sp>
      <p:sp>
        <p:nvSpPr>
          <p:cNvPr id="4" name="Slide Number Placeholder 3"/>
          <p:cNvSpPr>
            <a:spLocks noGrp="1"/>
          </p:cNvSpPr>
          <p:nvPr>
            <p:ph type="sldNum" sz="quarter" idx="5"/>
          </p:nvPr>
        </p:nvSpPr>
        <p:spPr/>
        <p:txBody>
          <a:bodyPr/>
          <a:lstStyle/>
          <a:p>
            <a:fld id="{76117C67-C18E-41B6-AEB0-6520CF16A7FE}" type="slidenum">
              <a:rPr lang="de-DE" altLang="de-DE" smtClean="0"/>
              <a:pPr/>
              <a:t>35</a:t>
            </a:fld>
            <a:endParaRPr lang="de-DE" altLang="de-DE"/>
          </a:p>
        </p:txBody>
      </p:sp>
    </p:spTree>
    <p:extLst>
      <p:ext uri="{BB962C8B-B14F-4D97-AF65-F5344CB8AC3E}">
        <p14:creationId xmlns:p14="http://schemas.microsoft.com/office/powerpoint/2010/main" val="402659967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132672-E803-6117-7761-D8510D33F9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C548B1-5E3B-CA66-13A5-234FDCF5D8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72A8A11-7DF3-DA49-7505-1D065A262A40}"/>
              </a:ext>
            </a:extLst>
          </p:cNvPr>
          <p:cNvSpPr>
            <a:spLocks noGrp="1"/>
          </p:cNvSpPr>
          <p:nvPr>
            <p:ph type="body" idx="1"/>
          </p:nvPr>
        </p:nvSpPr>
        <p:spPr/>
        <p:txBody>
          <a:bodyPr/>
          <a:lstStyle/>
          <a:p>
            <a:pPr marL="0" marR="0" lvl="0" indent="0" algn="l" defTabSz="914400" rtl="0" eaLnBrk="0" fontAlgn="base" latinLnBrk="0" hangingPunct="0">
              <a:lnSpc>
                <a:spcPts val="1600"/>
              </a:lnSpc>
              <a:spcBef>
                <a:spcPts val="800"/>
              </a:spcBef>
              <a:spcAft>
                <a:spcPct val="0"/>
              </a:spcAft>
              <a:buClrTx/>
              <a:buSzTx/>
              <a:buFontTx/>
              <a:buNone/>
              <a:tabLst/>
              <a:defRPr/>
            </a:pPr>
            <a:r>
              <a:rPr lang="en-US" sz="1400" dirty="0">
                <a:solidFill>
                  <a:srgbClr val="000000"/>
                </a:solidFill>
                <a:latin typeface="Calibri" panose="020F0502020204030204" pitchFamily="34" charset="0"/>
                <a:ea typeface="SimSun" panose="02010600030101010101" pitchFamily="2" charset="-122"/>
                <a:cs typeface="Calibri" panose="020F0502020204030204" pitchFamily="34" charset="0"/>
              </a:rPr>
              <a:t>Each image was subtended 20.4° visual angle horizontally and 15.4° vertically.</a:t>
            </a:r>
          </a:p>
          <a:p>
            <a:endParaRPr lang="en-US" dirty="0"/>
          </a:p>
        </p:txBody>
      </p:sp>
      <p:sp>
        <p:nvSpPr>
          <p:cNvPr id="4" name="Slide Number Placeholder 3">
            <a:extLst>
              <a:ext uri="{FF2B5EF4-FFF2-40B4-BE49-F238E27FC236}">
                <a16:creationId xmlns:a16="http://schemas.microsoft.com/office/drawing/2014/main" id="{DB738860-DE86-9F48-E000-3CB8F9F7F751}"/>
              </a:ext>
            </a:extLst>
          </p:cNvPr>
          <p:cNvSpPr>
            <a:spLocks noGrp="1"/>
          </p:cNvSpPr>
          <p:nvPr>
            <p:ph type="sldNum" sz="quarter" idx="5"/>
          </p:nvPr>
        </p:nvSpPr>
        <p:spPr/>
        <p:txBody>
          <a:bodyPr/>
          <a:lstStyle/>
          <a:p>
            <a:fld id="{76117C67-C18E-41B6-AEB0-6520CF16A7FE}" type="slidenum">
              <a:rPr lang="de-DE" altLang="de-DE" smtClean="0"/>
              <a:pPr/>
              <a:t>37</a:t>
            </a:fld>
            <a:endParaRPr lang="de-DE" altLang="de-DE"/>
          </a:p>
        </p:txBody>
      </p:sp>
    </p:spTree>
    <p:extLst>
      <p:ext uri="{BB962C8B-B14F-4D97-AF65-F5344CB8AC3E}">
        <p14:creationId xmlns:p14="http://schemas.microsoft.com/office/powerpoint/2010/main" val="161320515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78E376-7860-C671-34FA-FD8D80AEEB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239CD7-14C7-D18B-4758-94CD94BD71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B935334-C49C-78C1-32F2-F3CEDE50692B}"/>
              </a:ext>
            </a:extLst>
          </p:cNvPr>
          <p:cNvSpPr>
            <a:spLocks noGrp="1"/>
          </p:cNvSpPr>
          <p:nvPr>
            <p:ph type="body" idx="1"/>
          </p:nvPr>
        </p:nvSpPr>
        <p:spPr/>
        <p:txBody>
          <a:bodyPr/>
          <a:lstStyle/>
          <a:p>
            <a:pPr marL="0" indent="0">
              <a:buNone/>
            </a:pPr>
            <a:r>
              <a:rPr lang="en-US" dirty="0"/>
              <a:t>We would like to take a step back, use the simple comic stimuli thus exploring the event roles ……</a:t>
            </a:r>
            <a:r>
              <a:rPr lang="en-US" altLang="zh-CN" dirty="0"/>
              <a:t>pictorial media(comics)</a:t>
            </a:r>
          </a:p>
          <a:p>
            <a:pPr marL="342900" indent="-342900">
              <a:buAutoNum type="arabicPeriod"/>
            </a:pPr>
            <a:r>
              <a:rPr lang="en-US" altLang="zh-CN" sz="1400" dirty="0">
                <a:effectLst/>
                <a:latin typeface="Times New Roman" panose="02020603050405020304" pitchFamily="18" charset="0"/>
                <a:ea typeface="Times New Roman" panose="02020603050405020304" pitchFamily="18" charset="0"/>
              </a:rPr>
              <a:t>A and P no big difference, attention resources on both event roles</a:t>
            </a:r>
          </a:p>
          <a:p>
            <a:pPr marL="342900" indent="-342900">
              <a:buAutoNum type="arabicPeriod"/>
            </a:pPr>
            <a:r>
              <a:rPr lang="en-US" sz="1400" dirty="0">
                <a:effectLst/>
                <a:latin typeface="Times New Roman" panose="02020603050405020304" pitchFamily="18" charset="0"/>
                <a:ea typeface="Times New Roman" panose="02020603050405020304" pitchFamily="18" charset="0"/>
              </a:rPr>
              <a:t>motion lines have been shown to influence the processing of comics (Cohn &amp; Maher,  2015). Discover</a:t>
            </a:r>
          </a:p>
          <a:p>
            <a:pPr marL="342900" indent="-342900">
              <a:buAutoNum type="arabicPeriod"/>
            </a:pPr>
            <a:r>
              <a:rPr lang="en-US" sz="1400" dirty="0">
                <a:effectLst/>
                <a:latin typeface="Times New Roman" panose="02020603050405020304" pitchFamily="18" charset="0"/>
                <a:ea typeface="Times New Roman" panose="02020603050405020304" pitchFamily="18" charset="0"/>
              </a:rPr>
              <a:t>C&amp;P viewing the agent resulted in slower reaction times, with the explanation being that viewing agents may trigger the process of "event building“. Inconsistent to our findings. Agent search are faster.</a:t>
            </a:r>
            <a:br>
              <a:rPr lang="en-US" sz="1400" dirty="0">
                <a:effectLst/>
                <a:latin typeface="Times New Roman" panose="02020603050405020304" pitchFamily="18" charset="0"/>
                <a:ea typeface="Times New Roman" panose="02020603050405020304" pitchFamily="18" charset="0"/>
              </a:rPr>
            </a:br>
            <a:r>
              <a:rPr lang="en-US" sz="1800" dirty="0">
                <a:effectLst/>
                <a:latin typeface="Times New Roman" panose="02020603050405020304" pitchFamily="18" charset="0"/>
                <a:ea typeface="Times New Roman" panose="02020603050405020304" pitchFamily="18" charset="0"/>
              </a:rPr>
              <a:t>we investigate whether the early appearance of event roles (agent, patient), although they are ambiguous,  influences the agent advantage effect.</a:t>
            </a:r>
            <a:r>
              <a:rPr lang="en-US" sz="1400" dirty="0">
                <a:effectLst/>
                <a:latin typeface="Times New Roman" panose="02020603050405020304" pitchFamily="18" charset="0"/>
                <a:ea typeface="Times New Roman" panose="02020603050405020304" pitchFamily="18" charset="0"/>
              </a:rPr>
              <a:t> </a:t>
            </a:r>
          </a:p>
          <a:p>
            <a:pPr marL="0" indent="0">
              <a:buNone/>
            </a:pPr>
            <a:endParaRPr lang="en-US" dirty="0"/>
          </a:p>
          <a:p>
            <a:pPr marL="0" indent="0">
              <a:buNone/>
            </a:pPr>
            <a:endParaRPr lang="en-US" dirty="0"/>
          </a:p>
        </p:txBody>
      </p:sp>
      <p:sp>
        <p:nvSpPr>
          <p:cNvPr id="4" name="Slide Number Placeholder 3">
            <a:extLst>
              <a:ext uri="{FF2B5EF4-FFF2-40B4-BE49-F238E27FC236}">
                <a16:creationId xmlns:a16="http://schemas.microsoft.com/office/drawing/2014/main" id="{388FED80-061A-1F98-551B-DE9D5D999F2D}"/>
              </a:ext>
            </a:extLst>
          </p:cNvPr>
          <p:cNvSpPr>
            <a:spLocks noGrp="1"/>
          </p:cNvSpPr>
          <p:nvPr>
            <p:ph type="sldNum" sz="quarter" idx="5"/>
          </p:nvPr>
        </p:nvSpPr>
        <p:spPr/>
        <p:txBody>
          <a:bodyPr/>
          <a:lstStyle/>
          <a:p>
            <a:fld id="{76117C67-C18E-41B6-AEB0-6520CF16A7FE}" type="slidenum">
              <a:rPr lang="de-DE" altLang="de-DE" smtClean="0"/>
              <a:pPr/>
              <a:t>40</a:t>
            </a:fld>
            <a:endParaRPr lang="de-DE" altLang="de-DE"/>
          </a:p>
        </p:txBody>
      </p:sp>
    </p:spTree>
    <p:extLst>
      <p:ext uri="{BB962C8B-B14F-4D97-AF65-F5344CB8AC3E}">
        <p14:creationId xmlns:p14="http://schemas.microsoft.com/office/powerpoint/2010/main" val="219336969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ts val="1600"/>
              </a:lnSpc>
              <a:spcBef>
                <a:spcPts val="800"/>
              </a:spcBef>
              <a:spcAft>
                <a:spcPct val="0"/>
              </a:spcAft>
              <a:buClrTx/>
              <a:buSzTx/>
              <a:buFontTx/>
              <a:buNone/>
              <a:tabLst/>
              <a:defRPr/>
            </a:pPr>
            <a:r>
              <a:rPr lang="en-US" sz="1400" dirty="0">
                <a:solidFill>
                  <a:srgbClr val="000000"/>
                </a:solidFill>
                <a:latin typeface="Calibri" panose="020F0502020204030204" pitchFamily="34" charset="0"/>
                <a:ea typeface="SimSun" panose="02010600030101010101" pitchFamily="2" charset="-122"/>
                <a:cs typeface="Calibri" panose="020F0502020204030204" pitchFamily="34" charset="0"/>
              </a:rPr>
              <a:t>Each image was subtended 20.4° visual angle horizontally and 15.4° vertically.</a:t>
            </a:r>
          </a:p>
          <a:p>
            <a:endParaRPr lang="en-US" dirty="0"/>
          </a:p>
        </p:txBody>
      </p:sp>
      <p:sp>
        <p:nvSpPr>
          <p:cNvPr id="4" name="Slide Number Placeholder 3"/>
          <p:cNvSpPr>
            <a:spLocks noGrp="1"/>
          </p:cNvSpPr>
          <p:nvPr>
            <p:ph type="sldNum" sz="quarter" idx="5"/>
          </p:nvPr>
        </p:nvSpPr>
        <p:spPr/>
        <p:txBody>
          <a:bodyPr/>
          <a:lstStyle/>
          <a:p>
            <a:fld id="{76117C67-C18E-41B6-AEB0-6520CF16A7FE}" type="slidenum">
              <a:rPr lang="de-DE" altLang="de-DE" smtClean="0"/>
              <a:pPr/>
              <a:t>41</a:t>
            </a:fld>
            <a:endParaRPr lang="de-DE" altLang="de-DE"/>
          </a:p>
        </p:txBody>
      </p:sp>
    </p:spTree>
    <p:extLst>
      <p:ext uri="{BB962C8B-B14F-4D97-AF65-F5344CB8AC3E}">
        <p14:creationId xmlns:p14="http://schemas.microsoft.com/office/powerpoint/2010/main" val="297791721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ts val="1600"/>
              </a:lnSpc>
              <a:spcBef>
                <a:spcPts val="800"/>
              </a:spcBef>
              <a:spcAft>
                <a:spcPct val="0"/>
              </a:spcAft>
              <a:buClrTx/>
              <a:buSzTx/>
              <a:buFontTx/>
              <a:buNone/>
              <a:tabLst/>
              <a:defRPr/>
            </a:pPr>
            <a:r>
              <a:rPr lang="en-US" sz="1400" dirty="0">
                <a:solidFill>
                  <a:srgbClr val="000000"/>
                </a:solidFill>
                <a:latin typeface="Calibri" panose="020F0502020204030204" pitchFamily="34" charset="0"/>
                <a:ea typeface="SimSun" panose="02010600030101010101" pitchFamily="2" charset="-122"/>
                <a:cs typeface="Calibri" panose="020F0502020204030204" pitchFamily="34" charset="0"/>
              </a:rPr>
              <a:t>Each image was subtended 20.4° visual angle horizontally and 15.4° vertically.</a:t>
            </a:r>
          </a:p>
          <a:p>
            <a:endParaRPr lang="en-US" dirty="0"/>
          </a:p>
        </p:txBody>
      </p:sp>
      <p:sp>
        <p:nvSpPr>
          <p:cNvPr id="4" name="Slide Number Placeholder 3"/>
          <p:cNvSpPr>
            <a:spLocks noGrp="1"/>
          </p:cNvSpPr>
          <p:nvPr>
            <p:ph type="sldNum" sz="quarter" idx="5"/>
          </p:nvPr>
        </p:nvSpPr>
        <p:spPr/>
        <p:txBody>
          <a:bodyPr/>
          <a:lstStyle/>
          <a:p>
            <a:fld id="{76117C67-C18E-41B6-AEB0-6520CF16A7FE}" type="slidenum">
              <a:rPr lang="de-DE" altLang="de-DE" smtClean="0"/>
              <a:pPr/>
              <a:t>42</a:t>
            </a:fld>
            <a:endParaRPr lang="de-DE" altLang="de-DE"/>
          </a:p>
        </p:txBody>
      </p:sp>
    </p:spTree>
    <p:extLst>
      <p:ext uri="{BB962C8B-B14F-4D97-AF65-F5344CB8AC3E}">
        <p14:creationId xmlns:p14="http://schemas.microsoft.com/office/powerpoint/2010/main" val="220625390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ts val="1600"/>
              </a:lnSpc>
              <a:spcBef>
                <a:spcPts val="800"/>
              </a:spcBef>
              <a:spcAft>
                <a:spcPct val="0"/>
              </a:spcAft>
              <a:buClrTx/>
              <a:buSzTx/>
              <a:buFontTx/>
              <a:buNone/>
              <a:tabLst/>
              <a:defRPr/>
            </a:pPr>
            <a:r>
              <a:rPr lang="en-US" sz="1400" dirty="0">
                <a:solidFill>
                  <a:srgbClr val="000000"/>
                </a:solidFill>
                <a:latin typeface="Calibri" panose="020F0502020204030204" pitchFamily="34" charset="0"/>
                <a:ea typeface="SimSun" panose="02010600030101010101" pitchFamily="2" charset="-122"/>
                <a:cs typeface="Calibri" panose="020F0502020204030204" pitchFamily="34" charset="0"/>
              </a:rPr>
              <a:t>Each image was subtended 20.4° visual angle horizontally and 15.4° vertically.</a:t>
            </a:r>
          </a:p>
          <a:p>
            <a:endParaRPr lang="en-US" dirty="0"/>
          </a:p>
        </p:txBody>
      </p:sp>
      <p:sp>
        <p:nvSpPr>
          <p:cNvPr id="4" name="Slide Number Placeholder 3"/>
          <p:cNvSpPr>
            <a:spLocks noGrp="1"/>
          </p:cNvSpPr>
          <p:nvPr>
            <p:ph type="sldNum" sz="quarter" idx="5"/>
          </p:nvPr>
        </p:nvSpPr>
        <p:spPr/>
        <p:txBody>
          <a:bodyPr/>
          <a:lstStyle/>
          <a:p>
            <a:fld id="{76117C67-C18E-41B6-AEB0-6520CF16A7FE}" type="slidenum">
              <a:rPr lang="de-DE" altLang="de-DE" smtClean="0"/>
              <a:pPr/>
              <a:t>43</a:t>
            </a:fld>
            <a:endParaRPr lang="de-DE" altLang="de-DE"/>
          </a:p>
        </p:txBody>
      </p:sp>
    </p:spTree>
    <p:extLst>
      <p:ext uri="{BB962C8B-B14F-4D97-AF65-F5344CB8AC3E}">
        <p14:creationId xmlns:p14="http://schemas.microsoft.com/office/powerpoint/2010/main" val="22469312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ts val="1600"/>
              </a:lnSpc>
              <a:spcBef>
                <a:spcPts val="800"/>
              </a:spcBef>
              <a:spcAft>
                <a:spcPct val="0"/>
              </a:spcAft>
              <a:buClrTx/>
              <a:buSzTx/>
              <a:buFontTx/>
              <a:buNone/>
              <a:tabLst/>
              <a:defRPr/>
            </a:pPr>
            <a:r>
              <a:rPr lang="en-US" sz="1400" dirty="0">
                <a:solidFill>
                  <a:srgbClr val="000000"/>
                </a:solidFill>
                <a:latin typeface="Calibri" panose="020F0502020204030204" pitchFamily="34" charset="0"/>
                <a:ea typeface="SimSun" panose="02010600030101010101" pitchFamily="2" charset="-122"/>
                <a:cs typeface="Calibri" panose="020F0502020204030204" pitchFamily="34" charset="0"/>
              </a:rPr>
              <a:t>Each image was subtended 20.4° visual angle horizontally and 15.4° vertically.</a:t>
            </a:r>
          </a:p>
          <a:p>
            <a:endParaRPr lang="en-US" dirty="0"/>
          </a:p>
        </p:txBody>
      </p:sp>
      <p:sp>
        <p:nvSpPr>
          <p:cNvPr id="4" name="Slide Number Placeholder 3"/>
          <p:cNvSpPr>
            <a:spLocks noGrp="1"/>
          </p:cNvSpPr>
          <p:nvPr>
            <p:ph type="sldNum" sz="quarter" idx="5"/>
          </p:nvPr>
        </p:nvSpPr>
        <p:spPr/>
        <p:txBody>
          <a:bodyPr/>
          <a:lstStyle/>
          <a:p>
            <a:fld id="{76117C67-C18E-41B6-AEB0-6520CF16A7FE}" type="slidenum">
              <a:rPr lang="de-DE" altLang="de-DE" smtClean="0"/>
              <a:pPr/>
              <a:t>44</a:t>
            </a:fld>
            <a:endParaRPr lang="de-DE" altLang="de-DE"/>
          </a:p>
        </p:txBody>
      </p:sp>
    </p:spTree>
    <p:extLst>
      <p:ext uri="{BB962C8B-B14F-4D97-AF65-F5344CB8AC3E}">
        <p14:creationId xmlns:p14="http://schemas.microsoft.com/office/powerpoint/2010/main" val="204987907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449580">
              <a:lnSpc>
                <a:spcPct val="200000"/>
              </a:lnSpc>
              <a:spcBef>
                <a:spcPts val="0"/>
              </a:spcBef>
              <a:spcAft>
                <a:spcPts val="0"/>
              </a:spcAft>
            </a:pPr>
            <a:r>
              <a:rPr lang="en-US" sz="4400" dirty="0">
                <a:solidFill>
                  <a:srgbClr val="000000"/>
                </a:solidFill>
                <a:effectLst/>
                <a:latin typeface="Times New Roman" panose="02020603050405020304" pitchFamily="18" charset="0"/>
                <a:ea typeface="SimSun" panose="02010600030101010101" pitchFamily="2" charset="-122"/>
              </a:rPr>
              <a:t>We first investigated whether the task of identifying the location of the agent fish or patient fish influenced the overall fixation durations and the number of fixations. We used paired </a:t>
            </a:r>
            <a:r>
              <a:rPr lang="en-US" sz="4400" i="1" dirty="0">
                <a:solidFill>
                  <a:srgbClr val="000000"/>
                </a:solidFill>
                <a:effectLst/>
                <a:latin typeface="Times New Roman" panose="02020603050405020304" pitchFamily="18" charset="0"/>
                <a:ea typeface="SimSun" panose="02010600030101010101" pitchFamily="2" charset="-122"/>
              </a:rPr>
              <a:t>t</a:t>
            </a:r>
            <a:r>
              <a:rPr lang="en-US" sz="4400" dirty="0">
                <a:solidFill>
                  <a:srgbClr val="000000"/>
                </a:solidFill>
                <a:effectLst/>
                <a:latin typeface="Times New Roman" panose="02020603050405020304" pitchFamily="18" charset="0"/>
                <a:ea typeface="SimSun" panose="02010600030101010101" pitchFamily="2" charset="-122"/>
              </a:rPr>
              <a:t>-tests to compare participants’ mean fixation duration and participants’ mean number of fixations between agent search and patient search. There was no significant difference in mean fixation duration between the agent search (</a:t>
            </a:r>
            <a:r>
              <a:rPr lang="en-US" sz="4400" i="1" dirty="0">
                <a:solidFill>
                  <a:srgbClr val="000000"/>
                </a:solidFill>
                <a:effectLst/>
                <a:latin typeface="Times New Roman" panose="02020603050405020304" pitchFamily="18" charset="0"/>
                <a:ea typeface="SimSun" panose="02010600030101010101" pitchFamily="2" charset="-122"/>
              </a:rPr>
              <a:t>M</a:t>
            </a:r>
            <a:r>
              <a:rPr lang="en-US" sz="4400" dirty="0">
                <a:solidFill>
                  <a:srgbClr val="000000"/>
                </a:solidFill>
                <a:effectLst/>
                <a:latin typeface="Times New Roman" panose="02020603050405020304" pitchFamily="18" charset="0"/>
                <a:ea typeface="SimSun" panose="02010600030101010101" pitchFamily="2" charset="-122"/>
              </a:rPr>
              <a:t> = 280 </a:t>
            </a:r>
            <a:r>
              <a:rPr lang="en-US" sz="4400" dirty="0" err="1">
                <a:solidFill>
                  <a:srgbClr val="000000"/>
                </a:solidFill>
                <a:effectLst/>
                <a:latin typeface="Times New Roman" panose="02020603050405020304" pitchFamily="18" charset="0"/>
                <a:ea typeface="SimSun" panose="02010600030101010101" pitchFamily="2" charset="-122"/>
              </a:rPr>
              <a:t>ms</a:t>
            </a:r>
            <a:r>
              <a:rPr lang="en-US" sz="4400" dirty="0">
                <a:solidFill>
                  <a:srgbClr val="000000"/>
                </a:solidFill>
                <a:effectLst/>
                <a:latin typeface="Times New Roman" panose="02020603050405020304" pitchFamily="18" charset="0"/>
                <a:ea typeface="SimSun" panose="02010600030101010101" pitchFamily="2" charset="-122"/>
              </a:rPr>
              <a:t>, </a:t>
            </a:r>
            <a:r>
              <a:rPr lang="en-US" sz="4400" i="1" dirty="0">
                <a:solidFill>
                  <a:srgbClr val="000000"/>
                </a:solidFill>
                <a:effectLst/>
                <a:latin typeface="Times New Roman" panose="02020603050405020304" pitchFamily="18" charset="0"/>
                <a:ea typeface="SimSun" panose="02010600030101010101" pitchFamily="2" charset="-122"/>
              </a:rPr>
              <a:t>SD</a:t>
            </a:r>
            <a:r>
              <a:rPr lang="en-US" sz="4400" dirty="0">
                <a:solidFill>
                  <a:srgbClr val="000000"/>
                </a:solidFill>
                <a:effectLst/>
                <a:latin typeface="Times New Roman" panose="02020603050405020304" pitchFamily="18" charset="0"/>
                <a:ea typeface="SimSun" panose="02010600030101010101" pitchFamily="2" charset="-122"/>
              </a:rPr>
              <a:t> = 41) and the patient search (</a:t>
            </a:r>
            <a:r>
              <a:rPr lang="en-US" sz="4400" i="1" dirty="0">
                <a:solidFill>
                  <a:srgbClr val="000000"/>
                </a:solidFill>
                <a:effectLst/>
                <a:latin typeface="Times New Roman" panose="02020603050405020304" pitchFamily="18" charset="0"/>
                <a:ea typeface="SimSun" panose="02010600030101010101" pitchFamily="2" charset="-122"/>
              </a:rPr>
              <a:t>M</a:t>
            </a:r>
            <a:r>
              <a:rPr lang="en-US" sz="4400" dirty="0">
                <a:solidFill>
                  <a:srgbClr val="000000"/>
                </a:solidFill>
                <a:effectLst/>
                <a:latin typeface="Times New Roman" panose="02020603050405020304" pitchFamily="18" charset="0"/>
                <a:ea typeface="SimSun" panose="02010600030101010101" pitchFamily="2" charset="-122"/>
              </a:rPr>
              <a:t> = 303 </a:t>
            </a:r>
            <a:r>
              <a:rPr lang="en-US" sz="4400" dirty="0" err="1">
                <a:solidFill>
                  <a:srgbClr val="000000"/>
                </a:solidFill>
                <a:effectLst/>
                <a:latin typeface="Times New Roman" panose="02020603050405020304" pitchFamily="18" charset="0"/>
                <a:ea typeface="SimSun" panose="02010600030101010101" pitchFamily="2" charset="-122"/>
              </a:rPr>
              <a:t>ms</a:t>
            </a:r>
            <a:r>
              <a:rPr lang="en-US" sz="4400" dirty="0">
                <a:solidFill>
                  <a:srgbClr val="000000"/>
                </a:solidFill>
                <a:effectLst/>
                <a:latin typeface="Times New Roman" panose="02020603050405020304" pitchFamily="18" charset="0"/>
                <a:ea typeface="SimSun" panose="02010600030101010101" pitchFamily="2" charset="-122"/>
              </a:rPr>
              <a:t>, </a:t>
            </a:r>
            <a:r>
              <a:rPr lang="en-US" sz="4400" i="1" dirty="0">
                <a:solidFill>
                  <a:srgbClr val="000000"/>
                </a:solidFill>
                <a:effectLst/>
                <a:latin typeface="Times New Roman" panose="02020603050405020304" pitchFamily="18" charset="0"/>
                <a:ea typeface="SimSun" panose="02010600030101010101" pitchFamily="2" charset="-122"/>
              </a:rPr>
              <a:t>SD</a:t>
            </a:r>
            <a:r>
              <a:rPr lang="en-US" sz="4400" dirty="0">
                <a:solidFill>
                  <a:srgbClr val="000000"/>
                </a:solidFill>
                <a:effectLst/>
                <a:latin typeface="Times New Roman" panose="02020603050405020304" pitchFamily="18" charset="0"/>
                <a:ea typeface="SimSun" panose="02010600030101010101" pitchFamily="2" charset="-122"/>
              </a:rPr>
              <a:t> = 72) conditions, </a:t>
            </a:r>
            <a:r>
              <a:rPr lang="en-US" sz="4400" i="1" dirty="0">
                <a:solidFill>
                  <a:srgbClr val="000000"/>
                </a:solidFill>
                <a:effectLst/>
                <a:latin typeface="Times New Roman" panose="02020603050405020304" pitchFamily="18" charset="0"/>
                <a:ea typeface="SimSun" panose="02010600030101010101" pitchFamily="2" charset="-122"/>
              </a:rPr>
              <a:t>t</a:t>
            </a:r>
            <a:r>
              <a:rPr lang="en-US" sz="4400" dirty="0">
                <a:solidFill>
                  <a:srgbClr val="000000"/>
                </a:solidFill>
                <a:effectLst/>
                <a:latin typeface="Times New Roman" panose="02020603050405020304" pitchFamily="18" charset="0"/>
                <a:ea typeface="SimSun" panose="02010600030101010101" pitchFamily="2" charset="-122"/>
              </a:rPr>
              <a:t>(15) = -1.43, </a:t>
            </a:r>
            <a:r>
              <a:rPr lang="en-US" sz="4400" i="1" dirty="0">
                <a:solidFill>
                  <a:srgbClr val="000000"/>
                </a:solidFill>
                <a:effectLst/>
                <a:latin typeface="Times New Roman" panose="02020603050405020304" pitchFamily="18" charset="0"/>
                <a:ea typeface="SimSun" panose="02010600030101010101" pitchFamily="2" charset="-122"/>
              </a:rPr>
              <a:t>p</a:t>
            </a:r>
            <a:r>
              <a:rPr lang="en-US" sz="4400" dirty="0">
                <a:solidFill>
                  <a:srgbClr val="000000"/>
                </a:solidFill>
                <a:effectLst/>
                <a:latin typeface="Times New Roman" panose="02020603050405020304" pitchFamily="18" charset="0"/>
                <a:ea typeface="SimSun" panose="02010600030101010101" pitchFamily="2" charset="-122"/>
              </a:rPr>
              <a:t> = .173, </a:t>
            </a:r>
            <a:r>
              <a:rPr lang="en-US" sz="4400" i="1" dirty="0" err="1">
                <a:solidFill>
                  <a:srgbClr val="000000"/>
                </a:solidFill>
                <a:effectLst/>
                <a:latin typeface="Times New Roman" panose="02020603050405020304" pitchFamily="18" charset="0"/>
                <a:ea typeface="SimSun" panose="02010600030101010101" pitchFamily="2" charset="-122"/>
              </a:rPr>
              <a:t>d</a:t>
            </a:r>
            <a:r>
              <a:rPr lang="en-US" sz="4400" baseline="-25000" dirty="0" err="1">
                <a:solidFill>
                  <a:srgbClr val="000000"/>
                </a:solidFill>
                <a:effectLst/>
                <a:latin typeface="Times New Roman" panose="02020603050405020304" pitchFamily="18" charset="0"/>
                <a:ea typeface="SimSun" panose="02010600030101010101" pitchFamily="2" charset="-122"/>
              </a:rPr>
              <a:t>z</a:t>
            </a:r>
            <a:r>
              <a:rPr lang="en-US" sz="4400" dirty="0">
                <a:solidFill>
                  <a:srgbClr val="000000"/>
                </a:solidFill>
                <a:effectLst/>
                <a:latin typeface="Times New Roman" panose="02020603050405020304" pitchFamily="18" charset="0"/>
                <a:ea typeface="SimSun" panose="02010600030101010101" pitchFamily="2" charset="-122"/>
              </a:rPr>
              <a:t> = -0.36. Regarding the number of fixations, we also observed no significant difference between the agent search (</a:t>
            </a:r>
            <a:r>
              <a:rPr lang="en-US" sz="4400" i="1" dirty="0">
                <a:solidFill>
                  <a:srgbClr val="000000"/>
                </a:solidFill>
                <a:effectLst/>
                <a:latin typeface="Times New Roman" panose="02020603050405020304" pitchFamily="18" charset="0"/>
                <a:ea typeface="SimSun" panose="02010600030101010101" pitchFamily="2" charset="-122"/>
              </a:rPr>
              <a:t>M</a:t>
            </a:r>
            <a:r>
              <a:rPr lang="en-US" sz="4400" dirty="0">
                <a:solidFill>
                  <a:srgbClr val="000000"/>
                </a:solidFill>
                <a:effectLst/>
                <a:latin typeface="Times New Roman" panose="02020603050405020304" pitchFamily="18" charset="0"/>
                <a:ea typeface="SimSun" panose="02010600030101010101" pitchFamily="2" charset="-122"/>
              </a:rPr>
              <a:t> = 3.02, </a:t>
            </a:r>
            <a:r>
              <a:rPr lang="en-US" sz="4400" i="1" dirty="0">
                <a:solidFill>
                  <a:srgbClr val="000000"/>
                </a:solidFill>
                <a:effectLst/>
                <a:latin typeface="Times New Roman" panose="02020603050405020304" pitchFamily="18" charset="0"/>
                <a:ea typeface="SimSun" panose="02010600030101010101" pitchFamily="2" charset="-122"/>
              </a:rPr>
              <a:t>SD</a:t>
            </a:r>
            <a:r>
              <a:rPr lang="en-US" sz="4400" dirty="0">
                <a:solidFill>
                  <a:srgbClr val="000000"/>
                </a:solidFill>
                <a:effectLst/>
                <a:latin typeface="Times New Roman" panose="02020603050405020304" pitchFamily="18" charset="0"/>
                <a:ea typeface="SimSun" panose="02010600030101010101" pitchFamily="2" charset="-122"/>
              </a:rPr>
              <a:t> = 0.42) and patient search (</a:t>
            </a:r>
            <a:r>
              <a:rPr lang="en-US" sz="4400" i="1" dirty="0">
                <a:solidFill>
                  <a:srgbClr val="000000"/>
                </a:solidFill>
                <a:effectLst/>
                <a:latin typeface="Times New Roman" panose="02020603050405020304" pitchFamily="18" charset="0"/>
                <a:ea typeface="SimSun" panose="02010600030101010101" pitchFamily="2" charset="-122"/>
              </a:rPr>
              <a:t>M</a:t>
            </a:r>
            <a:r>
              <a:rPr lang="en-US" sz="4400" dirty="0">
                <a:solidFill>
                  <a:srgbClr val="000000"/>
                </a:solidFill>
                <a:effectLst/>
                <a:latin typeface="Times New Roman" panose="02020603050405020304" pitchFamily="18" charset="0"/>
                <a:ea typeface="SimSun" panose="02010600030101010101" pitchFamily="2" charset="-122"/>
              </a:rPr>
              <a:t> = 3.29, </a:t>
            </a:r>
            <a:r>
              <a:rPr lang="en-US" sz="4400" i="1" dirty="0">
                <a:solidFill>
                  <a:srgbClr val="000000"/>
                </a:solidFill>
                <a:effectLst/>
                <a:latin typeface="Times New Roman" panose="02020603050405020304" pitchFamily="18" charset="0"/>
                <a:ea typeface="SimSun" panose="02010600030101010101" pitchFamily="2" charset="-122"/>
              </a:rPr>
              <a:t>SD</a:t>
            </a:r>
            <a:r>
              <a:rPr lang="en-US" sz="4400" dirty="0">
                <a:solidFill>
                  <a:srgbClr val="000000"/>
                </a:solidFill>
                <a:effectLst/>
                <a:latin typeface="Times New Roman" panose="02020603050405020304" pitchFamily="18" charset="0"/>
                <a:ea typeface="SimSun" panose="02010600030101010101" pitchFamily="2" charset="-122"/>
              </a:rPr>
              <a:t> = 0.58) conditions, </a:t>
            </a:r>
            <a:r>
              <a:rPr lang="en-US" sz="4400" i="1" dirty="0">
                <a:solidFill>
                  <a:srgbClr val="000000"/>
                </a:solidFill>
                <a:effectLst/>
                <a:latin typeface="Times New Roman" panose="02020603050405020304" pitchFamily="18" charset="0"/>
                <a:ea typeface="SimSun" panose="02010600030101010101" pitchFamily="2" charset="-122"/>
              </a:rPr>
              <a:t>t</a:t>
            </a:r>
            <a:r>
              <a:rPr lang="en-US" sz="4400" dirty="0">
                <a:solidFill>
                  <a:srgbClr val="000000"/>
                </a:solidFill>
                <a:effectLst/>
                <a:latin typeface="Times New Roman" panose="02020603050405020304" pitchFamily="18" charset="0"/>
                <a:ea typeface="SimSun" panose="02010600030101010101" pitchFamily="2" charset="-122"/>
              </a:rPr>
              <a:t>(15) = -2.00, </a:t>
            </a:r>
            <a:r>
              <a:rPr lang="en-US" sz="4400" i="1" dirty="0">
                <a:solidFill>
                  <a:srgbClr val="000000"/>
                </a:solidFill>
                <a:effectLst/>
                <a:latin typeface="Times New Roman" panose="02020603050405020304" pitchFamily="18" charset="0"/>
                <a:ea typeface="SimSun" panose="02010600030101010101" pitchFamily="2" charset="-122"/>
              </a:rPr>
              <a:t>p</a:t>
            </a:r>
            <a:r>
              <a:rPr lang="en-US" sz="4400" dirty="0">
                <a:solidFill>
                  <a:srgbClr val="000000"/>
                </a:solidFill>
                <a:effectLst/>
                <a:latin typeface="Times New Roman" panose="02020603050405020304" pitchFamily="18" charset="0"/>
                <a:ea typeface="SimSun" panose="02010600030101010101" pitchFamily="2" charset="-122"/>
              </a:rPr>
              <a:t> = .064</a:t>
            </a:r>
            <a:r>
              <a:rPr lang="en-US" sz="4400" dirty="0">
                <a:effectLst/>
                <a:latin typeface="Times New Roman" panose="02020603050405020304" pitchFamily="18" charset="0"/>
                <a:ea typeface="SimSun" panose="02010600030101010101" pitchFamily="2" charset="-122"/>
                <a:cs typeface="Times New Roman" panose="02020603050405020304" pitchFamily="18" charset="0"/>
              </a:rPr>
              <a:t>  </a:t>
            </a:r>
            <a:r>
              <a:rPr lang="en-US" sz="4400" dirty="0">
                <a:solidFill>
                  <a:srgbClr val="000000"/>
                </a:solidFill>
                <a:effectLst/>
                <a:latin typeface="Times New Roman" panose="02020603050405020304" pitchFamily="18" charset="0"/>
                <a:ea typeface="SimSun" panose="02010600030101010101" pitchFamily="2" charset="-122"/>
              </a:rPr>
              <a:t>,</a:t>
            </a:r>
            <a:r>
              <a:rPr lang="en-US" sz="4400" i="1" dirty="0">
                <a:solidFill>
                  <a:srgbClr val="000000"/>
                </a:solidFill>
                <a:effectLst/>
                <a:latin typeface="Times New Roman" panose="02020603050405020304" pitchFamily="18" charset="0"/>
                <a:ea typeface="SimSun" panose="02010600030101010101" pitchFamily="2" charset="-122"/>
              </a:rPr>
              <a:t> </a:t>
            </a:r>
            <a:r>
              <a:rPr lang="en-US" sz="4400" i="1" dirty="0" err="1">
                <a:solidFill>
                  <a:srgbClr val="000000"/>
                </a:solidFill>
                <a:effectLst/>
                <a:latin typeface="Times New Roman" panose="02020603050405020304" pitchFamily="18" charset="0"/>
                <a:ea typeface="SimSun" panose="02010600030101010101" pitchFamily="2" charset="-122"/>
              </a:rPr>
              <a:t>d</a:t>
            </a:r>
            <a:r>
              <a:rPr lang="en-US" sz="4400" baseline="-25000" dirty="0" err="1">
                <a:solidFill>
                  <a:srgbClr val="000000"/>
                </a:solidFill>
                <a:effectLst/>
                <a:latin typeface="Times New Roman" panose="02020603050405020304" pitchFamily="18" charset="0"/>
                <a:ea typeface="SimSun" panose="02010600030101010101" pitchFamily="2" charset="-122"/>
              </a:rPr>
              <a:t>z</a:t>
            </a:r>
            <a:r>
              <a:rPr lang="en-US" sz="4400" dirty="0">
                <a:solidFill>
                  <a:srgbClr val="000000"/>
                </a:solidFill>
                <a:effectLst/>
                <a:latin typeface="Times New Roman" panose="02020603050405020304" pitchFamily="18" charset="0"/>
                <a:ea typeface="SimSun" panose="02010600030101010101" pitchFamily="2" charset="-122"/>
              </a:rPr>
              <a:t> = -0.50.</a:t>
            </a:r>
            <a:endParaRPr lang="en-US" sz="4400" dirty="0">
              <a:effectLst/>
              <a:latin typeface="Times New Roman" panose="02020603050405020304" pitchFamily="18" charset="0"/>
              <a:ea typeface="SimSun" panose="02010600030101010101" pitchFamily="2" charset="-122"/>
            </a:endParaRPr>
          </a:p>
          <a:p>
            <a:pPr marL="0" marR="0" indent="0">
              <a:spcBef>
                <a:spcPts val="0"/>
              </a:spcBef>
              <a:spcAft>
                <a:spcPts val="0"/>
              </a:spcAft>
            </a:pPr>
            <a:r>
              <a:rPr lang="en-US" sz="4400" dirty="0">
                <a:effectLst/>
                <a:latin typeface="Times New Roman" panose="02020603050405020304" pitchFamily="18" charset="0"/>
                <a:ea typeface="SimSun" panose="02010600030101010101" pitchFamily="2" charset="-122"/>
                <a:cs typeface="Times New Roman" panose="02020603050405020304" pitchFamily="18" charset="0"/>
              </a:rPr>
              <a:t> </a:t>
            </a:r>
            <a:r>
              <a:rPr lang="en-US" sz="4400" dirty="0">
                <a:effectLst/>
                <a:latin typeface="Cambria" panose="02040503050406030204" pitchFamily="18" charset="0"/>
                <a:ea typeface="SimSun" panose="02010600030101010101" pitchFamily="2" charset="-122"/>
                <a:cs typeface="Times New Roman" panose="02020603050405020304" pitchFamily="18" charset="0"/>
              </a:rPr>
              <a:t>Reviewer 2, point 7:</a:t>
            </a:r>
            <a:br>
              <a:rPr lang="en-US" sz="4400" dirty="0">
                <a:effectLst/>
                <a:latin typeface="Cambria" panose="02040503050406030204" pitchFamily="18" charset="0"/>
                <a:ea typeface="SimSun" panose="02010600030101010101" pitchFamily="2" charset="-122"/>
                <a:cs typeface="Times New Roman" panose="02020603050405020304" pitchFamily="18" charset="0"/>
              </a:rPr>
            </a:br>
            <a:r>
              <a:rPr lang="en-US" sz="4400" dirty="0">
                <a:effectLst/>
                <a:latin typeface="Cambria" panose="02040503050406030204" pitchFamily="18" charset="0"/>
                <a:ea typeface="SimSun" panose="02010600030101010101" pitchFamily="2" charset="-122"/>
                <a:cs typeface="Times New Roman" panose="02020603050405020304" pitchFamily="18" charset="0"/>
              </a:rPr>
              <a:t>Like the authors, I was puzzled that the Patient search condition would feature more last fixations on Patients than Agents, but for there also to be no overall significant difference in the number of fixations in the two conditions. The authors provide some possible reasons for this in the General Discussion paragraph starting on line 331. But I think the authors might be making too much of the lack of significant difference here. The effect is marginal  (line 206) at p = .064, so despite not meeting the "p = .05" bar, perhaps one could argue that this provides at least some tentative evidence that the number of fixations differs. Maybe it would have been observed with more data.</a:t>
            </a:r>
          </a:p>
          <a:p>
            <a:pPr marL="0" marR="0" indent="0">
              <a:spcBef>
                <a:spcPts val="0"/>
              </a:spcBef>
              <a:spcAft>
                <a:spcPts val="0"/>
              </a:spcAft>
            </a:pPr>
            <a:r>
              <a:rPr lang="en-US" sz="4400" dirty="0">
                <a:effectLst/>
                <a:latin typeface="Times New Roman" panose="02020603050405020304" pitchFamily="18" charset="0"/>
                <a:ea typeface="SimSun" panose="02010600030101010101" pitchFamily="2" charset="-122"/>
                <a:cs typeface="Times New Roman" panose="02020603050405020304" pitchFamily="18" charset="0"/>
              </a:rPr>
              <a:t> </a:t>
            </a:r>
            <a:r>
              <a:rPr lang="en-US" sz="4400" dirty="0">
                <a:effectLst/>
                <a:latin typeface="Cambria" panose="02040503050406030204" pitchFamily="18" charset="0"/>
                <a:ea typeface="SimSun" panose="02010600030101010101" pitchFamily="2" charset="-122"/>
                <a:cs typeface="Times New Roman" panose="02020603050405020304" pitchFamily="18" charset="0"/>
              </a:rPr>
              <a:t>Which means more data.</a:t>
            </a:r>
          </a:p>
          <a:p>
            <a:endParaRPr lang="en-US" dirty="0"/>
          </a:p>
        </p:txBody>
      </p:sp>
      <p:sp>
        <p:nvSpPr>
          <p:cNvPr id="4" name="Slide Number Placeholder 3"/>
          <p:cNvSpPr>
            <a:spLocks noGrp="1"/>
          </p:cNvSpPr>
          <p:nvPr>
            <p:ph type="sldNum" sz="quarter" idx="5"/>
          </p:nvPr>
        </p:nvSpPr>
        <p:spPr/>
        <p:txBody>
          <a:bodyPr/>
          <a:lstStyle/>
          <a:p>
            <a:fld id="{76117C67-C18E-41B6-AEB0-6520CF16A7FE}" type="slidenum">
              <a:rPr lang="de-DE" altLang="de-DE" smtClean="0"/>
              <a:pPr/>
              <a:t>45</a:t>
            </a:fld>
            <a:endParaRPr lang="de-DE" altLang="de-DE"/>
          </a:p>
        </p:txBody>
      </p:sp>
    </p:spTree>
    <p:extLst>
      <p:ext uri="{BB962C8B-B14F-4D97-AF65-F5344CB8AC3E}">
        <p14:creationId xmlns:p14="http://schemas.microsoft.com/office/powerpoint/2010/main" val="143974671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each bin,  mean proportion of time participants fixated on the </a:t>
            </a:r>
          </a:p>
          <a:p>
            <a:r>
              <a:rPr lang="en-US" dirty="0"/>
              <a:t>This suggested that at the beginning of the trial, the proportion of fixation on the agent fish and the patient fish was similar during both the agent search and the patient search. However, toward the end of the search task, just before participants made their decision, it seemed that there might be a higher proportion of fixation on the patient fish compared to the agent fish during the patient search but not the agent search.</a:t>
            </a:r>
          </a:p>
        </p:txBody>
      </p:sp>
      <p:sp>
        <p:nvSpPr>
          <p:cNvPr id="4" name="Slide Number Placeholder 3"/>
          <p:cNvSpPr>
            <a:spLocks noGrp="1"/>
          </p:cNvSpPr>
          <p:nvPr>
            <p:ph type="sldNum" sz="quarter" idx="5"/>
          </p:nvPr>
        </p:nvSpPr>
        <p:spPr/>
        <p:txBody>
          <a:bodyPr/>
          <a:lstStyle/>
          <a:p>
            <a:fld id="{76117C67-C18E-41B6-AEB0-6520CF16A7FE}" type="slidenum">
              <a:rPr lang="de-DE" altLang="de-DE" smtClean="0"/>
              <a:pPr/>
              <a:t>46</a:t>
            </a:fld>
            <a:endParaRPr lang="de-DE" altLang="de-DE"/>
          </a:p>
        </p:txBody>
      </p:sp>
    </p:spTree>
    <p:extLst>
      <p:ext uri="{BB962C8B-B14F-4D97-AF65-F5344CB8AC3E}">
        <p14:creationId xmlns:p14="http://schemas.microsoft.com/office/powerpoint/2010/main" val="232698458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dirty="0">
                <a:solidFill>
                  <a:srgbClr val="000000"/>
                </a:solidFill>
                <a:effectLst/>
                <a:latin typeface="Times New Roman" panose="02020603050405020304" pitchFamily="18" charset="0"/>
                <a:ea typeface="SimSun" panose="02010600030101010101" pitchFamily="2" charset="-122"/>
              </a:rPr>
              <a:t>we were interested in whether those participants that showed a stronger influence of the search task on their last fixation toward the patient fish were also the participants that showed a stronger agent advantage effect in reaction times.</a:t>
            </a:r>
            <a:endParaRPr lang="en-US" dirty="0"/>
          </a:p>
        </p:txBody>
      </p:sp>
      <p:sp>
        <p:nvSpPr>
          <p:cNvPr id="4" name="Slide Number Placeholder 3"/>
          <p:cNvSpPr>
            <a:spLocks noGrp="1"/>
          </p:cNvSpPr>
          <p:nvPr>
            <p:ph type="sldNum" sz="quarter" idx="5"/>
          </p:nvPr>
        </p:nvSpPr>
        <p:spPr/>
        <p:txBody>
          <a:bodyPr/>
          <a:lstStyle/>
          <a:p>
            <a:fld id="{76117C67-C18E-41B6-AEB0-6520CF16A7FE}" type="slidenum">
              <a:rPr lang="de-DE" altLang="de-DE" smtClean="0"/>
              <a:pPr/>
              <a:t>47</a:t>
            </a:fld>
            <a:endParaRPr lang="de-DE" altLang="de-DE"/>
          </a:p>
        </p:txBody>
      </p:sp>
    </p:spTree>
    <p:extLst>
      <p:ext uri="{BB962C8B-B14F-4D97-AF65-F5344CB8AC3E}">
        <p14:creationId xmlns:p14="http://schemas.microsoft.com/office/powerpoint/2010/main" val="394757677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ts val="1600"/>
              </a:lnSpc>
              <a:spcBef>
                <a:spcPts val="800"/>
              </a:spcBef>
              <a:spcAft>
                <a:spcPct val="0"/>
              </a:spcAft>
              <a:buClrTx/>
              <a:buSzTx/>
              <a:buFontTx/>
              <a:buNone/>
              <a:tabLst/>
              <a:defRPr/>
            </a:pPr>
            <a:r>
              <a:rPr lang="en-US" sz="1400" dirty="0">
                <a:solidFill>
                  <a:srgbClr val="000000"/>
                </a:solidFill>
                <a:latin typeface="Calibri" panose="020F0502020204030204" pitchFamily="34" charset="0"/>
                <a:ea typeface="SimSun" panose="02010600030101010101" pitchFamily="2" charset="-122"/>
                <a:cs typeface="Calibri" panose="020F0502020204030204" pitchFamily="34" charset="0"/>
              </a:rPr>
              <a:t>Each image was subtended 20.4° visual angle horizontally and 15.4° vertically.</a:t>
            </a:r>
          </a:p>
          <a:p>
            <a:endParaRPr lang="en-US" dirty="0"/>
          </a:p>
        </p:txBody>
      </p:sp>
      <p:sp>
        <p:nvSpPr>
          <p:cNvPr id="4" name="Slide Number Placeholder 3"/>
          <p:cNvSpPr>
            <a:spLocks noGrp="1"/>
          </p:cNvSpPr>
          <p:nvPr>
            <p:ph type="sldNum" sz="quarter" idx="5"/>
          </p:nvPr>
        </p:nvSpPr>
        <p:spPr/>
        <p:txBody>
          <a:bodyPr/>
          <a:lstStyle/>
          <a:p>
            <a:fld id="{76117C67-C18E-41B6-AEB0-6520CF16A7FE}" type="slidenum">
              <a:rPr lang="de-DE" altLang="de-DE" smtClean="0"/>
              <a:pPr/>
              <a:t>53</a:t>
            </a:fld>
            <a:endParaRPr lang="de-DE" altLang="de-DE"/>
          </a:p>
        </p:txBody>
      </p:sp>
    </p:spTree>
    <p:extLst>
      <p:ext uri="{BB962C8B-B14F-4D97-AF65-F5344CB8AC3E}">
        <p14:creationId xmlns:p14="http://schemas.microsoft.com/office/powerpoint/2010/main" val="73192722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ts val="1600"/>
              </a:lnSpc>
              <a:spcBef>
                <a:spcPts val="800"/>
              </a:spcBef>
              <a:spcAft>
                <a:spcPct val="0"/>
              </a:spcAft>
              <a:buClrTx/>
              <a:buSzTx/>
              <a:buFontTx/>
              <a:buNone/>
              <a:tabLst/>
              <a:defRPr/>
            </a:pPr>
            <a:r>
              <a:rPr lang="en-US" sz="1400" dirty="0">
                <a:solidFill>
                  <a:srgbClr val="000000"/>
                </a:solidFill>
                <a:latin typeface="Calibri" panose="020F0502020204030204" pitchFamily="34" charset="0"/>
                <a:ea typeface="SimSun" panose="02010600030101010101" pitchFamily="2" charset="-122"/>
                <a:cs typeface="Calibri" panose="020F0502020204030204" pitchFamily="34" charset="0"/>
              </a:rPr>
              <a:t>Each image was subtended 20.4° visual angle horizontally and 15.4° vertically.</a:t>
            </a:r>
          </a:p>
          <a:p>
            <a:endParaRPr lang="en-US" dirty="0"/>
          </a:p>
        </p:txBody>
      </p:sp>
      <p:sp>
        <p:nvSpPr>
          <p:cNvPr id="4" name="Slide Number Placeholder 3"/>
          <p:cNvSpPr>
            <a:spLocks noGrp="1"/>
          </p:cNvSpPr>
          <p:nvPr>
            <p:ph type="sldNum" sz="quarter" idx="5"/>
          </p:nvPr>
        </p:nvSpPr>
        <p:spPr/>
        <p:txBody>
          <a:bodyPr/>
          <a:lstStyle/>
          <a:p>
            <a:fld id="{76117C67-C18E-41B6-AEB0-6520CF16A7FE}" type="slidenum">
              <a:rPr lang="de-DE" altLang="de-DE" smtClean="0"/>
              <a:pPr/>
              <a:t>54</a:t>
            </a:fld>
            <a:endParaRPr lang="de-DE" altLang="de-DE"/>
          </a:p>
        </p:txBody>
      </p:sp>
    </p:spTree>
    <p:extLst>
      <p:ext uri="{BB962C8B-B14F-4D97-AF65-F5344CB8AC3E}">
        <p14:creationId xmlns:p14="http://schemas.microsoft.com/office/powerpoint/2010/main" val="25345407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ts val="1600"/>
              </a:lnSpc>
              <a:spcBef>
                <a:spcPts val="800"/>
              </a:spcBef>
              <a:spcAft>
                <a:spcPct val="0"/>
              </a:spcAft>
              <a:buClrTx/>
              <a:buSzTx/>
              <a:buFontTx/>
              <a:buNone/>
              <a:tabLst/>
              <a:defRPr/>
            </a:pPr>
            <a:r>
              <a:rPr lang="en-US" sz="1400" dirty="0">
                <a:solidFill>
                  <a:srgbClr val="000000"/>
                </a:solidFill>
                <a:latin typeface="Calibri" panose="020F0502020204030204" pitchFamily="34" charset="0"/>
                <a:ea typeface="SimSun" panose="02010600030101010101" pitchFamily="2" charset="-122"/>
                <a:cs typeface="Calibri" panose="020F0502020204030204" pitchFamily="34" charset="0"/>
              </a:rPr>
              <a:t>Each image was subtended 20.4° visual angle horizontally and 15.4° vertically.</a:t>
            </a:r>
          </a:p>
          <a:p>
            <a:endParaRPr lang="en-US" dirty="0"/>
          </a:p>
        </p:txBody>
      </p:sp>
      <p:sp>
        <p:nvSpPr>
          <p:cNvPr id="4" name="Slide Number Placeholder 3"/>
          <p:cNvSpPr>
            <a:spLocks noGrp="1"/>
          </p:cNvSpPr>
          <p:nvPr>
            <p:ph type="sldNum" sz="quarter" idx="5"/>
          </p:nvPr>
        </p:nvSpPr>
        <p:spPr/>
        <p:txBody>
          <a:bodyPr/>
          <a:lstStyle/>
          <a:p>
            <a:fld id="{76117C67-C18E-41B6-AEB0-6520CF16A7FE}" type="slidenum">
              <a:rPr lang="de-DE" altLang="de-DE" smtClean="0"/>
              <a:pPr/>
              <a:t>55</a:t>
            </a:fld>
            <a:endParaRPr lang="de-DE" altLang="de-DE"/>
          </a:p>
        </p:txBody>
      </p:sp>
    </p:spTree>
    <p:extLst>
      <p:ext uri="{BB962C8B-B14F-4D97-AF65-F5344CB8AC3E}">
        <p14:creationId xmlns:p14="http://schemas.microsoft.com/office/powerpoint/2010/main" val="374411040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ts val="1600"/>
              </a:lnSpc>
              <a:spcBef>
                <a:spcPts val="800"/>
              </a:spcBef>
              <a:spcAft>
                <a:spcPct val="0"/>
              </a:spcAft>
              <a:buClrTx/>
              <a:buSzTx/>
              <a:buFontTx/>
              <a:buNone/>
              <a:tabLst/>
              <a:defRPr/>
            </a:pPr>
            <a:r>
              <a:rPr lang="en-US" sz="1400" dirty="0">
                <a:solidFill>
                  <a:srgbClr val="000000"/>
                </a:solidFill>
                <a:latin typeface="Calibri" panose="020F0502020204030204" pitchFamily="34" charset="0"/>
                <a:ea typeface="SimSun" panose="02010600030101010101" pitchFamily="2" charset="-122"/>
                <a:cs typeface="Calibri" panose="020F0502020204030204" pitchFamily="34" charset="0"/>
              </a:rPr>
              <a:t>Each image was subtended 20.4° visual angle horizontally and 15.4° vertically.</a:t>
            </a:r>
          </a:p>
          <a:p>
            <a:endParaRPr lang="en-US" dirty="0"/>
          </a:p>
        </p:txBody>
      </p:sp>
      <p:sp>
        <p:nvSpPr>
          <p:cNvPr id="4" name="Slide Number Placeholder 3"/>
          <p:cNvSpPr>
            <a:spLocks noGrp="1"/>
          </p:cNvSpPr>
          <p:nvPr>
            <p:ph type="sldNum" sz="quarter" idx="5"/>
          </p:nvPr>
        </p:nvSpPr>
        <p:spPr/>
        <p:txBody>
          <a:bodyPr/>
          <a:lstStyle/>
          <a:p>
            <a:fld id="{76117C67-C18E-41B6-AEB0-6520CF16A7FE}" type="slidenum">
              <a:rPr lang="de-DE" altLang="de-DE" smtClean="0"/>
              <a:pPr/>
              <a:t>56</a:t>
            </a:fld>
            <a:endParaRPr lang="de-DE" altLang="de-DE"/>
          </a:p>
        </p:txBody>
      </p:sp>
    </p:spTree>
    <p:extLst>
      <p:ext uri="{BB962C8B-B14F-4D97-AF65-F5344CB8AC3E}">
        <p14:creationId xmlns:p14="http://schemas.microsoft.com/office/powerpoint/2010/main" val="24593457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Innenseite mit Fußzeile">
    <p:spTree>
      <p:nvGrpSpPr>
        <p:cNvPr id="1" name=""/>
        <p:cNvGrpSpPr/>
        <p:nvPr/>
      </p:nvGrpSpPr>
      <p:grpSpPr>
        <a:xfrm>
          <a:off x="0" y="0"/>
          <a:ext cx="0" cy="0"/>
          <a:chOff x="0" y="0"/>
          <a:chExt cx="0" cy="0"/>
        </a:xfrm>
      </p:grpSpPr>
      <p:sp>
        <p:nvSpPr>
          <p:cNvPr id="4" name="Foliennummernplatzhalter 3"/>
          <p:cNvSpPr txBox="1">
            <a:spLocks/>
          </p:cNvSpPr>
          <p:nvPr userDrawn="1"/>
        </p:nvSpPr>
        <p:spPr bwMode="auto">
          <a:xfrm>
            <a:off x="360363" y="6605588"/>
            <a:ext cx="7612062" cy="115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eaLnBrk="0" hangingPunct="0">
              <a:tabLst>
                <a:tab pos="7702550" algn="r"/>
              </a:tabLst>
              <a:defRPr>
                <a:solidFill>
                  <a:schemeClr val="tx1"/>
                </a:solidFill>
                <a:latin typeface="Arial" charset="0"/>
                <a:cs typeface="Arial" charset="0"/>
              </a:defRPr>
            </a:lvl1pPr>
            <a:lvl2pPr marL="742950" indent="-285750" eaLnBrk="0" hangingPunct="0">
              <a:tabLst>
                <a:tab pos="7702550" algn="r"/>
              </a:tabLst>
              <a:defRPr>
                <a:solidFill>
                  <a:schemeClr val="tx1"/>
                </a:solidFill>
                <a:latin typeface="Arial" charset="0"/>
                <a:cs typeface="Arial" charset="0"/>
              </a:defRPr>
            </a:lvl2pPr>
            <a:lvl3pPr marL="1143000" indent="-228600" eaLnBrk="0" hangingPunct="0">
              <a:tabLst>
                <a:tab pos="7702550" algn="r"/>
              </a:tabLst>
              <a:defRPr>
                <a:solidFill>
                  <a:schemeClr val="tx1"/>
                </a:solidFill>
                <a:latin typeface="Arial" charset="0"/>
                <a:cs typeface="Arial" charset="0"/>
              </a:defRPr>
            </a:lvl3pPr>
            <a:lvl4pPr marL="1600200" indent="-228600" eaLnBrk="0" hangingPunct="0">
              <a:tabLst>
                <a:tab pos="7702550" algn="r"/>
              </a:tabLst>
              <a:defRPr>
                <a:solidFill>
                  <a:schemeClr val="tx1"/>
                </a:solidFill>
                <a:latin typeface="Arial" charset="0"/>
                <a:cs typeface="Arial" charset="0"/>
              </a:defRPr>
            </a:lvl4pPr>
            <a:lvl5pPr marL="2057400" indent="-228600" eaLnBrk="0" hangingPunct="0">
              <a:tabLst>
                <a:tab pos="7702550" algn="r"/>
              </a:tabLst>
              <a:defRPr>
                <a:solidFill>
                  <a:schemeClr val="tx1"/>
                </a:solidFill>
                <a:latin typeface="Arial" charset="0"/>
                <a:cs typeface="Arial" charset="0"/>
              </a:defRPr>
            </a:lvl5pPr>
            <a:lvl6pPr marL="2514600" indent="-228600" eaLnBrk="0" fontAlgn="base" hangingPunct="0">
              <a:spcBef>
                <a:spcPct val="0"/>
              </a:spcBef>
              <a:spcAft>
                <a:spcPct val="0"/>
              </a:spcAft>
              <a:tabLst>
                <a:tab pos="7702550" algn="r"/>
              </a:tabLst>
              <a:defRPr>
                <a:solidFill>
                  <a:schemeClr val="tx1"/>
                </a:solidFill>
                <a:latin typeface="Arial" charset="0"/>
                <a:cs typeface="Arial" charset="0"/>
              </a:defRPr>
            </a:lvl6pPr>
            <a:lvl7pPr marL="2971800" indent="-228600" eaLnBrk="0" fontAlgn="base" hangingPunct="0">
              <a:spcBef>
                <a:spcPct val="0"/>
              </a:spcBef>
              <a:spcAft>
                <a:spcPct val="0"/>
              </a:spcAft>
              <a:tabLst>
                <a:tab pos="7702550" algn="r"/>
              </a:tabLst>
              <a:defRPr>
                <a:solidFill>
                  <a:schemeClr val="tx1"/>
                </a:solidFill>
                <a:latin typeface="Arial" charset="0"/>
                <a:cs typeface="Arial" charset="0"/>
              </a:defRPr>
            </a:lvl7pPr>
            <a:lvl8pPr marL="3429000" indent="-228600" eaLnBrk="0" fontAlgn="base" hangingPunct="0">
              <a:spcBef>
                <a:spcPct val="0"/>
              </a:spcBef>
              <a:spcAft>
                <a:spcPct val="0"/>
              </a:spcAft>
              <a:tabLst>
                <a:tab pos="7702550" algn="r"/>
              </a:tabLst>
              <a:defRPr>
                <a:solidFill>
                  <a:schemeClr val="tx1"/>
                </a:solidFill>
                <a:latin typeface="Arial" charset="0"/>
                <a:cs typeface="Arial" charset="0"/>
              </a:defRPr>
            </a:lvl8pPr>
            <a:lvl9pPr marL="3886200" indent="-228600" eaLnBrk="0" fontAlgn="base" hangingPunct="0">
              <a:spcBef>
                <a:spcPct val="0"/>
              </a:spcBef>
              <a:spcAft>
                <a:spcPct val="0"/>
              </a:spcAft>
              <a:tabLst>
                <a:tab pos="7702550" algn="r"/>
              </a:tabLst>
              <a:defRPr>
                <a:solidFill>
                  <a:schemeClr val="tx1"/>
                </a:solidFill>
                <a:latin typeface="Arial" charset="0"/>
                <a:cs typeface="Arial" charset="0"/>
              </a:defRPr>
            </a:lvl9pPr>
          </a:lstStyle>
          <a:p>
            <a:pPr marL="0" marR="0" indent="0" algn="l" defTabSz="914400" rtl="0" eaLnBrk="1" fontAlgn="base" latinLnBrk="0" hangingPunct="1">
              <a:lnSpc>
                <a:spcPct val="100000"/>
              </a:lnSpc>
              <a:spcBef>
                <a:spcPct val="0"/>
              </a:spcBef>
              <a:spcAft>
                <a:spcPct val="0"/>
              </a:spcAft>
              <a:buClrTx/>
              <a:buSzTx/>
              <a:buFontTx/>
              <a:buNone/>
              <a:tabLst>
                <a:tab pos="7702550" algn="r"/>
              </a:tabLst>
              <a:defRPr/>
            </a:pPr>
            <a:r>
              <a:rPr lang="de-DE" altLang="de-DE" sz="750" kern="1200" dirty="0">
                <a:solidFill>
                  <a:srgbClr val="000000"/>
                </a:solidFill>
                <a:latin typeface="Arial" charset="0"/>
                <a:ea typeface="+mn-ea"/>
                <a:cs typeface="Arial" charset="0"/>
              </a:rPr>
              <a:t>Fußzeile bearbeiten/entfernen: Register Ansicht &gt; Folienmaster &gt; Layout 2 „Innenseite mit Fußzeile“ auswählen &gt; Fußzeile überschreiben bzw. löschen. Zurück: Ansicht &gt; Normal</a:t>
            </a:r>
          </a:p>
        </p:txBody>
      </p:sp>
      <p:sp>
        <p:nvSpPr>
          <p:cNvPr id="5" name="Foliennummernplatzhalter 3"/>
          <p:cNvSpPr txBox="1">
            <a:spLocks/>
          </p:cNvSpPr>
          <p:nvPr userDrawn="1"/>
        </p:nvSpPr>
        <p:spPr bwMode="auto">
          <a:xfrm>
            <a:off x="8170606" y="6605588"/>
            <a:ext cx="613032"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tabLst>
                <a:tab pos="7702550" algn="r"/>
              </a:tabLst>
              <a:defRPr>
                <a:solidFill>
                  <a:schemeClr val="tx1"/>
                </a:solidFill>
                <a:latin typeface="Arial" panose="020B0604020202020204" pitchFamily="34" charset="0"/>
                <a:cs typeface="Arial" panose="020B0604020202020204" pitchFamily="34" charset="0"/>
              </a:defRPr>
            </a:lvl1pPr>
            <a:lvl2pPr marL="742950" indent="-285750" eaLnBrk="0" hangingPunct="0">
              <a:tabLst>
                <a:tab pos="7702550" algn="r"/>
              </a:tabLst>
              <a:defRPr>
                <a:solidFill>
                  <a:schemeClr val="tx1"/>
                </a:solidFill>
                <a:latin typeface="Arial" panose="020B0604020202020204" pitchFamily="34" charset="0"/>
                <a:cs typeface="Arial" panose="020B0604020202020204" pitchFamily="34" charset="0"/>
              </a:defRPr>
            </a:lvl2pPr>
            <a:lvl3pPr marL="1143000" indent="-228600" eaLnBrk="0" hangingPunct="0">
              <a:tabLst>
                <a:tab pos="7702550" algn="r"/>
              </a:tabLst>
              <a:defRPr>
                <a:solidFill>
                  <a:schemeClr val="tx1"/>
                </a:solidFill>
                <a:latin typeface="Arial" panose="020B0604020202020204" pitchFamily="34" charset="0"/>
                <a:cs typeface="Arial" panose="020B0604020202020204" pitchFamily="34" charset="0"/>
              </a:defRPr>
            </a:lvl3pPr>
            <a:lvl4pPr marL="1600200" indent="-228600" eaLnBrk="0" hangingPunct="0">
              <a:tabLst>
                <a:tab pos="7702550" algn="r"/>
              </a:tabLst>
              <a:defRPr>
                <a:solidFill>
                  <a:schemeClr val="tx1"/>
                </a:solidFill>
                <a:latin typeface="Arial" panose="020B0604020202020204" pitchFamily="34" charset="0"/>
                <a:cs typeface="Arial" panose="020B0604020202020204" pitchFamily="34" charset="0"/>
              </a:defRPr>
            </a:lvl4pPr>
            <a:lvl5pPr marL="2057400" indent="-228600" eaLnBrk="0" hangingPunct="0">
              <a:tabLst>
                <a:tab pos="7702550" algn="r"/>
              </a:tabLst>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tabLst>
                <a:tab pos="7702550" algn="r"/>
              </a:tabLs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tabLst>
                <a:tab pos="7702550" algn="r"/>
              </a:tabLs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tabLst>
                <a:tab pos="7702550" algn="r"/>
              </a:tabLs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tabLst>
                <a:tab pos="7702550" algn="r"/>
              </a:tabLst>
              <a:defRPr>
                <a:solidFill>
                  <a:schemeClr val="tx1"/>
                </a:solidFill>
                <a:latin typeface="Arial" panose="020B0604020202020204" pitchFamily="34" charset="0"/>
                <a:cs typeface="Arial" panose="020B0604020202020204" pitchFamily="34" charset="0"/>
              </a:defRPr>
            </a:lvl9pPr>
          </a:lstStyle>
          <a:p>
            <a:pPr algn="r" eaLnBrk="1" hangingPunct="1"/>
            <a:r>
              <a:rPr lang="de-DE" altLang="de-DE" sz="800">
                <a:solidFill>
                  <a:srgbClr val="000000"/>
                </a:solidFill>
              </a:rPr>
              <a:t> |  </a:t>
            </a:r>
            <a:fld id="{1021C079-68E6-4921-8777-B7BCE6190042}" type="slidenum">
              <a:rPr lang="de-DE" altLang="de-DE" sz="800">
                <a:solidFill>
                  <a:srgbClr val="000000"/>
                </a:solidFill>
              </a:rPr>
              <a:pPr algn="r" eaLnBrk="1" hangingPunct="1"/>
              <a:t>‹#›</a:t>
            </a:fld>
            <a:endParaRPr lang="de-DE" altLang="de-DE" sz="800">
              <a:solidFill>
                <a:srgbClr val="000000"/>
              </a:solidFill>
            </a:endParaRPr>
          </a:p>
        </p:txBody>
      </p:sp>
      <p:sp>
        <p:nvSpPr>
          <p:cNvPr id="8" name="Textplatzhalter 7"/>
          <p:cNvSpPr>
            <a:spLocks noGrp="1"/>
          </p:cNvSpPr>
          <p:nvPr>
            <p:ph type="body" sz="quarter" idx="11"/>
          </p:nvPr>
        </p:nvSpPr>
        <p:spPr>
          <a:xfrm>
            <a:off x="360000" y="2314800"/>
            <a:ext cx="8428037" cy="276999"/>
          </a:xfrm>
          <a:prstGeom prst="rect">
            <a:avLst/>
          </a:prstGeom>
        </p:spPr>
        <p:txBody>
          <a:bodyPr wrap="square" lIns="0" tIns="0" rIns="0" bIns="0">
            <a:spAutoFit/>
          </a:bodyPr>
          <a:lstStyle>
            <a:lvl1pPr marL="180975" indent="-180975">
              <a:lnSpc>
                <a:spcPct val="100000"/>
              </a:lnSpc>
              <a:spcAft>
                <a:spcPts val="800"/>
              </a:spcAft>
              <a:buFont typeface="Arial" panose="020B0604020202020204" pitchFamily="34" charset="0"/>
              <a:buChar char="•"/>
              <a:defRPr sz="1800" baseline="0"/>
            </a:lvl1pPr>
            <a:lvl2pPr marL="358775" indent="-177800">
              <a:lnSpc>
                <a:spcPct val="100000"/>
              </a:lnSpc>
              <a:spcAft>
                <a:spcPts val="600"/>
              </a:spcAft>
              <a:buSzPct val="100000"/>
              <a:buFont typeface="Arial" panose="020B0604020202020204" pitchFamily="34" charset="0"/>
              <a:buChar char="•"/>
              <a:tabLst>
                <a:tab pos="358775" algn="l"/>
              </a:tabLst>
              <a:defRPr sz="1600"/>
            </a:lvl2pPr>
            <a:lvl3pPr marL="539750" indent="-180975">
              <a:lnSpc>
                <a:spcPct val="100000"/>
              </a:lnSpc>
              <a:spcAft>
                <a:spcPts val="400"/>
              </a:spcAft>
              <a:buFont typeface="Arial" panose="020B0604020202020204" pitchFamily="34" charset="0"/>
              <a:buChar char="•"/>
              <a:defRPr/>
            </a:lvl3pPr>
            <a:lvl4pPr marL="711200" indent="-171450">
              <a:lnSpc>
                <a:spcPct val="100000"/>
              </a:lnSpc>
              <a:spcAft>
                <a:spcPts val="200"/>
              </a:spcAft>
              <a:buFont typeface="Arial" panose="020B0604020202020204" pitchFamily="34" charset="0"/>
              <a:buChar char="•"/>
              <a:defRPr/>
            </a:lvl4pPr>
            <a:lvl5pPr marL="887413" indent="-171450">
              <a:lnSpc>
                <a:spcPct val="100000"/>
              </a:lnSpc>
              <a:spcAft>
                <a:spcPts val="100"/>
              </a:spcAft>
              <a:buFont typeface="Arial" panose="020B0604020202020204" pitchFamily="34" charset="0"/>
              <a:buChar char="•"/>
              <a:defRPr sz="1100"/>
            </a:lvl5pPr>
          </a:lstStyle>
          <a:p>
            <a:pPr lvl="0"/>
            <a:endParaRPr lang="de-DE" dirty="0"/>
          </a:p>
        </p:txBody>
      </p:sp>
      <p:sp>
        <p:nvSpPr>
          <p:cNvPr id="6" name="Textplatzhalter 5"/>
          <p:cNvSpPr>
            <a:spLocks noGrp="1"/>
          </p:cNvSpPr>
          <p:nvPr>
            <p:ph type="body" sz="quarter" idx="12"/>
          </p:nvPr>
        </p:nvSpPr>
        <p:spPr>
          <a:xfrm>
            <a:off x="360362" y="1385888"/>
            <a:ext cx="8427600" cy="705712"/>
          </a:xfrm>
          <a:prstGeom prst="rect">
            <a:avLst/>
          </a:prstGeom>
        </p:spPr>
        <p:txBody>
          <a:bodyPr lIns="0" tIns="0" rIns="0" bIns="0" anchor="b" anchorCtr="0"/>
          <a:lstStyle>
            <a:lvl1pPr marL="0" indent="0">
              <a:lnSpc>
                <a:spcPct val="100000"/>
              </a:lnSpc>
              <a:buNone/>
              <a:defRPr sz="2200" b="1">
                <a:latin typeface="+mn-lt"/>
              </a:defRPr>
            </a:lvl1pPr>
          </a:lstStyle>
          <a:p>
            <a:pPr lvl="0"/>
            <a:endParaRPr lang="de-DE" dirty="0"/>
          </a:p>
        </p:txBody>
      </p:sp>
    </p:spTree>
    <p:extLst>
      <p:ext uri="{BB962C8B-B14F-4D97-AF65-F5344CB8AC3E}">
        <p14:creationId xmlns:p14="http://schemas.microsoft.com/office/powerpoint/2010/main" val="30982529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Titelseite">
    <p:spTree>
      <p:nvGrpSpPr>
        <p:cNvPr id="1" name=""/>
        <p:cNvGrpSpPr/>
        <p:nvPr/>
      </p:nvGrpSpPr>
      <p:grpSpPr>
        <a:xfrm>
          <a:off x="0" y="0"/>
          <a:ext cx="0" cy="0"/>
          <a:chOff x="0" y="0"/>
          <a:chExt cx="0" cy="0"/>
        </a:xfrm>
      </p:grpSpPr>
      <p:sp>
        <p:nvSpPr>
          <p:cNvPr id="3" name="Textplatzhalter 2"/>
          <p:cNvSpPr>
            <a:spLocks noGrp="1"/>
          </p:cNvSpPr>
          <p:nvPr>
            <p:ph type="body" sz="quarter" idx="10"/>
          </p:nvPr>
        </p:nvSpPr>
        <p:spPr>
          <a:xfrm>
            <a:off x="360000" y="4320001"/>
            <a:ext cx="8428037" cy="430887"/>
          </a:xfrm>
          <a:prstGeom prst="rect">
            <a:avLst/>
          </a:prstGeom>
        </p:spPr>
        <p:txBody>
          <a:bodyPr lIns="0" tIns="0" rIns="0" bIns="0">
            <a:spAutoFit/>
          </a:bodyPr>
          <a:lstStyle>
            <a:lvl1pPr marL="0" indent="0">
              <a:lnSpc>
                <a:spcPct val="100000"/>
              </a:lnSpc>
              <a:buNone/>
              <a:defRPr sz="2800" b="0" baseline="0">
                <a:solidFill>
                  <a:srgbClr val="000000"/>
                </a:solidFill>
                <a:latin typeface="+mj-lt"/>
              </a:defRPr>
            </a:lvl1pPr>
            <a:lvl2pPr marL="360363" indent="0">
              <a:buNone/>
              <a:defRPr sz="2800">
                <a:latin typeface="+mj-lt"/>
              </a:defRPr>
            </a:lvl2pPr>
            <a:lvl3pPr marL="720725" indent="0">
              <a:buNone/>
              <a:defRPr sz="2800">
                <a:latin typeface="+mj-lt"/>
              </a:defRPr>
            </a:lvl3pPr>
            <a:lvl4pPr marL="1074737" indent="0">
              <a:buNone/>
              <a:defRPr sz="2800">
                <a:latin typeface="+mj-lt"/>
              </a:defRPr>
            </a:lvl4pPr>
            <a:lvl5pPr marL="1439862" indent="0">
              <a:buNone/>
              <a:defRPr sz="2800">
                <a:latin typeface="+mj-lt"/>
              </a:defRPr>
            </a:lvl5pPr>
          </a:lstStyle>
          <a:p>
            <a:pPr lvl="0"/>
            <a:r>
              <a:rPr lang="en-US"/>
              <a:t>Click to edit Master text styles</a:t>
            </a:r>
          </a:p>
        </p:txBody>
      </p:sp>
      <p:sp>
        <p:nvSpPr>
          <p:cNvPr id="8" name="Textplatzhalter 7"/>
          <p:cNvSpPr>
            <a:spLocks noGrp="1"/>
          </p:cNvSpPr>
          <p:nvPr>
            <p:ph type="body" sz="quarter" idx="11"/>
          </p:nvPr>
        </p:nvSpPr>
        <p:spPr>
          <a:xfrm>
            <a:off x="359999" y="6120001"/>
            <a:ext cx="8431575" cy="215444"/>
          </a:xfrm>
          <a:prstGeom prst="rect">
            <a:avLst/>
          </a:prstGeom>
        </p:spPr>
        <p:txBody>
          <a:bodyPr lIns="0" tIns="0" rIns="0" bIns="0">
            <a:spAutoFit/>
          </a:bodyPr>
          <a:lstStyle>
            <a:lvl1pPr marL="0" indent="0">
              <a:lnSpc>
                <a:spcPct val="100000"/>
              </a:lnSpc>
              <a:buNone/>
              <a:defRPr sz="1400">
                <a:solidFill>
                  <a:srgbClr val="000000"/>
                </a:solidFill>
                <a:latin typeface="+mn-lt"/>
              </a:defRPr>
            </a:lvl1pPr>
            <a:lvl5pPr>
              <a:defRPr/>
            </a:lvl5pPr>
          </a:lstStyle>
          <a:p>
            <a:pPr lvl="0"/>
            <a:r>
              <a:rPr lang="en-US" altLang="de-DE"/>
              <a:t>Click to edit Master text styles</a:t>
            </a:r>
          </a:p>
        </p:txBody>
      </p:sp>
    </p:spTree>
    <p:extLst>
      <p:ext uri="{BB962C8B-B14F-4D97-AF65-F5344CB8AC3E}">
        <p14:creationId xmlns:p14="http://schemas.microsoft.com/office/powerpoint/2010/main" val="16190958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Innenseite mit Fußzeile">
    <p:spTree>
      <p:nvGrpSpPr>
        <p:cNvPr id="1" name=""/>
        <p:cNvGrpSpPr/>
        <p:nvPr/>
      </p:nvGrpSpPr>
      <p:grpSpPr>
        <a:xfrm>
          <a:off x="0" y="0"/>
          <a:ext cx="0" cy="0"/>
          <a:chOff x="0" y="0"/>
          <a:chExt cx="0" cy="0"/>
        </a:xfrm>
      </p:grpSpPr>
      <p:sp>
        <p:nvSpPr>
          <p:cNvPr id="5" name="Inhaltsplatzhalter 4"/>
          <p:cNvSpPr>
            <a:spLocks noGrp="1"/>
          </p:cNvSpPr>
          <p:nvPr>
            <p:ph sz="quarter" idx="10" hasCustomPrompt="1"/>
          </p:nvPr>
        </p:nvSpPr>
        <p:spPr>
          <a:xfrm>
            <a:off x="1260000" y="1104000"/>
            <a:ext cx="7596000" cy="849600"/>
          </a:xfrm>
          <a:prstGeom prst="rect">
            <a:avLst/>
          </a:prstGeom>
        </p:spPr>
        <p:txBody>
          <a:bodyPr lIns="0" tIns="0" rIns="0" bIns="0" anchor="b" anchorCtr="0"/>
          <a:lstStyle>
            <a:lvl1pPr marL="0" indent="0">
              <a:lnSpc>
                <a:spcPct val="105000"/>
              </a:lnSpc>
              <a:buNone/>
              <a:defRPr sz="2000" b="1">
                <a:latin typeface="+mn-lt"/>
              </a:defRPr>
            </a:lvl1pPr>
          </a:lstStyle>
          <a:p>
            <a:pPr lvl="0"/>
            <a:r>
              <a:rPr lang="de-DE" dirty="0"/>
              <a:t>Headline durch Klicken hinzufügen</a:t>
            </a:r>
          </a:p>
        </p:txBody>
      </p:sp>
      <p:sp>
        <p:nvSpPr>
          <p:cNvPr id="9" name="Textplatzhalter 8"/>
          <p:cNvSpPr>
            <a:spLocks noGrp="1"/>
          </p:cNvSpPr>
          <p:nvPr>
            <p:ph type="body" sz="quarter" idx="11"/>
          </p:nvPr>
        </p:nvSpPr>
        <p:spPr>
          <a:xfrm>
            <a:off x="1260000" y="2179201"/>
            <a:ext cx="7596000" cy="276999"/>
          </a:xfrm>
          <a:prstGeom prst="rect">
            <a:avLst/>
          </a:prstGeom>
        </p:spPr>
        <p:txBody>
          <a:bodyPr lIns="0" tIns="0" rIns="0" bIns="0">
            <a:spAutoFit/>
          </a:bodyPr>
          <a:lstStyle>
            <a:lvl1pPr marL="177800" indent="-177800">
              <a:lnSpc>
                <a:spcPct val="100000"/>
              </a:lnSpc>
              <a:spcAft>
                <a:spcPts val="800"/>
              </a:spcAft>
              <a:buFont typeface="Arial" panose="020B0604020202020204" pitchFamily="34" charset="0"/>
              <a:buChar char="•"/>
              <a:defRPr sz="1800" baseline="0">
                <a:latin typeface="+mn-lt"/>
              </a:defRPr>
            </a:lvl1pPr>
            <a:lvl2pPr marL="360363" indent="-182563">
              <a:lnSpc>
                <a:spcPct val="100000"/>
              </a:lnSpc>
              <a:spcAft>
                <a:spcPts val="600"/>
              </a:spcAft>
              <a:buSzPct val="100000"/>
              <a:buFont typeface="Arial" panose="020B0604020202020204" pitchFamily="34" charset="0"/>
              <a:buChar char="•"/>
              <a:defRPr sz="1600"/>
            </a:lvl2pPr>
            <a:lvl3pPr marL="538163" indent="-177800">
              <a:lnSpc>
                <a:spcPct val="100000"/>
              </a:lnSpc>
              <a:spcAft>
                <a:spcPts val="400"/>
              </a:spcAft>
              <a:buFont typeface="Arial" panose="020B0604020202020204" pitchFamily="34" charset="0"/>
              <a:buChar char="•"/>
              <a:defRPr/>
            </a:lvl3pPr>
            <a:lvl4pPr marL="715963" indent="-177800">
              <a:lnSpc>
                <a:spcPct val="100000"/>
              </a:lnSpc>
              <a:spcAft>
                <a:spcPts val="200"/>
              </a:spcAft>
              <a:buFont typeface="Arial" panose="020B0604020202020204" pitchFamily="34" charset="0"/>
              <a:buChar char="•"/>
              <a:defRPr/>
            </a:lvl4pPr>
            <a:lvl5pPr marL="898525" indent="-179388">
              <a:lnSpc>
                <a:spcPct val="100000"/>
              </a:lnSpc>
              <a:spcAft>
                <a:spcPts val="100"/>
              </a:spcAft>
              <a:buFont typeface="Arial" panose="020B0604020202020204" pitchFamily="34" charset="0"/>
              <a:buChar char="•"/>
              <a:defRPr sz="1100"/>
            </a:lvl5pPr>
          </a:lstStyle>
          <a:p>
            <a:pPr lvl="0"/>
            <a:endParaRPr lang="de-DE" dirty="0"/>
          </a:p>
        </p:txBody>
      </p:sp>
    </p:spTree>
    <p:extLst>
      <p:ext uri="{BB962C8B-B14F-4D97-AF65-F5344CB8AC3E}">
        <p14:creationId xmlns:p14="http://schemas.microsoft.com/office/powerpoint/2010/main" val="1733717375"/>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Grafik 7"/>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349250" y="263525"/>
            <a:ext cx="2476500" cy="636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hf hdr="0" ftr="0" dt="0"/>
  <p:txStyles>
    <p:titleStyle>
      <a:lvl1pPr algn="l" rtl="0" eaLnBrk="1" fontAlgn="base" hangingPunct="1">
        <a:spcBef>
          <a:spcPct val="0"/>
        </a:spcBef>
        <a:spcAft>
          <a:spcPct val="0"/>
        </a:spcAft>
        <a:defRPr sz="2400" b="1">
          <a:solidFill>
            <a:schemeClr val="tx2"/>
          </a:solidFill>
          <a:latin typeface="+mj-lt"/>
          <a:ea typeface="+mj-ea"/>
          <a:cs typeface="+mj-cs"/>
        </a:defRPr>
      </a:lvl1pPr>
      <a:lvl2pPr algn="l" rtl="0" eaLnBrk="1" fontAlgn="base" hangingPunct="1">
        <a:spcBef>
          <a:spcPct val="0"/>
        </a:spcBef>
        <a:spcAft>
          <a:spcPct val="0"/>
        </a:spcAft>
        <a:defRPr sz="2400" b="1">
          <a:solidFill>
            <a:schemeClr val="tx2"/>
          </a:solidFill>
          <a:latin typeface="Arial" charset="0"/>
        </a:defRPr>
      </a:lvl2pPr>
      <a:lvl3pPr algn="l" rtl="0" eaLnBrk="1" fontAlgn="base" hangingPunct="1">
        <a:spcBef>
          <a:spcPct val="0"/>
        </a:spcBef>
        <a:spcAft>
          <a:spcPct val="0"/>
        </a:spcAft>
        <a:defRPr sz="2400" b="1">
          <a:solidFill>
            <a:schemeClr val="tx2"/>
          </a:solidFill>
          <a:latin typeface="Arial" charset="0"/>
        </a:defRPr>
      </a:lvl3pPr>
      <a:lvl4pPr algn="l" rtl="0" eaLnBrk="1" fontAlgn="base" hangingPunct="1">
        <a:spcBef>
          <a:spcPct val="0"/>
        </a:spcBef>
        <a:spcAft>
          <a:spcPct val="0"/>
        </a:spcAft>
        <a:defRPr sz="2400" b="1">
          <a:solidFill>
            <a:schemeClr val="tx2"/>
          </a:solidFill>
          <a:latin typeface="Arial" charset="0"/>
        </a:defRPr>
      </a:lvl4pPr>
      <a:lvl5pPr algn="l" rtl="0" eaLnBrk="1" fontAlgn="base" hangingPunct="1">
        <a:spcBef>
          <a:spcPct val="0"/>
        </a:spcBef>
        <a:spcAft>
          <a:spcPct val="0"/>
        </a:spcAft>
        <a:defRPr sz="2400" b="1">
          <a:solidFill>
            <a:schemeClr val="tx2"/>
          </a:solidFill>
          <a:latin typeface="Arial" charset="0"/>
        </a:defRPr>
      </a:lvl5pPr>
      <a:lvl6pPr marL="457200" algn="l" rtl="0" eaLnBrk="1" fontAlgn="base" hangingPunct="1">
        <a:spcBef>
          <a:spcPct val="0"/>
        </a:spcBef>
        <a:spcAft>
          <a:spcPct val="0"/>
        </a:spcAft>
        <a:defRPr sz="2400" b="1">
          <a:solidFill>
            <a:schemeClr val="bg2"/>
          </a:solidFill>
          <a:latin typeface="Arial" charset="0"/>
        </a:defRPr>
      </a:lvl6pPr>
      <a:lvl7pPr marL="914400" algn="l" rtl="0" eaLnBrk="1" fontAlgn="base" hangingPunct="1">
        <a:spcBef>
          <a:spcPct val="0"/>
        </a:spcBef>
        <a:spcAft>
          <a:spcPct val="0"/>
        </a:spcAft>
        <a:defRPr sz="2400" b="1">
          <a:solidFill>
            <a:schemeClr val="bg2"/>
          </a:solidFill>
          <a:latin typeface="Arial" charset="0"/>
        </a:defRPr>
      </a:lvl7pPr>
      <a:lvl8pPr marL="1371600" algn="l" rtl="0" eaLnBrk="1" fontAlgn="base" hangingPunct="1">
        <a:spcBef>
          <a:spcPct val="0"/>
        </a:spcBef>
        <a:spcAft>
          <a:spcPct val="0"/>
        </a:spcAft>
        <a:defRPr sz="2400" b="1">
          <a:solidFill>
            <a:schemeClr val="bg2"/>
          </a:solidFill>
          <a:latin typeface="Arial" charset="0"/>
        </a:defRPr>
      </a:lvl8pPr>
      <a:lvl9pPr marL="1828800" algn="l" rtl="0" eaLnBrk="1" fontAlgn="base" hangingPunct="1">
        <a:spcBef>
          <a:spcPct val="0"/>
        </a:spcBef>
        <a:spcAft>
          <a:spcPct val="0"/>
        </a:spcAft>
        <a:defRPr sz="2400" b="1">
          <a:solidFill>
            <a:schemeClr val="bg2"/>
          </a:solidFill>
          <a:latin typeface="Arial" charset="0"/>
        </a:defRPr>
      </a:lvl9pPr>
    </p:titleStyle>
    <p:bodyStyle>
      <a:lvl1pPr marL="180975" indent="-180975" algn="l" rtl="0" eaLnBrk="1" fontAlgn="base" hangingPunct="1">
        <a:lnSpc>
          <a:spcPct val="110000"/>
        </a:lnSpc>
        <a:spcBef>
          <a:spcPct val="0"/>
        </a:spcBef>
        <a:spcAft>
          <a:spcPct val="0"/>
        </a:spcAft>
        <a:buChar char="•"/>
        <a:defRPr sz="2000">
          <a:solidFill>
            <a:schemeClr val="tx1"/>
          </a:solidFill>
          <a:latin typeface="+mn-lt"/>
          <a:ea typeface="+mn-ea"/>
          <a:cs typeface="+mn-cs"/>
        </a:defRPr>
      </a:lvl1pPr>
      <a:lvl2pPr marL="541338" indent="-180975" algn="l" rtl="0" eaLnBrk="1" fontAlgn="base" hangingPunct="1">
        <a:lnSpc>
          <a:spcPct val="110000"/>
        </a:lnSpc>
        <a:spcBef>
          <a:spcPct val="0"/>
        </a:spcBef>
        <a:spcAft>
          <a:spcPct val="0"/>
        </a:spcAft>
        <a:buSzPct val="80000"/>
        <a:buChar char="-"/>
        <a:defRPr sz="2000">
          <a:solidFill>
            <a:schemeClr val="tx1"/>
          </a:solidFill>
          <a:latin typeface="+mn-lt"/>
        </a:defRPr>
      </a:lvl2pPr>
      <a:lvl3pPr marL="895350" indent="-174625" algn="l" rtl="0" eaLnBrk="1" fontAlgn="base" hangingPunct="1">
        <a:lnSpc>
          <a:spcPct val="110000"/>
        </a:lnSpc>
        <a:spcBef>
          <a:spcPct val="0"/>
        </a:spcBef>
        <a:spcAft>
          <a:spcPct val="0"/>
        </a:spcAft>
        <a:buFont typeface="Wingdings" panose="05000000000000000000" pitchFamily="2" charset="2"/>
        <a:buChar char="§"/>
        <a:defRPr sz="1400">
          <a:solidFill>
            <a:schemeClr val="tx1"/>
          </a:solidFill>
          <a:latin typeface="+mn-lt"/>
        </a:defRPr>
      </a:lvl3pPr>
      <a:lvl4pPr marL="1260475" indent="-185738" algn="l" rtl="0" eaLnBrk="1" fontAlgn="base" hangingPunct="1">
        <a:lnSpc>
          <a:spcPct val="110000"/>
        </a:lnSpc>
        <a:spcBef>
          <a:spcPct val="0"/>
        </a:spcBef>
        <a:spcAft>
          <a:spcPct val="0"/>
        </a:spcAft>
        <a:buChar char="•"/>
        <a:defRPr sz="1200">
          <a:solidFill>
            <a:schemeClr val="tx1"/>
          </a:solidFill>
          <a:latin typeface="+mn-lt"/>
        </a:defRPr>
      </a:lvl4pPr>
      <a:lvl5pPr marL="1622425" indent="-182563" algn="l" rtl="0" eaLnBrk="1" fontAlgn="base" hangingPunct="1">
        <a:lnSpc>
          <a:spcPct val="110000"/>
        </a:lnSpc>
        <a:spcBef>
          <a:spcPct val="0"/>
        </a:spcBef>
        <a:spcAft>
          <a:spcPct val="0"/>
        </a:spcAft>
        <a:buChar char="-"/>
        <a:defRPr sz="1200">
          <a:solidFill>
            <a:schemeClr val="tx1"/>
          </a:solidFill>
          <a:latin typeface="+mn-lt"/>
        </a:defRPr>
      </a:lvl5pPr>
      <a:lvl6pPr marL="2079625" indent="-182563" algn="l" rtl="0" eaLnBrk="1" fontAlgn="base" hangingPunct="1">
        <a:lnSpc>
          <a:spcPct val="110000"/>
        </a:lnSpc>
        <a:spcBef>
          <a:spcPct val="0"/>
        </a:spcBef>
        <a:spcAft>
          <a:spcPct val="0"/>
        </a:spcAft>
        <a:buChar char="-"/>
        <a:defRPr sz="1200">
          <a:solidFill>
            <a:schemeClr val="tx1"/>
          </a:solidFill>
          <a:latin typeface="+mn-lt"/>
        </a:defRPr>
      </a:lvl6pPr>
      <a:lvl7pPr marL="2536825" indent="-182563" algn="l" rtl="0" eaLnBrk="1" fontAlgn="base" hangingPunct="1">
        <a:lnSpc>
          <a:spcPct val="110000"/>
        </a:lnSpc>
        <a:spcBef>
          <a:spcPct val="0"/>
        </a:spcBef>
        <a:spcAft>
          <a:spcPct val="0"/>
        </a:spcAft>
        <a:buChar char="-"/>
        <a:defRPr sz="1200">
          <a:solidFill>
            <a:schemeClr val="tx1"/>
          </a:solidFill>
          <a:latin typeface="+mn-lt"/>
        </a:defRPr>
      </a:lvl7pPr>
      <a:lvl8pPr marL="2994025" indent="-182563" algn="l" rtl="0" eaLnBrk="1" fontAlgn="base" hangingPunct="1">
        <a:lnSpc>
          <a:spcPct val="110000"/>
        </a:lnSpc>
        <a:spcBef>
          <a:spcPct val="0"/>
        </a:spcBef>
        <a:spcAft>
          <a:spcPct val="0"/>
        </a:spcAft>
        <a:buChar char="-"/>
        <a:defRPr sz="1200">
          <a:solidFill>
            <a:schemeClr val="tx1"/>
          </a:solidFill>
          <a:latin typeface="+mn-lt"/>
        </a:defRPr>
      </a:lvl8pPr>
      <a:lvl9pPr marL="3451225" indent="-182563" algn="l" rtl="0" eaLnBrk="1" fontAlgn="base" hangingPunct="1">
        <a:lnSpc>
          <a:spcPct val="110000"/>
        </a:lnSpc>
        <a:spcBef>
          <a:spcPct val="0"/>
        </a:spcBef>
        <a:spcAft>
          <a:spcPct val="0"/>
        </a:spcAft>
        <a:buChar char="-"/>
        <a:defRPr sz="1200">
          <a:solidFill>
            <a:schemeClr val="tx1"/>
          </a:solidFill>
          <a:latin typeface="+mn-lt"/>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9" name="Rechteck 8"/>
          <p:cNvSpPr/>
          <p:nvPr userDrawn="1"/>
        </p:nvSpPr>
        <p:spPr>
          <a:xfrm>
            <a:off x="0" y="750888"/>
            <a:ext cx="9144000" cy="1365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de-DE"/>
          </a:p>
        </p:txBody>
      </p:sp>
      <p:sp>
        <p:nvSpPr>
          <p:cNvPr id="2051" name="Line 8"/>
          <p:cNvSpPr>
            <a:spLocks noChangeShapeType="1"/>
          </p:cNvSpPr>
          <p:nvPr userDrawn="1"/>
        </p:nvSpPr>
        <p:spPr bwMode="auto">
          <a:xfrm>
            <a:off x="7938" y="855663"/>
            <a:ext cx="9144000" cy="0"/>
          </a:xfrm>
          <a:prstGeom prst="line">
            <a:avLst/>
          </a:prstGeom>
          <a:noFill/>
          <a:ln w="9525">
            <a:solidFill>
              <a:schemeClr val="accent2">
                <a:alpha val="89803"/>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052" name="Line 8"/>
          <p:cNvSpPr>
            <a:spLocks noChangeShapeType="1"/>
          </p:cNvSpPr>
          <p:nvPr userDrawn="1"/>
        </p:nvSpPr>
        <p:spPr bwMode="auto">
          <a:xfrm>
            <a:off x="7938" y="6475413"/>
            <a:ext cx="9144000" cy="0"/>
          </a:xfrm>
          <a:prstGeom prst="line">
            <a:avLst/>
          </a:prstGeom>
          <a:noFill/>
          <a:ln w="9525">
            <a:solidFill>
              <a:srgbClr val="CBCBCB"/>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pic>
        <p:nvPicPr>
          <p:cNvPr id="2053" name="Grafik 10"/>
          <p:cNvPicPr>
            <a:picLocks noChangeAspect="1"/>
          </p:cNvPicPr>
          <p:nvPr userDrawn="1"/>
        </p:nvPicPr>
        <p:blipFill>
          <a:blip r:embed="rId5" cstate="print">
            <a:extLst>
              <a:ext uri="{28A0092B-C50C-407E-A947-70E740481C1C}">
                <a14:useLocalDpi xmlns:a14="http://schemas.microsoft.com/office/drawing/2010/main" val="0"/>
              </a:ext>
            </a:extLst>
          </a:blip>
          <a:srcRect/>
          <a:stretch>
            <a:fillRect/>
          </a:stretch>
        </p:blipFill>
        <p:spPr bwMode="auto">
          <a:xfrm>
            <a:off x="360363" y="263525"/>
            <a:ext cx="1538287" cy="395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6023" r:id="rId1"/>
    <p:sldLayoutId id="2147486024" r:id="rId2"/>
    <p:sldLayoutId id="2147486025" r:id="rId3"/>
  </p:sldLayoutIdLst>
  <p:hf hdr="0" ftr="0" dt="0"/>
  <p:txStyles>
    <p:titleStyle>
      <a:lvl1pPr algn="l" rtl="0" eaLnBrk="0" fontAlgn="base" hangingPunct="0">
        <a:spcBef>
          <a:spcPct val="0"/>
        </a:spcBef>
        <a:spcAft>
          <a:spcPct val="0"/>
        </a:spcAft>
        <a:defRPr sz="2400" b="1">
          <a:solidFill>
            <a:schemeClr val="tx2"/>
          </a:solidFill>
          <a:latin typeface="+mj-lt"/>
          <a:ea typeface="+mj-ea"/>
          <a:cs typeface="+mj-cs"/>
        </a:defRPr>
      </a:lvl1pPr>
      <a:lvl2pPr algn="l" rtl="0" eaLnBrk="0" fontAlgn="base" hangingPunct="0">
        <a:spcBef>
          <a:spcPct val="0"/>
        </a:spcBef>
        <a:spcAft>
          <a:spcPct val="0"/>
        </a:spcAft>
        <a:defRPr sz="2400" b="1">
          <a:solidFill>
            <a:schemeClr val="tx2"/>
          </a:solidFill>
          <a:latin typeface="Arial" charset="0"/>
        </a:defRPr>
      </a:lvl2pPr>
      <a:lvl3pPr algn="l" rtl="0" eaLnBrk="0" fontAlgn="base" hangingPunct="0">
        <a:spcBef>
          <a:spcPct val="0"/>
        </a:spcBef>
        <a:spcAft>
          <a:spcPct val="0"/>
        </a:spcAft>
        <a:defRPr sz="2400" b="1">
          <a:solidFill>
            <a:schemeClr val="tx2"/>
          </a:solidFill>
          <a:latin typeface="Arial" charset="0"/>
        </a:defRPr>
      </a:lvl3pPr>
      <a:lvl4pPr algn="l" rtl="0" eaLnBrk="0" fontAlgn="base" hangingPunct="0">
        <a:spcBef>
          <a:spcPct val="0"/>
        </a:spcBef>
        <a:spcAft>
          <a:spcPct val="0"/>
        </a:spcAft>
        <a:defRPr sz="2400" b="1">
          <a:solidFill>
            <a:schemeClr val="tx2"/>
          </a:solidFill>
          <a:latin typeface="Arial" charset="0"/>
        </a:defRPr>
      </a:lvl4pPr>
      <a:lvl5pPr algn="l" rtl="0" eaLnBrk="0" fontAlgn="base" hangingPunct="0">
        <a:spcBef>
          <a:spcPct val="0"/>
        </a:spcBef>
        <a:spcAft>
          <a:spcPct val="0"/>
        </a:spcAft>
        <a:defRPr sz="2400" b="1">
          <a:solidFill>
            <a:schemeClr val="tx2"/>
          </a:solidFill>
          <a:latin typeface="Arial" charset="0"/>
        </a:defRPr>
      </a:lvl5pPr>
      <a:lvl6pPr marL="457200" algn="l" rtl="0" eaLnBrk="1" fontAlgn="base" hangingPunct="1">
        <a:spcBef>
          <a:spcPct val="0"/>
        </a:spcBef>
        <a:spcAft>
          <a:spcPct val="0"/>
        </a:spcAft>
        <a:defRPr sz="2400" b="1">
          <a:solidFill>
            <a:schemeClr val="bg2"/>
          </a:solidFill>
          <a:latin typeface="Arial" charset="0"/>
        </a:defRPr>
      </a:lvl6pPr>
      <a:lvl7pPr marL="914400" algn="l" rtl="0" eaLnBrk="1" fontAlgn="base" hangingPunct="1">
        <a:spcBef>
          <a:spcPct val="0"/>
        </a:spcBef>
        <a:spcAft>
          <a:spcPct val="0"/>
        </a:spcAft>
        <a:defRPr sz="2400" b="1">
          <a:solidFill>
            <a:schemeClr val="bg2"/>
          </a:solidFill>
          <a:latin typeface="Arial" charset="0"/>
        </a:defRPr>
      </a:lvl7pPr>
      <a:lvl8pPr marL="1371600" algn="l" rtl="0" eaLnBrk="1" fontAlgn="base" hangingPunct="1">
        <a:spcBef>
          <a:spcPct val="0"/>
        </a:spcBef>
        <a:spcAft>
          <a:spcPct val="0"/>
        </a:spcAft>
        <a:defRPr sz="2400" b="1">
          <a:solidFill>
            <a:schemeClr val="bg2"/>
          </a:solidFill>
          <a:latin typeface="Arial" charset="0"/>
        </a:defRPr>
      </a:lvl8pPr>
      <a:lvl9pPr marL="1828800" algn="l" rtl="0" eaLnBrk="1" fontAlgn="base" hangingPunct="1">
        <a:spcBef>
          <a:spcPct val="0"/>
        </a:spcBef>
        <a:spcAft>
          <a:spcPct val="0"/>
        </a:spcAft>
        <a:defRPr sz="2400" b="1">
          <a:solidFill>
            <a:schemeClr val="bg2"/>
          </a:solidFill>
          <a:latin typeface="Arial" charset="0"/>
        </a:defRPr>
      </a:lvl9pPr>
    </p:titleStyle>
    <p:bodyStyle>
      <a:lvl1pPr marL="180975" indent="-180975" algn="l" rtl="0" eaLnBrk="0" fontAlgn="base" hangingPunct="0">
        <a:lnSpc>
          <a:spcPct val="110000"/>
        </a:lnSpc>
        <a:spcBef>
          <a:spcPct val="0"/>
        </a:spcBef>
        <a:spcAft>
          <a:spcPct val="0"/>
        </a:spcAft>
        <a:buChar char="•"/>
        <a:defRPr sz="2000">
          <a:solidFill>
            <a:schemeClr val="tx1"/>
          </a:solidFill>
          <a:latin typeface="+mn-lt"/>
          <a:ea typeface="+mn-ea"/>
          <a:cs typeface="+mn-cs"/>
        </a:defRPr>
      </a:lvl1pPr>
      <a:lvl2pPr marL="541338" indent="-180975" algn="l" rtl="0" eaLnBrk="0" fontAlgn="base" hangingPunct="0">
        <a:lnSpc>
          <a:spcPct val="110000"/>
        </a:lnSpc>
        <a:spcBef>
          <a:spcPct val="0"/>
        </a:spcBef>
        <a:spcAft>
          <a:spcPct val="0"/>
        </a:spcAft>
        <a:buSzPct val="80000"/>
        <a:buChar char="-"/>
        <a:defRPr sz="2000">
          <a:solidFill>
            <a:schemeClr val="tx1"/>
          </a:solidFill>
          <a:latin typeface="+mn-lt"/>
        </a:defRPr>
      </a:lvl2pPr>
      <a:lvl3pPr marL="895350" indent="-174625" algn="l" rtl="0" eaLnBrk="0" fontAlgn="base" hangingPunct="0">
        <a:lnSpc>
          <a:spcPct val="110000"/>
        </a:lnSpc>
        <a:spcBef>
          <a:spcPct val="0"/>
        </a:spcBef>
        <a:spcAft>
          <a:spcPct val="0"/>
        </a:spcAft>
        <a:buFont typeface="Wingdings" panose="05000000000000000000" pitchFamily="2" charset="2"/>
        <a:buChar char="§"/>
        <a:defRPr sz="1400">
          <a:solidFill>
            <a:schemeClr val="tx1"/>
          </a:solidFill>
          <a:latin typeface="+mn-lt"/>
        </a:defRPr>
      </a:lvl3pPr>
      <a:lvl4pPr marL="1260475" indent="-185738" algn="l" rtl="0" eaLnBrk="0" fontAlgn="base" hangingPunct="0">
        <a:lnSpc>
          <a:spcPct val="110000"/>
        </a:lnSpc>
        <a:spcBef>
          <a:spcPct val="0"/>
        </a:spcBef>
        <a:spcAft>
          <a:spcPct val="0"/>
        </a:spcAft>
        <a:buChar char="•"/>
        <a:defRPr sz="1200">
          <a:solidFill>
            <a:schemeClr val="tx1"/>
          </a:solidFill>
          <a:latin typeface="+mn-lt"/>
        </a:defRPr>
      </a:lvl4pPr>
      <a:lvl5pPr marL="1622425" indent="-182563" algn="l" rtl="0" eaLnBrk="0" fontAlgn="base" hangingPunct="0">
        <a:lnSpc>
          <a:spcPct val="110000"/>
        </a:lnSpc>
        <a:spcBef>
          <a:spcPct val="0"/>
        </a:spcBef>
        <a:spcAft>
          <a:spcPct val="0"/>
        </a:spcAft>
        <a:buChar char="-"/>
        <a:defRPr sz="1200">
          <a:solidFill>
            <a:schemeClr val="tx1"/>
          </a:solidFill>
          <a:latin typeface="+mn-lt"/>
        </a:defRPr>
      </a:lvl5pPr>
      <a:lvl6pPr marL="2079625" indent="-182563" algn="l" rtl="0" eaLnBrk="1" fontAlgn="base" hangingPunct="1">
        <a:lnSpc>
          <a:spcPct val="110000"/>
        </a:lnSpc>
        <a:spcBef>
          <a:spcPct val="0"/>
        </a:spcBef>
        <a:spcAft>
          <a:spcPct val="0"/>
        </a:spcAft>
        <a:buChar char="-"/>
        <a:defRPr sz="1200">
          <a:solidFill>
            <a:schemeClr val="tx1"/>
          </a:solidFill>
          <a:latin typeface="+mn-lt"/>
        </a:defRPr>
      </a:lvl6pPr>
      <a:lvl7pPr marL="2536825" indent="-182563" algn="l" rtl="0" eaLnBrk="1" fontAlgn="base" hangingPunct="1">
        <a:lnSpc>
          <a:spcPct val="110000"/>
        </a:lnSpc>
        <a:spcBef>
          <a:spcPct val="0"/>
        </a:spcBef>
        <a:spcAft>
          <a:spcPct val="0"/>
        </a:spcAft>
        <a:buChar char="-"/>
        <a:defRPr sz="1200">
          <a:solidFill>
            <a:schemeClr val="tx1"/>
          </a:solidFill>
          <a:latin typeface="+mn-lt"/>
        </a:defRPr>
      </a:lvl7pPr>
      <a:lvl8pPr marL="2994025" indent="-182563" algn="l" rtl="0" eaLnBrk="1" fontAlgn="base" hangingPunct="1">
        <a:lnSpc>
          <a:spcPct val="110000"/>
        </a:lnSpc>
        <a:spcBef>
          <a:spcPct val="0"/>
        </a:spcBef>
        <a:spcAft>
          <a:spcPct val="0"/>
        </a:spcAft>
        <a:buChar char="-"/>
        <a:defRPr sz="1200">
          <a:solidFill>
            <a:schemeClr val="tx1"/>
          </a:solidFill>
          <a:latin typeface="+mn-lt"/>
        </a:defRPr>
      </a:lvl8pPr>
      <a:lvl9pPr marL="3451225" indent="-182563" algn="l" rtl="0" eaLnBrk="1" fontAlgn="base" hangingPunct="1">
        <a:lnSpc>
          <a:spcPct val="110000"/>
        </a:lnSpc>
        <a:spcBef>
          <a:spcPct val="0"/>
        </a:spcBef>
        <a:spcAft>
          <a:spcPct val="0"/>
        </a:spcAft>
        <a:buChar char="-"/>
        <a:defRPr sz="1200">
          <a:solidFill>
            <a:schemeClr val="tx1"/>
          </a:solidFill>
          <a:latin typeface="+mn-lt"/>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diagramData" Target="../diagrams/data2.xml"/><Relationship Id="rId3" Type="http://schemas.openxmlformats.org/officeDocument/2006/relationships/diagramData" Target="../diagrams/data1.xml"/><Relationship Id="rId7" Type="http://schemas.microsoft.com/office/2007/relationships/diagramDrawing" Target="../diagrams/drawing1.xml"/><Relationship Id="rId12" Type="http://schemas.microsoft.com/office/2007/relationships/diagramDrawing" Target="../diagrams/drawing2.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11" Type="http://schemas.openxmlformats.org/officeDocument/2006/relationships/diagramColors" Target="../diagrams/colors2.xml"/><Relationship Id="rId5" Type="http://schemas.openxmlformats.org/officeDocument/2006/relationships/diagramQuickStyle" Target="../diagrams/quickStyle1.xml"/><Relationship Id="rId10" Type="http://schemas.openxmlformats.org/officeDocument/2006/relationships/diagramQuickStyle" Target="../diagrams/quickStyle2.xml"/><Relationship Id="rId4" Type="http://schemas.openxmlformats.org/officeDocument/2006/relationships/diagramLayout" Target="../diagrams/layout1.xml"/><Relationship Id="rId9" Type="http://schemas.openxmlformats.org/officeDocument/2006/relationships/diagramLayout" Target="../diagrams/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fif"/><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4.xml"/><Relationship Id="rId7" Type="http://schemas.openxmlformats.org/officeDocument/2006/relationships/image" Target="../media/image4.png"/><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5.xml"/><Relationship Id="rId7" Type="http://schemas.openxmlformats.org/officeDocument/2006/relationships/image" Target="../media/image5.jpeg"/><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8.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diagramLayout" Target="../diagrams/layout6.xml"/><Relationship Id="rId7" Type="http://schemas.openxmlformats.org/officeDocument/2006/relationships/image" Target="../media/image6.png"/><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11" Type="http://schemas.openxmlformats.org/officeDocument/2006/relationships/image" Target="../media/image10.jpeg"/><Relationship Id="rId5" Type="http://schemas.openxmlformats.org/officeDocument/2006/relationships/diagramColors" Target="../diagrams/colors6.xml"/><Relationship Id="rId10" Type="http://schemas.openxmlformats.org/officeDocument/2006/relationships/image" Target="../media/image9.svg"/><Relationship Id="rId4" Type="http://schemas.openxmlformats.org/officeDocument/2006/relationships/diagramQuickStyle" Target="../diagrams/quickStyle6.xml"/><Relationship Id="rId9" Type="http://schemas.openxmlformats.org/officeDocument/2006/relationships/image" Target="../media/image8.png"/></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jpg"/><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16.png"/><Relationship Id="rId7"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6.png"/><Relationship Id="rId7" Type="http://schemas.openxmlformats.org/officeDocument/2006/relationships/image" Target="../media/image21.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1.png"/><Relationship Id="rId10" Type="http://schemas.openxmlformats.org/officeDocument/2006/relationships/image" Target="../media/image24.png"/><Relationship Id="rId4" Type="http://schemas.openxmlformats.org/officeDocument/2006/relationships/image" Target="../media/image17.png"/><Relationship Id="rId9" Type="http://schemas.openxmlformats.org/officeDocument/2006/relationships/image" Target="../media/image23.png"/></Relationships>
</file>

<file path=ppt/slides/_rels/slide14.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15.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image" Target="../media/image12.jpg"/><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16.xml.rels><?xml version="1.0" encoding="UTF-8" standalone="yes"?>
<Relationships xmlns="http://schemas.openxmlformats.org/package/2006/relationships"><Relationship Id="rId3" Type="http://schemas.microsoft.com/office/2018/10/relationships/comments" Target="../comments/modernComment_356_20CBBD59.xml"/><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17.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32.png"/><Relationship Id="rId7" Type="http://schemas.openxmlformats.org/officeDocument/2006/relationships/image" Target="../media/image28.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11.png"/><Relationship Id="rId4" Type="http://schemas.openxmlformats.org/officeDocument/2006/relationships/image" Target="../media/image13.png"/></Relationships>
</file>

<file path=ppt/slides/_rels/slide18.xml.rels><?xml version="1.0" encoding="UTF-8" standalone="yes"?>
<Relationships xmlns="http://schemas.openxmlformats.org/package/2006/relationships"><Relationship Id="rId3" Type="http://schemas.microsoft.com/office/2018/10/relationships/comments" Target="../comments/modernComment_35C_79BF53C7.xml"/><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34.png"/><Relationship Id="rId4" Type="http://schemas.openxmlformats.org/officeDocument/2006/relationships/image" Target="../media/image33.png"/></Relationships>
</file>

<file path=ppt/slides/_rels/slide19.xml.rels><?xml version="1.0" encoding="UTF-8" standalone="yes"?>
<Relationships xmlns="http://schemas.openxmlformats.org/package/2006/relationships"><Relationship Id="rId3" Type="http://schemas.microsoft.com/office/2018/10/relationships/comments" Target="../comments/modernComment_35B_F8CBA390.xml"/><Relationship Id="rId7" Type="http://schemas.openxmlformats.org/officeDocument/2006/relationships/image" Target="../media/image36.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5.png"/></Relationships>
</file>

<file path=ppt/slides/_rels/slide2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34.png"/><Relationship Id="rId4" Type="http://schemas.openxmlformats.org/officeDocument/2006/relationships/image" Target="../media/image33.png"/></Relationships>
</file>

<file path=ppt/slides/_rels/slide21.xml.rels><?xml version="1.0" encoding="UTF-8" standalone="yes"?>
<Relationships xmlns="http://schemas.openxmlformats.org/package/2006/relationships"><Relationship Id="rId3" Type="http://schemas.openxmlformats.org/officeDocument/2006/relationships/image" Target="../media/image36.png"/><Relationship Id="rId7" Type="http://schemas.openxmlformats.org/officeDocument/2006/relationships/image" Target="../media/image38.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37.png"/><Relationship Id="rId5" Type="http://schemas.openxmlformats.org/officeDocument/2006/relationships/image" Target="../media/image34.png"/><Relationship Id="rId4" Type="http://schemas.openxmlformats.org/officeDocument/2006/relationships/image" Target="../media/image33.png"/></Relationships>
</file>

<file path=ppt/slides/_rels/slide2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2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37.png"/><Relationship Id="rId5" Type="http://schemas.openxmlformats.org/officeDocument/2006/relationships/image" Target="../media/image34.png"/><Relationship Id="rId4" Type="http://schemas.openxmlformats.org/officeDocument/2006/relationships/image" Target="../media/image33.png"/></Relationships>
</file>

<file path=ppt/slides/_rels/slide2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11.png"/><Relationship Id="rId1" Type="http://schemas.openxmlformats.org/officeDocument/2006/relationships/slideLayout" Target="../slideLayouts/slideLayout2.xml"/><Relationship Id="rId5" Type="http://schemas.openxmlformats.org/officeDocument/2006/relationships/image" Target="../media/image34.png"/><Relationship Id="rId4" Type="http://schemas.openxmlformats.org/officeDocument/2006/relationships/image" Target="../media/image33.png"/></Relationships>
</file>

<file path=ppt/slides/_rels/slide2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 Id="rId4" Type="http://schemas.openxmlformats.org/officeDocument/2006/relationships/image" Target="../media/image41.png"/></Relationships>
</file>

<file path=ppt/slides/_rels/slide2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jpg"/><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7.png"/></Relationships>
</file>

<file path=ppt/slides/_rels/slide3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1.png"/><Relationship Id="rId4" Type="http://schemas.openxmlformats.org/officeDocument/2006/relationships/image" Target="../media/image17.png"/></Relationships>
</file>

<file path=ppt/slides/_rels/slide35.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46.png"/><Relationship Id="rId4" Type="http://schemas.openxmlformats.org/officeDocument/2006/relationships/image" Target="../media/image34.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49.png"/><Relationship Id="rId4" Type="http://schemas.openxmlformats.org/officeDocument/2006/relationships/image" Target="../media/image48.png"/></Relationships>
</file>

<file path=ppt/slides/_rels/slide41.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52.png"/></Relationships>
</file>

<file path=ppt/slides/_rels/slide45.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54.png"/></Relationships>
</file>

<file path=ppt/slides/_rels/slide4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47.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59.png"/></Relationships>
</file>

<file path=ppt/slides/_rels/slide54.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31.xml"/><Relationship Id="rId1" Type="http://schemas.openxmlformats.org/officeDocument/2006/relationships/slideLayout" Target="../slideLayouts/slideLayout2.xml"/><Relationship Id="rId5" Type="http://schemas.openxmlformats.org/officeDocument/2006/relationships/image" Target="../media/image62.png"/><Relationship Id="rId4" Type="http://schemas.openxmlformats.org/officeDocument/2006/relationships/image" Target="../media/image61.png"/></Relationships>
</file>

<file path=ppt/slides/_rels/slide55.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32.xml"/><Relationship Id="rId1" Type="http://schemas.openxmlformats.org/officeDocument/2006/relationships/slideLayout" Target="../slideLayouts/slideLayout2.xml"/><Relationship Id="rId6" Type="http://schemas.openxmlformats.org/officeDocument/2006/relationships/image" Target="../media/image62.png"/><Relationship Id="rId5" Type="http://schemas.openxmlformats.org/officeDocument/2006/relationships/image" Target="../media/image65.png"/><Relationship Id="rId4" Type="http://schemas.openxmlformats.org/officeDocument/2006/relationships/image" Target="../media/image64.png"/></Relationships>
</file>

<file path=ppt/slides/_rels/slide56.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33.xml"/><Relationship Id="rId1" Type="http://schemas.openxmlformats.org/officeDocument/2006/relationships/slideLayout" Target="../slideLayouts/slideLayout2.xml"/><Relationship Id="rId5" Type="http://schemas.openxmlformats.org/officeDocument/2006/relationships/image" Target="../media/image68.png"/><Relationship Id="rId4" Type="http://schemas.openxmlformats.org/officeDocument/2006/relationships/image" Target="../media/image67.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72.png"/><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7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platzhalter 1"/>
          <p:cNvSpPr>
            <a:spLocks noGrp="1"/>
          </p:cNvSpPr>
          <p:nvPr>
            <p:ph type="body" sz="quarter" idx="10"/>
          </p:nvPr>
        </p:nvSpPr>
        <p:spPr>
          <a:xfrm>
            <a:off x="360000" y="4246656"/>
            <a:ext cx="8568663" cy="1723549"/>
          </a:xfrm>
        </p:spPr>
        <p:txBody>
          <a:bodyPr/>
          <a:lstStyle/>
          <a:p>
            <a:r>
              <a:rPr lang="de-DE" dirty="0"/>
              <a:t>Presenter: W</a:t>
            </a:r>
            <a:r>
              <a:rPr lang="en-US" altLang="zh-CN" dirty="0" err="1"/>
              <a:t>enjia</a:t>
            </a:r>
            <a:r>
              <a:rPr lang="en-US" altLang="zh-CN" dirty="0"/>
              <a:t> Xu</a:t>
            </a:r>
            <a:br>
              <a:rPr lang="en-US" altLang="zh-CN" dirty="0"/>
            </a:br>
            <a:r>
              <a:rPr lang="en-US" altLang="zh-CN" dirty="0"/>
              <a:t>Supervisor: Prof. Dr. Markus Huff</a:t>
            </a:r>
            <a:br>
              <a:rPr lang="en-US" altLang="zh-CN" dirty="0"/>
            </a:br>
            <a:r>
              <a:rPr lang="en-US" altLang="zh-CN" dirty="0"/>
              <a:t>                   </a:t>
            </a:r>
            <a:r>
              <a:rPr lang="en-US" altLang="zh-CN" kern="0" dirty="0"/>
              <a:t>Dr. </a:t>
            </a:r>
            <a:r>
              <a:rPr lang="en-US" altLang="zh-CN" dirty="0"/>
              <a:t>Frank </a:t>
            </a:r>
            <a:r>
              <a:rPr lang="en-US" altLang="zh-CN" dirty="0" err="1"/>
              <a:t>Papenmeier</a:t>
            </a:r>
            <a:br>
              <a:rPr lang="en-US" altLang="zh-CN" dirty="0"/>
            </a:br>
            <a:endParaRPr lang="de-DE" dirty="0"/>
          </a:p>
        </p:txBody>
      </p:sp>
      <p:sp>
        <p:nvSpPr>
          <p:cNvPr id="3" name="Textplatzhalter 2"/>
          <p:cNvSpPr>
            <a:spLocks noGrp="1"/>
          </p:cNvSpPr>
          <p:nvPr>
            <p:ph type="body" sz="quarter" idx="11"/>
          </p:nvPr>
        </p:nvSpPr>
        <p:spPr>
          <a:xfrm>
            <a:off x="360000" y="6120001"/>
            <a:ext cx="6189888" cy="252224"/>
          </a:xfrm>
        </p:spPr>
        <p:txBody>
          <a:bodyPr/>
          <a:lstStyle/>
          <a:p>
            <a:endParaRPr lang="de-DE" dirty="0"/>
          </a:p>
        </p:txBody>
      </p:sp>
      <p:sp>
        <p:nvSpPr>
          <p:cNvPr id="9" name="Rectangle 19"/>
          <p:cNvSpPr>
            <a:spLocks noChangeArrowheads="1"/>
          </p:cNvSpPr>
          <p:nvPr/>
        </p:nvSpPr>
        <p:spPr bwMode="auto">
          <a:xfrm>
            <a:off x="2256731" y="225799"/>
            <a:ext cx="2387600" cy="5199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lnSpc>
                <a:spcPts val="1400"/>
              </a:lnSpc>
              <a:defRPr/>
            </a:pPr>
            <a:r>
              <a:rPr lang="en-US" altLang="de-DE" sz="900" b="1" dirty="0">
                <a:solidFill>
                  <a:srgbClr val="A51E37"/>
                </a:solidFill>
              </a:rPr>
              <a:t>Department of Psychology, University of Tübingen, </a:t>
            </a:r>
            <a:r>
              <a:rPr lang="en-US" altLang="de-DE" sz="900" b="1" dirty="0" err="1">
                <a:solidFill>
                  <a:srgbClr val="A51E37"/>
                </a:solidFill>
              </a:rPr>
              <a:t>Schleichstraße</a:t>
            </a:r>
            <a:r>
              <a:rPr lang="en-US" altLang="de-DE" sz="900" b="1" dirty="0">
                <a:solidFill>
                  <a:srgbClr val="A51E37"/>
                </a:solidFill>
              </a:rPr>
              <a:t> 4, 72076, Tübingen, Germany</a:t>
            </a:r>
          </a:p>
        </p:txBody>
      </p:sp>
      <p:sp>
        <p:nvSpPr>
          <p:cNvPr id="12" name="Rechteck 9">
            <a:extLst>
              <a:ext uri="{FF2B5EF4-FFF2-40B4-BE49-F238E27FC236}">
                <a16:creationId xmlns:a16="http://schemas.microsoft.com/office/drawing/2014/main" id="{30A53B25-9428-F2E9-E5D1-3A8847519099}"/>
              </a:ext>
            </a:extLst>
          </p:cNvPr>
          <p:cNvSpPr/>
          <p:nvPr/>
        </p:nvSpPr>
        <p:spPr>
          <a:xfrm>
            <a:off x="287668" y="2002688"/>
            <a:ext cx="8568663" cy="1890000"/>
          </a:xfrm>
          <a:prstGeom prst="rect">
            <a:avLst/>
          </a:prstGeom>
          <a:solidFill>
            <a:srgbClr val="A51E3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de-DE"/>
          </a:p>
        </p:txBody>
      </p:sp>
      <p:sp>
        <p:nvSpPr>
          <p:cNvPr id="13" name="Rectangle 12">
            <a:extLst>
              <a:ext uri="{FF2B5EF4-FFF2-40B4-BE49-F238E27FC236}">
                <a16:creationId xmlns:a16="http://schemas.microsoft.com/office/drawing/2014/main" id="{ED966598-E7AE-C02D-AC64-D144C2E2577E}"/>
              </a:ext>
            </a:extLst>
          </p:cNvPr>
          <p:cNvSpPr/>
          <p:nvPr/>
        </p:nvSpPr>
        <p:spPr>
          <a:xfrm>
            <a:off x="360000" y="2131842"/>
            <a:ext cx="8096103" cy="1569660"/>
          </a:xfrm>
          <a:prstGeom prst="rect">
            <a:avLst/>
          </a:prstGeom>
          <a:noFill/>
        </p:spPr>
        <p:txBody>
          <a:bodyPr wrap="square" lIns="91440" tIns="45720" rIns="91440" bIns="45720">
            <a:spAutoFit/>
          </a:bodyPr>
          <a:lstStyle/>
          <a:p>
            <a:r>
              <a:rPr lang="en-US" sz="4800" b="0" cap="none" spc="0" dirty="0">
                <a:ln w="0">
                  <a:solidFill>
                    <a:schemeClr val="bg1"/>
                  </a:solidFill>
                </a:ln>
                <a:solidFill>
                  <a:schemeClr val="bg1"/>
                </a:solidFill>
                <a:effectLst>
                  <a:outerShdw blurRad="38100" dist="19050" dir="2700000" algn="tl" rotWithShape="0">
                    <a:schemeClr val="dk1">
                      <a:alpha val="40000"/>
                    </a:schemeClr>
                  </a:outerShdw>
                </a:effectLst>
              </a:rPr>
              <a:t>The processing of event ro</a:t>
            </a:r>
            <a:r>
              <a:rPr lang="en-US" sz="4800" dirty="0">
                <a:ln w="0">
                  <a:solidFill>
                    <a:schemeClr val="bg1"/>
                  </a:solidFill>
                </a:ln>
                <a:solidFill>
                  <a:schemeClr val="bg1"/>
                </a:solidFill>
                <a:effectLst>
                  <a:outerShdw blurRad="38100" dist="19050" dir="2700000" algn="tl" rotWithShape="0">
                    <a:schemeClr val="dk1">
                      <a:alpha val="40000"/>
                    </a:schemeClr>
                  </a:outerShdw>
                </a:effectLst>
              </a:rPr>
              <a:t>les in pictures</a:t>
            </a:r>
            <a:endParaRPr lang="en-US" sz="4800" b="0" cap="none" spc="0" dirty="0">
              <a:ln w="0">
                <a:solidFill>
                  <a:schemeClr val="bg1"/>
                </a:solidFill>
              </a:ln>
              <a:solidFill>
                <a:schemeClr val="bg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12318732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2">
            <a:extLst>
              <a:ext uri="{FF2B5EF4-FFF2-40B4-BE49-F238E27FC236}">
                <a16:creationId xmlns:a16="http://schemas.microsoft.com/office/drawing/2014/main" id="{9357C912-50DC-8E70-AB5E-71336C231BB9}"/>
              </a:ext>
            </a:extLst>
          </p:cNvPr>
          <p:cNvSpPr txBox="1">
            <a:spLocks/>
          </p:cNvSpPr>
          <p:nvPr/>
        </p:nvSpPr>
        <p:spPr>
          <a:xfrm>
            <a:off x="184029" y="1750943"/>
            <a:ext cx="4493200" cy="3534304"/>
          </a:xfrm>
          <a:prstGeom prst="rect">
            <a:avLst/>
          </a:prstGeom>
        </p:spPr>
        <p:txBody>
          <a:bodyPr/>
          <a:lstStyle>
            <a:lvl1pPr marL="180975" indent="-180975" algn="l" rtl="0" eaLnBrk="0" fontAlgn="base" hangingPunct="0">
              <a:lnSpc>
                <a:spcPct val="110000"/>
              </a:lnSpc>
              <a:spcBef>
                <a:spcPct val="0"/>
              </a:spcBef>
              <a:spcAft>
                <a:spcPct val="0"/>
              </a:spcAft>
              <a:buChar char="•"/>
              <a:defRPr sz="2000">
                <a:solidFill>
                  <a:schemeClr val="tx1"/>
                </a:solidFill>
                <a:latin typeface="+mn-lt"/>
                <a:ea typeface="+mn-ea"/>
                <a:cs typeface="+mn-cs"/>
              </a:defRPr>
            </a:lvl1pPr>
            <a:lvl2pPr marL="541338" indent="-180975" algn="l" rtl="0" eaLnBrk="0" fontAlgn="base" hangingPunct="0">
              <a:lnSpc>
                <a:spcPct val="110000"/>
              </a:lnSpc>
              <a:spcBef>
                <a:spcPct val="0"/>
              </a:spcBef>
              <a:spcAft>
                <a:spcPct val="0"/>
              </a:spcAft>
              <a:buSzPct val="80000"/>
              <a:buChar char="-"/>
              <a:defRPr sz="2000">
                <a:solidFill>
                  <a:schemeClr val="tx1"/>
                </a:solidFill>
                <a:latin typeface="+mn-lt"/>
              </a:defRPr>
            </a:lvl2pPr>
            <a:lvl3pPr marL="895350" indent="-174625" algn="l" rtl="0" eaLnBrk="0" fontAlgn="base" hangingPunct="0">
              <a:lnSpc>
                <a:spcPct val="110000"/>
              </a:lnSpc>
              <a:spcBef>
                <a:spcPct val="0"/>
              </a:spcBef>
              <a:spcAft>
                <a:spcPct val="0"/>
              </a:spcAft>
              <a:buFont typeface="Wingdings" panose="05000000000000000000" pitchFamily="2" charset="2"/>
              <a:buChar char="§"/>
              <a:defRPr sz="1400">
                <a:solidFill>
                  <a:schemeClr val="tx1"/>
                </a:solidFill>
                <a:latin typeface="+mn-lt"/>
              </a:defRPr>
            </a:lvl3pPr>
            <a:lvl4pPr marL="1260475" indent="-185738" algn="l" rtl="0" eaLnBrk="0" fontAlgn="base" hangingPunct="0">
              <a:lnSpc>
                <a:spcPct val="110000"/>
              </a:lnSpc>
              <a:spcBef>
                <a:spcPct val="0"/>
              </a:spcBef>
              <a:spcAft>
                <a:spcPct val="0"/>
              </a:spcAft>
              <a:buChar char="•"/>
              <a:defRPr sz="1200">
                <a:solidFill>
                  <a:schemeClr val="tx1"/>
                </a:solidFill>
                <a:latin typeface="+mn-lt"/>
              </a:defRPr>
            </a:lvl4pPr>
            <a:lvl5pPr marL="1622425" indent="-182563" algn="l" rtl="0" eaLnBrk="0" fontAlgn="base" hangingPunct="0">
              <a:lnSpc>
                <a:spcPct val="110000"/>
              </a:lnSpc>
              <a:spcBef>
                <a:spcPct val="0"/>
              </a:spcBef>
              <a:spcAft>
                <a:spcPct val="0"/>
              </a:spcAft>
              <a:buChar char="-"/>
              <a:defRPr sz="1200">
                <a:solidFill>
                  <a:schemeClr val="tx1"/>
                </a:solidFill>
                <a:latin typeface="+mn-lt"/>
              </a:defRPr>
            </a:lvl5pPr>
            <a:lvl6pPr marL="2079625" indent="-182563" algn="l" rtl="0" eaLnBrk="1" fontAlgn="base" hangingPunct="1">
              <a:lnSpc>
                <a:spcPct val="110000"/>
              </a:lnSpc>
              <a:spcBef>
                <a:spcPct val="0"/>
              </a:spcBef>
              <a:spcAft>
                <a:spcPct val="0"/>
              </a:spcAft>
              <a:buChar char="-"/>
              <a:defRPr sz="1200">
                <a:solidFill>
                  <a:schemeClr val="tx1"/>
                </a:solidFill>
                <a:latin typeface="+mn-lt"/>
              </a:defRPr>
            </a:lvl6pPr>
            <a:lvl7pPr marL="2536825" indent="-182563" algn="l" rtl="0" eaLnBrk="1" fontAlgn="base" hangingPunct="1">
              <a:lnSpc>
                <a:spcPct val="110000"/>
              </a:lnSpc>
              <a:spcBef>
                <a:spcPct val="0"/>
              </a:spcBef>
              <a:spcAft>
                <a:spcPct val="0"/>
              </a:spcAft>
              <a:buChar char="-"/>
              <a:defRPr sz="1200">
                <a:solidFill>
                  <a:schemeClr val="tx1"/>
                </a:solidFill>
                <a:latin typeface="+mn-lt"/>
              </a:defRPr>
            </a:lvl7pPr>
            <a:lvl8pPr marL="2994025" indent="-182563" algn="l" rtl="0" eaLnBrk="1" fontAlgn="base" hangingPunct="1">
              <a:lnSpc>
                <a:spcPct val="110000"/>
              </a:lnSpc>
              <a:spcBef>
                <a:spcPct val="0"/>
              </a:spcBef>
              <a:spcAft>
                <a:spcPct val="0"/>
              </a:spcAft>
              <a:buChar char="-"/>
              <a:defRPr sz="1200">
                <a:solidFill>
                  <a:schemeClr val="tx1"/>
                </a:solidFill>
                <a:latin typeface="+mn-lt"/>
              </a:defRPr>
            </a:lvl8pPr>
            <a:lvl9pPr marL="3451225" indent="-182563" algn="l" rtl="0" eaLnBrk="1" fontAlgn="base" hangingPunct="1">
              <a:lnSpc>
                <a:spcPct val="110000"/>
              </a:lnSpc>
              <a:spcBef>
                <a:spcPct val="0"/>
              </a:spcBef>
              <a:spcAft>
                <a:spcPct val="0"/>
              </a:spcAft>
              <a:buChar char="-"/>
              <a:defRPr sz="1200">
                <a:solidFill>
                  <a:schemeClr val="tx1"/>
                </a:solidFill>
                <a:latin typeface="+mn-lt"/>
              </a:defRPr>
            </a:lvl9pPr>
          </a:lstStyle>
          <a:p>
            <a:pPr marL="0" indent="0">
              <a:buNone/>
            </a:pPr>
            <a:r>
              <a:rPr lang="en-US" sz="1600" dirty="0">
                <a:solidFill>
                  <a:srgbClr val="000000"/>
                </a:solidFill>
                <a:effectLst/>
                <a:latin typeface="Calibri" panose="020F0502020204030204" pitchFamily="34" charset="0"/>
                <a:ea typeface="SimSun" panose="02010600030101010101" pitchFamily="2" charset="-122"/>
                <a:cs typeface="Calibri" panose="020F0502020204030204" pitchFamily="34" charset="0"/>
              </a:rPr>
              <a:t>When trying to understand the daily environment, human observers represent the incoming sensory information in event models, thus guiding comprehension </a:t>
            </a:r>
            <a:r>
              <a:rPr lang="en-US" sz="1100" dirty="0">
                <a:solidFill>
                  <a:srgbClr val="000000"/>
                </a:solidFill>
                <a:effectLst/>
                <a:latin typeface="Calibri" panose="020F0502020204030204" pitchFamily="34" charset="0"/>
                <a:ea typeface="SimSun" panose="02010600030101010101" pitchFamily="2" charset="-122"/>
                <a:cs typeface="Calibri" panose="020F0502020204030204" pitchFamily="34" charset="0"/>
              </a:rPr>
              <a:t>(Huff et al., 2014; Zacks et al., 2007)</a:t>
            </a:r>
            <a:r>
              <a:rPr lang="en-US" dirty="0">
                <a:solidFill>
                  <a:srgbClr val="000000"/>
                </a:solidFill>
                <a:effectLst/>
                <a:latin typeface="Calibri" panose="020F0502020204030204" pitchFamily="34" charset="0"/>
                <a:ea typeface="SimSun" panose="02010600030101010101" pitchFamily="2" charset="-122"/>
                <a:cs typeface="Calibri" panose="020F0502020204030204" pitchFamily="34" charset="0"/>
              </a:rPr>
              <a:t>. </a:t>
            </a:r>
          </a:p>
          <a:p>
            <a:pPr marL="0" indent="0">
              <a:buNone/>
            </a:pPr>
            <a:br>
              <a:rPr lang="en-US" dirty="0">
                <a:solidFill>
                  <a:srgbClr val="000000"/>
                </a:solidFill>
                <a:effectLst/>
                <a:latin typeface="Calibri" panose="020F0502020204030204" pitchFamily="34" charset="0"/>
                <a:ea typeface="SimSun" panose="02010600030101010101" pitchFamily="2" charset="-122"/>
                <a:cs typeface="Calibri" panose="020F0502020204030204" pitchFamily="34" charset="0"/>
              </a:rPr>
            </a:br>
            <a:endParaRPr lang="en-US" dirty="0">
              <a:solidFill>
                <a:srgbClr val="000000"/>
              </a:solidFill>
              <a:effectLst/>
              <a:latin typeface="Calibri" panose="020F0502020204030204" pitchFamily="34" charset="0"/>
              <a:ea typeface="SimSun" panose="02010600030101010101" pitchFamily="2" charset="-122"/>
              <a:cs typeface="Calibri" panose="020F0502020204030204" pitchFamily="34" charset="0"/>
            </a:endParaRPr>
          </a:p>
          <a:p>
            <a:pPr marL="0" indent="0">
              <a:buNone/>
            </a:pPr>
            <a:endParaRPr lang="en-US" sz="1600" dirty="0">
              <a:solidFill>
                <a:srgbClr val="000000"/>
              </a:solidFill>
              <a:latin typeface="Calibri" panose="020F0502020204030204" pitchFamily="34" charset="0"/>
              <a:ea typeface="SimSun" panose="02010600030101010101" pitchFamily="2" charset="-122"/>
              <a:cs typeface="Calibri" panose="020F0502020204030204" pitchFamily="34" charset="0"/>
            </a:endParaRPr>
          </a:p>
          <a:p>
            <a:pPr marL="0" indent="0">
              <a:buNone/>
            </a:pPr>
            <a:endParaRPr lang="en-US" sz="1600" dirty="0">
              <a:solidFill>
                <a:srgbClr val="000000"/>
              </a:solidFill>
              <a:latin typeface="Calibri" panose="020F0502020204030204" pitchFamily="34" charset="0"/>
              <a:ea typeface="SimSun" panose="02010600030101010101" pitchFamily="2" charset="-122"/>
              <a:cs typeface="Calibri" panose="020F0502020204030204" pitchFamily="34" charset="0"/>
            </a:endParaRPr>
          </a:p>
          <a:p>
            <a:pPr marL="0" indent="0">
              <a:buNone/>
            </a:pPr>
            <a:endParaRPr lang="en-US" sz="1600" dirty="0">
              <a:solidFill>
                <a:srgbClr val="000000"/>
              </a:solidFill>
              <a:latin typeface="Calibri" panose="020F0502020204030204" pitchFamily="34" charset="0"/>
              <a:ea typeface="SimSun" panose="02010600030101010101" pitchFamily="2" charset="-122"/>
              <a:cs typeface="Calibri" panose="020F0502020204030204" pitchFamily="34" charset="0"/>
            </a:endParaRPr>
          </a:p>
          <a:p>
            <a:pPr marL="0" indent="0">
              <a:buNone/>
            </a:pPr>
            <a:endParaRPr lang="en-US" sz="1600" dirty="0">
              <a:solidFill>
                <a:srgbClr val="000000"/>
              </a:solidFill>
              <a:latin typeface="Calibri" panose="020F0502020204030204" pitchFamily="34" charset="0"/>
              <a:ea typeface="SimSun" panose="02010600030101010101" pitchFamily="2" charset="-122"/>
              <a:cs typeface="Calibri" panose="020F0502020204030204" pitchFamily="34" charset="0"/>
            </a:endParaRPr>
          </a:p>
          <a:p>
            <a:pPr marL="0" indent="0">
              <a:buNone/>
            </a:pPr>
            <a:br>
              <a:rPr lang="en-US" sz="1600" dirty="0">
                <a:solidFill>
                  <a:srgbClr val="000000"/>
                </a:solidFill>
                <a:latin typeface="Calibri" panose="020F0502020204030204" pitchFamily="34" charset="0"/>
                <a:ea typeface="SimSun" panose="02010600030101010101" pitchFamily="2" charset="-122"/>
                <a:cs typeface="Calibri" panose="020F0502020204030204" pitchFamily="34" charset="0"/>
              </a:rPr>
            </a:br>
            <a:r>
              <a:rPr lang="en-US" sz="1600" dirty="0">
                <a:solidFill>
                  <a:srgbClr val="000000"/>
                </a:solidFill>
                <a:latin typeface="Calibri" panose="020F0502020204030204" pitchFamily="34" charset="0"/>
                <a:ea typeface="SimSun" panose="02010600030101010101" pitchFamily="2" charset="-122"/>
                <a:cs typeface="Calibri" panose="020F0502020204030204" pitchFamily="34" charset="0"/>
              </a:rPr>
              <a:t>An essential component of building the event model is </a:t>
            </a:r>
            <a:r>
              <a:rPr lang="en-US" sz="1600" b="1" dirty="0">
                <a:solidFill>
                  <a:srgbClr val="000000"/>
                </a:solidFill>
                <a:latin typeface="Calibri" panose="020F0502020204030204" pitchFamily="34" charset="0"/>
                <a:ea typeface="SimSun" panose="02010600030101010101" pitchFamily="2" charset="-122"/>
                <a:cs typeface="Calibri" panose="020F0502020204030204" pitchFamily="34" charset="0"/>
              </a:rPr>
              <a:t>event roles</a:t>
            </a:r>
            <a:r>
              <a:rPr lang="en-US" sz="1600" dirty="0">
                <a:solidFill>
                  <a:srgbClr val="000000"/>
                </a:solidFill>
                <a:latin typeface="Calibri" panose="020F0502020204030204" pitchFamily="34" charset="0"/>
                <a:ea typeface="SimSun" panose="02010600030101010101" pitchFamily="2" charset="-122"/>
                <a:cs typeface="Calibri" panose="020F0502020204030204" pitchFamily="34" charset="0"/>
              </a:rPr>
              <a:t>, including the agent and the patient </a:t>
            </a:r>
            <a:r>
              <a:rPr lang="en-US" sz="1100" dirty="0">
                <a:solidFill>
                  <a:srgbClr val="000000"/>
                </a:solidFill>
                <a:effectLst/>
                <a:latin typeface="Calibri" panose="020F0502020204030204" pitchFamily="34" charset="0"/>
                <a:ea typeface="SimSun" panose="02010600030101010101" pitchFamily="2" charset="-122"/>
                <a:cs typeface="Calibri" panose="020F0502020204030204" pitchFamily="34" charset="0"/>
              </a:rPr>
              <a:t>(Cohn &amp; </a:t>
            </a:r>
            <a:r>
              <a:rPr lang="en-US" sz="1100" dirty="0" err="1">
                <a:solidFill>
                  <a:srgbClr val="000000"/>
                </a:solidFill>
                <a:effectLst/>
                <a:latin typeface="Calibri" panose="020F0502020204030204" pitchFamily="34" charset="0"/>
                <a:ea typeface="SimSun" panose="02010600030101010101" pitchFamily="2" charset="-122"/>
                <a:cs typeface="Calibri" panose="020F0502020204030204" pitchFamily="34" charset="0"/>
              </a:rPr>
              <a:t>Pacynski</a:t>
            </a:r>
            <a:r>
              <a:rPr lang="en-US" sz="1100" dirty="0">
                <a:solidFill>
                  <a:srgbClr val="000000"/>
                </a:solidFill>
                <a:effectLst/>
                <a:latin typeface="Calibri" panose="020F0502020204030204" pitchFamily="34" charset="0"/>
                <a:ea typeface="SimSun" panose="02010600030101010101" pitchFamily="2" charset="-122"/>
                <a:cs typeface="Calibri" panose="020F0502020204030204" pitchFamily="34" charset="0"/>
              </a:rPr>
              <a:t>, 2013; Papenmeier et al., 2019; </a:t>
            </a:r>
            <a:r>
              <a:rPr lang="en-US" sz="1100" dirty="0" err="1">
                <a:solidFill>
                  <a:srgbClr val="000000"/>
                </a:solidFill>
                <a:effectLst/>
                <a:latin typeface="Calibri" panose="020F0502020204030204" pitchFamily="34" charset="0"/>
                <a:ea typeface="SimSun" panose="02010600030101010101" pitchFamily="2" charset="-122"/>
                <a:cs typeface="Calibri" panose="020F0502020204030204" pitchFamily="34" charset="0"/>
              </a:rPr>
              <a:t>Stawarczyk</a:t>
            </a:r>
            <a:r>
              <a:rPr lang="en-US" sz="1100" dirty="0">
                <a:solidFill>
                  <a:srgbClr val="000000"/>
                </a:solidFill>
                <a:effectLst/>
                <a:latin typeface="Calibri" panose="020F0502020204030204" pitchFamily="34" charset="0"/>
                <a:ea typeface="SimSun" panose="02010600030101010101" pitchFamily="2" charset="-122"/>
                <a:cs typeface="Calibri" panose="020F0502020204030204" pitchFamily="34" charset="0"/>
              </a:rPr>
              <a:t> et al., 2021).</a:t>
            </a:r>
            <a:endParaRPr lang="en-US" sz="1100" dirty="0">
              <a:effectLst/>
              <a:latin typeface="Calibri" panose="020F0502020204030204" pitchFamily="34" charset="0"/>
              <a:ea typeface="SimSun" panose="02010600030101010101" pitchFamily="2" charset="-122"/>
              <a:cs typeface="Calibri" panose="020F0502020204030204" pitchFamily="34" charset="0"/>
            </a:endParaRPr>
          </a:p>
          <a:p>
            <a:pPr marL="0" indent="0">
              <a:buNone/>
            </a:pPr>
            <a:br>
              <a:rPr lang="en-US" dirty="0">
                <a:solidFill>
                  <a:srgbClr val="000000"/>
                </a:solidFill>
                <a:effectLst/>
                <a:latin typeface="Calibri" panose="020F0502020204030204" pitchFamily="34" charset="0"/>
                <a:ea typeface="SimSun" panose="02010600030101010101" pitchFamily="2" charset="-122"/>
                <a:cs typeface="Calibri" panose="020F0502020204030204" pitchFamily="34" charset="0"/>
              </a:rPr>
            </a:br>
            <a:br>
              <a:rPr lang="en-US" dirty="0">
                <a:solidFill>
                  <a:srgbClr val="000000"/>
                </a:solidFill>
                <a:effectLst/>
                <a:latin typeface="Calibri" panose="020F0502020204030204" pitchFamily="34" charset="0"/>
                <a:ea typeface="SimSun" panose="02010600030101010101" pitchFamily="2" charset="-122"/>
                <a:cs typeface="Calibri" panose="020F0502020204030204" pitchFamily="34" charset="0"/>
              </a:rPr>
            </a:br>
            <a:endParaRPr lang="en-US" kern="0" dirty="0">
              <a:latin typeface="Calibri" panose="020F0502020204030204" pitchFamily="34" charset="0"/>
              <a:cs typeface="Calibri" panose="020F0502020204030204" pitchFamily="34" charset="0"/>
            </a:endParaRPr>
          </a:p>
        </p:txBody>
      </p:sp>
      <p:sp>
        <p:nvSpPr>
          <p:cNvPr id="5" name="Rectangle 4">
            <a:extLst>
              <a:ext uri="{FF2B5EF4-FFF2-40B4-BE49-F238E27FC236}">
                <a16:creationId xmlns:a16="http://schemas.microsoft.com/office/drawing/2014/main" id="{EBCDBEDF-2070-A905-ABCE-DA8954FE6FEC}"/>
              </a:ext>
            </a:extLst>
          </p:cNvPr>
          <p:cNvSpPr/>
          <p:nvPr/>
        </p:nvSpPr>
        <p:spPr>
          <a:xfrm>
            <a:off x="-431197" y="1043057"/>
            <a:ext cx="3877986" cy="707886"/>
          </a:xfrm>
          <a:prstGeom prst="rect">
            <a:avLst/>
          </a:prstGeom>
          <a:noFill/>
        </p:spPr>
        <p:txBody>
          <a:bodyPr wrap="square" lIns="91440" tIns="45720" rIns="91440" bIns="45720">
            <a:spAutoFit/>
          </a:bodyPr>
          <a:lstStyle/>
          <a:p>
            <a:pPr algn="ctr"/>
            <a:r>
              <a:rPr lang="en-US" sz="40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rPr>
              <a:t>Background</a:t>
            </a:r>
          </a:p>
        </p:txBody>
      </p:sp>
      <p:graphicFrame>
        <p:nvGraphicFramePr>
          <p:cNvPr id="7" name="Diagram 6">
            <a:extLst>
              <a:ext uri="{FF2B5EF4-FFF2-40B4-BE49-F238E27FC236}">
                <a16:creationId xmlns:a16="http://schemas.microsoft.com/office/drawing/2014/main" id="{68BD823F-1134-EA64-7EAD-5F292FE432B4}"/>
              </a:ext>
            </a:extLst>
          </p:cNvPr>
          <p:cNvGraphicFramePr/>
          <p:nvPr/>
        </p:nvGraphicFramePr>
        <p:xfrm>
          <a:off x="4759900" y="1926696"/>
          <a:ext cx="1615500" cy="353430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8" name="Diagram 7">
            <a:extLst>
              <a:ext uri="{FF2B5EF4-FFF2-40B4-BE49-F238E27FC236}">
                <a16:creationId xmlns:a16="http://schemas.microsoft.com/office/drawing/2014/main" id="{32FFEA34-52C2-32A1-4A29-02600F7D02DE}"/>
              </a:ext>
            </a:extLst>
          </p:cNvPr>
          <p:cNvGraphicFramePr/>
          <p:nvPr/>
        </p:nvGraphicFramePr>
        <p:xfrm>
          <a:off x="6813894" y="3429000"/>
          <a:ext cx="2241067" cy="641086"/>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9" name="Arrow: Right 8">
            <a:extLst>
              <a:ext uri="{FF2B5EF4-FFF2-40B4-BE49-F238E27FC236}">
                <a16:creationId xmlns:a16="http://schemas.microsoft.com/office/drawing/2014/main" id="{83A854CC-D0D5-DE43-C26B-97660F848797}"/>
              </a:ext>
            </a:extLst>
          </p:cNvPr>
          <p:cNvSpPr/>
          <p:nvPr/>
        </p:nvSpPr>
        <p:spPr>
          <a:xfrm>
            <a:off x="6501513" y="3643772"/>
            <a:ext cx="186267" cy="215444"/>
          </a:xfrm>
          <a:prstGeom prst="rightArrow">
            <a:avLst/>
          </a:prstGeom>
          <a:solidFill>
            <a:schemeClr val="accent3">
              <a:lumMod val="65000"/>
            </a:schemeClr>
          </a:solidFill>
          <a:ln>
            <a:solidFill>
              <a:schemeClr val="accent3">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2B889233-D58D-EFC8-C617-BC003853A917}"/>
              </a:ext>
            </a:extLst>
          </p:cNvPr>
          <p:cNvSpPr txBox="1"/>
          <p:nvPr/>
        </p:nvSpPr>
        <p:spPr>
          <a:xfrm>
            <a:off x="184029" y="3023645"/>
            <a:ext cx="4103914" cy="2092881"/>
          </a:xfrm>
          <a:prstGeom prst="rect">
            <a:avLst/>
          </a:prstGeom>
          <a:noFill/>
        </p:spPr>
        <p:txBody>
          <a:bodyPr wrap="square" rtlCol="0">
            <a:spAutoFit/>
          </a:bodyPr>
          <a:lstStyle/>
          <a:p>
            <a:pPr marL="0" indent="0">
              <a:buNone/>
            </a:pPr>
            <a:r>
              <a:rPr lang="en-US" sz="1800" b="1" dirty="0">
                <a:solidFill>
                  <a:srgbClr val="000000"/>
                </a:solidFill>
                <a:latin typeface="Calibri" panose="020F0502020204030204" pitchFamily="34" charset="0"/>
                <a:ea typeface="SimSun" panose="02010600030101010101" pitchFamily="2" charset="-122"/>
                <a:cs typeface="Calibri" panose="020F0502020204030204" pitchFamily="34" charset="0"/>
              </a:rPr>
              <a:t>Event model</a:t>
            </a:r>
            <a:r>
              <a:rPr lang="en-US" sz="1800" dirty="0">
                <a:solidFill>
                  <a:srgbClr val="000000"/>
                </a:solidFill>
                <a:latin typeface="Calibri" panose="020F0502020204030204" pitchFamily="34" charset="0"/>
                <a:ea typeface="SimSun" panose="02010600030101010101" pitchFamily="2" charset="-122"/>
                <a:cs typeface="Calibri" panose="020F0502020204030204" pitchFamily="34" charset="0"/>
              </a:rPr>
              <a:t>: </a:t>
            </a:r>
          </a:p>
          <a:p>
            <a:pPr marL="285750" indent="-285750">
              <a:buFont typeface="Arial" panose="020B0604020202020204" pitchFamily="34" charset="0"/>
              <a:buChar char="•"/>
            </a:pPr>
            <a:r>
              <a:rPr lang="en-US" sz="1600" dirty="0">
                <a:solidFill>
                  <a:srgbClr val="000000"/>
                </a:solidFill>
                <a:latin typeface="Calibri" panose="020F0502020204030204" pitchFamily="34" charset="0"/>
                <a:ea typeface="SimSun" panose="02010600030101010101" pitchFamily="2" charset="-122"/>
                <a:cs typeface="Calibri" panose="020F0502020204030204" pitchFamily="34" charset="0"/>
              </a:rPr>
              <a:t>construct event representations from text, movies, and reality </a:t>
            </a:r>
            <a:r>
              <a:rPr lang="en-US" sz="1200" dirty="0">
                <a:solidFill>
                  <a:srgbClr val="000000"/>
                </a:solidFill>
                <a:effectLst/>
                <a:latin typeface="Calibri" panose="020F0502020204030204" pitchFamily="34" charset="0"/>
                <a:ea typeface="SimSun" panose="02010600030101010101" pitchFamily="2" charset="-122"/>
                <a:cs typeface="Calibri" panose="020F0502020204030204" pitchFamily="34" charset="0"/>
              </a:rPr>
              <a:t>(</a:t>
            </a:r>
            <a:r>
              <a:rPr lang="en-US" sz="1200" dirty="0" err="1">
                <a:solidFill>
                  <a:srgbClr val="000000"/>
                </a:solidFill>
                <a:effectLst/>
                <a:latin typeface="Calibri" panose="020F0502020204030204" pitchFamily="34" charset="0"/>
                <a:ea typeface="SimSun" panose="02010600030101010101" pitchFamily="2" charset="-122"/>
                <a:cs typeface="Calibri" panose="020F0502020204030204" pitchFamily="34" charset="0"/>
              </a:rPr>
              <a:t>Radvansky</a:t>
            </a:r>
            <a:r>
              <a:rPr lang="en-US" sz="1200" dirty="0">
                <a:solidFill>
                  <a:srgbClr val="000000"/>
                </a:solidFill>
                <a:effectLst/>
                <a:latin typeface="Calibri" panose="020F0502020204030204" pitchFamily="34" charset="0"/>
                <a:ea typeface="SimSun" panose="02010600030101010101" pitchFamily="2" charset="-122"/>
                <a:cs typeface="Calibri" panose="020F0502020204030204" pitchFamily="34" charset="0"/>
              </a:rPr>
              <a:t> &amp; Zacks, 2017)</a:t>
            </a:r>
            <a:r>
              <a:rPr lang="en-US" dirty="0">
                <a:solidFill>
                  <a:srgbClr val="000000"/>
                </a:solidFill>
                <a:effectLst/>
                <a:latin typeface="Calibri" panose="020F0502020204030204" pitchFamily="34" charset="0"/>
                <a:ea typeface="SimSun" panose="02010600030101010101" pitchFamily="2" charset="-122"/>
                <a:cs typeface="Calibri" panose="020F0502020204030204" pitchFamily="34" charset="0"/>
              </a:rPr>
              <a:t>. </a:t>
            </a:r>
            <a:endParaRPr lang="en-US" dirty="0">
              <a:solidFill>
                <a:srgbClr val="000000"/>
              </a:solidFill>
              <a:latin typeface="Calibri" panose="020F0502020204030204" pitchFamily="34" charset="0"/>
              <a:ea typeface="SimSun" panose="02010600030101010101" pitchFamily="2" charset="-122"/>
              <a:cs typeface="Calibri" panose="020F0502020204030204" pitchFamily="34" charset="0"/>
            </a:endParaRPr>
          </a:p>
          <a:p>
            <a:pPr marL="285750" indent="-285750">
              <a:buFont typeface="Arial" panose="020B0604020202020204" pitchFamily="34" charset="0"/>
              <a:buChar char="•"/>
            </a:pPr>
            <a:r>
              <a:rPr lang="en-US" sz="1600" dirty="0">
                <a:solidFill>
                  <a:srgbClr val="000000"/>
                </a:solidFill>
                <a:latin typeface="Calibri" panose="020F0502020204030204" pitchFamily="34" charset="0"/>
                <a:ea typeface="SimSun" panose="02010600030101010101" pitchFamily="2" charset="-122"/>
                <a:cs typeface="Calibri" panose="020F0502020204030204" pitchFamily="34" charset="0"/>
              </a:rPr>
              <a:t>structured fragments derived from the event's internal makeup, including the time, space, and character relationships </a:t>
            </a:r>
            <a:r>
              <a:rPr lang="en-US" sz="1200" dirty="0">
                <a:solidFill>
                  <a:srgbClr val="000000"/>
                </a:solidFill>
                <a:effectLst/>
                <a:latin typeface="Calibri" panose="020F0502020204030204" pitchFamily="34" charset="0"/>
                <a:ea typeface="SimSun" panose="02010600030101010101" pitchFamily="2" charset="-122"/>
                <a:cs typeface="Calibri" panose="020F0502020204030204" pitchFamily="34" charset="0"/>
              </a:rPr>
              <a:t>(Huff et al., 2014; Zacks, 2020)</a:t>
            </a:r>
          </a:p>
          <a:p>
            <a:endParaRPr lang="en-US" dirty="0"/>
          </a:p>
        </p:txBody>
      </p:sp>
    </p:spTree>
    <p:extLst>
      <p:ext uri="{BB962C8B-B14F-4D97-AF65-F5344CB8AC3E}">
        <p14:creationId xmlns:p14="http://schemas.microsoft.com/office/powerpoint/2010/main" val="34738233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15">
            <a:extLst>
              <a:ext uri="{FF2B5EF4-FFF2-40B4-BE49-F238E27FC236}">
                <a16:creationId xmlns:a16="http://schemas.microsoft.com/office/drawing/2014/main" id="{A026E45B-DF3D-AFB3-4361-94E3006ACF2A}"/>
              </a:ext>
            </a:extLst>
          </p:cNvPr>
          <p:cNvSpPr>
            <a:spLocks noChangeArrowheads="1"/>
          </p:cNvSpPr>
          <p:nvPr/>
        </p:nvSpPr>
        <p:spPr bwMode="auto">
          <a:xfrm>
            <a:off x="448012" y="1810724"/>
            <a:ext cx="4341314"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911225">
              <a:defRPr>
                <a:solidFill>
                  <a:schemeClr val="tx1"/>
                </a:solidFill>
                <a:latin typeface="Calibri" panose="020F0502020204030204" pitchFamily="34" charset="0"/>
                <a:ea typeface="宋体" panose="02010600030101010101" pitchFamily="2" charset="-122"/>
              </a:defRPr>
            </a:lvl1pPr>
            <a:lvl2pPr marL="742950" indent="-285750" defTabSz="911225">
              <a:defRPr>
                <a:solidFill>
                  <a:schemeClr val="tx1"/>
                </a:solidFill>
                <a:latin typeface="Calibri" panose="020F0502020204030204" pitchFamily="34" charset="0"/>
                <a:ea typeface="宋体" panose="02010600030101010101" pitchFamily="2" charset="-122"/>
              </a:defRPr>
            </a:lvl2pPr>
            <a:lvl3pPr marL="1143000" indent="-228600" defTabSz="911225">
              <a:defRPr>
                <a:solidFill>
                  <a:schemeClr val="tx1"/>
                </a:solidFill>
                <a:latin typeface="Calibri" panose="020F0502020204030204" pitchFamily="34" charset="0"/>
                <a:ea typeface="宋体" panose="02010600030101010101" pitchFamily="2" charset="-122"/>
              </a:defRPr>
            </a:lvl3pPr>
            <a:lvl4pPr marL="1600200" indent="-228600" defTabSz="911225">
              <a:defRPr>
                <a:solidFill>
                  <a:schemeClr val="tx1"/>
                </a:solidFill>
                <a:latin typeface="Calibri" panose="020F0502020204030204" pitchFamily="34" charset="0"/>
                <a:ea typeface="宋体" panose="02010600030101010101" pitchFamily="2" charset="-122"/>
              </a:defRPr>
            </a:lvl4pPr>
            <a:lvl5pPr marL="2057400" indent="-228600" defTabSz="911225">
              <a:defRPr>
                <a:solidFill>
                  <a:schemeClr val="tx1"/>
                </a:solidFill>
                <a:latin typeface="Calibri" panose="020F0502020204030204" pitchFamily="34" charset="0"/>
                <a:ea typeface="宋体" panose="02010600030101010101" pitchFamily="2" charset="-122"/>
              </a:defRPr>
            </a:lvl5pPr>
            <a:lvl6pPr marL="25146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285750" indent="-285750" algn="l">
              <a:buFont typeface="Arial" panose="020B0604020202020204" pitchFamily="34" charset="0"/>
              <a:buChar char="•"/>
            </a:pPr>
            <a:r>
              <a:rPr lang="en-US" altLang="zh-CN" sz="2000" b="1" dirty="0">
                <a:effectLst>
                  <a:innerShdw blurRad="63500" dist="50800">
                    <a:prstClr val="black">
                      <a:alpha val="50000"/>
                    </a:prstClr>
                  </a:innerShdw>
                </a:effectLst>
                <a:cs typeface="Calibri" panose="020F0502020204030204" pitchFamily="34" charset="0"/>
              </a:rPr>
              <a:t>Agent: </a:t>
            </a:r>
            <a:r>
              <a:rPr lang="en-US" sz="2000" dirty="0">
                <a:effectLst/>
                <a:ea typeface="DengXian" panose="02010600030101010101" pitchFamily="2" charset="-122"/>
                <a:cs typeface="Calibri" panose="020F0502020204030204" pitchFamily="34" charset="0"/>
              </a:rPr>
              <a:t>the performer of the action</a:t>
            </a:r>
            <a:endParaRPr lang="en-US" altLang="zh-CN" sz="2000" b="1" dirty="0">
              <a:solidFill>
                <a:srgbClr val="00A185"/>
              </a:solidFill>
              <a:effectLst>
                <a:innerShdw blurRad="63500" dist="50800">
                  <a:prstClr val="black">
                    <a:alpha val="50000"/>
                  </a:prstClr>
                </a:innerShdw>
              </a:effectLst>
              <a:cs typeface="Calibri" panose="020F0502020204030204" pitchFamily="34" charset="0"/>
            </a:endParaRPr>
          </a:p>
          <a:p>
            <a:pPr marL="285750" indent="-285750" algn="l">
              <a:buFont typeface="Arial" panose="020B0604020202020204" pitchFamily="34" charset="0"/>
              <a:buChar char="•"/>
            </a:pPr>
            <a:r>
              <a:rPr lang="en-US" altLang="zh-CN" sz="2000" b="1" dirty="0">
                <a:effectLst>
                  <a:innerShdw blurRad="63500" dist="50800">
                    <a:prstClr val="black">
                      <a:alpha val="50000"/>
                    </a:prstClr>
                  </a:innerShdw>
                </a:effectLst>
                <a:cs typeface="Calibri" panose="020F0502020204030204" pitchFamily="34" charset="0"/>
              </a:rPr>
              <a:t>Patient: </a:t>
            </a:r>
            <a:r>
              <a:rPr lang="en-US" sz="2000" dirty="0">
                <a:effectLst/>
                <a:ea typeface="DengXian" panose="02010600030101010101" pitchFamily="2" charset="-122"/>
                <a:cs typeface="Calibri" panose="020F0502020204030204" pitchFamily="34" charset="0"/>
              </a:rPr>
              <a:t>the person or thing acted upon</a:t>
            </a:r>
            <a:endParaRPr lang="en-US" altLang="zh-CN" sz="2000" b="1" dirty="0">
              <a:solidFill>
                <a:srgbClr val="00A185"/>
              </a:solidFill>
              <a:effectLst>
                <a:innerShdw blurRad="63500" dist="50800">
                  <a:prstClr val="black">
                    <a:alpha val="50000"/>
                  </a:prstClr>
                </a:innerShdw>
              </a:effectLst>
              <a:cs typeface="Calibri" panose="020F0502020204030204" pitchFamily="34" charset="0"/>
            </a:endParaRPr>
          </a:p>
        </p:txBody>
      </p:sp>
      <p:pic>
        <p:nvPicPr>
          <p:cNvPr id="9" name="Picture 8">
            <a:extLst>
              <a:ext uri="{FF2B5EF4-FFF2-40B4-BE49-F238E27FC236}">
                <a16:creationId xmlns:a16="http://schemas.microsoft.com/office/drawing/2014/main" id="{D6603A43-AA05-D0D6-56F6-FE6AC2B7D769}"/>
              </a:ext>
            </a:extLst>
          </p:cNvPr>
          <p:cNvPicPr>
            <a:picLocks noChangeAspect="1"/>
          </p:cNvPicPr>
          <p:nvPr/>
        </p:nvPicPr>
        <p:blipFill rotWithShape="1">
          <a:blip r:embed="rId3">
            <a:extLst>
              <a:ext uri="{28A0092B-C50C-407E-A947-70E740481C1C}">
                <a14:useLocalDpi xmlns:a14="http://schemas.microsoft.com/office/drawing/2010/main" val="0"/>
              </a:ext>
            </a:extLst>
          </a:blip>
          <a:srcRect t="4764" r="1965" b="3683"/>
          <a:stretch/>
        </p:blipFill>
        <p:spPr>
          <a:xfrm>
            <a:off x="4981433" y="2282475"/>
            <a:ext cx="3584837" cy="2086494"/>
          </a:xfrm>
          <a:prstGeom prst="rect">
            <a:avLst/>
          </a:prstGeom>
        </p:spPr>
      </p:pic>
      <p:cxnSp>
        <p:nvCxnSpPr>
          <p:cNvPr id="11" name="Straight Arrow Connector 10">
            <a:extLst>
              <a:ext uri="{FF2B5EF4-FFF2-40B4-BE49-F238E27FC236}">
                <a16:creationId xmlns:a16="http://schemas.microsoft.com/office/drawing/2014/main" id="{2B0A1319-6851-5DBA-9652-9A85E48163D7}"/>
              </a:ext>
            </a:extLst>
          </p:cNvPr>
          <p:cNvCxnSpPr>
            <a:cxnSpLocks/>
          </p:cNvCxnSpPr>
          <p:nvPr/>
        </p:nvCxnSpPr>
        <p:spPr>
          <a:xfrm flipH="1" flipV="1">
            <a:off x="5684762" y="2059936"/>
            <a:ext cx="304800" cy="313267"/>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sp>
        <p:nvSpPr>
          <p:cNvPr id="13" name="Rectangle 12">
            <a:extLst>
              <a:ext uri="{FF2B5EF4-FFF2-40B4-BE49-F238E27FC236}">
                <a16:creationId xmlns:a16="http://schemas.microsoft.com/office/drawing/2014/main" id="{AB034C07-C55B-323B-A64F-863CEE609CE9}"/>
              </a:ext>
            </a:extLst>
          </p:cNvPr>
          <p:cNvSpPr/>
          <p:nvPr/>
        </p:nvSpPr>
        <p:spPr>
          <a:xfrm>
            <a:off x="4947605" y="1775933"/>
            <a:ext cx="812723" cy="400110"/>
          </a:xfrm>
          <a:prstGeom prst="rect">
            <a:avLst/>
          </a:prstGeom>
          <a:noFill/>
        </p:spPr>
        <p:txBody>
          <a:bodyPr wrap="none" lIns="91440" tIns="45720" rIns="91440" bIns="45720">
            <a:spAutoFit/>
          </a:bodyPr>
          <a:lstStyle/>
          <a:p>
            <a:pPr algn="ctr"/>
            <a:r>
              <a:rPr lang="en-US" sz="20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rPr>
              <a:t>Agent</a:t>
            </a:r>
          </a:p>
        </p:txBody>
      </p:sp>
      <p:cxnSp>
        <p:nvCxnSpPr>
          <p:cNvPr id="14" name="Straight Arrow Connector 13">
            <a:extLst>
              <a:ext uri="{FF2B5EF4-FFF2-40B4-BE49-F238E27FC236}">
                <a16:creationId xmlns:a16="http://schemas.microsoft.com/office/drawing/2014/main" id="{E1BE8640-813E-FF2F-F23D-66002DAF2514}"/>
              </a:ext>
            </a:extLst>
          </p:cNvPr>
          <p:cNvCxnSpPr>
            <a:cxnSpLocks/>
          </p:cNvCxnSpPr>
          <p:nvPr/>
        </p:nvCxnSpPr>
        <p:spPr>
          <a:xfrm flipV="1">
            <a:off x="7645157" y="2089247"/>
            <a:ext cx="270934" cy="304624"/>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sp>
        <p:nvSpPr>
          <p:cNvPr id="16" name="Rectangle 15">
            <a:extLst>
              <a:ext uri="{FF2B5EF4-FFF2-40B4-BE49-F238E27FC236}">
                <a16:creationId xmlns:a16="http://schemas.microsoft.com/office/drawing/2014/main" id="{4B37C39E-26E2-44B6-0A6B-348B87C4E9D2}"/>
              </a:ext>
            </a:extLst>
          </p:cNvPr>
          <p:cNvSpPr/>
          <p:nvPr/>
        </p:nvSpPr>
        <p:spPr>
          <a:xfrm>
            <a:off x="7824168" y="1775845"/>
            <a:ext cx="944361" cy="400110"/>
          </a:xfrm>
          <a:prstGeom prst="rect">
            <a:avLst/>
          </a:prstGeom>
          <a:noFill/>
        </p:spPr>
        <p:txBody>
          <a:bodyPr wrap="none" lIns="91440" tIns="45720" rIns="91440" bIns="45720">
            <a:spAutoFit/>
          </a:bodyPr>
          <a:lstStyle/>
          <a:p>
            <a:pPr algn="ctr"/>
            <a:r>
              <a:rPr lang="en-US" sz="20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rPr>
              <a:t>P</a:t>
            </a:r>
            <a:r>
              <a:rPr lang="en-US" altLang="zh-CN" sz="20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rPr>
              <a:t>atient</a:t>
            </a:r>
            <a:endParaRPr lang="en-US" sz="20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2" name="Arrow: Left-Right 1">
            <a:extLst>
              <a:ext uri="{FF2B5EF4-FFF2-40B4-BE49-F238E27FC236}">
                <a16:creationId xmlns:a16="http://schemas.microsoft.com/office/drawing/2014/main" id="{DDFD4733-8559-9731-7E6C-973FFDF8A120}"/>
              </a:ext>
            </a:extLst>
          </p:cNvPr>
          <p:cNvSpPr/>
          <p:nvPr/>
        </p:nvSpPr>
        <p:spPr>
          <a:xfrm>
            <a:off x="5782733" y="1949850"/>
            <a:ext cx="2041435" cy="77234"/>
          </a:xfrm>
          <a:prstGeom prst="leftRightArrow">
            <a:avLst/>
          </a:prstGeom>
          <a:solidFill>
            <a:schemeClr val="tx1"/>
          </a:solidFill>
          <a:ln>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FE5CBD23-CB13-B7E0-224A-613128E1A50F}"/>
              </a:ext>
            </a:extLst>
          </p:cNvPr>
          <p:cNvSpPr txBox="1"/>
          <p:nvPr/>
        </p:nvSpPr>
        <p:spPr>
          <a:xfrm>
            <a:off x="6158650" y="1631863"/>
            <a:ext cx="1230401" cy="369332"/>
          </a:xfrm>
          <a:prstGeom prst="rect">
            <a:avLst/>
          </a:prstGeom>
          <a:noFill/>
        </p:spPr>
        <p:txBody>
          <a:bodyPr wrap="none" rtlCol="0">
            <a:spAutoFit/>
          </a:bodyPr>
          <a:lstStyle/>
          <a:p>
            <a:r>
              <a:rPr lang="en-US" sz="1800" dirty="0">
                <a:solidFill>
                  <a:srgbClr val="000000"/>
                </a:solidFill>
                <a:effectLst/>
                <a:latin typeface="Calibri" panose="020F0502020204030204" pitchFamily="34" charset="0"/>
                <a:ea typeface="SimSun" panose="02010600030101010101" pitchFamily="2" charset="-122"/>
                <a:cs typeface="Calibri" panose="020F0502020204030204" pitchFamily="34" charset="0"/>
              </a:rPr>
              <a:t>asymmetry</a:t>
            </a:r>
            <a:endParaRPr lang="en-US" dirty="0">
              <a:latin typeface="Calibri" panose="020F0502020204030204" pitchFamily="34" charset="0"/>
              <a:cs typeface="Calibri" panose="020F0502020204030204" pitchFamily="34" charset="0"/>
            </a:endParaRPr>
          </a:p>
        </p:txBody>
      </p:sp>
      <p:sp>
        <p:nvSpPr>
          <p:cNvPr id="12" name="Rectangle 11">
            <a:extLst>
              <a:ext uri="{FF2B5EF4-FFF2-40B4-BE49-F238E27FC236}">
                <a16:creationId xmlns:a16="http://schemas.microsoft.com/office/drawing/2014/main" id="{A480DE71-1B30-C611-408B-B049C4F64393}"/>
              </a:ext>
            </a:extLst>
          </p:cNvPr>
          <p:cNvSpPr/>
          <p:nvPr/>
        </p:nvSpPr>
        <p:spPr>
          <a:xfrm>
            <a:off x="-318977" y="1043057"/>
            <a:ext cx="3885509" cy="707886"/>
          </a:xfrm>
          <a:prstGeom prst="rect">
            <a:avLst/>
          </a:prstGeom>
          <a:noFill/>
        </p:spPr>
        <p:txBody>
          <a:bodyPr wrap="square" lIns="91440" tIns="45720" rIns="91440" bIns="45720">
            <a:spAutoFit/>
          </a:bodyPr>
          <a:lstStyle/>
          <a:p>
            <a:pPr algn="ctr"/>
            <a:r>
              <a:rPr lang="en-US" sz="40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rPr>
              <a:t>E</a:t>
            </a:r>
            <a:r>
              <a:rPr lang="en-US" altLang="zh-CN" sz="40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rPr>
              <a:t>vent Roles</a:t>
            </a:r>
            <a:endParaRPr lang="en-US" sz="40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17" name="矩形 15">
            <a:extLst>
              <a:ext uri="{FF2B5EF4-FFF2-40B4-BE49-F238E27FC236}">
                <a16:creationId xmlns:a16="http://schemas.microsoft.com/office/drawing/2014/main" id="{FA0D0207-4C8D-E8C4-9151-2794D2B45709}"/>
              </a:ext>
            </a:extLst>
          </p:cNvPr>
          <p:cNvSpPr>
            <a:spLocks noChangeArrowheads="1"/>
          </p:cNvSpPr>
          <p:nvPr/>
        </p:nvSpPr>
        <p:spPr bwMode="auto">
          <a:xfrm>
            <a:off x="448012" y="2944685"/>
            <a:ext cx="4341314" cy="10310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911225">
              <a:defRPr>
                <a:solidFill>
                  <a:schemeClr val="tx1"/>
                </a:solidFill>
                <a:latin typeface="Calibri" panose="020F0502020204030204" pitchFamily="34" charset="0"/>
                <a:ea typeface="宋体" panose="02010600030101010101" pitchFamily="2" charset="-122"/>
              </a:defRPr>
            </a:lvl1pPr>
            <a:lvl2pPr marL="742950" indent="-285750" defTabSz="911225">
              <a:defRPr>
                <a:solidFill>
                  <a:schemeClr val="tx1"/>
                </a:solidFill>
                <a:latin typeface="Calibri" panose="020F0502020204030204" pitchFamily="34" charset="0"/>
                <a:ea typeface="宋体" panose="02010600030101010101" pitchFamily="2" charset="-122"/>
              </a:defRPr>
            </a:lvl2pPr>
            <a:lvl3pPr marL="1143000" indent="-228600" defTabSz="911225">
              <a:defRPr>
                <a:solidFill>
                  <a:schemeClr val="tx1"/>
                </a:solidFill>
                <a:latin typeface="Calibri" panose="020F0502020204030204" pitchFamily="34" charset="0"/>
                <a:ea typeface="宋体" panose="02010600030101010101" pitchFamily="2" charset="-122"/>
              </a:defRPr>
            </a:lvl3pPr>
            <a:lvl4pPr marL="1600200" indent="-228600" defTabSz="911225">
              <a:defRPr>
                <a:solidFill>
                  <a:schemeClr val="tx1"/>
                </a:solidFill>
                <a:latin typeface="Calibri" panose="020F0502020204030204" pitchFamily="34" charset="0"/>
                <a:ea typeface="宋体" panose="02010600030101010101" pitchFamily="2" charset="-122"/>
              </a:defRPr>
            </a:lvl4pPr>
            <a:lvl5pPr marL="2057400" indent="-228600" defTabSz="911225">
              <a:defRPr>
                <a:solidFill>
                  <a:schemeClr val="tx1"/>
                </a:solidFill>
                <a:latin typeface="Calibri" panose="020F0502020204030204" pitchFamily="34" charset="0"/>
                <a:ea typeface="宋体" panose="02010600030101010101" pitchFamily="2" charset="-122"/>
              </a:defRPr>
            </a:lvl5pPr>
            <a:lvl6pPr marL="25146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l"/>
            <a:r>
              <a:rPr lang="en-US" altLang="zh-CN" dirty="0">
                <a:effectLst>
                  <a:innerShdw blurRad="63500" dist="50800">
                    <a:prstClr val="black">
                      <a:alpha val="50000"/>
                    </a:prstClr>
                  </a:innerShdw>
                </a:effectLst>
                <a:cs typeface="Calibri" panose="020F0502020204030204" pitchFamily="34" charset="0"/>
              </a:rPr>
              <a:t>Event roles are asymmetric during the cognitive process, and agents are more salient </a:t>
            </a:r>
            <a:r>
              <a:rPr lang="en-US" altLang="zh-CN" sz="1100" dirty="0">
                <a:effectLst>
                  <a:innerShdw blurRad="63500" dist="50800">
                    <a:prstClr val="black">
                      <a:alpha val="50000"/>
                    </a:prstClr>
                  </a:innerShdw>
                </a:effectLst>
                <a:cs typeface="Calibri" panose="020F0502020204030204" pitchFamily="34" charset="0"/>
              </a:rPr>
              <a:t>(</a:t>
            </a:r>
            <a:r>
              <a:rPr lang="it-IT" altLang="zh-CN" sz="1100" dirty="0">
                <a:effectLst>
                  <a:innerShdw blurRad="63500" dist="50800">
                    <a:prstClr val="black">
                      <a:alpha val="50000"/>
                    </a:prstClr>
                  </a:innerShdw>
                </a:effectLst>
                <a:cs typeface="Calibri" panose="020F0502020204030204" pitchFamily="34" charset="0"/>
              </a:rPr>
              <a:t>Isasi-Isasmendi et al., 2023; Segalowitz &amp; Hansson, 1979)</a:t>
            </a:r>
            <a:endParaRPr lang="en-US" altLang="zh-CN" sz="1100" dirty="0">
              <a:effectLst>
                <a:innerShdw blurRad="63500" dist="50800">
                  <a:prstClr val="black">
                    <a:alpha val="50000"/>
                  </a:prstClr>
                </a:innerShdw>
              </a:effectLst>
              <a:cs typeface="Calibri" panose="020F0502020204030204" pitchFamily="34" charset="0"/>
            </a:endParaRPr>
          </a:p>
          <a:p>
            <a:pPr marL="285750" indent="-285750" algn="l">
              <a:buFont typeface="Arial" panose="020B0604020202020204" pitchFamily="34" charset="0"/>
              <a:buChar char="•"/>
            </a:pPr>
            <a:endParaRPr lang="en-US" altLang="zh-CN" sz="2000" b="1" dirty="0">
              <a:solidFill>
                <a:srgbClr val="00A185"/>
              </a:solidFill>
              <a:effectLst>
                <a:innerShdw blurRad="63500" dist="50800">
                  <a:prstClr val="black">
                    <a:alpha val="50000"/>
                  </a:prstClr>
                </a:innerShdw>
              </a:effectLst>
              <a:cs typeface="Calibri" panose="020F0502020204030204" pitchFamily="34" charset="0"/>
            </a:endParaRPr>
          </a:p>
        </p:txBody>
      </p:sp>
      <p:sp>
        <p:nvSpPr>
          <p:cNvPr id="18" name="Arrow: Down 17">
            <a:extLst>
              <a:ext uri="{FF2B5EF4-FFF2-40B4-BE49-F238E27FC236}">
                <a16:creationId xmlns:a16="http://schemas.microsoft.com/office/drawing/2014/main" id="{D6283415-24AA-94EC-F944-716556EE5C37}"/>
              </a:ext>
            </a:extLst>
          </p:cNvPr>
          <p:cNvSpPr/>
          <p:nvPr/>
        </p:nvSpPr>
        <p:spPr>
          <a:xfrm>
            <a:off x="2167156" y="3812924"/>
            <a:ext cx="45719" cy="252616"/>
          </a:xfrm>
          <a:prstGeom prst="down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9" name="TextBox 13">
            <a:extLst>
              <a:ext uri="{FF2B5EF4-FFF2-40B4-BE49-F238E27FC236}">
                <a16:creationId xmlns:a16="http://schemas.microsoft.com/office/drawing/2014/main" id="{38FEACB4-66AE-1342-8A7B-DD04A4B4B5A9}"/>
              </a:ext>
            </a:extLst>
          </p:cNvPr>
          <p:cNvSpPr txBox="1">
            <a:spLocks noChangeArrowheads="1"/>
          </p:cNvSpPr>
          <p:nvPr/>
        </p:nvSpPr>
        <p:spPr bwMode="auto">
          <a:xfrm>
            <a:off x="464465" y="4112633"/>
            <a:ext cx="349682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911225">
              <a:defRPr>
                <a:solidFill>
                  <a:schemeClr val="tx1"/>
                </a:solidFill>
                <a:latin typeface="Calibri" panose="020F0502020204030204" pitchFamily="34" charset="0"/>
                <a:ea typeface="宋体" panose="02010600030101010101" pitchFamily="2" charset="-122"/>
              </a:defRPr>
            </a:lvl1pPr>
            <a:lvl2pPr marL="742950" indent="-285750" defTabSz="911225">
              <a:defRPr>
                <a:solidFill>
                  <a:schemeClr val="tx1"/>
                </a:solidFill>
                <a:latin typeface="Calibri" panose="020F0502020204030204" pitchFamily="34" charset="0"/>
                <a:ea typeface="宋体" panose="02010600030101010101" pitchFamily="2" charset="-122"/>
              </a:defRPr>
            </a:lvl2pPr>
            <a:lvl3pPr marL="1143000" indent="-228600" defTabSz="911225">
              <a:defRPr>
                <a:solidFill>
                  <a:schemeClr val="tx1"/>
                </a:solidFill>
                <a:latin typeface="Calibri" panose="020F0502020204030204" pitchFamily="34" charset="0"/>
                <a:ea typeface="宋体" panose="02010600030101010101" pitchFamily="2" charset="-122"/>
              </a:defRPr>
            </a:lvl3pPr>
            <a:lvl4pPr marL="1600200" indent="-228600" defTabSz="911225">
              <a:defRPr>
                <a:solidFill>
                  <a:schemeClr val="tx1"/>
                </a:solidFill>
                <a:latin typeface="Calibri" panose="020F0502020204030204" pitchFamily="34" charset="0"/>
                <a:ea typeface="宋体" panose="02010600030101010101" pitchFamily="2" charset="-122"/>
              </a:defRPr>
            </a:lvl4pPr>
            <a:lvl5pPr marL="2057400" indent="-228600" defTabSz="911225">
              <a:defRPr>
                <a:solidFill>
                  <a:schemeClr val="tx1"/>
                </a:solidFill>
                <a:latin typeface="Calibri" panose="020F0502020204030204" pitchFamily="34" charset="0"/>
                <a:ea typeface="宋体" panose="02010600030101010101" pitchFamily="2" charset="-122"/>
              </a:defRPr>
            </a:lvl5pPr>
            <a:lvl6pPr marL="25146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spcBef>
                <a:spcPct val="20000"/>
              </a:spcBef>
            </a:pPr>
            <a:r>
              <a:rPr lang="en-US" altLang="zh-CN" sz="2400" b="1" dirty="0">
                <a:ea typeface="微软雅黑" panose="020B0503020204020204" pitchFamily="34" charset="-122"/>
                <a:cs typeface="Calibri" panose="020F0502020204030204" pitchFamily="34" charset="0"/>
                <a:sym typeface="Arial" panose="020B0604020202020204" pitchFamily="34" charset="0"/>
              </a:rPr>
              <a:t>Agent Advantage Effect</a:t>
            </a:r>
            <a:endParaRPr lang="en-US" sz="2400" b="1" dirty="0">
              <a:ea typeface="微软雅黑" panose="020B0503020204020204" pitchFamily="34" charset="-122"/>
              <a:cs typeface="Calibri" panose="020F0502020204030204" pitchFamily="34" charset="0"/>
              <a:sym typeface="Arial" panose="020B0604020202020204" pitchFamily="34" charset="0"/>
            </a:endParaRPr>
          </a:p>
        </p:txBody>
      </p:sp>
      <p:sp>
        <p:nvSpPr>
          <p:cNvPr id="20" name="TextBox 19">
            <a:extLst>
              <a:ext uri="{FF2B5EF4-FFF2-40B4-BE49-F238E27FC236}">
                <a16:creationId xmlns:a16="http://schemas.microsoft.com/office/drawing/2014/main" id="{0A1D916E-E2C6-A795-83A0-62C78A957F0B}"/>
              </a:ext>
            </a:extLst>
          </p:cNvPr>
          <p:cNvSpPr txBox="1"/>
          <p:nvPr/>
        </p:nvSpPr>
        <p:spPr>
          <a:xfrm>
            <a:off x="304099" y="4529058"/>
            <a:ext cx="7999234" cy="646331"/>
          </a:xfrm>
          <a:prstGeom prst="rect">
            <a:avLst/>
          </a:prstGeom>
          <a:noFill/>
        </p:spPr>
        <p:txBody>
          <a:bodyPr wrap="square" rtlCol="0">
            <a:spAutoFit/>
          </a:bodyPr>
          <a:lstStyle/>
          <a:p>
            <a:r>
              <a:rPr lang="en-US" dirty="0">
                <a:effectLst/>
                <a:latin typeface="Calibri" panose="020F0502020204030204" pitchFamily="34" charset="0"/>
                <a:ea typeface="DengXian" panose="02010600030101010101" pitchFamily="2" charset="-122"/>
                <a:cs typeface="Times New Roman" panose="02020603050405020304" pitchFamily="18" charset="0"/>
              </a:rPr>
              <a:t>Human observers are faster in responding to the agent information than the patient information</a:t>
            </a:r>
            <a:r>
              <a:rPr lang="en-US" dirty="0">
                <a:latin typeface="Calibri" panose="020F0502020204030204" pitchFamily="34" charset="0"/>
                <a:ea typeface="DengXian" panose="02010600030101010101" pitchFamily="2" charset="-122"/>
                <a:cs typeface="Times New Roman" panose="02020603050405020304" pitchFamily="18" charset="0"/>
              </a:rPr>
              <a:t> </a:t>
            </a:r>
            <a:r>
              <a:rPr lang="en-US" sz="1100" dirty="0">
                <a:latin typeface="Calibri" panose="020F0502020204030204" pitchFamily="34" charset="0"/>
                <a:ea typeface="DengXian" panose="02010600030101010101" pitchFamily="2" charset="-122"/>
                <a:cs typeface="Times New Roman" panose="02020603050405020304" pitchFamily="18" charset="0"/>
              </a:rPr>
              <a:t>(</a:t>
            </a:r>
            <a:r>
              <a:rPr lang="en-US" sz="1100" dirty="0" err="1">
                <a:latin typeface="Calibri" panose="020F0502020204030204" pitchFamily="34" charset="0"/>
                <a:ea typeface="DengXian" panose="02010600030101010101" pitchFamily="2" charset="-122"/>
                <a:cs typeface="Times New Roman" panose="02020603050405020304" pitchFamily="18" charset="0"/>
              </a:rPr>
              <a:t>Segalowitz</a:t>
            </a:r>
            <a:r>
              <a:rPr lang="en-US" sz="1100" dirty="0">
                <a:latin typeface="Calibri" panose="020F0502020204030204" pitchFamily="34" charset="0"/>
                <a:ea typeface="DengXian" panose="02010600030101010101" pitchFamily="2" charset="-122"/>
                <a:cs typeface="Times New Roman" panose="02020603050405020304" pitchFamily="18" charset="0"/>
              </a:rPr>
              <a:t>, 1982).</a:t>
            </a:r>
            <a:endParaRPr lang="en-US" sz="1100" dirty="0"/>
          </a:p>
        </p:txBody>
      </p:sp>
      <p:sp>
        <p:nvSpPr>
          <p:cNvPr id="23" name="TextBox 22">
            <a:extLst>
              <a:ext uri="{FF2B5EF4-FFF2-40B4-BE49-F238E27FC236}">
                <a16:creationId xmlns:a16="http://schemas.microsoft.com/office/drawing/2014/main" id="{AB7F19A4-886D-8C10-3438-6833D6D23EB0}"/>
              </a:ext>
            </a:extLst>
          </p:cNvPr>
          <p:cNvSpPr txBox="1"/>
          <p:nvPr/>
        </p:nvSpPr>
        <p:spPr>
          <a:xfrm>
            <a:off x="304099" y="5250205"/>
            <a:ext cx="7999234" cy="1261884"/>
          </a:xfrm>
          <a:prstGeom prst="rect">
            <a:avLst/>
          </a:prstGeom>
          <a:noFill/>
        </p:spPr>
        <p:txBody>
          <a:bodyPr wrap="square" rtlCol="0">
            <a:spAutoFit/>
          </a:bodyPr>
          <a:lstStyle/>
          <a:p>
            <a:pPr marL="342900" indent="-342900">
              <a:buFont typeface="Arial" panose="020B0604020202020204" pitchFamily="34" charset="0"/>
              <a:buChar char="•"/>
            </a:pPr>
            <a:r>
              <a:rPr lang="en-US" dirty="0">
                <a:effectLst/>
                <a:latin typeface="Calibri" panose="020F0502020204030204" pitchFamily="34" charset="0"/>
                <a:ea typeface="DengXian" panose="02010600030101010101" pitchFamily="2" charset="-122"/>
                <a:cs typeface="Times New Roman" panose="02020603050405020304" pitchFamily="18" charset="0"/>
              </a:rPr>
              <a:t>Language: linguistic theories </a:t>
            </a:r>
            <a:r>
              <a:rPr lang="en-US" sz="1100" dirty="0">
                <a:solidFill>
                  <a:srgbClr val="000000"/>
                </a:solidFill>
                <a:effectLst/>
                <a:latin typeface="Times New Roman" panose="02020603050405020304" pitchFamily="18" charset="0"/>
                <a:ea typeface="SimSun" panose="02010600030101010101" pitchFamily="2" charset="-122"/>
              </a:rPr>
              <a:t>(Clark, 1965; Cohn &amp; </a:t>
            </a:r>
            <a:r>
              <a:rPr lang="en-US" sz="1100" dirty="0" err="1">
                <a:solidFill>
                  <a:srgbClr val="000000"/>
                </a:solidFill>
                <a:effectLst/>
                <a:latin typeface="Times New Roman" panose="02020603050405020304" pitchFamily="18" charset="0"/>
                <a:ea typeface="SimSun" panose="02010600030101010101" pitchFamily="2" charset="-122"/>
              </a:rPr>
              <a:t>Paczynski</a:t>
            </a:r>
            <a:r>
              <a:rPr lang="en-US" sz="1100" dirty="0">
                <a:solidFill>
                  <a:srgbClr val="000000"/>
                </a:solidFill>
                <a:effectLst/>
                <a:latin typeface="Times New Roman" panose="02020603050405020304" pitchFamily="18" charset="0"/>
                <a:ea typeface="SimSun" panose="02010600030101010101" pitchFamily="2" charset="-122"/>
              </a:rPr>
              <a:t>, 2013)</a:t>
            </a:r>
            <a:r>
              <a:rPr lang="en-US" sz="1800" dirty="0">
                <a:solidFill>
                  <a:srgbClr val="000000"/>
                </a:solidFill>
                <a:effectLst/>
                <a:latin typeface="Times New Roman" panose="02020603050405020304" pitchFamily="18" charset="0"/>
                <a:ea typeface="SimSun" panose="02010600030101010101" pitchFamily="2" charset="-122"/>
              </a:rPr>
              <a:t>.</a:t>
            </a:r>
          </a:p>
          <a:p>
            <a:pPr marL="342900" indent="-342900">
              <a:buFont typeface="Arial" panose="020B0604020202020204" pitchFamily="34" charset="0"/>
              <a:buChar char="•"/>
            </a:pPr>
            <a:endParaRPr lang="en-US" sz="2000" dirty="0">
              <a:effectLst/>
              <a:latin typeface="Calibri" panose="020F0502020204030204" pitchFamily="34" charset="0"/>
              <a:ea typeface="DengXian" panose="02010600030101010101" pitchFamily="2" charset="-122"/>
              <a:cs typeface="Times New Roman" panose="02020603050405020304" pitchFamily="18" charset="0"/>
            </a:endParaRPr>
          </a:p>
          <a:p>
            <a:pPr marL="342900" indent="-342900">
              <a:buFont typeface="Arial" panose="020B0604020202020204" pitchFamily="34" charset="0"/>
              <a:buChar char="•"/>
            </a:pPr>
            <a:r>
              <a:rPr lang="en-US" dirty="0">
                <a:effectLst/>
                <a:latin typeface="Calibri" panose="020F0502020204030204" pitchFamily="34" charset="0"/>
                <a:ea typeface="DengXian" panose="02010600030101010101" pitchFamily="2" charset="-122"/>
                <a:cs typeface="Times New Roman" panose="02020603050405020304" pitchFamily="18" charset="0"/>
              </a:rPr>
              <a:t>Visual Representations: comics </a:t>
            </a:r>
            <a:r>
              <a:rPr lang="en-US" sz="1100" dirty="0">
                <a:solidFill>
                  <a:srgbClr val="000000"/>
                </a:solidFill>
                <a:effectLst/>
                <a:latin typeface="Times New Roman" panose="02020603050405020304" pitchFamily="18" charset="0"/>
                <a:ea typeface="SimSun" panose="02010600030101010101" pitchFamily="2" charset="-122"/>
              </a:rPr>
              <a:t>(Cohn &amp; </a:t>
            </a:r>
            <a:r>
              <a:rPr lang="en-US" sz="1100" dirty="0" err="1">
                <a:solidFill>
                  <a:srgbClr val="000000"/>
                </a:solidFill>
                <a:effectLst/>
                <a:latin typeface="Times New Roman" panose="02020603050405020304" pitchFamily="18" charset="0"/>
                <a:ea typeface="SimSun" panose="02010600030101010101" pitchFamily="2" charset="-122"/>
              </a:rPr>
              <a:t>Paczynski</a:t>
            </a:r>
            <a:r>
              <a:rPr lang="en-US" sz="1100" dirty="0">
                <a:solidFill>
                  <a:srgbClr val="000000"/>
                </a:solidFill>
                <a:effectLst/>
                <a:latin typeface="Times New Roman" panose="02020603050405020304" pitchFamily="18" charset="0"/>
                <a:ea typeface="SimSun" panose="02010600030101010101" pitchFamily="2" charset="-122"/>
              </a:rPr>
              <a:t>, 2013)</a:t>
            </a:r>
            <a:r>
              <a:rPr lang="en-US" sz="1100" dirty="0">
                <a:effectLst/>
                <a:latin typeface="Calibri" panose="020F0502020204030204" pitchFamily="34" charset="0"/>
                <a:ea typeface="DengXian" panose="02010600030101010101" pitchFamily="2" charset="-122"/>
                <a:cs typeface="Times New Roman" panose="02020603050405020304" pitchFamily="18" charset="0"/>
              </a:rPr>
              <a:t> </a:t>
            </a:r>
            <a:r>
              <a:rPr lang="en-US" dirty="0">
                <a:effectLst/>
                <a:latin typeface="Calibri" panose="020F0502020204030204" pitchFamily="34" charset="0"/>
                <a:ea typeface="DengXian" panose="02010600030101010101" pitchFamily="2" charset="-122"/>
                <a:cs typeface="Times New Roman" panose="02020603050405020304" pitchFamily="18" charset="0"/>
              </a:rPr>
              <a:t>and pictures </a:t>
            </a:r>
            <a:r>
              <a:rPr lang="en-US" sz="1100" dirty="0">
                <a:latin typeface="Calibri" panose="020F0502020204030204" pitchFamily="34" charset="0"/>
                <a:ea typeface="DengXian" panose="02010600030101010101" pitchFamily="2" charset="-122"/>
                <a:cs typeface="Times New Roman" panose="02020603050405020304" pitchFamily="18" charset="0"/>
              </a:rPr>
              <a:t>(</a:t>
            </a:r>
            <a:r>
              <a:rPr lang="en-US" sz="1100" dirty="0" err="1">
                <a:latin typeface="Calibri" panose="020F0502020204030204" pitchFamily="34" charset="0"/>
                <a:ea typeface="DengXian" panose="02010600030101010101" pitchFamily="2" charset="-122"/>
                <a:cs typeface="Times New Roman" panose="02020603050405020304" pitchFamily="18" charset="0"/>
              </a:rPr>
              <a:t>Segalowitz</a:t>
            </a:r>
            <a:r>
              <a:rPr lang="en-US" sz="1100" dirty="0">
                <a:latin typeface="Calibri" panose="020F0502020204030204" pitchFamily="34" charset="0"/>
                <a:ea typeface="DengXian" panose="02010600030101010101" pitchFamily="2" charset="-122"/>
                <a:cs typeface="Times New Roman" panose="02020603050405020304" pitchFamily="18" charset="0"/>
              </a:rPr>
              <a:t>, 1982)</a:t>
            </a:r>
            <a:endParaRPr lang="en-US" sz="1100" dirty="0">
              <a:effectLst/>
              <a:latin typeface="Calibri" panose="020F0502020204030204" pitchFamily="34" charset="0"/>
              <a:ea typeface="DengXian" panose="02010600030101010101" pitchFamily="2" charset="-122"/>
              <a:cs typeface="Times New Roman" panose="02020603050405020304" pitchFamily="18" charset="0"/>
            </a:endParaRPr>
          </a:p>
          <a:p>
            <a:endParaRPr lang="en-US" sz="2000" dirty="0">
              <a:effectLst/>
              <a:latin typeface="Calibri" panose="020F0502020204030204" pitchFamily="34" charset="0"/>
              <a:ea typeface="DengXia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18543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F204ECA-B524-C037-5B0D-97F55692FAFA}"/>
              </a:ext>
            </a:extLst>
          </p:cNvPr>
          <p:cNvSpPr/>
          <p:nvPr/>
        </p:nvSpPr>
        <p:spPr>
          <a:xfrm>
            <a:off x="359999" y="1043057"/>
            <a:ext cx="8236254" cy="707886"/>
          </a:xfrm>
          <a:prstGeom prst="rect">
            <a:avLst/>
          </a:prstGeom>
          <a:noFill/>
        </p:spPr>
        <p:txBody>
          <a:bodyPr wrap="square" lIns="91440" tIns="45720" rIns="91440" bIns="45720">
            <a:spAutoFit/>
          </a:bodyPr>
          <a:lstStyle/>
          <a:p>
            <a:pPr eaLnBrk="1" hangingPunct="1">
              <a:spcBef>
                <a:spcPct val="20000"/>
              </a:spcBef>
            </a:pPr>
            <a:r>
              <a:rPr lang="en-US" altLang="zh-CN" sz="4000" b="1" dirty="0">
                <a:latin typeface="Calibri" panose="020F0502020204030204" pitchFamily="34" charset="0"/>
                <a:ea typeface="微软雅黑" panose="020B0503020204020204" pitchFamily="34" charset="-122"/>
                <a:cs typeface="Calibri" panose="020F0502020204030204" pitchFamily="34" charset="0"/>
                <a:sym typeface="Arial" panose="020B0604020202020204" pitchFamily="34" charset="0"/>
              </a:rPr>
              <a:t>Agent Advantage Effect</a:t>
            </a:r>
            <a:endParaRPr lang="en-US" sz="4000" b="1" dirty="0">
              <a:latin typeface="Calibri" panose="020F0502020204030204" pitchFamily="34" charset="0"/>
              <a:ea typeface="微软雅黑" panose="020B0503020204020204" pitchFamily="34" charset="-122"/>
              <a:cs typeface="Calibri" panose="020F0502020204030204" pitchFamily="34" charset="0"/>
              <a:sym typeface="Arial" panose="020B0604020202020204" pitchFamily="34" charset="0"/>
            </a:endParaRPr>
          </a:p>
        </p:txBody>
      </p:sp>
      <p:sp>
        <p:nvSpPr>
          <p:cNvPr id="7" name="TextBox 6">
            <a:extLst>
              <a:ext uri="{FF2B5EF4-FFF2-40B4-BE49-F238E27FC236}">
                <a16:creationId xmlns:a16="http://schemas.microsoft.com/office/drawing/2014/main" id="{A2B415EA-480E-7D32-E372-626998BDC1C7}"/>
              </a:ext>
            </a:extLst>
          </p:cNvPr>
          <p:cNvSpPr txBox="1"/>
          <p:nvPr/>
        </p:nvSpPr>
        <p:spPr>
          <a:xfrm>
            <a:off x="145745" y="1860447"/>
            <a:ext cx="3710589" cy="3339376"/>
          </a:xfrm>
          <a:prstGeom prst="rect">
            <a:avLst/>
          </a:prstGeom>
          <a:noFill/>
        </p:spPr>
        <p:txBody>
          <a:bodyPr wrap="square" rtlCol="0">
            <a:spAutoFit/>
          </a:bodyPr>
          <a:lstStyle/>
          <a:p>
            <a:pPr marL="342900" indent="-342900">
              <a:buFont typeface="Arial" panose="020B0604020202020204" pitchFamily="34" charset="0"/>
              <a:buChar char="•"/>
            </a:pPr>
            <a:r>
              <a:rPr lang="en-US" sz="2000" dirty="0">
                <a:effectLst/>
                <a:latin typeface="Calibri" panose="020F0502020204030204" pitchFamily="34" charset="0"/>
                <a:ea typeface="DengXian" panose="02010600030101010101" pitchFamily="2" charset="-122"/>
                <a:cs typeface="Times New Roman" panose="02020603050405020304" pitchFamily="18" charset="0"/>
              </a:rPr>
              <a:t>Language: linguistic theories </a:t>
            </a:r>
            <a:r>
              <a:rPr lang="en-US" sz="1100" dirty="0">
                <a:solidFill>
                  <a:srgbClr val="000000"/>
                </a:solidFill>
                <a:effectLst/>
                <a:latin typeface="Times New Roman" panose="02020603050405020304" pitchFamily="18" charset="0"/>
                <a:ea typeface="SimSun" panose="02010600030101010101" pitchFamily="2" charset="-122"/>
              </a:rPr>
              <a:t>(Clark, 1965; Cohn &amp; </a:t>
            </a:r>
            <a:r>
              <a:rPr lang="en-US" sz="1100" dirty="0" err="1">
                <a:solidFill>
                  <a:srgbClr val="000000"/>
                </a:solidFill>
                <a:effectLst/>
                <a:latin typeface="Times New Roman" panose="02020603050405020304" pitchFamily="18" charset="0"/>
                <a:ea typeface="SimSun" panose="02010600030101010101" pitchFamily="2" charset="-122"/>
              </a:rPr>
              <a:t>Paczynski</a:t>
            </a:r>
            <a:r>
              <a:rPr lang="en-US" sz="1100" dirty="0">
                <a:solidFill>
                  <a:srgbClr val="000000"/>
                </a:solidFill>
                <a:effectLst/>
                <a:latin typeface="Times New Roman" panose="02020603050405020304" pitchFamily="18" charset="0"/>
                <a:ea typeface="SimSun" panose="02010600030101010101" pitchFamily="2" charset="-122"/>
              </a:rPr>
              <a:t>, 2013),</a:t>
            </a:r>
            <a:r>
              <a:rPr lang="en-US" sz="1800" dirty="0">
                <a:solidFill>
                  <a:srgbClr val="000000"/>
                </a:solidFill>
                <a:effectLst/>
                <a:latin typeface="Times New Roman" panose="02020603050405020304" pitchFamily="18" charset="0"/>
                <a:ea typeface="SimSun" panose="02010600030101010101" pitchFamily="2" charset="-122"/>
              </a:rPr>
              <a:t> </a:t>
            </a:r>
            <a:r>
              <a:rPr lang="en-US" sz="2000" dirty="0">
                <a:solidFill>
                  <a:srgbClr val="000000"/>
                </a:solidFill>
                <a:effectLst/>
                <a:latin typeface="Calibri" panose="020F0502020204030204" pitchFamily="34" charset="0"/>
                <a:ea typeface="SimSun" panose="02010600030101010101" pitchFamily="2" charset="-122"/>
                <a:cs typeface="Calibri" panose="020F0502020204030204" pitchFamily="34" charset="0"/>
              </a:rPr>
              <a:t>related to the sequential order of semantic roles in the grammatical structure </a:t>
            </a:r>
            <a:r>
              <a:rPr lang="en-US" sz="1100" dirty="0">
                <a:solidFill>
                  <a:srgbClr val="000000"/>
                </a:solidFill>
                <a:effectLst/>
                <a:latin typeface="Calibri" panose="020F0502020204030204" pitchFamily="34" charset="0"/>
                <a:ea typeface="SimSun" panose="02010600030101010101" pitchFamily="2" charset="-122"/>
                <a:cs typeface="Calibri" panose="020F0502020204030204" pitchFamily="34" charset="0"/>
              </a:rPr>
              <a:t>(</a:t>
            </a:r>
            <a:r>
              <a:rPr lang="en-US" sz="1100" dirty="0" err="1">
                <a:solidFill>
                  <a:srgbClr val="000000"/>
                </a:solidFill>
                <a:effectLst/>
                <a:latin typeface="Calibri" panose="020F0502020204030204" pitchFamily="34" charset="0"/>
                <a:ea typeface="SimSun" panose="02010600030101010101" pitchFamily="2" charset="-122"/>
                <a:cs typeface="Calibri" panose="020F0502020204030204" pitchFamily="34" charset="0"/>
              </a:rPr>
              <a:t>Jackendoff</a:t>
            </a:r>
            <a:r>
              <a:rPr lang="en-US" sz="1100" dirty="0">
                <a:solidFill>
                  <a:srgbClr val="000000"/>
                </a:solidFill>
                <a:effectLst/>
                <a:latin typeface="Calibri" panose="020F0502020204030204" pitchFamily="34" charset="0"/>
                <a:ea typeface="SimSun" panose="02010600030101010101" pitchFamily="2" charset="-122"/>
                <a:cs typeface="Calibri" panose="020F0502020204030204" pitchFamily="34" charset="0"/>
              </a:rPr>
              <a:t>, 1972; Keenan, 1976).</a:t>
            </a:r>
          </a:p>
          <a:p>
            <a:pPr marL="342900" indent="-342900">
              <a:buFont typeface="Arial" panose="020B0604020202020204" pitchFamily="34" charset="0"/>
              <a:buChar char="•"/>
            </a:pPr>
            <a:endParaRPr lang="en-US" sz="2000" dirty="0">
              <a:effectLst/>
              <a:latin typeface="Calibri" panose="020F0502020204030204" pitchFamily="34" charset="0"/>
              <a:ea typeface="DengXian" panose="02010600030101010101" pitchFamily="2" charset="-122"/>
              <a:cs typeface="Times New Roman" panose="02020603050405020304" pitchFamily="18" charset="0"/>
            </a:endParaRPr>
          </a:p>
          <a:p>
            <a:pPr marL="342900" indent="-342900">
              <a:buFont typeface="Arial" panose="020B0604020202020204" pitchFamily="34" charset="0"/>
              <a:buChar char="•"/>
            </a:pPr>
            <a:r>
              <a:rPr lang="en-US" sz="2000" dirty="0">
                <a:effectLst/>
                <a:latin typeface="Calibri" panose="020F0502020204030204" pitchFamily="34" charset="0"/>
                <a:ea typeface="DengXian" panose="02010600030101010101" pitchFamily="2" charset="-122"/>
                <a:cs typeface="Times New Roman" panose="02020603050405020304" pitchFamily="18" charset="0"/>
              </a:rPr>
              <a:t>Visual Representations: comics </a:t>
            </a:r>
            <a:r>
              <a:rPr lang="en-US" sz="1100" dirty="0">
                <a:solidFill>
                  <a:srgbClr val="000000"/>
                </a:solidFill>
                <a:effectLst/>
                <a:latin typeface="Times New Roman" panose="02020603050405020304" pitchFamily="18" charset="0"/>
                <a:ea typeface="SimSun" panose="02010600030101010101" pitchFamily="2" charset="-122"/>
              </a:rPr>
              <a:t>(Cohn &amp; </a:t>
            </a:r>
            <a:r>
              <a:rPr lang="en-US" sz="1100" dirty="0" err="1">
                <a:solidFill>
                  <a:srgbClr val="000000"/>
                </a:solidFill>
                <a:effectLst/>
                <a:latin typeface="Times New Roman" panose="02020603050405020304" pitchFamily="18" charset="0"/>
                <a:ea typeface="SimSun" panose="02010600030101010101" pitchFamily="2" charset="-122"/>
              </a:rPr>
              <a:t>Paczynski</a:t>
            </a:r>
            <a:r>
              <a:rPr lang="en-US" sz="1100" dirty="0">
                <a:solidFill>
                  <a:srgbClr val="000000"/>
                </a:solidFill>
                <a:effectLst/>
                <a:latin typeface="Times New Roman" panose="02020603050405020304" pitchFamily="18" charset="0"/>
                <a:ea typeface="SimSun" panose="02010600030101010101" pitchFamily="2" charset="-122"/>
              </a:rPr>
              <a:t>, 2013)</a:t>
            </a:r>
            <a:r>
              <a:rPr lang="en-US" sz="1100" dirty="0">
                <a:effectLst/>
                <a:latin typeface="Calibri" panose="020F0502020204030204" pitchFamily="34" charset="0"/>
                <a:ea typeface="DengXian" panose="02010600030101010101" pitchFamily="2" charset="-122"/>
                <a:cs typeface="Times New Roman" panose="02020603050405020304" pitchFamily="18" charset="0"/>
              </a:rPr>
              <a:t> </a:t>
            </a:r>
            <a:r>
              <a:rPr lang="en-US" sz="2000" dirty="0">
                <a:effectLst/>
                <a:latin typeface="Calibri" panose="020F0502020204030204" pitchFamily="34" charset="0"/>
                <a:ea typeface="DengXian" panose="02010600030101010101" pitchFamily="2" charset="-122"/>
                <a:cs typeface="Times New Roman" panose="02020603050405020304" pitchFamily="18" charset="0"/>
              </a:rPr>
              <a:t>and pictures </a:t>
            </a:r>
            <a:r>
              <a:rPr lang="en-US" sz="1100" dirty="0">
                <a:latin typeface="Calibri" panose="020F0502020204030204" pitchFamily="34" charset="0"/>
                <a:ea typeface="DengXian" panose="02010600030101010101" pitchFamily="2" charset="-122"/>
                <a:cs typeface="Times New Roman" panose="02020603050405020304" pitchFamily="18" charset="0"/>
              </a:rPr>
              <a:t>(</a:t>
            </a:r>
            <a:r>
              <a:rPr lang="en-US" sz="1100" dirty="0" err="1">
                <a:latin typeface="Calibri" panose="020F0502020204030204" pitchFamily="34" charset="0"/>
                <a:ea typeface="DengXian" panose="02010600030101010101" pitchFamily="2" charset="-122"/>
                <a:cs typeface="Times New Roman" panose="02020603050405020304" pitchFamily="18" charset="0"/>
              </a:rPr>
              <a:t>Segalowitz</a:t>
            </a:r>
            <a:r>
              <a:rPr lang="en-US" sz="1100" dirty="0">
                <a:latin typeface="Calibri" panose="020F0502020204030204" pitchFamily="34" charset="0"/>
                <a:ea typeface="DengXian" panose="02010600030101010101" pitchFamily="2" charset="-122"/>
                <a:cs typeface="Times New Roman" panose="02020603050405020304" pitchFamily="18" charset="0"/>
              </a:rPr>
              <a:t>, 1982)</a:t>
            </a:r>
            <a:endParaRPr lang="en-US" sz="1100" dirty="0">
              <a:effectLst/>
              <a:latin typeface="Calibri" panose="020F0502020204030204" pitchFamily="34" charset="0"/>
              <a:ea typeface="DengXian" panose="02010600030101010101" pitchFamily="2" charset="-122"/>
              <a:cs typeface="Times New Roman" panose="02020603050405020304" pitchFamily="18" charset="0"/>
            </a:endParaRPr>
          </a:p>
          <a:p>
            <a:endParaRPr lang="en-US" sz="2000" dirty="0">
              <a:effectLst/>
              <a:latin typeface="Calibri" panose="020F0502020204030204" pitchFamily="34" charset="0"/>
              <a:ea typeface="DengXian" panose="02010600030101010101" pitchFamily="2" charset="-122"/>
              <a:cs typeface="Times New Roman" panose="02020603050405020304" pitchFamily="18" charset="0"/>
            </a:endParaRPr>
          </a:p>
        </p:txBody>
      </p:sp>
      <p:sp>
        <p:nvSpPr>
          <p:cNvPr id="8" name="TextBox 7">
            <a:extLst>
              <a:ext uri="{FF2B5EF4-FFF2-40B4-BE49-F238E27FC236}">
                <a16:creationId xmlns:a16="http://schemas.microsoft.com/office/drawing/2014/main" id="{363B3BCA-F9CD-78FD-0D93-C9EB5F6B61F1}"/>
              </a:ext>
            </a:extLst>
          </p:cNvPr>
          <p:cNvSpPr txBox="1"/>
          <p:nvPr/>
        </p:nvSpPr>
        <p:spPr>
          <a:xfrm>
            <a:off x="4004498" y="3037692"/>
            <a:ext cx="5334000" cy="646331"/>
          </a:xfrm>
          <a:prstGeom prst="rect">
            <a:avLst/>
          </a:prstGeom>
          <a:noFill/>
        </p:spPr>
        <p:txBody>
          <a:bodyPr wrap="square" rtlCol="0">
            <a:spAutoFit/>
          </a:bodyPr>
          <a:lstStyle/>
          <a:p>
            <a:r>
              <a:rPr lang="en-US" dirty="0">
                <a:solidFill>
                  <a:srgbClr val="0070C0"/>
                </a:solidFill>
                <a:latin typeface="Calibri" panose="020F0502020204030204" pitchFamily="34" charset="0"/>
                <a:cs typeface="Calibri" panose="020F0502020204030204" pitchFamily="34" charset="0"/>
              </a:rPr>
              <a:t>Alice is biting an apple. (Active sentence)</a:t>
            </a:r>
          </a:p>
          <a:p>
            <a:r>
              <a:rPr lang="en-US" dirty="0">
                <a:solidFill>
                  <a:srgbClr val="0070C0"/>
                </a:solidFill>
                <a:latin typeface="Calibri" panose="020F0502020204030204" pitchFamily="34" charset="0"/>
                <a:cs typeface="Calibri" panose="020F0502020204030204" pitchFamily="34" charset="0"/>
              </a:rPr>
              <a:t>The apple is bitten by Alice. (Passive sentence)</a:t>
            </a:r>
          </a:p>
        </p:txBody>
      </p:sp>
      <p:sp>
        <p:nvSpPr>
          <p:cNvPr id="9" name="Rectangle 8">
            <a:extLst>
              <a:ext uri="{FF2B5EF4-FFF2-40B4-BE49-F238E27FC236}">
                <a16:creationId xmlns:a16="http://schemas.microsoft.com/office/drawing/2014/main" id="{F6374CEE-96C9-90B7-A77A-64DB5A58DD97}"/>
              </a:ext>
            </a:extLst>
          </p:cNvPr>
          <p:cNvSpPr/>
          <p:nvPr/>
        </p:nvSpPr>
        <p:spPr>
          <a:xfrm>
            <a:off x="4978113" y="2160215"/>
            <a:ext cx="2684389" cy="369332"/>
          </a:xfrm>
          <a:prstGeom prst="rect">
            <a:avLst/>
          </a:prstGeom>
          <a:noFill/>
        </p:spPr>
        <p:txBody>
          <a:bodyPr wrap="none" lIns="91440" tIns="45720" rIns="91440" bIns="45720">
            <a:spAutoFit/>
          </a:bodyPr>
          <a:lstStyle/>
          <a:p>
            <a:pPr algn="ctr"/>
            <a:r>
              <a:rPr lang="en-US" sz="1800" b="1" dirty="0">
                <a:solidFill>
                  <a:srgbClr val="0070C0"/>
                </a:solidFill>
                <a:effectLst/>
                <a:latin typeface="Calibri" panose="020F0502020204030204" pitchFamily="34" charset="0"/>
                <a:ea typeface="SimSun" panose="02010600030101010101" pitchFamily="2" charset="-122"/>
                <a:cs typeface="Calibri" panose="020F0502020204030204" pitchFamily="34" charset="0"/>
              </a:rPr>
              <a:t>subject-verb-object (SVO) </a:t>
            </a:r>
            <a:endParaRPr lang="en-US" sz="5400" b="1" cap="none" spc="0" dirty="0">
              <a:ln w="0"/>
              <a:solidFill>
                <a:srgbClr val="0070C0"/>
              </a:solidFill>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cxnSp>
        <p:nvCxnSpPr>
          <p:cNvPr id="11" name="Straight Arrow Connector 10">
            <a:extLst>
              <a:ext uri="{FF2B5EF4-FFF2-40B4-BE49-F238E27FC236}">
                <a16:creationId xmlns:a16="http://schemas.microsoft.com/office/drawing/2014/main" id="{58A48F6F-83D7-958F-276B-1EFBC27FDE90}"/>
              </a:ext>
            </a:extLst>
          </p:cNvPr>
          <p:cNvCxnSpPr/>
          <p:nvPr/>
        </p:nvCxnSpPr>
        <p:spPr>
          <a:xfrm>
            <a:off x="5386200" y="2529547"/>
            <a:ext cx="0" cy="26921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2" name="Straight Arrow Connector 11">
            <a:extLst>
              <a:ext uri="{FF2B5EF4-FFF2-40B4-BE49-F238E27FC236}">
                <a16:creationId xmlns:a16="http://schemas.microsoft.com/office/drawing/2014/main" id="{B4251234-364D-0A7B-B4C1-2B6B6349BDE8}"/>
              </a:ext>
            </a:extLst>
          </p:cNvPr>
          <p:cNvCxnSpPr/>
          <p:nvPr/>
        </p:nvCxnSpPr>
        <p:spPr>
          <a:xfrm>
            <a:off x="6670714" y="2518660"/>
            <a:ext cx="0" cy="26921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3" name="Rectangle 12">
            <a:extLst>
              <a:ext uri="{FF2B5EF4-FFF2-40B4-BE49-F238E27FC236}">
                <a16:creationId xmlns:a16="http://schemas.microsoft.com/office/drawing/2014/main" id="{54377F49-FAC4-8729-AFAF-354235E4E38B}"/>
              </a:ext>
            </a:extLst>
          </p:cNvPr>
          <p:cNvSpPr/>
          <p:nvPr/>
        </p:nvSpPr>
        <p:spPr>
          <a:xfrm>
            <a:off x="5106764" y="2715389"/>
            <a:ext cx="2056973" cy="369332"/>
          </a:xfrm>
          <a:prstGeom prst="rect">
            <a:avLst/>
          </a:prstGeom>
          <a:noFill/>
        </p:spPr>
        <p:txBody>
          <a:bodyPr wrap="none" lIns="91440" tIns="45720" rIns="91440" bIns="45720">
            <a:spAutoFit/>
          </a:bodyPr>
          <a:lstStyle/>
          <a:p>
            <a:pPr algn="ctr"/>
            <a:r>
              <a:rPr lang="en-US" b="1" dirty="0">
                <a:solidFill>
                  <a:srgbClr val="000000"/>
                </a:solidFill>
                <a:latin typeface="Calibri" panose="020F0502020204030204" pitchFamily="34" charset="0"/>
                <a:ea typeface="SimSun" panose="02010600030101010101" pitchFamily="2" charset="-122"/>
                <a:cs typeface="Calibri" panose="020F0502020204030204" pitchFamily="34" charset="0"/>
              </a:rPr>
              <a:t>Agent</a:t>
            </a:r>
            <a:r>
              <a:rPr lang="en-US" sz="1800" b="1" dirty="0">
                <a:solidFill>
                  <a:srgbClr val="000000"/>
                </a:solidFill>
                <a:effectLst/>
                <a:latin typeface="Times New Roman" panose="02020603050405020304" pitchFamily="18" charset="0"/>
                <a:ea typeface="SimSun" panose="02010600030101010101" pitchFamily="2" charset="-122"/>
              </a:rPr>
              <a:t>          </a:t>
            </a:r>
            <a:r>
              <a:rPr lang="en-US" sz="1800" b="1" dirty="0">
                <a:solidFill>
                  <a:srgbClr val="000000"/>
                </a:solidFill>
                <a:effectLst/>
                <a:latin typeface="Calibri" panose="020F0502020204030204" pitchFamily="34" charset="0"/>
                <a:ea typeface="SimSun" panose="02010600030101010101" pitchFamily="2" charset="-122"/>
                <a:cs typeface="Calibri" panose="020F0502020204030204" pitchFamily="34" charset="0"/>
              </a:rPr>
              <a:t>Patient</a:t>
            </a:r>
            <a:endParaRPr lang="en-US" sz="54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16" name="TextBox 15">
            <a:extLst>
              <a:ext uri="{FF2B5EF4-FFF2-40B4-BE49-F238E27FC236}">
                <a16:creationId xmlns:a16="http://schemas.microsoft.com/office/drawing/2014/main" id="{0A17EBC4-BD32-A999-5936-7C63B9618B64}"/>
              </a:ext>
            </a:extLst>
          </p:cNvPr>
          <p:cNvSpPr txBox="1"/>
          <p:nvPr/>
        </p:nvSpPr>
        <p:spPr>
          <a:xfrm>
            <a:off x="3938653" y="1866302"/>
            <a:ext cx="2236816" cy="369332"/>
          </a:xfrm>
          <a:prstGeom prst="rect">
            <a:avLst/>
          </a:prstGeom>
          <a:noFill/>
        </p:spPr>
        <p:txBody>
          <a:bodyPr wrap="square">
            <a:spAutoFit/>
          </a:bodyPr>
          <a:lstStyle/>
          <a:p>
            <a:r>
              <a:rPr lang="en-US" b="1" dirty="0">
                <a:solidFill>
                  <a:srgbClr val="0070C0"/>
                </a:solidFill>
                <a:latin typeface="Calibri" panose="020F0502020204030204" pitchFamily="34" charset="0"/>
                <a:ea typeface="SimSun" panose="02010600030101010101" pitchFamily="2" charset="-122"/>
                <a:cs typeface="Calibri" panose="020F0502020204030204" pitchFamily="34" charset="0"/>
              </a:rPr>
              <a:t>Linguistic Theories</a:t>
            </a:r>
          </a:p>
        </p:txBody>
      </p:sp>
      <p:pic>
        <p:nvPicPr>
          <p:cNvPr id="18" name="Picture 17">
            <a:extLst>
              <a:ext uri="{FF2B5EF4-FFF2-40B4-BE49-F238E27FC236}">
                <a16:creationId xmlns:a16="http://schemas.microsoft.com/office/drawing/2014/main" id="{827C1778-0F32-AD59-D10F-8BED9EE3A42A}"/>
              </a:ext>
            </a:extLst>
          </p:cNvPr>
          <p:cNvPicPr>
            <a:picLocks noChangeAspect="1"/>
          </p:cNvPicPr>
          <p:nvPr/>
        </p:nvPicPr>
        <p:blipFill>
          <a:blip r:embed="rId2"/>
          <a:stretch>
            <a:fillRect/>
          </a:stretch>
        </p:blipFill>
        <p:spPr>
          <a:xfrm>
            <a:off x="3938653" y="3886779"/>
            <a:ext cx="2451679" cy="2422878"/>
          </a:xfrm>
          <a:prstGeom prst="rect">
            <a:avLst/>
          </a:prstGeom>
        </p:spPr>
      </p:pic>
      <p:sp>
        <p:nvSpPr>
          <p:cNvPr id="19" name="TextBox 18">
            <a:extLst>
              <a:ext uri="{FF2B5EF4-FFF2-40B4-BE49-F238E27FC236}">
                <a16:creationId xmlns:a16="http://schemas.microsoft.com/office/drawing/2014/main" id="{EC8AB274-ED71-D3F1-6EEB-F235EC49B87E}"/>
              </a:ext>
            </a:extLst>
          </p:cNvPr>
          <p:cNvSpPr txBox="1"/>
          <p:nvPr/>
        </p:nvSpPr>
        <p:spPr>
          <a:xfrm>
            <a:off x="6619211" y="3886779"/>
            <a:ext cx="2236816" cy="646331"/>
          </a:xfrm>
          <a:prstGeom prst="rect">
            <a:avLst/>
          </a:prstGeom>
          <a:noFill/>
        </p:spPr>
        <p:txBody>
          <a:bodyPr wrap="square">
            <a:spAutoFit/>
          </a:bodyPr>
          <a:lstStyle/>
          <a:p>
            <a:r>
              <a:rPr lang="en-US" altLang="zh-CN" b="1" dirty="0">
                <a:solidFill>
                  <a:srgbClr val="0070C0"/>
                </a:solidFill>
                <a:latin typeface="Calibri" panose="020F0502020204030204" pitchFamily="34" charset="0"/>
                <a:ea typeface="SimSun" panose="02010600030101010101" pitchFamily="2" charset="-122"/>
                <a:cs typeface="Calibri" panose="020F0502020204030204" pitchFamily="34" charset="0"/>
              </a:rPr>
              <a:t>Predict the event based on the agent </a:t>
            </a:r>
            <a:endParaRPr lang="en-US" b="1" dirty="0">
              <a:solidFill>
                <a:srgbClr val="0070C0"/>
              </a:solidFill>
              <a:latin typeface="Calibri" panose="020F0502020204030204" pitchFamily="34" charset="0"/>
              <a:ea typeface="SimSun" panose="02010600030101010101" pitchFamily="2" charset="-122"/>
              <a:cs typeface="Calibri" panose="020F0502020204030204" pitchFamily="34" charset="0"/>
            </a:endParaRPr>
          </a:p>
        </p:txBody>
      </p:sp>
      <p:cxnSp>
        <p:nvCxnSpPr>
          <p:cNvPr id="20" name="Straight Arrow Connector 19">
            <a:extLst>
              <a:ext uri="{FF2B5EF4-FFF2-40B4-BE49-F238E27FC236}">
                <a16:creationId xmlns:a16="http://schemas.microsoft.com/office/drawing/2014/main" id="{294C119C-F915-3144-AA66-6D03E5A5A804}"/>
              </a:ext>
            </a:extLst>
          </p:cNvPr>
          <p:cNvCxnSpPr/>
          <p:nvPr/>
        </p:nvCxnSpPr>
        <p:spPr>
          <a:xfrm>
            <a:off x="7526888" y="4533110"/>
            <a:ext cx="0" cy="26921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2" name="TextBox 21">
            <a:extLst>
              <a:ext uri="{FF2B5EF4-FFF2-40B4-BE49-F238E27FC236}">
                <a16:creationId xmlns:a16="http://schemas.microsoft.com/office/drawing/2014/main" id="{AC03476A-E434-AF88-6AEB-8C9BE8C4C187}"/>
              </a:ext>
            </a:extLst>
          </p:cNvPr>
          <p:cNvSpPr txBox="1"/>
          <p:nvPr/>
        </p:nvSpPr>
        <p:spPr>
          <a:xfrm>
            <a:off x="6622753" y="4815358"/>
            <a:ext cx="2236816" cy="646331"/>
          </a:xfrm>
          <a:prstGeom prst="rect">
            <a:avLst/>
          </a:prstGeom>
          <a:noFill/>
        </p:spPr>
        <p:txBody>
          <a:bodyPr wrap="square">
            <a:spAutoFit/>
          </a:bodyPr>
          <a:lstStyle/>
          <a:p>
            <a:r>
              <a:rPr lang="en-US" altLang="zh-CN" b="1" dirty="0">
                <a:latin typeface="Calibri" panose="020F0502020204030204" pitchFamily="34" charset="0"/>
                <a:ea typeface="SimSun" panose="02010600030101010101" pitchFamily="2" charset="-122"/>
                <a:cs typeface="Calibri" panose="020F0502020204030204" pitchFamily="34" charset="0"/>
              </a:rPr>
              <a:t>Agent is more salient and easier to process</a:t>
            </a:r>
            <a:endParaRPr lang="en-US" b="1" dirty="0">
              <a:latin typeface="Calibri" panose="020F0502020204030204" pitchFamily="34" charset="0"/>
              <a:ea typeface="SimSun" panose="02010600030101010101" pitchFamily="2" charset="-122"/>
              <a:cs typeface="Calibri" panose="020F0502020204030204" pitchFamily="34" charset="0"/>
            </a:endParaRPr>
          </a:p>
        </p:txBody>
      </p:sp>
    </p:spTree>
    <p:extLst>
      <p:ext uri="{BB962C8B-B14F-4D97-AF65-F5344CB8AC3E}">
        <p14:creationId xmlns:p14="http://schemas.microsoft.com/office/powerpoint/2010/main" val="11819140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id="{C34754CA-7D83-55E2-AD75-CC19BB216A1C}"/>
              </a:ext>
            </a:extLst>
          </p:cNvPr>
          <p:cNvGraphicFramePr/>
          <p:nvPr>
            <p:extLst>
              <p:ext uri="{D42A27DB-BD31-4B8C-83A1-F6EECF244321}">
                <p14:modId xmlns:p14="http://schemas.microsoft.com/office/powerpoint/2010/main" val="305368510"/>
              </p:ext>
            </p:extLst>
          </p:nvPr>
        </p:nvGraphicFramePr>
        <p:xfrm>
          <a:off x="218409" y="1872797"/>
          <a:ext cx="8266371" cy="406399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Rectangle 4">
            <a:extLst>
              <a:ext uri="{FF2B5EF4-FFF2-40B4-BE49-F238E27FC236}">
                <a16:creationId xmlns:a16="http://schemas.microsoft.com/office/drawing/2014/main" id="{0B2B45F9-239D-FD61-5C80-CC5C4B7D2647}"/>
              </a:ext>
            </a:extLst>
          </p:cNvPr>
          <p:cNvSpPr/>
          <p:nvPr/>
        </p:nvSpPr>
        <p:spPr>
          <a:xfrm>
            <a:off x="5845693" y="1961286"/>
            <a:ext cx="2133600" cy="74294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Key: reaction time</a:t>
            </a:r>
            <a:br>
              <a:rPr lang="en-US" dirty="0"/>
            </a:br>
            <a:r>
              <a:rPr lang="en-US" dirty="0"/>
              <a:t>and search task</a:t>
            </a:r>
          </a:p>
        </p:txBody>
      </p:sp>
      <p:sp>
        <p:nvSpPr>
          <p:cNvPr id="2" name="Rectangle 1">
            <a:extLst>
              <a:ext uri="{FF2B5EF4-FFF2-40B4-BE49-F238E27FC236}">
                <a16:creationId xmlns:a16="http://schemas.microsoft.com/office/drawing/2014/main" id="{FE23B5B8-4ADB-3FB7-F708-2ABA9F4FC0E3}"/>
              </a:ext>
            </a:extLst>
          </p:cNvPr>
          <p:cNvSpPr/>
          <p:nvPr/>
        </p:nvSpPr>
        <p:spPr>
          <a:xfrm>
            <a:off x="-311455" y="1043057"/>
            <a:ext cx="2665549" cy="707886"/>
          </a:xfrm>
          <a:prstGeom prst="rect">
            <a:avLst/>
          </a:prstGeom>
          <a:noFill/>
        </p:spPr>
        <p:txBody>
          <a:bodyPr wrap="square" lIns="91440" tIns="45720" rIns="91440" bIns="45720">
            <a:spAutoFit/>
          </a:bodyPr>
          <a:lstStyle/>
          <a:p>
            <a:pPr algn="ctr"/>
            <a:r>
              <a:rPr lang="en-US" sz="40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rPr>
              <a:t>Project</a:t>
            </a:r>
          </a:p>
        </p:txBody>
      </p:sp>
    </p:spTree>
    <p:extLst>
      <p:ext uri="{BB962C8B-B14F-4D97-AF65-F5344CB8AC3E}">
        <p14:creationId xmlns:p14="http://schemas.microsoft.com/office/powerpoint/2010/main" val="33479176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93E790-F91A-6B4C-AB03-DBDDC3A7CB49}"/>
            </a:ext>
          </a:extLst>
        </p:cNvPr>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id="{711B63E6-A191-41EB-F9A9-4F18F3C7CC5A}"/>
              </a:ext>
            </a:extLst>
          </p:cNvPr>
          <p:cNvGraphicFramePr/>
          <p:nvPr>
            <p:extLst>
              <p:ext uri="{D42A27DB-BD31-4B8C-83A1-F6EECF244321}">
                <p14:modId xmlns:p14="http://schemas.microsoft.com/office/powerpoint/2010/main" val="855350969"/>
              </p:ext>
            </p:extLst>
          </p:nvPr>
        </p:nvGraphicFramePr>
        <p:xfrm>
          <a:off x="218409" y="1872797"/>
          <a:ext cx="8266371" cy="406399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Rectangle 4">
            <a:extLst>
              <a:ext uri="{FF2B5EF4-FFF2-40B4-BE49-F238E27FC236}">
                <a16:creationId xmlns:a16="http://schemas.microsoft.com/office/drawing/2014/main" id="{FC782908-AC05-6A47-A1E2-C2632BC83F9A}"/>
              </a:ext>
            </a:extLst>
          </p:cNvPr>
          <p:cNvSpPr/>
          <p:nvPr/>
        </p:nvSpPr>
        <p:spPr>
          <a:xfrm>
            <a:off x="5845693" y="1961286"/>
            <a:ext cx="2133600" cy="74294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Key: reaction time</a:t>
            </a:r>
            <a:br>
              <a:rPr lang="en-US" dirty="0"/>
            </a:br>
            <a:r>
              <a:rPr lang="en-US" dirty="0"/>
              <a:t>and search task</a:t>
            </a:r>
          </a:p>
        </p:txBody>
      </p:sp>
      <p:sp>
        <p:nvSpPr>
          <p:cNvPr id="2" name="Rectangle 1">
            <a:extLst>
              <a:ext uri="{FF2B5EF4-FFF2-40B4-BE49-F238E27FC236}">
                <a16:creationId xmlns:a16="http://schemas.microsoft.com/office/drawing/2014/main" id="{760063E7-33BE-1F71-9688-8E6CBD5539AF}"/>
              </a:ext>
            </a:extLst>
          </p:cNvPr>
          <p:cNvSpPr/>
          <p:nvPr/>
        </p:nvSpPr>
        <p:spPr>
          <a:xfrm>
            <a:off x="-311455" y="1043057"/>
            <a:ext cx="2665549" cy="707886"/>
          </a:xfrm>
          <a:prstGeom prst="rect">
            <a:avLst/>
          </a:prstGeom>
          <a:noFill/>
        </p:spPr>
        <p:txBody>
          <a:bodyPr wrap="square" lIns="91440" tIns="45720" rIns="91440" bIns="45720">
            <a:spAutoFit/>
          </a:bodyPr>
          <a:lstStyle/>
          <a:p>
            <a:pPr algn="ctr"/>
            <a:r>
              <a:rPr lang="en-US" sz="40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rPr>
              <a:t>Project</a:t>
            </a:r>
          </a:p>
        </p:txBody>
      </p:sp>
      <p:pic>
        <p:nvPicPr>
          <p:cNvPr id="3" name="Picture 2" descr="A picture containing sketch, line art, drawing, clipart&#10;&#10;Description automatically generated">
            <a:extLst>
              <a:ext uri="{FF2B5EF4-FFF2-40B4-BE49-F238E27FC236}">
                <a16:creationId xmlns:a16="http://schemas.microsoft.com/office/drawing/2014/main" id="{ED8DF799-CD2D-38F1-48C2-1BC33EA15294}"/>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426610" y="192728"/>
            <a:ext cx="4058170" cy="1456951"/>
          </a:xfrm>
          <a:prstGeom prst="rect">
            <a:avLst/>
          </a:prstGeom>
        </p:spPr>
      </p:pic>
    </p:spTree>
    <p:extLst>
      <p:ext uri="{BB962C8B-B14F-4D97-AF65-F5344CB8AC3E}">
        <p14:creationId xmlns:p14="http://schemas.microsoft.com/office/powerpoint/2010/main" val="32074701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14A05F-9631-01F5-4B44-0E63A4A84E39}"/>
            </a:ext>
          </a:extLst>
        </p:cNvPr>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id="{7B37347F-497E-BF1C-17F8-8126A409A6C8}"/>
              </a:ext>
            </a:extLst>
          </p:cNvPr>
          <p:cNvGraphicFramePr/>
          <p:nvPr>
            <p:extLst>
              <p:ext uri="{D42A27DB-BD31-4B8C-83A1-F6EECF244321}">
                <p14:modId xmlns:p14="http://schemas.microsoft.com/office/powerpoint/2010/main" val="15430907"/>
              </p:ext>
            </p:extLst>
          </p:nvPr>
        </p:nvGraphicFramePr>
        <p:xfrm>
          <a:off x="218409" y="1872797"/>
          <a:ext cx="8266371" cy="406399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Rectangle 4">
            <a:extLst>
              <a:ext uri="{FF2B5EF4-FFF2-40B4-BE49-F238E27FC236}">
                <a16:creationId xmlns:a16="http://schemas.microsoft.com/office/drawing/2014/main" id="{F40D3664-EF90-4A80-49E9-378A5E509396}"/>
              </a:ext>
            </a:extLst>
          </p:cNvPr>
          <p:cNvSpPr/>
          <p:nvPr/>
        </p:nvSpPr>
        <p:spPr>
          <a:xfrm>
            <a:off x="5845693" y="1961286"/>
            <a:ext cx="2133600" cy="74294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Key: reaction time</a:t>
            </a:r>
            <a:br>
              <a:rPr lang="en-US" dirty="0"/>
            </a:br>
            <a:r>
              <a:rPr lang="en-US" dirty="0"/>
              <a:t>and search task</a:t>
            </a:r>
          </a:p>
        </p:txBody>
      </p:sp>
      <p:sp>
        <p:nvSpPr>
          <p:cNvPr id="2" name="Rectangle 1">
            <a:extLst>
              <a:ext uri="{FF2B5EF4-FFF2-40B4-BE49-F238E27FC236}">
                <a16:creationId xmlns:a16="http://schemas.microsoft.com/office/drawing/2014/main" id="{BC512903-CAC2-7313-BCEC-4F5C0A76B576}"/>
              </a:ext>
            </a:extLst>
          </p:cNvPr>
          <p:cNvSpPr/>
          <p:nvPr/>
        </p:nvSpPr>
        <p:spPr>
          <a:xfrm>
            <a:off x="-311455" y="1043057"/>
            <a:ext cx="2665549" cy="707886"/>
          </a:xfrm>
          <a:prstGeom prst="rect">
            <a:avLst/>
          </a:prstGeom>
          <a:noFill/>
        </p:spPr>
        <p:txBody>
          <a:bodyPr wrap="square" lIns="91440" tIns="45720" rIns="91440" bIns="45720">
            <a:spAutoFit/>
          </a:bodyPr>
          <a:lstStyle/>
          <a:p>
            <a:pPr algn="ctr"/>
            <a:r>
              <a:rPr lang="en-US" sz="40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rPr>
              <a:t>Project</a:t>
            </a:r>
          </a:p>
        </p:txBody>
      </p:sp>
      <p:pic>
        <p:nvPicPr>
          <p:cNvPr id="3" name="Picture 2">
            <a:extLst>
              <a:ext uri="{FF2B5EF4-FFF2-40B4-BE49-F238E27FC236}">
                <a16:creationId xmlns:a16="http://schemas.microsoft.com/office/drawing/2014/main" id="{E183B6FE-C34B-303C-C027-7156F7D1653B}"/>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2994" t="21430" r="5863" b="29764"/>
          <a:stretch/>
        </p:blipFill>
        <p:spPr bwMode="auto">
          <a:xfrm>
            <a:off x="3120818" y="99234"/>
            <a:ext cx="5449750" cy="1643939"/>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5650142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242D56-8C39-84CB-1B15-2B132FBAFFC0}"/>
            </a:ext>
          </a:extLst>
        </p:cNvPr>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id="{AC416CB4-9F59-3BDD-64D5-A06C3DD23244}"/>
              </a:ext>
            </a:extLst>
          </p:cNvPr>
          <p:cNvGraphicFramePr/>
          <p:nvPr>
            <p:extLst>
              <p:ext uri="{D42A27DB-BD31-4B8C-83A1-F6EECF244321}">
                <p14:modId xmlns:p14="http://schemas.microsoft.com/office/powerpoint/2010/main" val="1020498716"/>
              </p:ext>
            </p:extLst>
          </p:nvPr>
        </p:nvGraphicFramePr>
        <p:xfrm>
          <a:off x="218409" y="1872797"/>
          <a:ext cx="8266371" cy="406399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Rectangle 4">
            <a:extLst>
              <a:ext uri="{FF2B5EF4-FFF2-40B4-BE49-F238E27FC236}">
                <a16:creationId xmlns:a16="http://schemas.microsoft.com/office/drawing/2014/main" id="{00F99C8C-D406-54EF-9002-45C343D5F67E}"/>
              </a:ext>
            </a:extLst>
          </p:cNvPr>
          <p:cNvSpPr/>
          <p:nvPr/>
        </p:nvSpPr>
        <p:spPr>
          <a:xfrm>
            <a:off x="5845693" y="1961286"/>
            <a:ext cx="2133600" cy="74294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Key: reaction time</a:t>
            </a:r>
            <a:br>
              <a:rPr lang="en-US" dirty="0"/>
            </a:br>
            <a:r>
              <a:rPr lang="en-US" dirty="0"/>
              <a:t>and search task</a:t>
            </a:r>
          </a:p>
        </p:txBody>
      </p:sp>
      <p:sp>
        <p:nvSpPr>
          <p:cNvPr id="2" name="Rectangle 1">
            <a:extLst>
              <a:ext uri="{FF2B5EF4-FFF2-40B4-BE49-F238E27FC236}">
                <a16:creationId xmlns:a16="http://schemas.microsoft.com/office/drawing/2014/main" id="{9213CA2C-D60C-6BFB-DD78-83A6A6FA2AEA}"/>
              </a:ext>
            </a:extLst>
          </p:cNvPr>
          <p:cNvSpPr/>
          <p:nvPr/>
        </p:nvSpPr>
        <p:spPr>
          <a:xfrm>
            <a:off x="-311455" y="1043057"/>
            <a:ext cx="2665549" cy="707886"/>
          </a:xfrm>
          <a:prstGeom prst="rect">
            <a:avLst/>
          </a:prstGeom>
          <a:noFill/>
        </p:spPr>
        <p:txBody>
          <a:bodyPr wrap="square" lIns="91440" tIns="45720" rIns="91440" bIns="45720">
            <a:spAutoFit/>
          </a:bodyPr>
          <a:lstStyle/>
          <a:p>
            <a:pPr algn="ctr"/>
            <a:r>
              <a:rPr lang="en-US" sz="40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rPr>
              <a:t>Project</a:t>
            </a:r>
          </a:p>
        </p:txBody>
      </p:sp>
      <p:pic>
        <p:nvPicPr>
          <p:cNvPr id="6" name="Graphic 5" descr="Checkmark with solid fill">
            <a:extLst>
              <a:ext uri="{FF2B5EF4-FFF2-40B4-BE49-F238E27FC236}">
                <a16:creationId xmlns:a16="http://schemas.microsoft.com/office/drawing/2014/main" id="{30BD7EC8-E7F0-1A15-9CA7-DAA6B1F81436}"/>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18409" y="3281059"/>
            <a:ext cx="2655737" cy="2655737"/>
          </a:xfrm>
          <a:prstGeom prst="rect">
            <a:avLst/>
          </a:prstGeom>
        </p:spPr>
      </p:pic>
      <p:pic>
        <p:nvPicPr>
          <p:cNvPr id="7" name="Graphic 6" descr="Checkmark with solid fill">
            <a:extLst>
              <a:ext uri="{FF2B5EF4-FFF2-40B4-BE49-F238E27FC236}">
                <a16:creationId xmlns:a16="http://schemas.microsoft.com/office/drawing/2014/main" id="{EBB6EDFB-BC0D-FE07-71D2-96150F082E41}"/>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023725" y="3368650"/>
            <a:ext cx="2655737" cy="2655737"/>
          </a:xfrm>
          <a:prstGeom prst="rect">
            <a:avLst/>
          </a:prstGeom>
        </p:spPr>
      </p:pic>
      <p:pic>
        <p:nvPicPr>
          <p:cNvPr id="9" name="Graphic 8" descr="Question Mark with solid fill">
            <a:extLst>
              <a:ext uri="{FF2B5EF4-FFF2-40B4-BE49-F238E27FC236}">
                <a16:creationId xmlns:a16="http://schemas.microsoft.com/office/drawing/2014/main" id="{0A0AA8FD-F3EC-34C4-D08B-E5A716C935FA}"/>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5973167" y="3110392"/>
            <a:ext cx="2420247" cy="2420247"/>
          </a:xfrm>
          <a:prstGeom prst="rect">
            <a:avLst/>
          </a:prstGeom>
        </p:spPr>
      </p:pic>
      <p:pic>
        <p:nvPicPr>
          <p:cNvPr id="23" name="Picture 22" descr="A red and black fish&#10;&#10;AI-generated content may be incorrect.">
            <a:extLst>
              <a:ext uri="{FF2B5EF4-FFF2-40B4-BE49-F238E27FC236}">
                <a16:creationId xmlns:a16="http://schemas.microsoft.com/office/drawing/2014/main" id="{301B3073-36A2-D7CD-EBB6-26F37B6DB24F}"/>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6610077" y="176005"/>
            <a:ext cx="1388672" cy="1315215"/>
          </a:xfrm>
          <a:prstGeom prst="rect">
            <a:avLst/>
          </a:prstGeom>
          <a:ln w="6350">
            <a:solidFill>
              <a:schemeClr val="tx1"/>
            </a:solidFill>
          </a:ln>
        </p:spPr>
      </p:pic>
      <p:sp>
        <p:nvSpPr>
          <p:cNvPr id="26" name="Rectangle 25">
            <a:extLst>
              <a:ext uri="{FF2B5EF4-FFF2-40B4-BE49-F238E27FC236}">
                <a16:creationId xmlns:a16="http://schemas.microsoft.com/office/drawing/2014/main" id="{AA6F82F9-EA7D-7C46-86A7-86CB300EDB79}"/>
              </a:ext>
            </a:extLst>
          </p:cNvPr>
          <p:cNvSpPr/>
          <p:nvPr/>
        </p:nvSpPr>
        <p:spPr>
          <a:xfrm>
            <a:off x="6623931" y="574964"/>
            <a:ext cx="365687" cy="14547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503917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F7745C-B898-10D0-FEA6-2E411A2E265D}"/>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0D39178C-9E6D-01E1-9F52-0837FB7AB9AB}"/>
              </a:ext>
            </a:extLst>
          </p:cNvPr>
          <p:cNvSpPr/>
          <p:nvPr/>
        </p:nvSpPr>
        <p:spPr>
          <a:xfrm>
            <a:off x="-662329" y="1032424"/>
            <a:ext cx="5137051" cy="707886"/>
          </a:xfrm>
          <a:prstGeom prst="rect">
            <a:avLst/>
          </a:prstGeom>
          <a:noFill/>
        </p:spPr>
        <p:txBody>
          <a:bodyPr wrap="square" lIns="91440" tIns="45720" rIns="91440" bIns="45720">
            <a:spAutoFit/>
          </a:bodyPr>
          <a:lstStyle/>
          <a:p>
            <a:pPr algn="ctr"/>
            <a:r>
              <a:rPr lang="en-US" sz="40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rPr>
              <a:t>Study 3: Exp 1 </a:t>
            </a:r>
          </a:p>
        </p:txBody>
      </p:sp>
      <p:sp>
        <p:nvSpPr>
          <p:cNvPr id="2" name="TextBox 1">
            <a:extLst>
              <a:ext uri="{FF2B5EF4-FFF2-40B4-BE49-F238E27FC236}">
                <a16:creationId xmlns:a16="http://schemas.microsoft.com/office/drawing/2014/main" id="{4BB60CBC-8C13-24ED-CA21-771A2311F87C}"/>
              </a:ext>
            </a:extLst>
          </p:cNvPr>
          <p:cNvSpPr txBox="1"/>
          <p:nvPr/>
        </p:nvSpPr>
        <p:spPr>
          <a:xfrm>
            <a:off x="334970" y="1740310"/>
            <a:ext cx="7992494" cy="4806957"/>
          </a:xfrm>
          <a:prstGeom prst="rect">
            <a:avLst/>
          </a:prstGeom>
          <a:noFill/>
        </p:spPr>
        <p:txBody>
          <a:bodyPr wrap="square" rtlCol="0">
            <a:spAutoFit/>
          </a:bodyPr>
          <a:lstStyle/>
          <a:p>
            <a:r>
              <a:rPr lang="en-US" b="1" dirty="0">
                <a:solidFill>
                  <a:srgbClr val="000000"/>
                </a:solidFill>
                <a:latin typeface="Calibri" panose="020F0502020204030204" pitchFamily="34" charset="0"/>
                <a:ea typeface="SimSun" panose="02010600030101010101" pitchFamily="2" charset="-122"/>
                <a:cs typeface="Calibri" panose="020F0502020204030204" pitchFamily="34" charset="0"/>
              </a:rPr>
              <a:t>Research question:</a:t>
            </a:r>
          </a:p>
          <a:p>
            <a:r>
              <a:rPr lang="en-US" sz="1800" dirty="0">
                <a:effectLst/>
                <a:latin typeface="Times New Roman" panose="02020603050405020304" pitchFamily="18" charset="0"/>
                <a:ea typeface="SimSun" panose="02010600030101010101" pitchFamily="2" charset="-122"/>
                <a:cs typeface="Arial" panose="020B0604020202020204" pitchFamily="34" charset="0"/>
              </a:rPr>
              <a:t>We aim to investigate whether we can replicate the agent advantage effect using </a:t>
            </a:r>
            <a:r>
              <a:rPr lang="en-US" altLang="zh-CN" sz="1800" dirty="0">
                <a:effectLst/>
                <a:latin typeface="Times New Roman" panose="02020603050405020304" pitchFamily="18" charset="0"/>
                <a:ea typeface="SimSun" panose="02010600030101010101" pitchFamily="2" charset="-122"/>
                <a:cs typeface="Arial" panose="020B0604020202020204" pitchFamily="34" charset="0"/>
              </a:rPr>
              <a:t>abstract fish</a:t>
            </a:r>
            <a:r>
              <a:rPr lang="en-US" sz="1800" dirty="0">
                <a:effectLst/>
                <a:latin typeface="Times New Roman" panose="02020603050405020304" pitchFamily="18" charset="0"/>
                <a:ea typeface="SimSun" panose="02010600030101010101" pitchFamily="2" charset="-122"/>
                <a:cs typeface="Arial" panose="020B0604020202020204" pitchFamily="34" charset="0"/>
              </a:rPr>
              <a:t>.</a:t>
            </a:r>
          </a:p>
          <a:p>
            <a:endParaRPr lang="en-US" dirty="0">
              <a:latin typeface="Times New Roman" panose="02020603050405020304" pitchFamily="18" charset="0"/>
              <a:ea typeface="SimSun" panose="02010600030101010101" pitchFamily="2" charset="-122"/>
            </a:endParaRPr>
          </a:p>
          <a:p>
            <a:pPr marL="0" marR="0">
              <a:lnSpc>
                <a:spcPct val="107000"/>
              </a:lnSpc>
              <a:spcAft>
                <a:spcPts val="800"/>
              </a:spcAft>
            </a:pPr>
            <a:r>
              <a:rPr lang="en-US" sz="1800" dirty="0">
                <a:effectLst/>
                <a:latin typeface="Times New Roman" panose="02020603050405020304" pitchFamily="18" charset="0"/>
                <a:ea typeface="Times New Roman" panose="02020603050405020304" pitchFamily="18" charset="0"/>
                <a:cs typeface="Arial" panose="020B0604020202020204" pitchFamily="34" charset="0"/>
              </a:rPr>
              <a:t>Hypotheses:</a:t>
            </a:r>
            <a:endParaRPr lang="en-US" sz="1800" dirty="0">
              <a:effectLst/>
              <a:latin typeface="Calibri" panose="020F0502020204030204" pitchFamily="34" charset="0"/>
              <a:ea typeface="SimSun" panose="02010600030101010101" pitchFamily="2" charset="-122"/>
              <a:cs typeface="Arial" panose="020B0604020202020204" pitchFamily="34" charset="0"/>
            </a:endParaRPr>
          </a:p>
          <a:p>
            <a:pPr marL="0" marR="0">
              <a:lnSpc>
                <a:spcPct val="107000"/>
              </a:lnSpc>
              <a:spcAft>
                <a:spcPts val="800"/>
              </a:spcAft>
            </a:pPr>
            <a:r>
              <a:rPr lang="en-US" sz="1800" dirty="0">
                <a:effectLst/>
                <a:latin typeface="Times New Roman" panose="02020603050405020304" pitchFamily="18" charset="0"/>
                <a:ea typeface="SimSun" panose="02010600030101010101" pitchFamily="2" charset="-122"/>
                <a:cs typeface="Arial" panose="020B0604020202020204" pitchFamily="34" charset="0"/>
              </a:rPr>
              <a:t>W</a:t>
            </a:r>
            <a:r>
              <a:rPr lang="en-US" sz="1800" dirty="0">
                <a:effectLst/>
                <a:latin typeface="Times New Roman" panose="02020603050405020304" pitchFamily="18" charset="0"/>
                <a:ea typeface="Times New Roman" panose="02020603050405020304" pitchFamily="18" charset="0"/>
                <a:cs typeface="Arial" panose="020B0604020202020204" pitchFamily="34" charset="0"/>
              </a:rPr>
              <a:t>e predict replicating the agent advantage effect as reported by </a:t>
            </a:r>
            <a:r>
              <a:rPr lang="en-US" sz="1800" dirty="0" err="1">
                <a:effectLst/>
                <a:latin typeface="Times New Roman" panose="02020603050405020304" pitchFamily="18" charset="0"/>
                <a:ea typeface="Times New Roman" panose="02020603050405020304" pitchFamily="18" charset="0"/>
                <a:cs typeface="Arial" panose="020B0604020202020204" pitchFamily="34" charset="0"/>
              </a:rPr>
              <a:t>Segalowitz</a:t>
            </a:r>
            <a:r>
              <a:rPr lang="en-US" sz="1800" dirty="0">
                <a:effectLst/>
                <a:latin typeface="Times New Roman" panose="02020603050405020304" pitchFamily="18" charset="0"/>
                <a:ea typeface="Times New Roman" panose="02020603050405020304" pitchFamily="18" charset="0"/>
                <a:cs typeface="Arial" panose="020B0604020202020204" pitchFamily="34" charset="0"/>
              </a:rPr>
              <a:t> (1982). Thus, participants should respond faster during agent search compared to patient search.</a:t>
            </a:r>
            <a:endParaRPr lang="en-US" sz="1800" dirty="0">
              <a:effectLst/>
              <a:latin typeface="Calibri" panose="020F0502020204030204" pitchFamily="34" charset="0"/>
              <a:ea typeface="SimSun" panose="02010600030101010101" pitchFamily="2" charset="-122"/>
              <a:cs typeface="Arial" panose="020B0604020202020204" pitchFamily="34" charset="0"/>
            </a:endParaRPr>
          </a:p>
          <a:p>
            <a:br>
              <a:rPr lang="en-US" dirty="0">
                <a:solidFill>
                  <a:srgbClr val="000000"/>
                </a:solidFill>
                <a:latin typeface="Calibri" panose="020F0502020204030204" pitchFamily="34" charset="0"/>
                <a:ea typeface="SimSun" panose="02010600030101010101" pitchFamily="2" charset="-122"/>
                <a:cs typeface="Calibri" panose="020F0502020204030204" pitchFamily="34" charset="0"/>
              </a:rPr>
            </a:br>
            <a:r>
              <a:rPr lang="en-US" b="1" dirty="0">
                <a:solidFill>
                  <a:srgbClr val="000000"/>
                </a:solidFill>
                <a:latin typeface="Calibri" panose="020F0502020204030204" pitchFamily="34" charset="0"/>
                <a:ea typeface="SimSun" panose="02010600030101010101" pitchFamily="2" charset="-122"/>
                <a:cs typeface="Calibri" panose="020F0502020204030204" pitchFamily="34" charset="0"/>
              </a:rPr>
              <a:t>Experiment Design:</a:t>
            </a:r>
          </a:p>
          <a:p>
            <a:r>
              <a:rPr lang="en-US" sz="1800" dirty="0">
                <a:effectLst/>
                <a:latin typeface="Times New Roman" panose="02020603050405020304" pitchFamily="18" charset="0"/>
                <a:ea typeface="SimSun" panose="02010600030101010101" pitchFamily="2" charset="-122"/>
              </a:rPr>
              <a:t>One factorial within-subjects design: we manipulate search task (agent search, patient search)</a:t>
            </a:r>
            <a:br>
              <a:rPr lang="en-US" dirty="0">
                <a:solidFill>
                  <a:srgbClr val="000000"/>
                </a:solidFill>
                <a:latin typeface="Calibri" panose="020F0502020204030204" pitchFamily="34" charset="0"/>
                <a:ea typeface="SimSun" panose="02010600030101010101" pitchFamily="2" charset="-122"/>
                <a:cs typeface="Calibri" panose="020F0502020204030204" pitchFamily="34" charset="0"/>
              </a:rPr>
            </a:br>
            <a:endParaRPr lang="en-US" b="1" dirty="0">
              <a:solidFill>
                <a:srgbClr val="000000"/>
              </a:solidFill>
              <a:latin typeface="Calibri" panose="020F0502020204030204" pitchFamily="34" charset="0"/>
              <a:ea typeface="SimSun" panose="02010600030101010101" pitchFamily="2" charset="-122"/>
              <a:cs typeface="Calibri" panose="020F0502020204030204" pitchFamily="34" charset="0"/>
            </a:endParaRPr>
          </a:p>
          <a:p>
            <a:r>
              <a:rPr lang="en-US" b="1" dirty="0">
                <a:solidFill>
                  <a:srgbClr val="000000"/>
                </a:solidFill>
                <a:latin typeface="Calibri" panose="020F0502020204030204" pitchFamily="34" charset="0"/>
                <a:ea typeface="SimSun" panose="02010600030101010101" pitchFamily="2" charset="-122"/>
                <a:cs typeface="Calibri" panose="020F0502020204030204" pitchFamily="34" charset="0"/>
              </a:rPr>
              <a:t>P</a:t>
            </a:r>
            <a:r>
              <a:rPr lang="en-US" altLang="zh-CN" b="1" dirty="0">
                <a:solidFill>
                  <a:srgbClr val="000000"/>
                </a:solidFill>
                <a:latin typeface="Calibri" panose="020F0502020204030204" pitchFamily="34" charset="0"/>
                <a:ea typeface="SimSun" panose="02010600030101010101" pitchFamily="2" charset="-122"/>
                <a:cs typeface="Calibri" panose="020F0502020204030204" pitchFamily="34" charset="0"/>
              </a:rPr>
              <a:t>articipants</a:t>
            </a:r>
            <a:r>
              <a:rPr lang="zh-CN" altLang="en-US" b="1" dirty="0">
                <a:solidFill>
                  <a:srgbClr val="000000"/>
                </a:solidFill>
                <a:latin typeface="Calibri" panose="020F0502020204030204" pitchFamily="34" charset="0"/>
                <a:ea typeface="SimSun" panose="02010600030101010101" pitchFamily="2" charset="-122"/>
                <a:cs typeface="Calibri" panose="020F0502020204030204" pitchFamily="34" charset="0"/>
              </a:rPr>
              <a:t>：</a:t>
            </a:r>
            <a:r>
              <a:rPr lang="en-US" altLang="zh-CN" dirty="0">
                <a:solidFill>
                  <a:srgbClr val="000000"/>
                </a:solidFill>
                <a:latin typeface="Calibri" panose="020F0502020204030204" pitchFamily="34" charset="0"/>
                <a:ea typeface="SimSun" panose="02010600030101010101" pitchFamily="2" charset="-122"/>
                <a:cs typeface="Calibri" panose="020F0502020204030204" pitchFamily="34" charset="0"/>
              </a:rPr>
              <a:t>24 </a:t>
            </a:r>
            <a:r>
              <a:rPr lang="en-US" dirty="0">
                <a:solidFill>
                  <a:srgbClr val="000000"/>
                </a:solidFill>
                <a:latin typeface="Calibri" panose="020F0502020204030204" pitchFamily="34" charset="0"/>
                <a:ea typeface="SimSun" panose="02010600030101010101" pitchFamily="2" charset="-122"/>
                <a:cs typeface="Calibri" panose="020F0502020204030204" pitchFamily="34" charset="0"/>
              </a:rPr>
              <a:t>participants to achieve 80% power</a:t>
            </a:r>
            <a:endParaRPr lang="en-US" altLang="zh-CN" b="1" dirty="0">
              <a:solidFill>
                <a:srgbClr val="000000"/>
              </a:solidFill>
              <a:latin typeface="Calibri" panose="020F0502020204030204" pitchFamily="34" charset="0"/>
              <a:ea typeface="SimSun" panose="02010600030101010101" pitchFamily="2" charset="-122"/>
              <a:cs typeface="Calibri" panose="020F0502020204030204" pitchFamily="34" charset="0"/>
            </a:endParaRPr>
          </a:p>
          <a:p>
            <a:br>
              <a:rPr lang="en-US" dirty="0">
                <a:solidFill>
                  <a:srgbClr val="000000"/>
                </a:solidFill>
                <a:latin typeface="Calibri" panose="020F0502020204030204" pitchFamily="34" charset="0"/>
                <a:ea typeface="SimSun" panose="02010600030101010101" pitchFamily="2" charset="-122"/>
                <a:cs typeface="Calibri" panose="020F0502020204030204" pitchFamily="34" charset="0"/>
              </a:rPr>
            </a:br>
            <a:endParaRPr lang="en-US" sz="1800" dirty="0">
              <a:effectLst/>
              <a:latin typeface="Calibri" panose="020F0502020204030204" pitchFamily="34" charset="0"/>
              <a:ea typeface="SimSun" panose="02010600030101010101" pitchFamily="2" charset="-122"/>
              <a:cs typeface="Arial" panose="020B0604020202020204" pitchFamily="34" charset="0"/>
            </a:endParaRPr>
          </a:p>
        </p:txBody>
      </p:sp>
      <p:pic>
        <p:nvPicPr>
          <p:cNvPr id="3" name="Picture 2">
            <a:extLst>
              <a:ext uri="{FF2B5EF4-FFF2-40B4-BE49-F238E27FC236}">
                <a16:creationId xmlns:a16="http://schemas.microsoft.com/office/drawing/2014/main" id="{10E7AB49-D98B-7209-0703-83767714CE34}"/>
              </a:ext>
            </a:extLst>
          </p:cNvPr>
          <p:cNvPicPr>
            <a:picLocks noChangeAspect="1"/>
          </p:cNvPicPr>
          <p:nvPr/>
        </p:nvPicPr>
        <p:blipFill>
          <a:blip r:embed="rId2"/>
          <a:srcRect l="15006" t="27410" r="18185" b="20912"/>
          <a:stretch/>
        </p:blipFill>
        <p:spPr>
          <a:xfrm>
            <a:off x="6036355" y="300816"/>
            <a:ext cx="1924307" cy="1439494"/>
          </a:xfrm>
          <a:prstGeom prst="rect">
            <a:avLst/>
          </a:prstGeom>
        </p:spPr>
      </p:pic>
    </p:spTree>
    <p:extLst>
      <p:ext uri="{BB962C8B-B14F-4D97-AF65-F5344CB8AC3E}">
        <p14:creationId xmlns:p14="http://schemas.microsoft.com/office/powerpoint/2010/main" val="10399370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9EB064-5F4B-D653-4871-E3E775E8B965}"/>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06BC84A4-6416-156D-1DC9-1E3B0C9FD144}"/>
              </a:ext>
            </a:extLst>
          </p:cNvPr>
          <p:cNvSpPr/>
          <p:nvPr/>
        </p:nvSpPr>
        <p:spPr>
          <a:xfrm>
            <a:off x="-662329" y="1032424"/>
            <a:ext cx="5137051" cy="707886"/>
          </a:xfrm>
          <a:prstGeom prst="rect">
            <a:avLst/>
          </a:prstGeom>
          <a:noFill/>
        </p:spPr>
        <p:txBody>
          <a:bodyPr wrap="square" lIns="91440" tIns="45720" rIns="91440" bIns="45720">
            <a:spAutoFit/>
          </a:bodyPr>
          <a:lstStyle/>
          <a:p>
            <a:pPr algn="ctr"/>
            <a:r>
              <a:rPr lang="en-US" sz="40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rPr>
              <a:t>Study 3: Exp 1</a:t>
            </a:r>
          </a:p>
        </p:txBody>
      </p:sp>
      <p:sp>
        <p:nvSpPr>
          <p:cNvPr id="2" name="Rectangle 1">
            <a:extLst>
              <a:ext uri="{FF2B5EF4-FFF2-40B4-BE49-F238E27FC236}">
                <a16:creationId xmlns:a16="http://schemas.microsoft.com/office/drawing/2014/main" id="{2940E1A1-6AF2-1EEE-4527-3DA9BFF2FAA6}"/>
              </a:ext>
            </a:extLst>
          </p:cNvPr>
          <p:cNvSpPr/>
          <p:nvPr/>
        </p:nvSpPr>
        <p:spPr>
          <a:xfrm>
            <a:off x="2165691" y="1993575"/>
            <a:ext cx="1541650" cy="83598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pic>
        <p:nvPicPr>
          <p:cNvPr id="3" name="Picture 2" descr="A red and black fish&#10;&#10;Description automatically generated">
            <a:extLst>
              <a:ext uri="{FF2B5EF4-FFF2-40B4-BE49-F238E27FC236}">
                <a16:creationId xmlns:a16="http://schemas.microsoft.com/office/drawing/2014/main" id="{0C8E3F3A-44D3-DA79-243F-31C68E0BD485}"/>
              </a:ext>
            </a:extLst>
          </p:cNvPr>
          <p:cNvPicPr>
            <a:picLocks noChangeAspect="1"/>
          </p:cNvPicPr>
          <p:nvPr/>
        </p:nvPicPr>
        <p:blipFill rotWithShape="1">
          <a:blip r:embed="rId2"/>
          <a:srcRect t="22346" r="10839" b="30635"/>
          <a:stretch/>
        </p:blipFill>
        <p:spPr>
          <a:xfrm>
            <a:off x="2603540" y="2213694"/>
            <a:ext cx="1013464" cy="506185"/>
          </a:xfrm>
          <a:prstGeom prst="rect">
            <a:avLst/>
          </a:prstGeom>
        </p:spPr>
      </p:pic>
      <p:sp>
        <p:nvSpPr>
          <p:cNvPr id="6" name="TextBox 5">
            <a:extLst>
              <a:ext uri="{FF2B5EF4-FFF2-40B4-BE49-F238E27FC236}">
                <a16:creationId xmlns:a16="http://schemas.microsoft.com/office/drawing/2014/main" id="{90824890-1A20-819F-20DD-3CE6C11D948F}"/>
              </a:ext>
            </a:extLst>
          </p:cNvPr>
          <p:cNvSpPr txBox="1"/>
          <p:nvPr/>
        </p:nvSpPr>
        <p:spPr>
          <a:xfrm>
            <a:off x="540149" y="2140407"/>
            <a:ext cx="1541650" cy="646331"/>
          </a:xfrm>
          <a:prstGeom prst="rect">
            <a:avLst/>
          </a:prstGeom>
          <a:noFill/>
        </p:spPr>
        <p:txBody>
          <a:bodyPr wrap="square" rtlCol="0">
            <a:spAutoFit/>
          </a:bodyPr>
          <a:lstStyle/>
          <a:p>
            <a:r>
              <a:rPr lang="en-US" sz="1800" dirty="0">
                <a:solidFill>
                  <a:srgbClr val="000000"/>
                </a:solidFill>
                <a:effectLst/>
                <a:latin typeface="Calibri" panose="020F0502020204030204" pitchFamily="34" charset="0"/>
                <a:ea typeface="SimSun" panose="02010600030101010101" pitchFamily="2" charset="-122"/>
                <a:cs typeface="Calibri" panose="020F0502020204030204" pitchFamily="34" charset="0"/>
              </a:rPr>
              <a:t>Agent</a:t>
            </a:r>
            <a:r>
              <a:rPr lang="en-US" dirty="0">
                <a:solidFill>
                  <a:srgbClr val="000000"/>
                </a:solidFill>
                <a:latin typeface="Calibri" panose="020F0502020204030204" pitchFamily="34" charset="0"/>
                <a:ea typeface="SimSun" panose="02010600030101010101" pitchFamily="2" charset="-122"/>
                <a:cs typeface="Calibri" panose="020F0502020204030204" pitchFamily="34" charset="0"/>
              </a:rPr>
              <a:t>/P</a:t>
            </a:r>
            <a:r>
              <a:rPr lang="en-US" altLang="zh-CN" dirty="0">
                <a:solidFill>
                  <a:srgbClr val="000000"/>
                </a:solidFill>
                <a:latin typeface="Calibri" panose="020F0502020204030204" pitchFamily="34" charset="0"/>
                <a:ea typeface="SimSun" panose="02010600030101010101" pitchFamily="2" charset="-122"/>
                <a:cs typeface="Calibri" panose="020F0502020204030204" pitchFamily="34" charset="0"/>
              </a:rPr>
              <a:t>atient Search</a:t>
            </a:r>
            <a:endParaRPr lang="en-US"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ED1D30FE-3C42-D70D-E460-9E8989DD3155}"/>
              </a:ext>
            </a:extLst>
          </p:cNvPr>
          <p:cNvSpPr txBox="1"/>
          <p:nvPr/>
        </p:nvSpPr>
        <p:spPr>
          <a:xfrm>
            <a:off x="5186479" y="4748359"/>
            <a:ext cx="2028664" cy="369332"/>
          </a:xfrm>
          <a:prstGeom prst="rect">
            <a:avLst/>
          </a:prstGeom>
          <a:noFill/>
        </p:spPr>
        <p:txBody>
          <a:bodyPr wrap="square" rtlCol="0">
            <a:spAutoFit/>
          </a:bodyPr>
          <a:lstStyle/>
          <a:p>
            <a:r>
              <a:rPr lang="en-US" sz="1800" dirty="0">
                <a:solidFill>
                  <a:srgbClr val="000000"/>
                </a:solidFill>
                <a:effectLst/>
                <a:latin typeface="Calibri" panose="020F0502020204030204" pitchFamily="34" charset="0"/>
                <a:ea typeface="SimSun" panose="02010600030101010101" pitchFamily="2" charset="-122"/>
                <a:cs typeface="Calibri" panose="020F0502020204030204" pitchFamily="34" charset="0"/>
              </a:rPr>
              <a:t>500 </a:t>
            </a:r>
            <a:r>
              <a:rPr lang="en-US" sz="1800" dirty="0" err="1">
                <a:solidFill>
                  <a:srgbClr val="000000"/>
                </a:solidFill>
                <a:effectLst/>
                <a:latin typeface="Calibri" panose="020F0502020204030204" pitchFamily="34" charset="0"/>
                <a:ea typeface="SimSun" panose="02010600030101010101" pitchFamily="2" charset="-122"/>
                <a:cs typeface="Calibri" panose="020F0502020204030204" pitchFamily="34" charset="0"/>
              </a:rPr>
              <a:t>ms</a:t>
            </a:r>
            <a:endParaRPr lang="en-US" dirty="0">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689655E3-6C1F-E51F-C32A-DE437DA713B1}"/>
              </a:ext>
            </a:extLst>
          </p:cNvPr>
          <p:cNvSpPr txBox="1"/>
          <p:nvPr/>
        </p:nvSpPr>
        <p:spPr>
          <a:xfrm>
            <a:off x="1735439" y="3081373"/>
            <a:ext cx="1659469" cy="369332"/>
          </a:xfrm>
          <a:prstGeom prst="rect">
            <a:avLst/>
          </a:prstGeom>
          <a:noFill/>
        </p:spPr>
        <p:txBody>
          <a:bodyPr wrap="square" rtlCol="0">
            <a:spAutoFit/>
          </a:bodyPr>
          <a:lstStyle/>
          <a:p>
            <a:r>
              <a:rPr lang="en-US" dirty="0">
                <a:solidFill>
                  <a:srgbClr val="000000"/>
                </a:solidFill>
                <a:latin typeface="Calibri" panose="020F0502020204030204" pitchFamily="34" charset="0"/>
                <a:ea typeface="SimSun" panose="02010600030101010101" pitchFamily="2" charset="-122"/>
                <a:cs typeface="Calibri" panose="020F0502020204030204" pitchFamily="34" charset="0"/>
              </a:rPr>
              <a:t>K</a:t>
            </a:r>
            <a:r>
              <a:rPr lang="en-US" altLang="zh-CN" dirty="0">
                <a:solidFill>
                  <a:srgbClr val="000000"/>
                </a:solidFill>
                <a:latin typeface="Calibri" panose="020F0502020204030204" pitchFamily="34" charset="0"/>
                <a:ea typeface="SimSun" panose="02010600030101010101" pitchFamily="2" charset="-122"/>
                <a:cs typeface="Calibri" panose="020F0502020204030204" pitchFamily="34" charset="0"/>
              </a:rPr>
              <a:t>ey Response</a:t>
            </a:r>
            <a:endParaRPr lang="en-US" dirty="0">
              <a:latin typeface="Calibri" panose="020F0502020204030204" pitchFamily="34" charset="0"/>
              <a:cs typeface="Calibri" panose="020F0502020204030204" pitchFamily="34" charset="0"/>
            </a:endParaRPr>
          </a:p>
        </p:txBody>
      </p:sp>
      <p:sp>
        <p:nvSpPr>
          <p:cNvPr id="11" name="Rectangle 10">
            <a:extLst>
              <a:ext uri="{FF2B5EF4-FFF2-40B4-BE49-F238E27FC236}">
                <a16:creationId xmlns:a16="http://schemas.microsoft.com/office/drawing/2014/main" id="{BE91BEA1-CE47-59A3-7754-565263D1D331}"/>
              </a:ext>
            </a:extLst>
          </p:cNvPr>
          <p:cNvSpPr/>
          <p:nvPr/>
        </p:nvSpPr>
        <p:spPr>
          <a:xfrm>
            <a:off x="3494741" y="2696038"/>
            <a:ext cx="1541650" cy="83598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12" name="TextBox 11">
            <a:extLst>
              <a:ext uri="{FF2B5EF4-FFF2-40B4-BE49-F238E27FC236}">
                <a16:creationId xmlns:a16="http://schemas.microsoft.com/office/drawing/2014/main" id="{827BE009-4573-7A47-0957-479E0E332494}"/>
              </a:ext>
            </a:extLst>
          </p:cNvPr>
          <p:cNvSpPr txBox="1"/>
          <p:nvPr/>
        </p:nvSpPr>
        <p:spPr>
          <a:xfrm>
            <a:off x="2165691" y="2033901"/>
            <a:ext cx="1153008" cy="276999"/>
          </a:xfrm>
          <a:prstGeom prst="rect">
            <a:avLst/>
          </a:prstGeom>
          <a:noFill/>
        </p:spPr>
        <p:txBody>
          <a:bodyPr wrap="none" rtlCol="0">
            <a:spAutoFit/>
          </a:bodyPr>
          <a:lstStyle/>
          <a:p>
            <a:r>
              <a:rPr lang="en-US" sz="1200" b="1" dirty="0">
                <a:solidFill>
                  <a:srgbClr val="000000"/>
                </a:solidFill>
                <a:latin typeface="Open Sans" panose="020B0606030504020204" pitchFamily="34" charset="0"/>
                <a:ea typeface="Open Sans" panose="020B0606030504020204" pitchFamily="34" charset="0"/>
                <a:cs typeface="Open Sans" panose="020B0606030504020204" pitchFamily="34" charset="0"/>
              </a:rPr>
              <a:t>Introduction</a:t>
            </a:r>
          </a:p>
        </p:txBody>
      </p:sp>
      <p:pic>
        <p:nvPicPr>
          <p:cNvPr id="13" name="Picture 12" descr="A white fish on a black background&#10;&#10;Description automatically generated">
            <a:extLst>
              <a:ext uri="{FF2B5EF4-FFF2-40B4-BE49-F238E27FC236}">
                <a16:creationId xmlns:a16="http://schemas.microsoft.com/office/drawing/2014/main" id="{53DCF359-228E-DD22-7011-2B3E2A2FA50A}"/>
              </a:ext>
            </a:extLst>
          </p:cNvPr>
          <p:cNvPicPr>
            <a:picLocks noChangeAspect="1"/>
          </p:cNvPicPr>
          <p:nvPr/>
        </p:nvPicPr>
        <p:blipFill>
          <a:blip r:embed="rId3"/>
          <a:stretch>
            <a:fillRect/>
          </a:stretch>
        </p:blipFill>
        <p:spPr>
          <a:xfrm rot="20753669">
            <a:off x="4179570" y="2568960"/>
            <a:ext cx="1013463" cy="1013463"/>
          </a:xfrm>
          <a:prstGeom prst="rect">
            <a:avLst/>
          </a:prstGeom>
        </p:spPr>
      </p:pic>
      <p:pic>
        <p:nvPicPr>
          <p:cNvPr id="14" name="Picture 13" descr="A white fish on a black background&#10;&#10;Description automatically generated">
            <a:extLst>
              <a:ext uri="{FF2B5EF4-FFF2-40B4-BE49-F238E27FC236}">
                <a16:creationId xmlns:a16="http://schemas.microsoft.com/office/drawing/2014/main" id="{38CC91E6-325F-BE0C-75D4-7273303AD6CB}"/>
              </a:ext>
            </a:extLst>
          </p:cNvPr>
          <p:cNvPicPr>
            <a:picLocks noChangeAspect="1"/>
          </p:cNvPicPr>
          <p:nvPr/>
        </p:nvPicPr>
        <p:blipFill>
          <a:blip r:embed="rId3"/>
          <a:stretch>
            <a:fillRect/>
          </a:stretch>
        </p:blipFill>
        <p:spPr>
          <a:xfrm>
            <a:off x="3758835" y="2607299"/>
            <a:ext cx="1013463" cy="1013463"/>
          </a:xfrm>
          <a:prstGeom prst="rect">
            <a:avLst/>
          </a:prstGeom>
        </p:spPr>
      </p:pic>
      <p:pic>
        <p:nvPicPr>
          <p:cNvPr id="15" name="Picture 14" descr="A white fish in a black background&#10;&#10;Description automatically generated">
            <a:extLst>
              <a:ext uri="{FF2B5EF4-FFF2-40B4-BE49-F238E27FC236}">
                <a16:creationId xmlns:a16="http://schemas.microsoft.com/office/drawing/2014/main" id="{BF00F482-88F2-0E50-8EFB-C1C1139FE2D2}"/>
              </a:ext>
            </a:extLst>
          </p:cNvPr>
          <p:cNvPicPr>
            <a:picLocks noChangeAspect="1"/>
          </p:cNvPicPr>
          <p:nvPr/>
        </p:nvPicPr>
        <p:blipFill>
          <a:blip r:embed="rId4"/>
          <a:stretch>
            <a:fillRect/>
          </a:stretch>
        </p:blipFill>
        <p:spPr>
          <a:xfrm rot="20667727">
            <a:off x="4178042" y="2571141"/>
            <a:ext cx="1012377" cy="1012377"/>
          </a:xfrm>
          <a:prstGeom prst="rect">
            <a:avLst/>
          </a:prstGeom>
        </p:spPr>
      </p:pic>
      <p:sp>
        <p:nvSpPr>
          <p:cNvPr id="16" name="Rectangle 15">
            <a:extLst>
              <a:ext uri="{FF2B5EF4-FFF2-40B4-BE49-F238E27FC236}">
                <a16:creationId xmlns:a16="http://schemas.microsoft.com/office/drawing/2014/main" id="{EC8565DA-0BB0-22CD-086A-8B3A5E55BC5D}"/>
              </a:ext>
            </a:extLst>
          </p:cNvPr>
          <p:cNvSpPr/>
          <p:nvPr/>
        </p:nvSpPr>
        <p:spPr>
          <a:xfrm>
            <a:off x="4691239" y="3420083"/>
            <a:ext cx="1836774" cy="101210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7DE42A4B-E043-1557-0818-18AB4288A1D3}"/>
              </a:ext>
            </a:extLst>
          </p:cNvPr>
          <p:cNvSpPr/>
          <p:nvPr/>
        </p:nvSpPr>
        <p:spPr>
          <a:xfrm>
            <a:off x="6200811" y="4304710"/>
            <a:ext cx="1836774" cy="101210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pic>
        <p:nvPicPr>
          <p:cNvPr id="18" name="Picture 17" descr="A black and white image of a nice line&#10;&#10;Description automatically generated">
            <a:extLst>
              <a:ext uri="{FF2B5EF4-FFF2-40B4-BE49-F238E27FC236}">
                <a16:creationId xmlns:a16="http://schemas.microsoft.com/office/drawing/2014/main" id="{7B5CEBE8-75A5-7748-8E55-9E77BDCDC9F3}"/>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329608" y="4374453"/>
            <a:ext cx="1579180" cy="888289"/>
          </a:xfrm>
          <a:prstGeom prst="rect">
            <a:avLst/>
          </a:prstGeom>
        </p:spPr>
      </p:pic>
      <p:sp>
        <p:nvSpPr>
          <p:cNvPr id="19" name="TextBox 18">
            <a:extLst>
              <a:ext uri="{FF2B5EF4-FFF2-40B4-BE49-F238E27FC236}">
                <a16:creationId xmlns:a16="http://schemas.microsoft.com/office/drawing/2014/main" id="{37183453-1FE2-03EF-965F-BC11829A30D5}"/>
              </a:ext>
            </a:extLst>
          </p:cNvPr>
          <p:cNvSpPr txBox="1"/>
          <p:nvPr/>
        </p:nvSpPr>
        <p:spPr>
          <a:xfrm>
            <a:off x="3394908" y="3825995"/>
            <a:ext cx="1167533" cy="369332"/>
          </a:xfrm>
          <a:prstGeom prst="rect">
            <a:avLst/>
          </a:prstGeom>
          <a:noFill/>
        </p:spPr>
        <p:txBody>
          <a:bodyPr wrap="square" rtlCol="0">
            <a:spAutoFit/>
          </a:bodyPr>
          <a:lstStyle/>
          <a:p>
            <a:r>
              <a:rPr lang="en-US" dirty="0">
                <a:solidFill>
                  <a:srgbClr val="000000"/>
                </a:solidFill>
                <a:latin typeface="Calibri" panose="020F0502020204030204" pitchFamily="34" charset="0"/>
                <a:ea typeface="SimSun" panose="02010600030101010101" pitchFamily="2" charset="-122"/>
                <a:cs typeface="Calibri" panose="020F0502020204030204" pitchFamily="34" charset="0"/>
              </a:rPr>
              <a:t>Feedback</a:t>
            </a:r>
            <a:endParaRPr lang="en-US" dirty="0">
              <a:latin typeface="Calibri" panose="020F0502020204030204" pitchFamily="34" charset="0"/>
              <a:cs typeface="Calibri" panose="020F0502020204030204" pitchFamily="34" charset="0"/>
            </a:endParaRPr>
          </a:p>
        </p:txBody>
      </p:sp>
      <p:sp>
        <p:nvSpPr>
          <p:cNvPr id="20" name="TextBox 19">
            <a:extLst>
              <a:ext uri="{FF2B5EF4-FFF2-40B4-BE49-F238E27FC236}">
                <a16:creationId xmlns:a16="http://schemas.microsoft.com/office/drawing/2014/main" id="{C180F762-EBF7-68F8-7ED0-FB90B7F66450}"/>
              </a:ext>
            </a:extLst>
          </p:cNvPr>
          <p:cNvSpPr txBox="1"/>
          <p:nvPr/>
        </p:nvSpPr>
        <p:spPr>
          <a:xfrm>
            <a:off x="5116381" y="3825995"/>
            <a:ext cx="986489" cy="276999"/>
          </a:xfrm>
          <a:prstGeom prst="rect">
            <a:avLst/>
          </a:prstGeom>
          <a:noFill/>
        </p:spPr>
        <p:txBody>
          <a:bodyPr wrap="none" rtlCol="0">
            <a:spAutoFit/>
          </a:bodyPr>
          <a:lstStyle/>
          <a:p>
            <a:r>
              <a:rPr lang="en-US" sz="1200" b="1" dirty="0">
                <a:solidFill>
                  <a:srgbClr val="000000"/>
                </a:solidFill>
                <a:latin typeface="Open Sans" panose="020B0606030504020204" pitchFamily="34" charset="0"/>
                <a:ea typeface="Open Sans" panose="020B0606030504020204" pitchFamily="34" charset="0"/>
                <a:cs typeface="Open Sans" panose="020B0606030504020204" pitchFamily="34" charset="0"/>
              </a:rPr>
              <a:t>True/False</a:t>
            </a:r>
          </a:p>
        </p:txBody>
      </p:sp>
      <p:cxnSp>
        <p:nvCxnSpPr>
          <p:cNvPr id="21" name="Straight Arrow Connector 20">
            <a:extLst>
              <a:ext uri="{FF2B5EF4-FFF2-40B4-BE49-F238E27FC236}">
                <a16:creationId xmlns:a16="http://schemas.microsoft.com/office/drawing/2014/main" id="{2457664A-3F64-7F08-4AC9-2D1FCE7A1914}"/>
              </a:ext>
            </a:extLst>
          </p:cNvPr>
          <p:cNvCxnSpPr>
            <a:cxnSpLocks/>
          </p:cNvCxnSpPr>
          <p:nvPr/>
        </p:nvCxnSpPr>
        <p:spPr>
          <a:xfrm flipV="1">
            <a:off x="6329608" y="3532025"/>
            <a:ext cx="664776" cy="207811"/>
          </a:xfrm>
          <a:prstGeom prst="straightConnector1">
            <a:avLst/>
          </a:prstGeom>
          <a:ln w="19050">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22" name="TextBox 21">
            <a:extLst>
              <a:ext uri="{FF2B5EF4-FFF2-40B4-BE49-F238E27FC236}">
                <a16:creationId xmlns:a16="http://schemas.microsoft.com/office/drawing/2014/main" id="{1D30B6C6-FAC8-0315-C221-8A93AF0D0A39}"/>
              </a:ext>
            </a:extLst>
          </p:cNvPr>
          <p:cNvSpPr txBox="1"/>
          <p:nvPr/>
        </p:nvSpPr>
        <p:spPr>
          <a:xfrm>
            <a:off x="6936808" y="3159097"/>
            <a:ext cx="1428183" cy="461665"/>
          </a:xfrm>
          <a:prstGeom prst="rect">
            <a:avLst/>
          </a:prstGeom>
          <a:noFill/>
        </p:spPr>
        <p:txBody>
          <a:bodyPr wrap="square" rtlCol="0">
            <a:spAutoFit/>
          </a:bodyPr>
          <a:lstStyle/>
          <a:p>
            <a:r>
              <a:rPr lang="en-US" sz="1200" b="1" dirty="0">
                <a:solidFill>
                  <a:srgbClr val="FF0000"/>
                </a:solidFill>
                <a:latin typeface="Open Sans" panose="020B0606030504020204" pitchFamily="34" charset="0"/>
                <a:ea typeface="Open Sans" panose="020B0606030504020204" pitchFamily="34" charset="0"/>
                <a:cs typeface="Open Sans" panose="020B0606030504020204" pitchFamily="34" charset="0"/>
              </a:rPr>
              <a:t>Only for</a:t>
            </a:r>
          </a:p>
          <a:p>
            <a:r>
              <a:rPr lang="en-US" sz="1200" b="1" dirty="0">
                <a:solidFill>
                  <a:srgbClr val="FF0000"/>
                </a:solidFill>
                <a:latin typeface="Open Sans" panose="020B0606030504020204" pitchFamily="34" charset="0"/>
                <a:ea typeface="Open Sans" panose="020B0606030504020204" pitchFamily="34" charset="0"/>
                <a:cs typeface="Open Sans" panose="020B0606030504020204" pitchFamily="34" charset="0"/>
              </a:rPr>
              <a:t>Practice Trials</a:t>
            </a:r>
          </a:p>
        </p:txBody>
      </p:sp>
    </p:spTree>
    <p:extLst>
      <p:ext uri="{BB962C8B-B14F-4D97-AF65-F5344CB8AC3E}">
        <p14:creationId xmlns:p14="http://schemas.microsoft.com/office/powerpoint/2010/main" val="37993981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E9193B-F153-B8E3-5BD3-713CA0E9735E}"/>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78BC0628-66F3-2831-6617-045FD1B0851F}"/>
              </a:ext>
            </a:extLst>
          </p:cNvPr>
          <p:cNvSpPr/>
          <p:nvPr/>
        </p:nvSpPr>
        <p:spPr>
          <a:xfrm>
            <a:off x="0" y="881981"/>
            <a:ext cx="2457421" cy="707886"/>
          </a:xfrm>
          <a:prstGeom prst="rect">
            <a:avLst/>
          </a:prstGeom>
          <a:noFill/>
        </p:spPr>
        <p:txBody>
          <a:bodyPr wrap="square" lIns="91440" tIns="45720" rIns="91440" bIns="45720">
            <a:spAutoFit/>
          </a:bodyPr>
          <a:lstStyle/>
          <a:p>
            <a:pPr algn="ctr"/>
            <a:r>
              <a:rPr lang="en-US" sz="40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rPr>
              <a:t>R</a:t>
            </a:r>
            <a:r>
              <a:rPr lang="en-US" altLang="zh-CN" sz="40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rPr>
              <a:t>esults</a:t>
            </a:r>
            <a:endParaRPr lang="en-US" sz="40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14" name="矩形 15">
            <a:extLst>
              <a:ext uri="{FF2B5EF4-FFF2-40B4-BE49-F238E27FC236}">
                <a16:creationId xmlns:a16="http://schemas.microsoft.com/office/drawing/2014/main" id="{07249223-B1E1-473B-EFDE-04E8BE3AA666}"/>
              </a:ext>
            </a:extLst>
          </p:cNvPr>
          <p:cNvSpPr>
            <a:spLocks noChangeArrowheads="1"/>
          </p:cNvSpPr>
          <p:nvPr/>
        </p:nvSpPr>
        <p:spPr bwMode="auto">
          <a:xfrm>
            <a:off x="1423826" y="5344095"/>
            <a:ext cx="289780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911225">
              <a:defRPr>
                <a:solidFill>
                  <a:schemeClr val="tx1"/>
                </a:solidFill>
                <a:latin typeface="Calibri" panose="020F0502020204030204" pitchFamily="34" charset="0"/>
                <a:ea typeface="宋体" panose="02010600030101010101" pitchFamily="2" charset="-122"/>
              </a:defRPr>
            </a:lvl1pPr>
            <a:lvl2pPr marL="742950" indent="-285750" defTabSz="911225">
              <a:defRPr>
                <a:solidFill>
                  <a:schemeClr val="tx1"/>
                </a:solidFill>
                <a:latin typeface="Calibri" panose="020F0502020204030204" pitchFamily="34" charset="0"/>
                <a:ea typeface="宋体" panose="02010600030101010101" pitchFamily="2" charset="-122"/>
              </a:defRPr>
            </a:lvl2pPr>
            <a:lvl3pPr marL="1143000" indent="-228600" defTabSz="911225">
              <a:defRPr>
                <a:solidFill>
                  <a:schemeClr val="tx1"/>
                </a:solidFill>
                <a:latin typeface="Calibri" panose="020F0502020204030204" pitchFamily="34" charset="0"/>
                <a:ea typeface="宋体" panose="02010600030101010101" pitchFamily="2" charset="-122"/>
              </a:defRPr>
            </a:lvl3pPr>
            <a:lvl4pPr marL="1600200" indent="-228600" defTabSz="911225">
              <a:defRPr>
                <a:solidFill>
                  <a:schemeClr val="tx1"/>
                </a:solidFill>
                <a:latin typeface="Calibri" panose="020F0502020204030204" pitchFamily="34" charset="0"/>
                <a:ea typeface="宋体" panose="02010600030101010101" pitchFamily="2" charset="-122"/>
              </a:defRPr>
            </a:lvl4pPr>
            <a:lvl5pPr marL="2057400" indent="-228600" defTabSz="911225">
              <a:defRPr>
                <a:solidFill>
                  <a:schemeClr val="tx1"/>
                </a:solidFill>
                <a:latin typeface="Calibri" panose="020F0502020204030204" pitchFamily="34" charset="0"/>
                <a:ea typeface="宋体" panose="02010600030101010101" pitchFamily="2" charset="-122"/>
              </a:defRPr>
            </a:lvl5pPr>
            <a:lvl6pPr marL="25146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l"/>
            <a:r>
              <a:rPr lang="en-US" altLang="zh-CN" b="1" i="1" dirty="0">
                <a:effectLst>
                  <a:innerShdw blurRad="63500" dist="50800">
                    <a:prstClr val="black">
                      <a:alpha val="50000"/>
                    </a:prstClr>
                  </a:innerShdw>
                </a:effectLst>
                <a:latin typeface="open sans" panose="020B0606030504020204" pitchFamily="34" charset="0"/>
              </a:rPr>
              <a:t>t</a:t>
            </a:r>
            <a:r>
              <a:rPr lang="en-US" altLang="zh-CN" b="1" dirty="0">
                <a:effectLst>
                  <a:innerShdw blurRad="63500" dist="50800">
                    <a:prstClr val="black">
                      <a:alpha val="50000"/>
                    </a:prstClr>
                  </a:innerShdw>
                </a:effectLst>
                <a:latin typeface="open sans" panose="020B0606030504020204" pitchFamily="34" charset="0"/>
              </a:rPr>
              <a:t>(23) = -0.27</a:t>
            </a:r>
            <a:r>
              <a:rPr lang="en-US" altLang="zh-CN" b="1" dirty="0">
                <a:solidFill>
                  <a:srgbClr val="FF0000"/>
                </a:solidFill>
                <a:effectLst>
                  <a:innerShdw blurRad="63500" dist="50800">
                    <a:prstClr val="black">
                      <a:alpha val="50000"/>
                    </a:prstClr>
                  </a:innerShdw>
                </a:effectLst>
                <a:latin typeface="open sans" panose="020B0606030504020204" pitchFamily="34" charset="0"/>
              </a:rPr>
              <a:t>, </a:t>
            </a:r>
            <a:r>
              <a:rPr lang="en-US" altLang="zh-CN" b="1" i="1" dirty="0">
                <a:solidFill>
                  <a:srgbClr val="FF0000"/>
                </a:solidFill>
                <a:effectLst>
                  <a:innerShdw blurRad="63500" dist="50800">
                    <a:prstClr val="black">
                      <a:alpha val="50000"/>
                    </a:prstClr>
                  </a:innerShdw>
                </a:effectLst>
                <a:latin typeface="open sans" panose="020B0606030504020204" pitchFamily="34" charset="0"/>
              </a:rPr>
              <a:t>p</a:t>
            </a:r>
            <a:r>
              <a:rPr lang="en-US" altLang="zh-CN" b="1" dirty="0">
                <a:solidFill>
                  <a:srgbClr val="FF0000"/>
                </a:solidFill>
                <a:effectLst>
                  <a:innerShdw blurRad="63500" dist="50800">
                    <a:prstClr val="black">
                      <a:alpha val="50000"/>
                    </a:prstClr>
                  </a:innerShdw>
                </a:effectLst>
                <a:latin typeface="open sans" panose="020B0606030504020204" pitchFamily="34" charset="0"/>
              </a:rPr>
              <a:t> = .788</a:t>
            </a:r>
          </a:p>
        </p:txBody>
      </p:sp>
      <p:graphicFrame>
        <p:nvGraphicFramePr>
          <p:cNvPr id="5" name="Table 4">
            <a:extLst>
              <a:ext uri="{FF2B5EF4-FFF2-40B4-BE49-F238E27FC236}">
                <a16:creationId xmlns:a16="http://schemas.microsoft.com/office/drawing/2014/main" id="{90B4BE0C-1630-BB74-99A9-AA262FED5101}"/>
              </a:ext>
            </a:extLst>
          </p:cNvPr>
          <p:cNvGraphicFramePr>
            <a:graphicFrameLocks noGrp="1"/>
          </p:cNvGraphicFramePr>
          <p:nvPr>
            <p:extLst>
              <p:ext uri="{D42A27DB-BD31-4B8C-83A1-F6EECF244321}">
                <p14:modId xmlns:p14="http://schemas.microsoft.com/office/powerpoint/2010/main" val="513666982"/>
              </p:ext>
            </p:extLst>
          </p:nvPr>
        </p:nvGraphicFramePr>
        <p:xfrm>
          <a:off x="4762559" y="2884714"/>
          <a:ext cx="4065756" cy="1664501"/>
        </p:xfrm>
        <a:graphic>
          <a:graphicData uri="http://schemas.openxmlformats.org/drawingml/2006/table">
            <a:tbl>
              <a:tblPr firstRow="1" bandRow="1">
                <a:tableStyleId>{72833802-FEF1-4C79-8D5D-14CF1EAF98D9}</a:tableStyleId>
              </a:tblPr>
              <a:tblGrid>
                <a:gridCol w="1355252">
                  <a:extLst>
                    <a:ext uri="{9D8B030D-6E8A-4147-A177-3AD203B41FA5}">
                      <a16:colId xmlns:a16="http://schemas.microsoft.com/office/drawing/2014/main" val="1009955955"/>
                    </a:ext>
                  </a:extLst>
                </a:gridCol>
                <a:gridCol w="1355252">
                  <a:extLst>
                    <a:ext uri="{9D8B030D-6E8A-4147-A177-3AD203B41FA5}">
                      <a16:colId xmlns:a16="http://schemas.microsoft.com/office/drawing/2014/main" val="1410870798"/>
                    </a:ext>
                  </a:extLst>
                </a:gridCol>
                <a:gridCol w="1355252">
                  <a:extLst>
                    <a:ext uri="{9D8B030D-6E8A-4147-A177-3AD203B41FA5}">
                      <a16:colId xmlns:a16="http://schemas.microsoft.com/office/drawing/2014/main" val="1469460153"/>
                    </a:ext>
                  </a:extLst>
                </a:gridCol>
              </a:tblGrid>
              <a:tr h="384341">
                <a:tc>
                  <a:txBody>
                    <a:bodyPr/>
                    <a:lstStyle/>
                    <a:p>
                      <a:pPr algn="ctr"/>
                      <a:r>
                        <a:rPr lang="en-US" dirty="0">
                          <a:effectLst/>
                        </a:rPr>
                        <a:t>Search </a:t>
                      </a:r>
                      <a:endParaRPr lang="en-US" dirty="0"/>
                    </a:p>
                  </a:txBody>
                  <a:tcPr/>
                </a:tc>
                <a:tc>
                  <a:txBody>
                    <a:bodyPr/>
                    <a:lstStyle/>
                    <a:p>
                      <a:pPr algn="ctr"/>
                      <a:r>
                        <a:rPr lang="en-US" dirty="0" err="1">
                          <a:effectLst/>
                        </a:rPr>
                        <a:t>RT</a:t>
                      </a:r>
                      <a:r>
                        <a:rPr lang="en-US" sz="1200" u="none" dirty="0" err="1">
                          <a:effectLst>
                            <a:outerShdw blurRad="38100" dist="38100" dir="2700000" algn="tl">
                              <a:srgbClr val="000000">
                                <a:alpha val="43137"/>
                              </a:srgbClr>
                            </a:outerShdw>
                          </a:effectLst>
                        </a:rPr>
                        <a:t>Mean</a:t>
                      </a:r>
                      <a:r>
                        <a:rPr lang="en-US" dirty="0">
                          <a:effectLst/>
                        </a:rPr>
                        <a:t> </a:t>
                      </a:r>
                      <a:endParaRPr 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effectLst/>
                        </a:rPr>
                        <a:t>RT</a:t>
                      </a:r>
                      <a:r>
                        <a:rPr lang="en-US" sz="1200" u="none" dirty="0">
                          <a:effectLst>
                            <a:outerShdw blurRad="38100" dist="38100" dir="2700000" algn="tl">
                              <a:srgbClr val="000000">
                                <a:alpha val="43137"/>
                              </a:srgbClr>
                            </a:outerShdw>
                          </a:effectLst>
                        </a:rPr>
                        <a:t>SD</a:t>
                      </a:r>
                      <a:r>
                        <a:rPr lang="en-US" dirty="0">
                          <a:effectLst/>
                        </a:rPr>
                        <a:t> </a:t>
                      </a:r>
                      <a:endParaRPr lang="en-US" dirty="0"/>
                    </a:p>
                  </a:txBody>
                  <a:tcPr/>
                </a:tc>
                <a:extLst>
                  <a:ext uri="{0D108BD9-81ED-4DB2-BD59-A6C34878D82A}">
                    <a16:rowId xmlns:a16="http://schemas.microsoft.com/office/drawing/2014/main" val="2569407630"/>
                  </a:ext>
                </a:extLst>
              </a:tr>
              <a:tr h="629701">
                <a:tc>
                  <a:txBody>
                    <a:bodyPr/>
                    <a:lstStyle/>
                    <a:p>
                      <a:pPr algn="ctr"/>
                      <a:r>
                        <a:rPr lang="en-US" dirty="0">
                          <a:effectLst/>
                        </a:rPr>
                        <a:t>Agent search</a:t>
                      </a:r>
                      <a:endParaRPr lang="en-US" dirty="0"/>
                    </a:p>
                  </a:txBody>
                  <a:tcPr/>
                </a:tc>
                <a:tc>
                  <a:txBody>
                    <a:bodyPr/>
                    <a:lstStyle/>
                    <a:p>
                      <a:pPr algn="ctr"/>
                      <a:r>
                        <a:rPr lang="en-US" dirty="0">
                          <a:effectLst/>
                        </a:rPr>
                        <a:t>657</a:t>
                      </a:r>
                      <a:endParaRPr lang="en-US" dirty="0"/>
                    </a:p>
                  </a:txBody>
                  <a:tcPr/>
                </a:tc>
                <a:tc>
                  <a:txBody>
                    <a:bodyPr/>
                    <a:lstStyle/>
                    <a:p>
                      <a:pPr algn="ctr"/>
                      <a:r>
                        <a:rPr lang="en-US" dirty="0">
                          <a:effectLst/>
                        </a:rPr>
                        <a:t>347</a:t>
                      </a:r>
                      <a:endParaRPr lang="en-US" dirty="0"/>
                    </a:p>
                  </a:txBody>
                  <a:tcPr/>
                </a:tc>
                <a:extLst>
                  <a:ext uri="{0D108BD9-81ED-4DB2-BD59-A6C34878D82A}">
                    <a16:rowId xmlns:a16="http://schemas.microsoft.com/office/drawing/2014/main" val="3343231561"/>
                  </a:ext>
                </a:extLst>
              </a:tr>
              <a:tr h="629701">
                <a:tc>
                  <a:txBody>
                    <a:bodyPr/>
                    <a:lstStyle/>
                    <a:p>
                      <a:pPr algn="ctr"/>
                      <a:r>
                        <a:rPr lang="en-US" dirty="0">
                          <a:effectLst/>
                        </a:rPr>
                        <a:t>Patient search</a:t>
                      </a:r>
                      <a:endParaRPr lang="en-US" dirty="0"/>
                    </a:p>
                  </a:txBody>
                  <a:tcPr/>
                </a:tc>
                <a:tc>
                  <a:txBody>
                    <a:bodyPr/>
                    <a:lstStyle/>
                    <a:p>
                      <a:pPr algn="ctr"/>
                      <a:r>
                        <a:rPr lang="en-US" dirty="0">
                          <a:effectLst/>
                        </a:rPr>
                        <a:t>668</a:t>
                      </a:r>
                      <a:endParaRPr lang="en-US" dirty="0"/>
                    </a:p>
                  </a:txBody>
                  <a:tcPr/>
                </a:tc>
                <a:tc>
                  <a:txBody>
                    <a:bodyPr/>
                    <a:lstStyle/>
                    <a:p>
                      <a:pPr algn="ctr"/>
                      <a:r>
                        <a:rPr lang="en-US" dirty="0">
                          <a:effectLst/>
                        </a:rPr>
                        <a:t>377</a:t>
                      </a:r>
                      <a:endParaRPr lang="en-US" dirty="0"/>
                    </a:p>
                  </a:txBody>
                  <a:tcPr/>
                </a:tc>
                <a:extLst>
                  <a:ext uri="{0D108BD9-81ED-4DB2-BD59-A6C34878D82A}">
                    <a16:rowId xmlns:a16="http://schemas.microsoft.com/office/drawing/2014/main" val="2443910506"/>
                  </a:ext>
                </a:extLst>
              </a:tr>
            </a:tbl>
          </a:graphicData>
        </a:graphic>
      </p:graphicFrame>
      <p:sp>
        <p:nvSpPr>
          <p:cNvPr id="2" name="TextBox 1">
            <a:extLst>
              <a:ext uri="{FF2B5EF4-FFF2-40B4-BE49-F238E27FC236}">
                <a16:creationId xmlns:a16="http://schemas.microsoft.com/office/drawing/2014/main" id="{D15ED25E-AB3E-7B10-7E27-E58792AD57E3}"/>
              </a:ext>
            </a:extLst>
          </p:cNvPr>
          <p:cNvSpPr txBox="1"/>
          <p:nvPr/>
        </p:nvSpPr>
        <p:spPr>
          <a:xfrm>
            <a:off x="402554" y="1589867"/>
            <a:ext cx="8513064" cy="646331"/>
          </a:xfrm>
          <a:prstGeom prst="rect">
            <a:avLst/>
          </a:prstGeom>
          <a:noFill/>
        </p:spPr>
        <p:txBody>
          <a:bodyPr wrap="square">
            <a:spAutoFit/>
          </a:bodyPr>
          <a:lstStyle/>
          <a:p>
            <a:r>
              <a:rPr lang="en-US" dirty="0">
                <a:solidFill>
                  <a:srgbClr val="000000"/>
                </a:solidFill>
                <a:latin typeface="Calibri" panose="020F0502020204030204" pitchFamily="34" charset="0"/>
                <a:ea typeface="SimSun" panose="02010600030101010101" pitchFamily="2" charset="-122"/>
                <a:cs typeface="Calibri" panose="020F0502020204030204" pitchFamily="34" charset="0"/>
              </a:rPr>
              <a:t>To investigate hypothesis, we ran a paired t-test with the dependent variable reaction time and the independent variable search task (agent search, patient search).</a:t>
            </a:r>
          </a:p>
        </p:txBody>
      </p:sp>
      <p:pic>
        <p:nvPicPr>
          <p:cNvPr id="6" name="Picture 5">
            <a:extLst>
              <a:ext uri="{FF2B5EF4-FFF2-40B4-BE49-F238E27FC236}">
                <a16:creationId xmlns:a16="http://schemas.microsoft.com/office/drawing/2014/main" id="{7E10BBEB-A192-9E99-BA8A-FFD741DCF422}"/>
              </a:ext>
            </a:extLst>
          </p:cNvPr>
          <p:cNvPicPr>
            <a:picLocks/>
          </p:cNvPicPr>
          <p:nvPr/>
        </p:nvPicPr>
        <p:blipFill>
          <a:blip r:embed="rId3"/>
          <a:srcRect t="8237" r="4507" b="5132"/>
          <a:stretch/>
        </p:blipFill>
        <p:spPr>
          <a:xfrm>
            <a:off x="875545" y="2300499"/>
            <a:ext cx="3163751" cy="2967634"/>
          </a:xfrm>
          <a:prstGeom prst="rect">
            <a:avLst/>
          </a:prstGeom>
        </p:spPr>
      </p:pic>
      <p:sp>
        <p:nvSpPr>
          <p:cNvPr id="7" name="Rectangle 6">
            <a:extLst>
              <a:ext uri="{FF2B5EF4-FFF2-40B4-BE49-F238E27FC236}">
                <a16:creationId xmlns:a16="http://schemas.microsoft.com/office/drawing/2014/main" id="{C4B262F3-780C-BDD9-E6B1-C97BE398EBF5}"/>
              </a:ext>
            </a:extLst>
          </p:cNvPr>
          <p:cNvSpPr/>
          <p:nvPr/>
        </p:nvSpPr>
        <p:spPr>
          <a:xfrm>
            <a:off x="4594464" y="4719976"/>
            <a:ext cx="4233851" cy="1323439"/>
          </a:xfrm>
          <a:prstGeom prst="rect">
            <a:avLst/>
          </a:prstGeom>
          <a:noFill/>
        </p:spPr>
        <p:txBody>
          <a:bodyPr wrap="none" lIns="91440" tIns="45720" rIns="91440" bIns="45720">
            <a:spAutoFit/>
          </a:bodyPr>
          <a:lstStyle/>
          <a:p>
            <a:pPr algn="ctr"/>
            <a:r>
              <a:rPr lang="en-US" sz="4000" b="1"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rPr>
              <a:t>N</a:t>
            </a:r>
            <a:r>
              <a:rPr lang="en-US" altLang="zh-CN" sz="4000" b="1"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rPr>
              <a:t>o Agent </a:t>
            </a:r>
            <a:br>
              <a:rPr lang="en-US" altLang="zh-CN" sz="4000" b="1"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rPr>
            </a:br>
            <a:r>
              <a:rPr lang="en-US" altLang="zh-CN" sz="4000" b="1"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rPr>
              <a:t>advantage effect</a:t>
            </a:r>
            <a:endParaRPr lang="en-US" sz="4000" b="1"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endParaRPr>
          </a:p>
        </p:txBody>
      </p:sp>
    </p:spTree>
    <p:extLst>
      <p:ext uri="{BB962C8B-B14F-4D97-AF65-F5344CB8AC3E}">
        <p14:creationId xmlns:p14="http://schemas.microsoft.com/office/powerpoint/2010/main" val="9625218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33B784-8A65-258E-6078-3E1FA82421EA}"/>
            </a:ext>
          </a:extLst>
        </p:cNvPr>
        <p:cNvGrpSpPr/>
        <p:nvPr/>
      </p:nvGrpSpPr>
      <p:grpSpPr>
        <a:xfrm>
          <a:off x="0" y="0"/>
          <a:ext cx="0" cy="0"/>
          <a:chOff x="0" y="0"/>
          <a:chExt cx="0" cy="0"/>
        </a:xfrm>
      </p:grpSpPr>
      <p:sp>
        <p:nvSpPr>
          <p:cNvPr id="14" name="矩形 15">
            <a:extLst>
              <a:ext uri="{FF2B5EF4-FFF2-40B4-BE49-F238E27FC236}">
                <a16:creationId xmlns:a16="http://schemas.microsoft.com/office/drawing/2014/main" id="{6A701475-8A04-25A8-0A0C-9C428FF487CC}"/>
              </a:ext>
            </a:extLst>
          </p:cNvPr>
          <p:cNvSpPr>
            <a:spLocks noChangeArrowheads="1"/>
          </p:cNvSpPr>
          <p:nvPr/>
        </p:nvSpPr>
        <p:spPr bwMode="auto">
          <a:xfrm>
            <a:off x="955740" y="4988779"/>
            <a:ext cx="289780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911225">
              <a:defRPr>
                <a:solidFill>
                  <a:schemeClr val="tx1"/>
                </a:solidFill>
                <a:latin typeface="Calibri" panose="020F0502020204030204" pitchFamily="34" charset="0"/>
                <a:ea typeface="宋体" panose="02010600030101010101" pitchFamily="2" charset="-122"/>
              </a:defRPr>
            </a:lvl1pPr>
            <a:lvl2pPr marL="742950" indent="-285750" defTabSz="911225">
              <a:defRPr>
                <a:solidFill>
                  <a:schemeClr val="tx1"/>
                </a:solidFill>
                <a:latin typeface="Calibri" panose="020F0502020204030204" pitchFamily="34" charset="0"/>
                <a:ea typeface="宋体" panose="02010600030101010101" pitchFamily="2" charset="-122"/>
              </a:defRPr>
            </a:lvl2pPr>
            <a:lvl3pPr marL="1143000" indent="-228600" defTabSz="911225">
              <a:defRPr>
                <a:solidFill>
                  <a:schemeClr val="tx1"/>
                </a:solidFill>
                <a:latin typeface="Calibri" panose="020F0502020204030204" pitchFamily="34" charset="0"/>
                <a:ea typeface="宋体" panose="02010600030101010101" pitchFamily="2" charset="-122"/>
              </a:defRPr>
            </a:lvl3pPr>
            <a:lvl4pPr marL="1600200" indent="-228600" defTabSz="911225">
              <a:defRPr>
                <a:solidFill>
                  <a:schemeClr val="tx1"/>
                </a:solidFill>
                <a:latin typeface="Calibri" panose="020F0502020204030204" pitchFamily="34" charset="0"/>
                <a:ea typeface="宋体" panose="02010600030101010101" pitchFamily="2" charset="-122"/>
              </a:defRPr>
            </a:lvl4pPr>
            <a:lvl5pPr marL="2057400" indent="-228600" defTabSz="911225">
              <a:defRPr>
                <a:solidFill>
                  <a:schemeClr val="tx1"/>
                </a:solidFill>
                <a:latin typeface="Calibri" panose="020F0502020204030204" pitchFamily="34" charset="0"/>
                <a:ea typeface="宋体" panose="02010600030101010101" pitchFamily="2" charset="-122"/>
              </a:defRPr>
            </a:lvl5pPr>
            <a:lvl6pPr marL="25146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l"/>
            <a:r>
              <a:rPr lang="en-US" altLang="zh-CN" b="1" i="1" dirty="0">
                <a:effectLst>
                  <a:innerShdw blurRad="63500" dist="50800">
                    <a:prstClr val="black">
                      <a:alpha val="50000"/>
                    </a:prstClr>
                  </a:innerShdw>
                </a:effectLst>
                <a:latin typeface="open sans" panose="020B0606030504020204" pitchFamily="34" charset="0"/>
              </a:rPr>
              <a:t>t</a:t>
            </a:r>
            <a:r>
              <a:rPr lang="en-US" altLang="zh-CN" b="1" dirty="0">
                <a:effectLst>
                  <a:innerShdw blurRad="63500" dist="50800">
                    <a:prstClr val="black">
                      <a:alpha val="50000"/>
                    </a:prstClr>
                  </a:innerShdw>
                </a:effectLst>
                <a:latin typeface="open sans" panose="020B0606030504020204" pitchFamily="34" charset="0"/>
              </a:rPr>
              <a:t>(23) = -0.27</a:t>
            </a:r>
            <a:r>
              <a:rPr lang="en-US" altLang="zh-CN" b="1" dirty="0">
                <a:solidFill>
                  <a:srgbClr val="FF0000"/>
                </a:solidFill>
                <a:effectLst>
                  <a:innerShdw blurRad="63500" dist="50800">
                    <a:prstClr val="black">
                      <a:alpha val="50000"/>
                    </a:prstClr>
                  </a:innerShdw>
                </a:effectLst>
                <a:latin typeface="open sans" panose="020B0606030504020204" pitchFamily="34" charset="0"/>
              </a:rPr>
              <a:t>, </a:t>
            </a:r>
            <a:r>
              <a:rPr lang="en-US" altLang="zh-CN" b="1" i="1" dirty="0">
                <a:solidFill>
                  <a:srgbClr val="FF0000"/>
                </a:solidFill>
                <a:effectLst>
                  <a:innerShdw blurRad="63500" dist="50800">
                    <a:prstClr val="black">
                      <a:alpha val="50000"/>
                    </a:prstClr>
                  </a:innerShdw>
                </a:effectLst>
                <a:latin typeface="open sans" panose="020B0606030504020204" pitchFamily="34" charset="0"/>
              </a:rPr>
              <a:t>p</a:t>
            </a:r>
            <a:r>
              <a:rPr lang="en-US" altLang="zh-CN" b="1" dirty="0">
                <a:solidFill>
                  <a:srgbClr val="FF0000"/>
                </a:solidFill>
                <a:effectLst>
                  <a:innerShdw blurRad="63500" dist="50800">
                    <a:prstClr val="black">
                      <a:alpha val="50000"/>
                    </a:prstClr>
                  </a:innerShdw>
                </a:effectLst>
                <a:latin typeface="open sans" panose="020B0606030504020204" pitchFamily="34" charset="0"/>
              </a:rPr>
              <a:t> = .788</a:t>
            </a:r>
          </a:p>
        </p:txBody>
      </p:sp>
      <p:pic>
        <p:nvPicPr>
          <p:cNvPr id="6" name="Picture 5">
            <a:extLst>
              <a:ext uri="{FF2B5EF4-FFF2-40B4-BE49-F238E27FC236}">
                <a16:creationId xmlns:a16="http://schemas.microsoft.com/office/drawing/2014/main" id="{67037A69-CC86-67FA-B099-AC5E0BA4896A}"/>
              </a:ext>
            </a:extLst>
          </p:cNvPr>
          <p:cNvPicPr>
            <a:picLocks/>
          </p:cNvPicPr>
          <p:nvPr/>
        </p:nvPicPr>
        <p:blipFill>
          <a:blip r:embed="rId3"/>
          <a:srcRect t="8237" r="4507" b="5132"/>
          <a:stretch/>
        </p:blipFill>
        <p:spPr>
          <a:xfrm>
            <a:off x="407459" y="1945183"/>
            <a:ext cx="3163751" cy="2967634"/>
          </a:xfrm>
          <a:prstGeom prst="rect">
            <a:avLst/>
          </a:prstGeom>
        </p:spPr>
      </p:pic>
      <p:sp>
        <p:nvSpPr>
          <p:cNvPr id="8" name="Rectangle 7">
            <a:extLst>
              <a:ext uri="{FF2B5EF4-FFF2-40B4-BE49-F238E27FC236}">
                <a16:creationId xmlns:a16="http://schemas.microsoft.com/office/drawing/2014/main" id="{00AF0106-1E0B-F61A-BB6B-F4BED67E58BD}"/>
              </a:ext>
            </a:extLst>
          </p:cNvPr>
          <p:cNvSpPr/>
          <p:nvPr/>
        </p:nvSpPr>
        <p:spPr>
          <a:xfrm>
            <a:off x="321189" y="915466"/>
            <a:ext cx="2457421" cy="707886"/>
          </a:xfrm>
          <a:prstGeom prst="rect">
            <a:avLst/>
          </a:prstGeom>
          <a:noFill/>
        </p:spPr>
        <p:txBody>
          <a:bodyPr wrap="square" lIns="91440" tIns="45720" rIns="91440" bIns="45720">
            <a:spAutoFit/>
          </a:bodyPr>
          <a:lstStyle/>
          <a:p>
            <a:pPr algn="ctr"/>
            <a:r>
              <a:rPr lang="en-US" sz="40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rPr>
              <a:t>Discussion</a:t>
            </a:r>
          </a:p>
        </p:txBody>
      </p:sp>
      <p:sp>
        <p:nvSpPr>
          <p:cNvPr id="9" name="TextBox 8">
            <a:extLst>
              <a:ext uri="{FF2B5EF4-FFF2-40B4-BE49-F238E27FC236}">
                <a16:creationId xmlns:a16="http://schemas.microsoft.com/office/drawing/2014/main" id="{4B53F229-CC0D-D7F9-ABAF-9548C972560F}"/>
              </a:ext>
            </a:extLst>
          </p:cNvPr>
          <p:cNvSpPr txBox="1"/>
          <p:nvPr/>
        </p:nvSpPr>
        <p:spPr>
          <a:xfrm>
            <a:off x="3773224" y="1128253"/>
            <a:ext cx="4158342" cy="1015663"/>
          </a:xfrm>
          <a:prstGeom prst="rect">
            <a:avLst/>
          </a:prstGeom>
          <a:noFill/>
        </p:spPr>
        <p:txBody>
          <a:bodyPr wrap="square">
            <a:spAutoFit/>
          </a:bodyPr>
          <a:lstStyle/>
          <a:p>
            <a:r>
              <a:rPr lang="en-US" sz="2400" dirty="0">
                <a:solidFill>
                  <a:srgbClr val="000000"/>
                </a:solidFill>
                <a:latin typeface="Calibri" panose="020F0502020204030204" pitchFamily="34" charset="0"/>
                <a:ea typeface="SimSun" panose="02010600030101010101" pitchFamily="2" charset="-122"/>
                <a:cs typeface="Calibri" panose="020F0502020204030204" pitchFamily="34" charset="0"/>
              </a:rPr>
              <a:t>P</a:t>
            </a:r>
            <a:r>
              <a:rPr lang="en-US" altLang="zh-CN" sz="2400" dirty="0">
                <a:solidFill>
                  <a:srgbClr val="000000"/>
                </a:solidFill>
                <a:latin typeface="Calibri" panose="020F0502020204030204" pitchFamily="34" charset="0"/>
                <a:ea typeface="SimSun" panose="02010600030101010101" pitchFamily="2" charset="-122"/>
                <a:cs typeface="Calibri" panose="020F0502020204030204" pitchFamily="34" charset="0"/>
              </a:rPr>
              <a:t>otential Reason:</a:t>
            </a:r>
            <a:br>
              <a:rPr lang="en-US" altLang="zh-CN" sz="2400" dirty="0">
                <a:solidFill>
                  <a:srgbClr val="000000"/>
                </a:solidFill>
                <a:latin typeface="Calibri" panose="020F0502020204030204" pitchFamily="34" charset="0"/>
                <a:ea typeface="SimSun" panose="02010600030101010101" pitchFamily="2" charset="-122"/>
                <a:cs typeface="Calibri" panose="020F0502020204030204" pitchFamily="34" charset="0"/>
              </a:rPr>
            </a:br>
            <a:br>
              <a:rPr lang="en-US" altLang="zh-CN" dirty="0">
                <a:solidFill>
                  <a:srgbClr val="000000"/>
                </a:solidFill>
                <a:latin typeface="Calibri" panose="020F0502020204030204" pitchFamily="34" charset="0"/>
                <a:ea typeface="SimSun" panose="02010600030101010101" pitchFamily="2" charset="-122"/>
                <a:cs typeface="Calibri" panose="020F0502020204030204" pitchFamily="34" charset="0"/>
              </a:rPr>
            </a:br>
            <a:r>
              <a:rPr lang="en-US" altLang="zh-CN" dirty="0">
                <a:solidFill>
                  <a:srgbClr val="000000"/>
                </a:solidFill>
                <a:latin typeface="Calibri" panose="020F0502020204030204" pitchFamily="34" charset="0"/>
                <a:ea typeface="SimSun" panose="02010600030101010101" pitchFamily="2" charset="-122"/>
                <a:cs typeface="Calibri" panose="020F0502020204030204" pitchFamily="34" charset="0"/>
              </a:rPr>
              <a:t>1. Change of positions</a:t>
            </a:r>
            <a:endParaRPr lang="en-US" dirty="0">
              <a:solidFill>
                <a:srgbClr val="000000"/>
              </a:solidFill>
              <a:latin typeface="Calibri" panose="020F0502020204030204" pitchFamily="34" charset="0"/>
              <a:ea typeface="SimSun" panose="02010600030101010101" pitchFamily="2" charset="-122"/>
              <a:cs typeface="Calibri" panose="020F0502020204030204" pitchFamily="34" charset="0"/>
            </a:endParaRPr>
          </a:p>
        </p:txBody>
      </p:sp>
      <p:pic>
        <p:nvPicPr>
          <p:cNvPr id="10" name="Picture 9" descr="A black and white drawing of two fish&#10;&#10;Description automatically generated">
            <a:extLst>
              <a:ext uri="{FF2B5EF4-FFF2-40B4-BE49-F238E27FC236}">
                <a16:creationId xmlns:a16="http://schemas.microsoft.com/office/drawing/2014/main" id="{ADC4318C-B1B3-187D-C0B1-50876181F893}"/>
              </a:ext>
            </a:extLst>
          </p:cNvPr>
          <p:cNvPicPr>
            <a:picLocks noChangeAspect="1"/>
          </p:cNvPicPr>
          <p:nvPr/>
        </p:nvPicPr>
        <p:blipFill>
          <a:blip r:embed="rId4"/>
          <a:srcRect l="23886" r="18792"/>
          <a:stretch/>
        </p:blipFill>
        <p:spPr>
          <a:xfrm>
            <a:off x="4107159" y="2244774"/>
            <a:ext cx="1481990" cy="1454290"/>
          </a:xfrm>
          <a:prstGeom prst="rect">
            <a:avLst/>
          </a:prstGeom>
        </p:spPr>
      </p:pic>
      <p:sp>
        <p:nvSpPr>
          <p:cNvPr id="12" name="Arrow: Right 11">
            <a:extLst>
              <a:ext uri="{FF2B5EF4-FFF2-40B4-BE49-F238E27FC236}">
                <a16:creationId xmlns:a16="http://schemas.microsoft.com/office/drawing/2014/main" id="{7796F55A-7833-4937-B9BD-E4BE33FCB27C}"/>
              </a:ext>
            </a:extLst>
          </p:cNvPr>
          <p:cNvSpPr/>
          <p:nvPr/>
        </p:nvSpPr>
        <p:spPr>
          <a:xfrm>
            <a:off x="6204925" y="4090116"/>
            <a:ext cx="516197" cy="27739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Picture 19">
            <a:extLst>
              <a:ext uri="{FF2B5EF4-FFF2-40B4-BE49-F238E27FC236}">
                <a16:creationId xmlns:a16="http://schemas.microsoft.com/office/drawing/2014/main" id="{296C070A-D950-E1D3-124F-E60FF06424B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853542" y="3619876"/>
            <a:ext cx="2093617" cy="1368903"/>
          </a:xfrm>
          <a:prstGeom prst="rect">
            <a:avLst/>
          </a:prstGeom>
        </p:spPr>
      </p:pic>
      <p:pic>
        <p:nvPicPr>
          <p:cNvPr id="22" name="Picture 21" descr="A black and white drawing of two fish&#10;&#10;AI-generated content may be incorrect.">
            <a:extLst>
              <a:ext uri="{FF2B5EF4-FFF2-40B4-BE49-F238E27FC236}">
                <a16:creationId xmlns:a16="http://schemas.microsoft.com/office/drawing/2014/main" id="{F9E37B99-67AE-E792-51DD-ED46AE20A069}"/>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933078" y="4912817"/>
            <a:ext cx="2008093" cy="1312984"/>
          </a:xfrm>
          <a:prstGeom prst="rect">
            <a:avLst/>
          </a:prstGeom>
        </p:spPr>
      </p:pic>
      <p:sp>
        <p:nvSpPr>
          <p:cNvPr id="23" name="Rectangle 22">
            <a:extLst>
              <a:ext uri="{FF2B5EF4-FFF2-40B4-BE49-F238E27FC236}">
                <a16:creationId xmlns:a16="http://schemas.microsoft.com/office/drawing/2014/main" id="{8A5CE2CA-1DC6-627D-1566-E7DF945B7D4F}"/>
              </a:ext>
            </a:extLst>
          </p:cNvPr>
          <p:cNvSpPr/>
          <p:nvPr/>
        </p:nvSpPr>
        <p:spPr>
          <a:xfrm>
            <a:off x="3847554" y="2155783"/>
            <a:ext cx="2008093" cy="424501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Picture 23" descr="A white fish on a black background&#10;&#10;Description automatically generated">
            <a:extLst>
              <a:ext uri="{FF2B5EF4-FFF2-40B4-BE49-F238E27FC236}">
                <a16:creationId xmlns:a16="http://schemas.microsoft.com/office/drawing/2014/main" id="{CF16B0A7-823E-FC04-EE78-F2AB27E33EED}"/>
              </a:ext>
            </a:extLst>
          </p:cNvPr>
          <p:cNvPicPr>
            <a:picLocks noChangeAspect="1"/>
          </p:cNvPicPr>
          <p:nvPr/>
        </p:nvPicPr>
        <p:blipFill>
          <a:blip r:embed="rId7"/>
          <a:stretch>
            <a:fillRect/>
          </a:stretch>
        </p:blipFill>
        <p:spPr>
          <a:xfrm>
            <a:off x="6886648" y="3765730"/>
            <a:ext cx="1750283" cy="1750283"/>
          </a:xfrm>
          <a:prstGeom prst="rect">
            <a:avLst/>
          </a:prstGeom>
        </p:spPr>
      </p:pic>
      <p:pic>
        <p:nvPicPr>
          <p:cNvPr id="25" name="Picture 24" descr="A white fish on a black background&#10;&#10;Description automatically generated">
            <a:extLst>
              <a:ext uri="{FF2B5EF4-FFF2-40B4-BE49-F238E27FC236}">
                <a16:creationId xmlns:a16="http://schemas.microsoft.com/office/drawing/2014/main" id="{8486DBC3-ADD0-FAF4-94E6-3EBAB7E69D16}"/>
              </a:ext>
            </a:extLst>
          </p:cNvPr>
          <p:cNvPicPr>
            <a:picLocks noChangeAspect="1"/>
          </p:cNvPicPr>
          <p:nvPr/>
        </p:nvPicPr>
        <p:blipFill>
          <a:blip r:embed="rId7">
            <a:duotone>
              <a:schemeClr val="accent1">
                <a:shade val="45000"/>
                <a:satMod val="135000"/>
              </a:schemeClr>
              <a:prstClr val="white"/>
            </a:duotone>
          </a:blip>
          <a:stretch>
            <a:fillRect/>
          </a:stretch>
        </p:blipFill>
        <p:spPr>
          <a:xfrm rot="20859437">
            <a:off x="7704594" y="3783421"/>
            <a:ext cx="1462396" cy="1462396"/>
          </a:xfrm>
          <a:prstGeom prst="rect">
            <a:avLst/>
          </a:prstGeom>
          <a:ln>
            <a:noFill/>
          </a:ln>
        </p:spPr>
      </p:pic>
      <p:pic>
        <p:nvPicPr>
          <p:cNvPr id="27" name="Picture 26" descr="A white fish on a black background&#10;&#10;Description automatically generated">
            <a:extLst>
              <a:ext uri="{FF2B5EF4-FFF2-40B4-BE49-F238E27FC236}">
                <a16:creationId xmlns:a16="http://schemas.microsoft.com/office/drawing/2014/main" id="{B8FF533A-E10A-A6DF-A4EE-4F3733C7966F}"/>
              </a:ext>
            </a:extLst>
          </p:cNvPr>
          <p:cNvPicPr>
            <a:picLocks noChangeAspect="1"/>
          </p:cNvPicPr>
          <p:nvPr/>
        </p:nvPicPr>
        <p:blipFill>
          <a:blip r:embed="rId7">
            <a:duotone>
              <a:schemeClr val="accent1">
                <a:shade val="45000"/>
                <a:satMod val="135000"/>
              </a:schemeClr>
              <a:prstClr val="white"/>
            </a:duotone>
          </a:blip>
          <a:stretch>
            <a:fillRect/>
          </a:stretch>
        </p:blipFill>
        <p:spPr>
          <a:xfrm rot="1470129">
            <a:off x="7702924" y="4236064"/>
            <a:ext cx="1341843" cy="1341843"/>
          </a:xfrm>
          <a:prstGeom prst="rect">
            <a:avLst/>
          </a:prstGeom>
          <a:ln>
            <a:noFill/>
          </a:ln>
        </p:spPr>
      </p:pic>
      <p:pic>
        <p:nvPicPr>
          <p:cNvPr id="28" name="Picture 27" descr="A white fish on a black background&#10;&#10;Description automatically generated">
            <a:extLst>
              <a:ext uri="{FF2B5EF4-FFF2-40B4-BE49-F238E27FC236}">
                <a16:creationId xmlns:a16="http://schemas.microsoft.com/office/drawing/2014/main" id="{F4A1FD36-9639-4FE4-EA31-66C617A67A9D}"/>
              </a:ext>
            </a:extLst>
          </p:cNvPr>
          <p:cNvPicPr>
            <a:picLocks noChangeAspect="1"/>
          </p:cNvPicPr>
          <p:nvPr/>
        </p:nvPicPr>
        <p:blipFill>
          <a:blip r:embed="rId7"/>
          <a:stretch>
            <a:fillRect/>
          </a:stretch>
        </p:blipFill>
        <p:spPr>
          <a:xfrm>
            <a:off x="6922455" y="4855138"/>
            <a:ext cx="1750283" cy="1750283"/>
          </a:xfrm>
          <a:prstGeom prst="rect">
            <a:avLst/>
          </a:prstGeom>
        </p:spPr>
      </p:pic>
      <p:pic>
        <p:nvPicPr>
          <p:cNvPr id="31" name="Picture 30">
            <a:extLst>
              <a:ext uri="{FF2B5EF4-FFF2-40B4-BE49-F238E27FC236}">
                <a16:creationId xmlns:a16="http://schemas.microsoft.com/office/drawing/2014/main" id="{B44D8944-BBF7-1500-C214-FBFF9E41CD81}"/>
              </a:ext>
            </a:extLst>
          </p:cNvPr>
          <p:cNvPicPr>
            <a:picLocks noChangeAspect="1"/>
          </p:cNvPicPr>
          <p:nvPr/>
        </p:nvPicPr>
        <p:blipFill>
          <a:blip r:embed="rId8"/>
          <a:srcRect l="15006" t="27410" r="18185" b="20912"/>
          <a:stretch/>
        </p:blipFill>
        <p:spPr>
          <a:xfrm>
            <a:off x="6799635" y="2253175"/>
            <a:ext cx="1924307" cy="1439494"/>
          </a:xfrm>
          <a:prstGeom prst="rect">
            <a:avLst/>
          </a:prstGeom>
        </p:spPr>
      </p:pic>
      <p:pic>
        <p:nvPicPr>
          <p:cNvPr id="32" name="Picture 31" descr="A white fish on a black background&#10;&#10;Description automatically generated">
            <a:extLst>
              <a:ext uri="{FF2B5EF4-FFF2-40B4-BE49-F238E27FC236}">
                <a16:creationId xmlns:a16="http://schemas.microsoft.com/office/drawing/2014/main" id="{BBA46DA4-602C-8DBF-7B8C-4879D71C2F88}"/>
              </a:ext>
            </a:extLst>
          </p:cNvPr>
          <p:cNvPicPr>
            <a:picLocks noChangeAspect="1"/>
          </p:cNvPicPr>
          <p:nvPr/>
        </p:nvPicPr>
        <p:blipFill>
          <a:blip r:embed="rId7">
            <a:duotone>
              <a:schemeClr val="accent1">
                <a:shade val="45000"/>
                <a:satMod val="135000"/>
              </a:schemeClr>
              <a:prstClr val="white"/>
            </a:duotone>
          </a:blip>
          <a:stretch>
            <a:fillRect/>
          </a:stretch>
        </p:blipFill>
        <p:spPr>
          <a:xfrm rot="20859437">
            <a:off x="6472497" y="5151131"/>
            <a:ext cx="1462396" cy="1462396"/>
          </a:xfrm>
          <a:prstGeom prst="rect">
            <a:avLst/>
          </a:prstGeom>
          <a:ln>
            <a:noFill/>
          </a:ln>
        </p:spPr>
      </p:pic>
      <p:pic>
        <p:nvPicPr>
          <p:cNvPr id="33" name="Picture 32" descr="A white fish on a black background&#10;&#10;Description automatically generated">
            <a:extLst>
              <a:ext uri="{FF2B5EF4-FFF2-40B4-BE49-F238E27FC236}">
                <a16:creationId xmlns:a16="http://schemas.microsoft.com/office/drawing/2014/main" id="{8BB183F1-87F5-0E61-1DEA-008966CF8C18}"/>
              </a:ext>
            </a:extLst>
          </p:cNvPr>
          <p:cNvPicPr>
            <a:picLocks noChangeAspect="1"/>
          </p:cNvPicPr>
          <p:nvPr/>
        </p:nvPicPr>
        <p:blipFill>
          <a:blip r:embed="rId7">
            <a:duotone>
              <a:schemeClr val="accent1">
                <a:shade val="45000"/>
                <a:satMod val="135000"/>
              </a:schemeClr>
              <a:prstClr val="white"/>
            </a:duotone>
          </a:blip>
          <a:stretch>
            <a:fillRect/>
          </a:stretch>
        </p:blipFill>
        <p:spPr>
          <a:xfrm rot="1470129">
            <a:off x="6550086" y="4819039"/>
            <a:ext cx="1341843" cy="1341843"/>
          </a:xfrm>
          <a:prstGeom prst="rect">
            <a:avLst/>
          </a:prstGeom>
          <a:ln>
            <a:noFill/>
          </a:ln>
        </p:spPr>
      </p:pic>
      <p:sp>
        <p:nvSpPr>
          <p:cNvPr id="34" name="Rectangle 33">
            <a:extLst>
              <a:ext uri="{FF2B5EF4-FFF2-40B4-BE49-F238E27FC236}">
                <a16:creationId xmlns:a16="http://schemas.microsoft.com/office/drawing/2014/main" id="{4D680AC0-C8EE-167C-8C7B-0709840B6C41}"/>
              </a:ext>
            </a:extLst>
          </p:cNvPr>
          <p:cNvSpPr/>
          <p:nvPr/>
        </p:nvSpPr>
        <p:spPr>
          <a:xfrm>
            <a:off x="7014372" y="2065835"/>
            <a:ext cx="1622559" cy="461665"/>
          </a:xfrm>
          <a:prstGeom prst="rect">
            <a:avLst/>
          </a:prstGeom>
          <a:noFill/>
        </p:spPr>
        <p:txBody>
          <a:bodyPr wrap="none" lIns="91440" tIns="45720" rIns="91440" bIns="45720">
            <a:spAutoFit/>
          </a:bodyPr>
          <a:lstStyle/>
          <a:p>
            <a:pPr algn="ctr"/>
            <a:r>
              <a:rPr lang="en-US" sz="2400" b="0" cap="none" spc="0" dirty="0">
                <a:ln w="0"/>
                <a:solidFill>
                  <a:schemeClr val="tx1"/>
                </a:solidFill>
                <a:effectLst>
                  <a:outerShdw blurRad="38100" dist="19050" dir="2700000" algn="tl" rotWithShape="0">
                    <a:schemeClr val="dk1">
                      <a:alpha val="40000"/>
                    </a:schemeClr>
                  </a:outerShdw>
                </a:effectLst>
              </a:rPr>
              <a:t>Same size</a:t>
            </a:r>
          </a:p>
        </p:txBody>
      </p:sp>
      <p:sp>
        <p:nvSpPr>
          <p:cNvPr id="35" name="Rectangle 34">
            <a:extLst>
              <a:ext uri="{FF2B5EF4-FFF2-40B4-BE49-F238E27FC236}">
                <a16:creationId xmlns:a16="http://schemas.microsoft.com/office/drawing/2014/main" id="{27FA0D41-4D24-6677-8311-2FF402C89040}"/>
              </a:ext>
            </a:extLst>
          </p:cNvPr>
          <p:cNvSpPr/>
          <p:nvPr/>
        </p:nvSpPr>
        <p:spPr>
          <a:xfrm>
            <a:off x="7206988" y="3603646"/>
            <a:ext cx="1109599" cy="461665"/>
          </a:xfrm>
          <a:prstGeom prst="rect">
            <a:avLst/>
          </a:prstGeom>
          <a:noFill/>
        </p:spPr>
        <p:txBody>
          <a:bodyPr wrap="none" lIns="91440" tIns="45720" rIns="91440" bIns="45720">
            <a:spAutoFit/>
          </a:bodyPr>
          <a:lstStyle/>
          <a:p>
            <a:pPr algn="ctr"/>
            <a:r>
              <a:rPr lang="en-US" sz="2400" b="0" cap="none" spc="0" dirty="0">
                <a:ln w="0"/>
                <a:solidFill>
                  <a:srgbClr val="C00000"/>
                </a:solidFill>
                <a:effectLst>
                  <a:outerShdw blurRad="38100" dist="19050" dir="2700000" algn="tl" rotWithShape="0">
                    <a:schemeClr val="dk1">
                      <a:alpha val="40000"/>
                    </a:schemeClr>
                  </a:outerShdw>
                </a:effectLst>
              </a:rPr>
              <a:t>Center</a:t>
            </a:r>
          </a:p>
        </p:txBody>
      </p:sp>
      <p:cxnSp>
        <p:nvCxnSpPr>
          <p:cNvPr id="37" name="Straight Arrow Connector 36">
            <a:extLst>
              <a:ext uri="{FF2B5EF4-FFF2-40B4-BE49-F238E27FC236}">
                <a16:creationId xmlns:a16="http://schemas.microsoft.com/office/drawing/2014/main" id="{35473387-903E-0DAB-13A9-B40ACE3D185E}"/>
              </a:ext>
            </a:extLst>
          </p:cNvPr>
          <p:cNvCxnSpPr/>
          <p:nvPr/>
        </p:nvCxnSpPr>
        <p:spPr>
          <a:xfrm flipH="1">
            <a:off x="7674429" y="4088230"/>
            <a:ext cx="87359" cy="421133"/>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A17A478D-3584-83E4-99AB-935BFCB3E730}"/>
              </a:ext>
            </a:extLst>
          </p:cNvPr>
          <p:cNvCxnSpPr>
            <a:cxnSpLocks/>
          </p:cNvCxnSpPr>
          <p:nvPr/>
        </p:nvCxnSpPr>
        <p:spPr>
          <a:xfrm>
            <a:off x="7761787" y="4128763"/>
            <a:ext cx="109236" cy="1536058"/>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 name="Rectangle 1">
            <a:extLst>
              <a:ext uri="{FF2B5EF4-FFF2-40B4-BE49-F238E27FC236}">
                <a16:creationId xmlns:a16="http://schemas.microsoft.com/office/drawing/2014/main" id="{0BBD39C9-C9D7-8B9A-A784-E3E646D42CE2}"/>
              </a:ext>
            </a:extLst>
          </p:cNvPr>
          <p:cNvSpPr/>
          <p:nvPr/>
        </p:nvSpPr>
        <p:spPr>
          <a:xfrm>
            <a:off x="6812358" y="2133696"/>
            <a:ext cx="2008093" cy="424501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8EAC9020-AD0E-C35F-2376-85D852B0176F}"/>
              </a:ext>
            </a:extLst>
          </p:cNvPr>
          <p:cNvSpPr txBox="1"/>
          <p:nvPr/>
        </p:nvSpPr>
        <p:spPr>
          <a:xfrm>
            <a:off x="4215824" y="6518614"/>
            <a:ext cx="1373325" cy="369332"/>
          </a:xfrm>
          <a:prstGeom prst="rect">
            <a:avLst/>
          </a:prstGeom>
          <a:noFill/>
        </p:spPr>
        <p:txBody>
          <a:bodyPr wrap="square">
            <a:spAutoFit/>
          </a:bodyPr>
          <a:lstStyle/>
          <a:p>
            <a:r>
              <a:rPr lang="en-US" sz="1800" b="1" dirty="0">
                <a:solidFill>
                  <a:srgbClr val="0070C0"/>
                </a:solidFill>
                <a:latin typeface="Calibri" panose="020F0502020204030204" pitchFamily="34" charset="0"/>
                <a:ea typeface="SimSun" panose="02010600030101010101" pitchFamily="2" charset="-122"/>
                <a:cs typeface="Calibri" panose="020F0502020204030204" pitchFamily="34" charset="0"/>
              </a:rPr>
              <a:t>Face-to-face</a:t>
            </a:r>
            <a:endParaRPr lang="en-US" dirty="0">
              <a:solidFill>
                <a:srgbClr val="0070C0"/>
              </a:solidFill>
            </a:endParaRPr>
          </a:p>
        </p:txBody>
      </p:sp>
      <p:sp>
        <p:nvSpPr>
          <p:cNvPr id="4" name="TextBox 3">
            <a:extLst>
              <a:ext uri="{FF2B5EF4-FFF2-40B4-BE49-F238E27FC236}">
                <a16:creationId xmlns:a16="http://schemas.microsoft.com/office/drawing/2014/main" id="{7FBD75F7-CA51-4562-24D2-E9D899D0672D}"/>
              </a:ext>
            </a:extLst>
          </p:cNvPr>
          <p:cNvSpPr txBox="1"/>
          <p:nvPr/>
        </p:nvSpPr>
        <p:spPr>
          <a:xfrm>
            <a:off x="7221007" y="6498192"/>
            <a:ext cx="1260341" cy="369332"/>
          </a:xfrm>
          <a:prstGeom prst="rect">
            <a:avLst/>
          </a:prstGeom>
          <a:noFill/>
        </p:spPr>
        <p:txBody>
          <a:bodyPr wrap="square">
            <a:spAutoFit/>
          </a:bodyPr>
          <a:lstStyle/>
          <a:p>
            <a:r>
              <a:rPr lang="en-US" sz="1800" b="1" dirty="0">
                <a:solidFill>
                  <a:srgbClr val="0070C0"/>
                </a:solidFill>
                <a:latin typeface="Calibri" panose="020F0502020204030204" pitchFamily="34" charset="0"/>
                <a:ea typeface="SimSun" panose="02010600030101010101" pitchFamily="2" charset="-122"/>
                <a:cs typeface="Calibri" panose="020F0502020204030204" pitchFamily="34" charset="0"/>
              </a:rPr>
              <a:t>Face-to-tail</a:t>
            </a:r>
            <a:endParaRPr lang="en-US" dirty="0">
              <a:solidFill>
                <a:srgbClr val="0070C0"/>
              </a:solidFill>
            </a:endParaRPr>
          </a:p>
        </p:txBody>
      </p:sp>
    </p:spTree>
    <p:extLst>
      <p:ext uri="{BB962C8B-B14F-4D97-AF65-F5344CB8AC3E}">
        <p14:creationId xmlns:p14="http://schemas.microsoft.com/office/powerpoint/2010/main" val="22883199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7763F7-7F6F-9EC6-101A-28F7E436C146}"/>
            </a:ext>
          </a:extLst>
        </p:cNvPr>
        <p:cNvGrpSpPr/>
        <p:nvPr/>
      </p:nvGrpSpPr>
      <p:grpSpPr>
        <a:xfrm>
          <a:off x="0" y="0"/>
          <a:ext cx="0" cy="0"/>
          <a:chOff x="0" y="0"/>
          <a:chExt cx="0" cy="0"/>
        </a:xfrm>
      </p:grpSpPr>
      <p:sp>
        <p:nvSpPr>
          <p:cNvPr id="14" name="矩形 15">
            <a:extLst>
              <a:ext uri="{FF2B5EF4-FFF2-40B4-BE49-F238E27FC236}">
                <a16:creationId xmlns:a16="http://schemas.microsoft.com/office/drawing/2014/main" id="{615234E1-D227-02AC-6F88-FB01597E468D}"/>
              </a:ext>
            </a:extLst>
          </p:cNvPr>
          <p:cNvSpPr>
            <a:spLocks noChangeArrowheads="1"/>
          </p:cNvSpPr>
          <p:nvPr/>
        </p:nvSpPr>
        <p:spPr bwMode="auto">
          <a:xfrm>
            <a:off x="955740" y="4988779"/>
            <a:ext cx="289780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911225">
              <a:defRPr>
                <a:solidFill>
                  <a:schemeClr val="tx1"/>
                </a:solidFill>
                <a:latin typeface="Calibri" panose="020F0502020204030204" pitchFamily="34" charset="0"/>
                <a:ea typeface="宋体" panose="02010600030101010101" pitchFamily="2" charset="-122"/>
              </a:defRPr>
            </a:lvl1pPr>
            <a:lvl2pPr marL="742950" indent="-285750" defTabSz="911225">
              <a:defRPr>
                <a:solidFill>
                  <a:schemeClr val="tx1"/>
                </a:solidFill>
                <a:latin typeface="Calibri" panose="020F0502020204030204" pitchFamily="34" charset="0"/>
                <a:ea typeface="宋体" panose="02010600030101010101" pitchFamily="2" charset="-122"/>
              </a:defRPr>
            </a:lvl2pPr>
            <a:lvl3pPr marL="1143000" indent="-228600" defTabSz="911225">
              <a:defRPr>
                <a:solidFill>
                  <a:schemeClr val="tx1"/>
                </a:solidFill>
                <a:latin typeface="Calibri" panose="020F0502020204030204" pitchFamily="34" charset="0"/>
                <a:ea typeface="宋体" panose="02010600030101010101" pitchFamily="2" charset="-122"/>
              </a:defRPr>
            </a:lvl3pPr>
            <a:lvl4pPr marL="1600200" indent="-228600" defTabSz="911225">
              <a:defRPr>
                <a:solidFill>
                  <a:schemeClr val="tx1"/>
                </a:solidFill>
                <a:latin typeface="Calibri" panose="020F0502020204030204" pitchFamily="34" charset="0"/>
                <a:ea typeface="宋体" panose="02010600030101010101" pitchFamily="2" charset="-122"/>
              </a:defRPr>
            </a:lvl4pPr>
            <a:lvl5pPr marL="2057400" indent="-228600" defTabSz="911225">
              <a:defRPr>
                <a:solidFill>
                  <a:schemeClr val="tx1"/>
                </a:solidFill>
                <a:latin typeface="Calibri" panose="020F0502020204030204" pitchFamily="34" charset="0"/>
                <a:ea typeface="宋体" panose="02010600030101010101" pitchFamily="2" charset="-122"/>
              </a:defRPr>
            </a:lvl5pPr>
            <a:lvl6pPr marL="25146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l"/>
            <a:r>
              <a:rPr lang="en-US" altLang="zh-CN" b="1" i="1" dirty="0">
                <a:effectLst>
                  <a:innerShdw blurRad="63500" dist="50800">
                    <a:prstClr val="black">
                      <a:alpha val="50000"/>
                    </a:prstClr>
                  </a:innerShdw>
                </a:effectLst>
                <a:latin typeface="open sans" panose="020B0606030504020204" pitchFamily="34" charset="0"/>
              </a:rPr>
              <a:t>t</a:t>
            </a:r>
            <a:r>
              <a:rPr lang="en-US" altLang="zh-CN" b="1" dirty="0">
                <a:effectLst>
                  <a:innerShdw blurRad="63500" dist="50800">
                    <a:prstClr val="black">
                      <a:alpha val="50000"/>
                    </a:prstClr>
                  </a:innerShdw>
                </a:effectLst>
                <a:latin typeface="open sans" panose="020B0606030504020204" pitchFamily="34" charset="0"/>
              </a:rPr>
              <a:t>(23) = -0.27</a:t>
            </a:r>
            <a:r>
              <a:rPr lang="en-US" altLang="zh-CN" b="1" dirty="0">
                <a:solidFill>
                  <a:srgbClr val="FF0000"/>
                </a:solidFill>
                <a:effectLst>
                  <a:innerShdw blurRad="63500" dist="50800">
                    <a:prstClr val="black">
                      <a:alpha val="50000"/>
                    </a:prstClr>
                  </a:innerShdw>
                </a:effectLst>
                <a:latin typeface="open sans" panose="020B0606030504020204" pitchFamily="34" charset="0"/>
              </a:rPr>
              <a:t>, </a:t>
            </a:r>
            <a:r>
              <a:rPr lang="en-US" altLang="zh-CN" b="1" i="1" dirty="0">
                <a:solidFill>
                  <a:srgbClr val="FF0000"/>
                </a:solidFill>
                <a:effectLst>
                  <a:innerShdw blurRad="63500" dist="50800">
                    <a:prstClr val="black">
                      <a:alpha val="50000"/>
                    </a:prstClr>
                  </a:innerShdw>
                </a:effectLst>
                <a:latin typeface="open sans" panose="020B0606030504020204" pitchFamily="34" charset="0"/>
              </a:rPr>
              <a:t>p</a:t>
            </a:r>
            <a:r>
              <a:rPr lang="en-US" altLang="zh-CN" b="1" dirty="0">
                <a:solidFill>
                  <a:srgbClr val="FF0000"/>
                </a:solidFill>
                <a:effectLst>
                  <a:innerShdw blurRad="63500" dist="50800">
                    <a:prstClr val="black">
                      <a:alpha val="50000"/>
                    </a:prstClr>
                  </a:innerShdw>
                </a:effectLst>
                <a:latin typeface="open sans" panose="020B0606030504020204" pitchFamily="34" charset="0"/>
              </a:rPr>
              <a:t> = .788</a:t>
            </a:r>
          </a:p>
        </p:txBody>
      </p:sp>
      <p:pic>
        <p:nvPicPr>
          <p:cNvPr id="6" name="Picture 5">
            <a:extLst>
              <a:ext uri="{FF2B5EF4-FFF2-40B4-BE49-F238E27FC236}">
                <a16:creationId xmlns:a16="http://schemas.microsoft.com/office/drawing/2014/main" id="{7E957247-845A-9145-007C-CD967742D7A1}"/>
              </a:ext>
            </a:extLst>
          </p:cNvPr>
          <p:cNvPicPr>
            <a:picLocks/>
          </p:cNvPicPr>
          <p:nvPr/>
        </p:nvPicPr>
        <p:blipFill>
          <a:blip r:embed="rId3"/>
          <a:srcRect t="8237" r="4507" b="5132"/>
          <a:stretch/>
        </p:blipFill>
        <p:spPr>
          <a:xfrm>
            <a:off x="407459" y="1945183"/>
            <a:ext cx="3163751" cy="2967634"/>
          </a:xfrm>
          <a:prstGeom prst="rect">
            <a:avLst/>
          </a:prstGeom>
        </p:spPr>
      </p:pic>
      <p:sp>
        <p:nvSpPr>
          <p:cNvPr id="8" name="Rectangle 7">
            <a:extLst>
              <a:ext uri="{FF2B5EF4-FFF2-40B4-BE49-F238E27FC236}">
                <a16:creationId xmlns:a16="http://schemas.microsoft.com/office/drawing/2014/main" id="{F3BE6ADF-22C7-5384-1F9E-F621F4A02347}"/>
              </a:ext>
            </a:extLst>
          </p:cNvPr>
          <p:cNvSpPr/>
          <p:nvPr/>
        </p:nvSpPr>
        <p:spPr>
          <a:xfrm>
            <a:off x="321189" y="915466"/>
            <a:ext cx="2457421" cy="707886"/>
          </a:xfrm>
          <a:prstGeom prst="rect">
            <a:avLst/>
          </a:prstGeom>
          <a:noFill/>
        </p:spPr>
        <p:txBody>
          <a:bodyPr wrap="square" lIns="91440" tIns="45720" rIns="91440" bIns="45720">
            <a:spAutoFit/>
          </a:bodyPr>
          <a:lstStyle/>
          <a:p>
            <a:pPr algn="ctr"/>
            <a:r>
              <a:rPr lang="en-US" sz="40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rPr>
              <a:t>Discussion</a:t>
            </a:r>
          </a:p>
        </p:txBody>
      </p:sp>
      <p:sp>
        <p:nvSpPr>
          <p:cNvPr id="9" name="TextBox 8">
            <a:extLst>
              <a:ext uri="{FF2B5EF4-FFF2-40B4-BE49-F238E27FC236}">
                <a16:creationId xmlns:a16="http://schemas.microsoft.com/office/drawing/2014/main" id="{211E6DEC-3D01-97DB-1E52-40E3EB22F2B3}"/>
              </a:ext>
            </a:extLst>
          </p:cNvPr>
          <p:cNvSpPr txBox="1"/>
          <p:nvPr/>
        </p:nvSpPr>
        <p:spPr>
          <a:xfrm>
            <a:off x="3773224" y="1128253"/>
            <a:ext cx="4158342" cy="1015663"/>
          </a:xfrm>
          <a:prstGeom prst="rect">
            <a:avLst/>
          </a:prstGeom>
          <a:noFill/>
        </p:spPr>
        <p:txBody>
          <a:bodyPr wrap="square">
            <a:spAutoFit/>
          </a:bodyPr>
          <a:lstStyle/>
          <a:p>
            <a:r>
              <a:rPr lang="en-US" sz="2400" dirty="0">
                <a:solidFill>
                  <a:srgbClr val="000000"/>
                </a:solidFill>
                <a:latin typeface="Calibri" panose="020F0502020204030204" pitchFamily="34" charset="0"/>
                <a:ea typeface="SimSun" panose="02010600030101010101" pitchFamily="2" charset="-122"/>
                <a:cs typeface="Calibri" panose="020F0502020204030204" pitchFamily="34" charset="0"/>
              </a:rPr>
              <a:t>P</a:t>
            </a:r>
            <a:r>
              <a:rPr lang="en-US" altLang="zh-CN" sz="2400" dirty="0">
                <a:solidFill>
                  <a:srgbClr val="000000"/>
                </a:solidFill>
                <a:latin typeface="Calibri" panose="020F0502020204030204" pitchFamily="34" charset="0"/>
                <a:ea typeface="SimSun" panose="02010600030101010101" pitchFamily="2" charset="-122"/>
                <a:cs typeface="Calibri" panose="020F0502020204030204" pitchFamily="34" charset="0"/>
              </a:rPr>
              <a:t>otential Reason:</a:t>
            </a:r>
            <a:br>
              <a:rPr lang="en-US" altLang="zh-CN" sz="2400" dirty="0">
                <a:solidFill>
                  <a:srgbClr val="000000"/>
                </a:solidFill>
                <a:latin typeface="Calibri" panose="020F0502020204030204" pitchFamily="34" charset="0"/>
                <a:ea typeface="SimSun" panose="02010600030101010101" pitchFamily="2" charset="-122"/>
                <a:cs typeface="Calibri" panose="020F0502020204030204" pitchFamily="34" charset="0"/>
              </a:rPr>
            </a:br>
            <a:br>
              <a:rPr lang="en-US" altLang="zh-CN" dirty="0">
                <a:solidFill>
                  <a:srgbClr val="000000"/>
                </a:solidFill>
                <a:latin typeface="Calibri" panose="020F0502020204030204" pitchFamily="34" charset="0"/>
                <a:ea typeface="SimSun" panose="02010600030101010101" pitchFamily="2" charset="-122"/>
                <a:cs typeface="Calibri" panose="020F0502020204030204" pitchFamily="34" charset="0"/>
              </a:rPr>
            </a:br>
            <a:r>
              <a:rPr lang="en-US" altLang="zh-CN" dirty="0">
                <a:solidFill>
                  <a:srgbClr val="000000"/>
                </a:solidFill>
                <a:latin typeface="Calibri" panose="020F0502020204030204" pitchFamily="34" charset="0"/>
                <a:ea typeface="SimSun" panose="02010600030101010101" pitchFamily="2" charset="-122"/>
                <a:cs typeface="Calibri" panose="020F0502020204030204" pitchFamily="34" charset="0"/>
              </a:rPr>
              <a:t>2. Detailed fish vs. Abstract fish</a:t>
            </a:r>
            <a:endParaRPr lang="en-US" dirty="0">
              <a:solidFill>
                <a:srgbClr val="000000"/>
              </a:solidFill>
              <a:latin typeface="Calibri" panose="020F0502020204030204" pitchFamily="34" charset="0"/>
              <a:ea typeface="SimSun" panose="02010600030101010101" pitchFamily="2" charset="-122"/>
              <a:cs typeface="Calibri" panose="020F0502020204030204" pitchFamily="34" charset="0"/>
            </a:endParaRPr>
          </a:p>
        </p:txBody>
      </p:sp>
      <p:pic>
        <p:nvPicPr>
          <p:cNvPr id="10" name="Picture 9" descr="A black and white drawing of two fish&#10;&#10;Description automatically generated">
            <a:extLst>
              <a:ext uri="{FF2B5EF4-FFF2-40B4-BE49-F238E27FC236}">
                <a16:creationId xmlns:a16="http://schemas.microsoft.com/office/drawing/2014/main" id="{DB7F5DFF-1DA8-DA0B-0369-57E6452C12EA}"/>
              </a:ext>
            </a:extLst>
          </p:cNvPr>
          <p:cNvPicPr>
            <a:picLocks noChangeAspect="1"/>
          </p:cNvPicPr>
          <p:nvPr/>
        </p:nvPicPr>
        <p:blipFill>
          <a:blip r:embed="rId4"/>
          <a:srcRect l="23886" r="18792"/>
          <a:stretch/>
        </p:blipFill>
        <p:spPr>
          <a:xfrm>
            <a:off x="4107159" y="2244774"/>
            <a:ext cx="1481990" cy="1454290"/>
          </a:xfrm>
          <a:prstGeom prst="rect">
            <a:avLst/>
          </a:prstGeom>
        </p:spPr>
      </p:pic>
      <p:sp>
        <p:nvSpPr>
          <p:cNvPr id="12" name="Arrow: Right 11">
            <a:extLst>
              <a:ext uri="{FF2B5EF4-FFF2-40B4-BE49-F238E27FC236}">
                <a16:creationId xmlns:a16="http://schemas.microsoft.com/office/drawing/2014/main" id="{C17808DC-674D-2009-ED19-F79FED20B2B7}"/>
              </a:ext>
            </a:extLst>
          </p:cNvPr>
          <p:cNvSpPr/>
          <p:nvPr/>
        </p:nvSpPr>
        <p:spPr>
          <a:xfrm>
            <a:off x="6204925" y="4090116"/>
            <a:ext cx="516197" cy="27739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965B739F-75A8-04C4-91AA-43F1B909874A}"/>
              </a:ext>
            </a:extLst>
          </p:cNvPr>
          <p:cNvSpPr/>
          <p:nvPr/>
        </p:nvSpPr>
        <p:spPr>
          <a:xfrm>
            <a:off x="3847554" y="2155783"/>
            <a:ext cx="2008093" cy="424501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1" name="Picture 30">
            <a:extLst>
              <a:ext uri="{FF2B5EF4-FFF2-40B4-BE49-F238E27FC236}">
                <a16:creationId xmlns:a16="http://schemas.microsoft.com/office/drawing/2014/main" id="{DCD10E8D-C046-4B0E-CAD2-498441409EA0}"/>
              </a:ext>
            </a:extLst>
          </p:cNvPr>
          <p:cNvPicPr>
            <a:picLocks noChangeAspect="1"/>
          </p:cNvPicPr>
          <p:nvPr/>
        </p:nvPicPr>
        <p:blipFill>
          <a:blip r:embed="rId5"/>
          <a:srcRect l="15006" t="27410" r="18185" b="20912"/>
          <a:stretch/>
        </p:blipFill>
        <p:spPr>
          <a:xfrm>
            <a:off x="6799635" y="2253175"/>
            <a:ext cx="1924307" cy="1439494"/>
          </a:xfrm>
          <a:prstGeom prst="rect">
            <a:avLst/>
          </a:prstGeom>
        </p:spPr>
      </p:pic>
      <p:sp>
        <p:nvSpPr>
          <p:cNvPr id="2" name="Rectangle 1">
            <a:extLst>
              <a:ext uri="{FF2B5EF4-FFF2-40B4-BE49-F238E27FC236}">
                <a16:creationId xmlns:a16="http://schemas.microsoft.com/office/drawing/2014/main" id="{107495E9-B44A-5F28-F034-CD2EEC79F6BF}"/>
              </a:ext>
            </a:extLst>
          </p:cNvPr>
          <p:cNvSpPr/>
          <p:nvPr/>
        </p:nvSpPr>
        <p:spPr>
          <a:xfrm>
            <a:off x="6812358" y="2133696"/>
            <a:ext cx="2008093" cy="424501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93BCA90C-19C1-CDF1-53AF-89FDA7635E93}"/>
              </a:ext>
            </a:extLst>
          </p:cNvPr>
          <p:cNvPicPr>
            <a:picLocks noChangeAspect="1"/>
          </p:cNvPicPr>
          <p:nvPr/>
        </p:nvPicPr>
        <p:blipFill>
          <a:blip r:embed="rId6"/>
          <a:stretch>
            <a:fillRect/>
          </a:stretch>
        </p:blipFill>
        <p:spPr>
          <a:xfrm>
            <a:off x="4219591" y="3788055"/>
            <a:ext cx="1040898" cy="854468"/>
          </a:xfrm>
          <a:prstGeom prst="rect">
            <a:avLst/>
          </a:prstGeom>
        </p:spPr>
      </p:pic>
      <p:pic>
        <p:nvPicPr>
          <p:cNvPr id="13" name="Picture 12">
            <a:extLst>
              <a:ext uri="{FF2B5EF4-FFF2-40B4-BE49-F238E27FC236}">
                <a16:creationId xmlns:a16="http://schemas.microsoft.com/office/drawing/2014/main" id="{DF9A756A-3F8F-5DB6-C59F-E292D4B51F97}"/>
              </a:ext>
            </a:extLst>
          </p:cNvPr>
          <p:cNvPicPr>
            <a:picLocks noChangeAspect="1"/>
          </p:cNvPicPr>
          <p:nvPr/>
        </p:nvPicPr>
        <p:blipFill>
          <a:blip r:embed="rId7"/>
          <a:stretch>
            <a:fillRect/>
          </a:stretch>
        </p:blipFill>
        <p:spPr>
          <a:xfrm>
            <a:off x="7349732" y="3741996"/>
            <a:ext cx="1083191" cy="926207"/>
          </a:xfrm>
          <a:prstGeom prst="rect">
            <a:avLst/>
          </a:prstGeom>
        </p:spPr>
      </p:pic>
      <p:pic>
        <p:nvPicPr>
          <p:cNvPr id="16" name="Picture 15">
            <a:extLst>
              <a:ext uri="{FF2B5EF4-FFF2-40B4-BE49-F238E27FC236}">
                <a16:creationId xmlns:a16="http://schemas.microsoft.com/office/drawing/2014/main" id="{E48F1ECD-C716-169D-B7BE-44A0A11D7BE2}"/>
              </a:ext>
            </a:extLst>
          </p:cNvPr>
          <p:cNvPicPr>
            <a:picLocks noChangeAspect="1"/>
          </p:cNvPicPr>
          <p:nvPr/>
        </p:nvPicPr>
        <p:blipFill>
          <a:blip r:embed="rId8"/>
          <a:stretch>
            <a:fillRect/>
          </a:stretch>
        </p:blipFill>
        <p:spPr>
          <a:xfrm>
            <a:off x="3944778" y="4973942"/>
            <a:ext cx="759671" cy="992473"/>
          </a:xfrm>
          <a:prstGeom prst="rect">
            <a:avLst/>
          </a:prstGeom>
        </p:spPr>
      </p:pic>
      <p:pic>
        <p:nvPicPr>
          <p:cNvPr id="18" name="Picture 17">
            <a:extLst>
              <a:ext uri="{FF2B5EF4-FFF2-40B4-BE49-F238E27FC236}">
                <a16:creationId xmlns:a16="http://schemas.microsoft.com/office/drawing/2014/main" id="{5B08B52E-A7FD-3BB4-3995-6C5604525DF2}"/>
              </a:ext>
            </a:extLst>
          </p:cNvPr>
          <p:cNvPicPr>
            <a:picLocks noChangeAspect="1"/>
          </p:cNvPicPr>
          <p:nvPr/>
        </p:nvPicPr>
        <p:blipFill>
          <a:blip r:embed="rId9"/>
          <a:stretch>
            <a:fillRect/>
          </a:stretch>
        </p:blipFill>
        <p:spPr>
          <a:xfrm>
            <a:off x="5027174" y="5140660"/>
            <a:ext cx="802413" cy="1088017"/>
          </a:xfrm>
          <a:prstGeom prst="rect">
            <a:avLst/>
          </a:prstGeom>
        </p:spPr>
      </p:pic>
      <p:pic>
        <p:nvPicPr>
          <p:cNvPr id="21" name="Picture 20">
            <a:extLst>
              <a:ext uri="{FF2B5EF4-FFF2-40B4-BE49-F238E27FC236}">
                <a16:creationId xmlns:a16="http://schemas.microsoft.com/office/drawing/2014/main" id="{C2E6BFB0-A178-075C-793E-72074D256861}"/>
              </a:ext>
            </a:extLst>
          </p:cNvPr>
          <p:cNvPicPr>
            <a:picLocks noChangeAspect="1"/>
          </p:cNvPicPr>
          <p:nvPr/>
        </p:nvPicPr>
        <p:blipFill>
          <a:blip r:embed="rId10"/>
          <a:stretch>
            <a:fillRect/>
          </a:stretch>
        </p:blipFill>
        <p:spPr>
          <a:xfrm>
            <a:off x="7337943" y="5078707"/>
            <a:ext cx="811280" cy="1189877"/>
          </a:xfrm>
          <a:prstGeom prst="rect">
            <a:avLst/>
          </a:prstGeom>
        </p:spPr>
      </p:pic>
      <p:sp>
        <p:nvSpPr>
          <p:cNvPr id="26" name="Rectangle 25">
            <a:extLst>
              <a:ext uri="{FF2B5EF4-FFF2-40B4-BE49-F238E27FC236}">
                <a16:creationId xmlns:a16="http://schemas.microsoft.com/office/drawing/2014/main" id="{89232525-9E37-8FC1-1331-095EE189149D}"/>
              </a:ext>
            </a:extLst>
          </p:cNvPr>
          <p:cNvSpPr/>
          <p:nvPr/>
        </p:nvSpPr>
        <p:spPr>
          <a:xfrm>
            <a:off x="7317188" y="4574025"/>
            <a:ext cx="869149" cy="461665"/>
          </a:xfrm>
          <a:prstGeom prst="rect">
            <a:avLst/>
          </a:prstGeom>
          <a:noFill/>
        </p:spPr>
        <p:txBody>
          <a:bodyPr wrap="none" lIns="91440" tIns="45720" rIns="91440" bIns="45720">
            <a:spAutoFit/>
          </a:bodyPr>
          <a:lstStyle/>
          <a:p>
            <a:pPr algn="ctr"/>
            <a:r>
              <a:rPr lang="en-US" sz="2400" b="0" cap="none" spc="0" dirty="0">
                <a:ln w="0"/>
                <a:solidFill>
                  <a:schemeClr val="tx1"/>
                </a:solidFill>
                <a:effectLst>
                  <a:outerShdw blurRad="38100" dist="19050" dir="2700000" algn="tl" rotWithShape="0">
                    <a:schemeClr val="dk1">
                      <a:alpha val="40000"/>
                    </a:schemeClr>
                  </a:outerShdw>
                </a:effectLst>
              </a:rPr>
              <a:t>Eyes</a:t>
            </a:r>
          </a:p>
        </p:txBody>
      </p:sp>
      <p:sp>
        <p:nvSpPr>
          <p:cNvPr id="34" name="Rectangle 33">
            <a:extLst>
              <a:ext uri="{FF2B5EF4-FFF2-40B4-BE49-F238E27FC236}">
                <a16:creationId xmlns:a16="http://schemas.microsoft.com/office/drawing/2014/main" id="{5A44B151-F5A1-FD5F-16A0-33226FA497A0}"/>
              </a:ext>
            </a:extLst>
          </p:cNvPr>
          <p:cNvSpPr/>
          <p:nvPr/>
        </p:nvSpPr>
        <p:spPr>
          <a:xfrm>
            <a:off x="4355946" y="4670301"/>
            <a:ext cx="869149" cy="461665"/>
          </a:xfrm>
          <a:prstGeom prst="rect">
            <a:avLst/>
          </a:prstGeom>
          <a:noFill/>
        </p:spPr>
        <p:txBody>
          <a:bodyPr wrap="none" lIns="91440" tIns="45720" rIns="91440" bIns="45720">
            <a:spAutoFit/>
          </a:bodyPr>
          <a:lstStyle/>
          <a:p>
            <a:pPr algn="ctr"/>
            <a:r>
              <a:rPr lang="en-US" sz="2400" b="0" cap="none" spc="0" dirty="0">
                <a:ln w="0"/>
                <a:solidFill>
                  <a:schemeClr val="tx1"/>
                </a:solidFill>
                <a:effectLst>
                  <a:outerShdw blurRad="38100" dist="19050" dir="2700000" algn="tl" rotWithShape="0">
                    <a:schemeClr val="dk1">
                      <a:alpha val="40000"/>
                    </a:schemeClr>
                  </a:outerShdw>
                </a:effectLst>
              </a:rPr>
              <a:t>Eyes</a:t>
            </a:r>
          </a:p>
        </p:txBody>
      </p:sp>
      <p:sp>
        <p:nvSpPr>
          <p:cNvPr id="29" name="Rectangle 28">
            <a:extLst>
              <a:ext uri="{FF2B5EF4-FFF2-40B4-BE49-F238E27FC236}">
                <a16:creationId xmlns:a16="http://schemas.microsoft.com/office/drawing/2014/main" id="{26F33129-1195-2ECD-67CC-D23BE6EF064A}"/>
              </a:ext>
            </a:extLst>
          </p:cNvPr>
          <p:cNvSpPr/>
          <p:nvPr/>
        </p:nvSpPr>
        <p:spPr>
          <a:xfrm>
            <a:off x="7419840" y="5960065"/>
            <a:ext cx="647485" cy="461665"/>
          </a:xfrm>
          <a:prstGeom prst="rect">
            <a:avLst/>
          </a:prstGeom>
          <a:noFill/>
        </p:spPr>
        <p:txBody>
          <a:bodyPr wrap="none" lIns="91440" tIns="45720" rIns="91440" bIns="45720">
            <a:spAutoFit/>
          </a:bodyPr>
          <a:lstStyle/>
          <a:p>
            <a:pPr algn="ctr"/>
            <a:r>
              <a:rPr lang="en-US" sz="2400" b="0" cap="none" spc="0" dirty="0">
                <a:ln w="0"/>
                <a:solidFill>
                  <a:schemeClr val="tx1"/>
                </a:solidFill>
                <a:effectLst>
                  <a:outerShdw blurRad="38100" dist="19050" dir="2700000" algn="tl" rotWithShape="0">
                    <a:schemeClr val="dk1">
                      <a:alpha val="40000"/>
                    </a:schemeClr>
                  </a:outerShdw>
                </a:effectLst>
              </a:rPr>
              <a:t>Tail</a:t>
            </a:r>
          </a:p>
        </p:txBody>
      </p:sp>
      <p:sp>
        <p:nvSpPr>
          <p:cNvPr id="30" name="Rectangle 29">
            <a:extLst>
              <a:ext uri="{FF2B5EF4-FFF2-40B4-BE49-F238E27FC236}">
                <a16:creationId xmlns:a16="http://schemas.microsoft.com/office/drawing/2014/main" id="{CF30F5D6-9580-788B-06E8-58C536F4EE87}"/>
              </a:ext>
            </a:extLst>
          </p:cNvPr>
          <p:cNvSpPr/>
          <p:nvPr/>
        </p:nvSpPr>
        <p:spPr>
          <a:xfrm>
            <a:off x="4466777" y="5992376"/>
            <a:ext cx="647485" cy="461665"/>
          </a:xfrm>
          <a:prstGeom prst="rect">
            <a:avLst/>
          </a:prstGeom>
          <a:noFill/>
        </p:spPr>
        <p:txBody>
          <a:bodyPr wrap="none" lIns="91440" tIns="45720" rIns="91440" bIns="45720">
            <a:spAutoFit/>
          </a:bodyPr>
          <a:lstStyle/>
          <a:p>
            <a:pPr algn="ctr"/>
            <a:r>
              <a:rPr lang="en-US" sz="2400" b="0" cap="none" spc="0" dirty="0">
                <a:ln w="0"/>
                <a:solidFill>
                  <a:schemeClr val="tx1"/>
                </a:solidFill>
                <a:effectLst>
                  <a:outerShdw blurRad="38100" dist="19050" dir="2700000" algn="tl" rotWithShape="0">
                    <a:schemeClr val="dk1">
                      <a:alpha val="40000"/>
                    </a:schemeClr>
                  </a:outerShdw>
                </a:effectLst>
              </a:rPr>
              <a:t>Tail</a:t>
            </a:r>
          </a:p>
        </p:txBody>
      </p:sp>
    </p:spTree>
    <p:extLst>
      <p:ext uri="{BB962C8B-B14F-4D97-AF65-F5344CB8AC3E}">
        <p14:creationId xmlns:p14="http://schemas.microsoft.com/office/powerpoint/2010/main" val="30981322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4E0888-814D-FE1A-F421-5434E4AD6BCF}"/>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4D8AA1DD-ADD5-BF50-2438-71BF458F4AC2}"/>
              </a:ext>
            </a:extLst>
          </p:cNvPr>
          <p:cNvSpPr/>
          <p:nvPr/>
        </p:nvSpPr>
        <p:spPr>
          <a:xfrm>
            <a:off x="321189" y="915466"/>
            <a:ext cx="2457421" cy="707886"/>
          </a:xfrm>
          <a:prstGeom prst="rect">
            <a:avLst/>
          </a:prstGeom>
          <a:noFill/>
        </p:spPr>
        <p:txBody>
          <a:bodyPr wrap="square" lIns="91440" tIns="45720" rIns="91440" bIns="45720">
            <a:spAutoFit/>
          </a:bodyPr>
          <a:lstStyle/>
          <a:p>
            <a:pPr algn="ctr"/>
            <a:r>
              <a:rPr lang="en-US" sz="40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rPr>
              <a:t>Discussion</a:t>
            </a:r>
          </a:p>
        </p:txBody>
      </p:sp>
      <p:sp>
        <p:nvSpPr>
          <p:cNvPr id="9" name="TextBox 8">
            <a:extLst>
              <a:ext uri="{FF2B5EF4-FFF2-40B4-BE49-F238E27FC236}">
                <a16:creationId xmlns:a16="http://schemas.microsoft.com/office/drawing/2014/main" id="{D2F0CE80-839D-476A-D091-9F6882CA2B45}"/>
              </a:ext>
            </a:extLst>
          </p:cNvPr>
          <p:cNvSpPr txBox="1"/>
          <p:nvPr/>
        </p:nvSpPr>
        <p:spPr>
          <a:xfrm>
            <a:off x="365917" y="1718576"/>
            <a:ext cx="3333887" cy="3970318"/>
          </a:xfrm>
          <a:prstGeom prst="rect">
            <a:avLst/>
          </a:prstGeom>
          <a:noFill/>
        </p:spPr>
        <p:txBody>
          <a:bodyPr wrap="square">
            <a:spAutoFit/>
          </a:bodyPr>
          <a:lstStyle/>
          <a:p>
            <a:r>
              <a:rPr lang="en-US" sz="2800" dirty="0">
                <a:solidFill>
                  <a:srgbClr val="000000"/>
                </a:solidFill>
                <a:latin typeface="Calibri" panose="020F0502020204030204" pitchFamily="34" charset="0"/>
                <a:ea typeface="SimSun" panose="02010600030101010101" pitchFamily="2" charset="-122"/>
                <a:cs typeface="Calibri" panose="020F0502020204030204" pitchFamily="34" charset="0"/>
              </a:rPr>
              <a:t>N</a:t>
            </a:r>
            <a:r>
              <a:rPr lang="en-US" altLang="zh-CN" sz="2800" dirty="0">
                <a:solidFill>
                  <a:srgbClr val="000000"/>
                </a:solidFill>
                <a:latin typeface="Calibri" panose="020F0502020204030204" pitchFamily="34" charset="0"/>
                <a:ea typeface="SimSun" panose="02010600030101010101" pitchFamily="2" charset="-122"/>
                <a:cs typeface="Calibri" panose="020F0502020204030204" pitchFamily="34" charset="0"/>
              </a:rPr>
              <a:t>ext Experiment:</a:t>
            </a:r>
            <a:br>
              <a:rPr lang="en-US" altLang="zh-CN" sz="2800" dirty="0">
                <a:solidFill>
                  <a:srgbClr val="000000"/>
                </a:solidFill>
                <a:latin typeface="Calibri" panose="020F0502020204030204" pitchFamily="34" charset="0"/>
                <a:ea typeface="SimSun" panose="02010600030101010101" pitchFamily="2" charset="-122"/>
                <a:cs typeface="Calibri" panose="020F0502020204030204" pitchFamily="34" charset="0"/>
              </a:rPr>
            </a:br>
            <a:br>
              <a:rPr lang="en-US" altLang="zh-CN" sz="2800" dirty="0">
                <a:solidFill>
                  <a:srgbClr val="000000"/>
                </a:solidFill>
                <a:latin typeface="Calibri" panose="020F0502020204030204" pitchFamily="34" charset="0"/>
                <a:ea typeface="SimSun" panose="02010600030101010101" pitchFamily="2" charset="-122"/>
                <a:cs typeface="Calibri" panose="020F0502020204030204" pitchFamily="34" charset="0"/>
              </a:rPr>
            </a:br>
            <a:r>
              <a:rPr lang="en-US" altLang="zh-CN" sz="2800" dirty="0">
                <a:solidFill>
                  <a:srgbClr val="000000"/>
                </a:solidFill>
                <a:latin typeface="Calibri" panose="020F0502020204030204" pitchFamily="34" charset="0"/>
                <a:ea typeface="SimSun" panose="02010600030101010101" pitchFamily="2" charset="-122"/>
                <a:cs typeface="Calibri" panose="020F0502020204030204" pitchFamily="34" charset="0"/>
              </a:rPr>
              <a:t>1. Use the abstract fish to mimic the positions of the former stimulus (which replicated the agent advantage effect)</a:t>
            </a:r>
            <a:endParaRPr lang="en-US" sz="2800" dirty="0">
              <a:solidFill>
                <a:srgbClr val="000000"/>
              </a:solidFill>
              <a:latin typeface="Calibri" panose="020F0502020204030204" pitchFamily="34" charset="0"/>
              <a:ea typeface="SimSun" panose="02010600030101010101" pitchFamily="2" charset="-122"/>
              <a:cs typeface="Calibri" panose="020F0502020204030204" pitchFamily="34" charset="0"/>
            </a:endParaRPr>
          </a:p>
        </p:txBody>
      </p:sp>
      <p:sp>
        <p:nvSpPr>
          <p:cNvPr id="12" name="Arrow: Right 11">
            <a:extLst>
              <a:ext uri="{FF2B5EF4-FFF2-40B4-BE49-F238E27FC236}">
                <a16:creationId xmlns:a16="http://schemas.microsoft.com/office/drawing/2014/main" id="{297225C9-8EC8-DC55-A98F-7E7F8D72ABC9}"/>
              </a:ext>
            </a:extLst>
          </p:cNvPr>
          <p:cNvSpPr/>
          <p:nvPr/>
        </p:nvSpPr>
        <p:spPr>
          <a:xfrm>
            <a:off x="6063411" y="2350128"/>
            <a:ext cx="516197" cy="27739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descr="A drawing of a dog&#10;&#10;Description automatically generated with low confidence">
            <a:extLst>
              <a:ext uri="{FF2B5EF4-FFF2-40B4-BE49-F238E27FC236}">
                <a16:creationId xmlns:a16="http://schemas.microsoft.com/office/drawing/2014/main" id="{22A3A9C2-593B-04CE-054B-FDE28164A99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599080" y="1711213"/>
            <a:ext cx="2378572" cy="1555220"/>
          </a:xfrm>
          <a:prstGeom prst="rect">
            <a:avLst/>
          </a:prstGeom>
        </p:spPr>
      </p:pic>
      <p:pic>
        <p:nvPicPr>
          <p:cNvPr id="4" name="Picture 3">
            <a:extLst>
              <a:ext uri="{FF2B5EF4-FFF2-40B4-BE49-F238E27FC236}">
                <a16:creationId xmlns:a16="http://schemas.microsoft.com/office/drawing/2014/main" id="{D65837BD-F1E1-F568-68DC-A551610F9C1C}"/>
              </a:ext>
            </a:extLst>
          </p:cNvPr>
          <p:cNvPicPr>
            <a:picLocks noChangeAspect="1"/>
          </p:cNvPicPr>
          <p:nvPr/>
        </p:nvPicPr>
        <p:blipFill>
          <a:blip r:embed="rId4"/>
          <a:srcRect r="26760"/>
          <a:stretch/>
        </p:blipFill>
        <p:spPr>
          <a:xfrm>
            <a:off x="6773996" y="1849908"/>
            <a:ext cx="1546457" cy="1416525"/>
          </a:xfrm>
          <a:prstGeom prst="rect">
            <a:avLst/>
          </a:prstGeom>
        </p:spPr>
      </p:pic>
      <p:pic>
        <p:nvPicPr>
          <p:cNvPr id="5" name="Picture 4" descr="A drawing of a bird&#10;&#10;Description automatically generated with low confidence">
            <a:extLst>
              <a:ext uri="{FF2B5EF4-FFF2-40B4-BE49-F238E27FC236}">
                <a16:creationId xmlns:a16="http://schemas.microsoft.com/office/drawing/2014/main" id="{037AD0BE-B7F8-4F40-3442-549E4708F6DA}"/>
              </a:ext>
            </a:extLst>
          </p:cNvPr>
          <p:cNvPicPr>
            <a:picLocks noChangeAspect="1"/>
          </p:cNvPicPr>
          <p:nvPr/>
        </p:nvPicPr>
        <p:blipFill>
          <a:blip r:embed="rId5" cstate="print">
            <a:extLst>
              <a:ext uri="{28A0092B-C50C-407E-A947-70E740481C1C}">
                <a14:useLocalDpi xmlns:a14="http://schemas.microsoft.com/office/drawing/2010/main" val="0"/>
              </a:ext>
            </a:extLst>
          </a:blip>
          <a:srcRect l="13375" r="19293"/>
          <a:stretch/>
        </p:blipFill>
        <p:spPr>
          <a:xfrm>
            <a:off x="3987595" y="3266433"/>
            <a:ext cx="1601541" cy="1555220"/>
          </a:xfrm>
          <a:prstGeom prst="rect">
            <a:avLst/>
          </a:prstGeom>
        </p:spPr>
      </p:pic>
      <p:sp>
        <p:nvSpPr>
          <p:cNvPr id="7" name="Arrow: Right 6">
            <a:extLst>
              <a:ext uri="{FF2B5EF4-FFF2-40B4-BE49-F238E27FC236}">
                <a16:creationId xmlns:a16="http://schemas.microsoft.com/office/drawing/2014/main" id="{C0718BE2-51EB-BAF4-EF6D-97FB4ABB7568}"/>
              </a:ext>
            </a:extLst>
          </p:cNvPr>
          <p:cNvSpPr/>
          <p:nvPr/>
        </p:nvSpPr>
        <p:spPr>
          <a:xfrm>
            <a:off x="6063410" y="3766653"/>
            <a:ext cx="516197" cy="27739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F670230D-1688-7DDC-EA97-E6BFDB9D70E6}"/>
              </a:ext>
            </a:extLst>
          </p:cNvPr>
          <p:cNvPicPr>
            <a:picLocks noChangeAspect="1"/>
          </p:cNvPicPr>
          <p:nvPr/>
        </p:nvPicPr>
        <p:blipFill>
          <a:blip r:embed="rId6"/>
          <a:stretch>
            <a:fillRect/>
          </a:stretch>
        </p:blipFill>
        <p:spPr>
          <a:xfrm>
            <a:off x="6957931" y="3497409"/>
            <a:ext cx="1644222" cy="1338943"/>
          </a:xfrm>
          <a:prstGeom prst="rect">
            <a:avLst/>
          </a:prstGeom>
        </p:spPr>
      </p:pic>
      <p:pic>
        <p:nvPicPr>
          <p:cNvPr id="15" name="Picture 14" descr="A picture containing diagram&#10;&#10;Description automatically generated">
            <a:extLst>
              <a:ext uri="{FF2B5EF4-FFF2-40B4-BE49-F238E27FC236}">
                <a16:creationId xmlns:a16="http://schemas.microsoft.com/office/drawing/2014/main" id="{04D9F56C-92BF-689D-96C0-D4C244F86377}"/>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699804" y="4821653"/>
            <a:ext cx="2248679" cy="1470290"/>
          </a:xfrm>
          <a:prstGeom prst="rect">
            <a:avLst/>
          </a:prstGeom>
        </p:spPr>
      </p:pic>
      <p:sp>
        <p:nvSpPr>
          <p:cNvPr id="16" name="Arrow: Right 15">
            <a:extLst>
              <a:ext uri="{FF2B5EF4-FFF2-40B4-BE49-F238E27FC236}">
                <a16:creationId xmlns:a16="http://schemas.microsoft.com/office/drawing/2014/main" id="{7D9D735F-9F5D-5A28-031D-B538C64F0BD8}"/>
              </a:ext>
            </a:extLst>
          </p:cNvPr>
          <p:cNvSpPr/>
          <p:nvPr/>
        </p:nvSpPr>
        <p:spPr>
          <a:xfrm>
            <a:off x="6063409" y="5279408"/>
            <a:ext cx="516197" cy="27739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a:extLst>
              <a:ext uri="{FF2B5EF4-FFF2-40B4-BE49-F238E27FC236}">
                <a16:creationId xmlns:a16="http://schemas.microsoft.com/office/drawing/2014/main" id="{FB4B03A6-BB8C-AEC0-F086-6D776FC05175}"/>
              </a:ext>
            </a:extLst>
          </p:cNvPr>
          <p:cNvPicPr>
            <a:picLocks noChangeAspect="1"/>
          </p:cNvPicPr>
          <p:nvPr/>
        </p:nvPicPr>
        <p:blipFill>
          <a:blip r:embed="rId8"/>
          <a:stretch>
            <a:fillRect/>
          </a:stretch>
        </p:blipFill>
        <p:spPr>
          <a:xfrm>
            <a:off x="6773996" y="4936762"/>
            <a:ext cx="1955854" cy="1416525"/>
          </a:xfrm>
          <a:prstGeom prst="rect">
            <a:avLst/>
          </a:prstGeom>
        </p:spPr>
      </p:pic>
    </p:spTree>
    <p:extLst>
      <p:ext uri="{BB962C8B-B14F-4D97-AF65-F5344CB8AC3E}">
        <p14:creationId xmlns:p14="http://schemas.microsoft.com/office/powerpoint/2010/main" val="5191474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C926BE-FAC1-30FC-2167-240012F68897}"/>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021633D6-CCF8-B0C9-B1E6-0BCE10ABC8D1}"/>
              </a:ext>
            </a:extLst>
          </p:cNvPr>
          <p:cNvSpPr/>
          <p:nvPr/>
        </p:nvSpPr>
        <p:spPr>
          <a:xfrm>
            <a:off x="-662329" y="1032424"/>
            <a:ext cx="5137051" cy="707886"/>
          </a:xfrm>
          <a:prstGeom prst="rect">
            <a:avLst/>
          </a:prstGeom>
          <a:noFill/>
        </p:spPr>
        <p:txBody>
          <a:bodyPr wrap="square" lIns="91440" tIns="45720" rIns="91440" bIns="45720">
            <a:spAutoFit/>
          </a:bodyPr>
          <a:lstStyle/>
          <a:p>
            <a:pPr algn="ctr"/>
            <a:r>
              <a:rPr lang="en-US" sz="40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rPr>
              <a:t>Study 3: Exp 2 </a:t>
            </a:r>
          </a:p>
        </p:txBody>
      </p:sp>
      <p:sp>
        <p:nvSpPr>
          <p:cNvPr id="2" name="TextBox 1">
            <a:extLst>
              <a:ext uri="{FF2B5EF4-FFF2-40B4-BE49-F238E27FC236}">
                <a16:creationId xmlns:a16="http://schemas.microsoft.com/office/drawing/2014/main" id="{AF027A70-7BC4-605C-8200-BC6B8587C3A1}"/>
              </a:ext>
            </a:extLst>
          </p:cNvPr>
          <p:cNvSpPr txBox="1"/>
          <p:nvPr/>
        </p:nvSpPr>
        <p:spPr>
          <a:xfrm>
            <a:off x="356742" y="1631453"/>
            <a:ext cx="4803087" cy="5399683"/>
          </a:xfrm>
          <a:prstGeom prst="rect">
            <a:avLst/>
          </a:prstGeom>
          <a:noFill/>
        </p:spPr>
        <p:txBody>
          <a:bodyPr wrap="square" rtlCol="0">
            <a:spAutoFit/>
          </a:bodyPr>
          <a:lstStyle/>
          <a:p>
            <a:r>
              <a:rPr lang="en-US" b="1" dirty="0">
                <a:solidFill>
                  <a:srgbClr val="000000"/>
                </a:solidFill>
                <a:latin typeface="Calibri" panose="020F0502020204030204" pitchFamily="34" charset="0"/>
                <a:ea typeface="SimSun" panose="02010600030101010101" pitchFamily="2" charset="-122"/>
                <a:cs typeface="Calibri" panose="020F0502020204030204" pitchFamily="34" charset="0"/>
              </a:rPr>
              <a:t>Research question:</a:t>
            </a:r>
          </a:p>
          <a:p>
            <a:r>
              <a:rPr lang="en-US" sz="1800" dirty="0">
                <a:effectLst/>
                <a:latin typeface="Times New Roman" panose="02020603050405020304" pitchFamily="18" charset="0"/>
                <a:ea typeface="SimSun" panose="02010600030101010101" pitchFamily="2" charset="-122"/>
                <a:cs typeface="Arial" panose="020B0604020202020204" pitchFamily="34" charset="0"/>
              </a:rPr>
              <a:t>We aim to investigate whether we can replicate the agent advantage effect using abstract fish mimicking the stimulus in the motion line experiment.</a:t>
            </a:r>
            <a:endParaRPr lang="en-US" dirty="0">
              <a:latin typeface="Times New Roman" panose="02020603050405020304" pitchFamily="18" charset="0"/>
              <a:ea typeface="SimSun" panose="02010600030101010101" pitchFamily="2" charset="-122"/>
            </a:endParaRPr>
          </a:p>
          <a:p>
            <a:pPr marL="0" marR="0">
              <a:lnSpc>
                <a:spcPct val="107000"/>
              </a:lnSpc>
              <a:spcAft>
                <a:spcPts val="800"/>
              </a:spcAft>
            </a:pPr>
            <a:r>
              <a:rPr lang="en-US" sz="1800" b="1" dirty="0">
                <a:effectLst/>
                <a:latin typeface="Times New Roman" panose="02020603050405020304" pitchFamily="18" charset="0"/>
                <a:ea typeface="Times New Roman" panose="02020603050405020304" pitchFamily="18" charset="0"/>
                <a:cs typeface="Arial" panose="020B0604020202020204" pitchFamily="34" charset="0"/>
              </a:rPr>
              <a:t>Hypotheses:</a:t>
            </a:r>
            <a:endParaRPr lang="en-US" sz="1800" b="1" dirty="0">
              <a:effectLst/>
              <a:latin typeface="Calibri" panose="020F0502020204030204" pitchFamily="34" charset="0"/>
              <a:ea typeface="SimSun" panose="02010600030101010101" pitchFamily="2" charset="-122"/>
              <a:cs typeface="Arial" panose="020B0604020202020204" pitchFamily="34" charset="0"/>
            </a:endParaRPr>
          </a:p>
          <a:p>
            <a:pPr marL="0" marR="0">
              <a:lnSpc>
                <a:spcPct val="107000"/>
              </a:lnSpc>
              <a:spcAft>
                <a:spcPts val="800"/>
              </a:spcAft>
            </a:pPr>
            <a:r>
              <a:rPr lang="en-US" sz="1800" dirty="0">
                <a:effectLst/>
                <a:latin typeface="Times New Roman" panose="02020603050405020304" pitchFamily="18" charset="0"/>
                <a:ea typeface="SimSun" panose="02010600030101010101" pitchFamily="2" charset="-122"/>
                <a:cs typeface="Arial" panose="020B0604020202020204" pitchFamily="34" charset="0"/>
              </a:rPr>
              <a:t>W</a:t>
            </a:r>
            <a:r>
              <a:rPr lang="en-US" sz="1800" dirty="0">
                <a:effectLst/>
                <a:latin typeface="Times New Roman" panose="02020603050405020304" pitchFamily="18" charset="0"/>
                <a:ea typeface="Times New Roman" panose="02020603050405020304" pitchFamily="18" charset="0"/>
                <a:cs typeface="Arial" panose="020B0604020202020204" pitchFamily="34" charset="0"/>
              </a:rPr>
              <a:t>e predict replicating the agent advantage effect as reported by </a:t>
            </a:r>
            <a:r>
              <a:rPr lang="en-US" sz="1800" dirty="0" err="1">
                <a:effectLst/>
                <a:latin typeface="Times New Roman" panose="02020603050405020304" pitchFamily="18" charset="0"/>
                <a:ea typeface="Times New Roman" panose="02020603050405020304" pitchFamily="18" charset="0"/>
                <a:cs typeface="Arial" panose="020B0604020202020204" pitchFamily="34" charset="0"/>
              </a:rPr>
              <a:t>Segalowitz</a:t>
            </a:r>
            <a:r>
              <a:rPr lang="en-US" sz="1800" dirty="0">
                <a:effectLst/>
                <a:latin typeface="Times New Roman" panose="02020603050405020304" pitchFamily="18" charset="0"/>
                <a:ea typeface="Times New Roman" panose="02020603050405020304" pitchFamily="18" charset="0"/>
                <a:cs typeface="Arial" panose="020B0604020202020204" pitchFamily="34" charset="0"/>
              </a:rPr>
              <a:t> (1982). Thus, participants should respond faster during agent search compared to patient search.</a:t>
            </a:r>
            <a:br>
              <a:rPr lang="en-US" dirty="0">
                <a:solidFill>
                  <a:srgbClr val="000000"/>
                </a:solidFill>
                <a:latin typeface="Calibri" panose="020F0502020204030204" pitchFamily="34" charset="0"/>
                <a:ea typeface="SimSun" panose="02010600030101010101" pitchFamily="2" charset="-122"/>
                <a:cs typeface="Calibri" panose="020F0502020204030204" pitchFamily="34" charset="0"/>
              </a:rPr>
            </a:br>
            <a:r>
              <a:rPr lang="en-US" b="1" dirty="0">
                <a:solidFill>
                  <a:srgbClr val="000000"/>
                </a:solidFill>
                <a:latin typeface="Calibri" panose="020F0502020204030204" pitchFamily="34" charset="0"/>
                <a:ea typeface="SimSun" panose="02010600030101010101" pitchFamily="2" charset="-122"/>
                <a:cs typeface="Calibri" panose="020F0502020204030204" pitchFamily="34" charset="0"/>
              </a:rPr>
              <a:t>Experiment Design:</a:t>
            </a:r>
          </a:p>
          <a:p>
            <a:r>
              <a:rPr lang="en-US" sz="1800" dirty="0">
                <a:effectLst/>
                <a:latin typeface="Times New Roman" panose="02020603050405020304" pitchFamily="18" charset="0"/>
                <a:ea typeface="SimSun" panose="02010600030101010101" pitchFamily="2" charset="-122"/>
              </a:rPr>
              <a:t>One factorial within-subjects design: we manipulate search task (agent search, patient search)</a:t>
            </a:r>
            <a:endParaRPr lang="en-US" b="1" dirty="0">
              <a:solidFill>
                <a:srgbClr val="000000"/>
              </a:solidFill>
              <a:latin typeface="Calibri" panose="020F0502020204030204" pitchFamily="34" charset="0"/>
              <a:ea typeface="SimSun" panose="02010600030101010101" pitchFamily="2" charset="-122"/>
              <a:cs typeface="Calibri" panose="020F0502020204030204" pitchFamily="34" charset="0"/>
            </a:endParaRPr>
          </a:p>
          <a:p>
            <a:r>
              <a:rPr lang="en-US" b="1" dirty="0">
                <a:solidFill>
                  <a:srgbClr val="000000"/>
                </a:solidFill>
                <a:latin typeface="Calibri" panose="020F0502020204030204" pitchFamily="34" charset="0"/>
                <a:ea typeface="SimSun" panose="02010600030101010101" pitchFamily="2" charset="-122"/>
                <a:cs typeface="Calibri" panose="020F0502020204030204" pitchFamily="34" charset="0"/>
              </a:rPr>
              <a:t>P</a:t>
            </a:r>
            <a:r>
              <a:rPr lang="en-US" altLang="zh-CN" b="1" dirty="0">
                <a:solidFill>
                  <a:srgbClr val="000000"/>
                </a:solidFill>
                <a:latin typeface="Calibri" panose="020F0502020204030204" pitchFamily="34" charset="0"/>
                <a:ea typeface="SimSun" panose="02010600030101010101" pitchFamily="2" charset="-122"/>
                <a:cs typeface="Calibri" panose="020F0502020204030204" pitchFamily="34" charset="0"/>
              </a:rPr>
              <a:t>articipants</a:t>
            </a:r>
            <a:r>
              <a:rPr lang="zh-CN" altLang="en-US" b="1" dirty="0">
                <a:solidFill>
                  <a:srgbClr val="000000"/>
                </a:solidFill>
                <a:latin typeface="Calibri" panose="020F0502020204030204" pitchFamily="34" charset="0"/>
                <a:ea typeface="SimSun" panose="02010600030101010101" pitchFamily="2" charset="-122"/>
                <a:cs typeface="Calibri" panose="020F0502020204030204" pitchFamily="34" charset="0"/>
              </a:rPr>
              <a:t>：</a:t>
            </a:r>
            <a:r>
              <a:rPr lang="en-US" altLang="zh-CN" dirty="0">
                <a:solidFill>
                  <a:srgbClr val="000000"/>
                </a:solidFill>
                <a:latin typeface="Calibri" panose="020F0502020204030204" pitchFamily="34" charset="0"/>
                <a:ea typeface="SimSun" panose="02010600030101010101" pitchFamily="2" charset="-122"/>
                <a:cs typeface="Calibri" panose="020F0502020204030204" pitchFamily="34" charset="0"/>
              </a:rPr>
              <a:t>24 </a:t>
            </a:r>
            <a:r>
              <a:rPr lang="en-US" dirty="0">
                <a:solidFill>
                  <a:srgbClr val="000000"/>
                </a:solidFill>
                <a:latin typeface="Calibri" panose="020F0502020204030204" pitchFamily="34" charset="0"/>
                <a:ea typeface="SimSun" panose="02010600030101010101" pitchFamily="2" charset="-122"/>
                <a:cs typeface="Calibri" panose="020F0502020204030204" pitchFamily="34" charset="0"/>
              </a:rPr>
              <a:t>participants to achieve 80% power</a:t>
            </a:r>
            <a:endParaRPr lang="en-US" altLang="zh-CN" b="1" dirty="0">
              <a:solidFill>
                <a:srgbClr val="000000"/>
              </a:solidFill>
              <a:latin typeface="Calibri" panose="020F0502020204030204" pitchFamily="34" charset="0"/>
              <a:ea typeface="SimSun" panose="02010600030101010101" pitchFamily="2" charset="-122"/>
              <a:cs typeface="Calibri" panose="020F0502020204030204" pitchFamily="34" charset="0"/>
            </a:endParaRPr>
          </a:p>
          <a:p>
            <a:br>
              <a:rPr lang="en-US" dirty="0">
                <a:solidFill>
                  <a:srgbClr val="000000"/>
                </a:solidFill>
                <a:latin typeface="Calibri" panose="020F0502020204030204" pitchFamily="34" charset="0"/>
                <a:ea typeface="SimSun" panose="02010600030101010101" pitchFamily="2" charset="-122"/>
                <a:cs typeface="Calibri" panose="020F0502020204030204" pitchFamily="34" charset="0"/>
              </a:rPr>
            </a:br>
            <a:endParaRPr lang="en-US" sz="1800" dirty="0">
              <a:effectLst/>
              <a:latin typeface="Calibri" panose="020F0502020204030204" pitchFamily="34" charset="0"/>
              <a:ea typeface="SimSun" panose="02010600030101010101" pitchFamily="2" charset="-122"/>
              <a:cs typeface="Arial" panose="020B0604020202020204" pitchFamily="34" charset="0"/>
            </a:endParaRPr>
          </a:p>
        </p:txBody>
      </p:sp>
      <p:sp>
        <p:nvSpPr>
          <p:cNvPr id="3" name="Rectangle 2">
            <a:extLst>
              <a:ext uri="{FF2B5EF4-FFF2-40B4-BE49-F238E27FC236}">
                <a16:creationId xmlns:a16="http://schemas.microsoft.com/office/drawing/2014/main" id="{C235BD6A-18C3-D89C-99AF-06C4D7ADC71C}"/>
              </a:ext>
            </a:extLst>
          </p:cNvPr>
          <p:cNvSpPr/>
          <p:nvPr/>
        </p:nvSpPr>
        <p:spPr>
          <a:xfrm>
            <a:off x="6491581" y="1296311"/>
            <a:ext cx="1541650" cy="83598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pic>
        <p:nvPicPr>
          <p:cNvPr id="5" name="Picture 4" descr="A red and black fish&#10;&#10;Description automatically generated">
            <a:extLst>
              <a:ext uri="{FF2B5EF4-FFF2-40B4-BE49-F238E27FC236}">
                <a16:creationId xmlns:a16="http://schemas.microsoft.com/office/drawing/2014/main" id="{8B7964F7-E4A0-3168-686F-A9780AE9F336}"/>
              </a:ext>
            </a:extLst>
          </p:cNvPr>
          <p:cNvPicPr>
            <a:picLocks noChangeAspect="1"/>
          </p:cNvPicPr>
          <p:nvPr/>
        </p:nvPicPr>
        <p:blipFill rotWithShape="1">
          <a:blip r:embed="rId2"/>
          <a:srcRect t="22346" r="10839" b="30635"/>
          <a:stretch/>
        </p:blipFill>
        <p:spPr>
          <a:xfrm>
            <a:off x="6929430" y="1516430"/>
            <a:ext cx="1013464" cy="506185"/>
          </a:xfrm>
          <a:prstGeom prst="rect">
            <a:avLst/>
          </a:prstGeom>
        </p:spPr>
      </p:pic>
      <p:sp>
        <p:nvSpPr>
          <p:cNvPr id="6" name="TextBox 5">
            <a:extLst>
              <a:ext uri="{FF2B5EF4-FFF2-40B4-BE49-F238E27FC236}">
                <a16:creationId xmlns:a16="http://schemas.microsoft.com/office/drawing/2014/main" id="{86115CC7-302D-639E-E547-81A10A54F952}"/>
              </a:ext>
            </a:extLst>
          </p:cNvPr>
          <p:cNvSpPr txBox="1"/>
          <p:nvPr/>
        </p:nvSpPr>
        <p:spPr>
          <a:xfrm>
            <a:off x="5044276" y="1417144"/>
            <a:ext cx="1541650" cy="646331"/>
          </a:xfrm>
          <a:prstGeom prst="rect">
            <a:avLst/>
          </a:prstGeom>
          <a:noFill/>
        </p:spPr>
        <p:txBody>
          <a:bodyPr wrap="square" rtlCol="0">
            <a:spAutoFit/>
          </a:bodyPr>
          <a:lstStyle/>
          <a:p>
            <a:r>
              <a:rPr lang="en-US" sz="1800" dirty="0">
                <a:solidFill>
                  <a:srgbClr val="000000"/>
                </a:solidFill>
                <a:effectLst/>
                <a:latin typeface="Calibri" panose="020F0502020204030204" pitchFamily="34" charset="0"/>
                <a:ea typeface="SimSun" panose="02010600030101010101" pitchFamily="2" charset="-122"/>
                <a:cs typeface="Calibri" panose="020F0502020204030204" pitchFamily="34" charset="0"/>
              </a:rPr>
              <a:t>Agent</a:t>
            </a:r>
            <a:r>
              <a:rPr lang="en-US" dirty="0">
                <a:solidFill>
                  <a:srgbClr val="000000"/>
                </a:solidFill>
                <a:latin typeface="Calibri" panose="020F0502020204030204" pitchFamily="34" charset="0"/>
                <a:ea typeface="SimSun" panose="02010600030101010101" pitchFamily="2" charset="-122"/>
                <a:cs typeface="Calibri" panose="020F0502020204030204" pitchFamily="34" charset="0"/>
              </a:rPr>
              <a:t>/P</a:t>
            </a:r>
            <a:r>
              <a:rPr lang="en-US" altLang="zh-CN" dirty="0">
                <a:solidFill>
                  <a:srgbClr val="000000"/>
                </a:solidFill>
                <a:latin typeface="Calibri" panose="020F0502020204030204" pitchFamily="34" charset="0"/>
                <a:ea typeface="SimSun" panose="02010600030101010101" pitchFamily="2" charset="-122"/>
                <a:cs typeface="Calibri" panose="020F0502020204030204" pitchFamily="34" charset="0"/>
              </a:rPr>
              <a:t>atient Search</a:t>
            </a:r>
            <a:endParaRPr lang="en-US"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FADADF08-D6F2-2842-F6B0-6AAB4C41ADEA}"/>
              </a:ext>
            </a:extLst>
          </p:cNvPr>
          <p:cNvSpPr txBox="1"/>
          <p:nvPr/>
        </p:nvSpPr>
        <p:spPr>
          <a:xfrm>
            <a:off x="5044276" y="4824570"/>
            <a:ext cx="2028664" cy="369332"/>
          </a:xfrm>
          <a:prstGeom prst="rect">
            <a:avLst/>
          </a:prstGeom>
          <a:noFill/>
        </p:spPr>
        <p:txBody>
          <a:bodyPr wrap="square" rtlCol="0">
            <a:spAutoFit/>
          </a:bodyPr>
          <a:lstStyle/>
          <a:p>
            <a:r>
              <a:rPr lang="en-US" sz="1800" dirty="0">
                <a:solidFill>
                  <a:srgbClr val="000000"/>
                </a:solidFill>
                <a:effectLst/>
                <a:latin typeface="Calibri" panose="020F0502020204030204" pitchFamily="34" charset="0"/>
                <a:ea typeface="SimSun" panose="02010600030101010101" pitchFamily="2" charset="-122"/>
                <a:cs typeface="Calibri" panose="020F0502020204030204" pitchFamily="34" charset="0"/>
              </a:rPr>
              <a:t>500 </a:t>
            </a:r>
            <a:r>
              <a:rPr lang="en-US" sz="1800" dirty="0" err="1">
                <a:solidFill>
                  <a:srgbClr val="000000"/>
                </a:solidFill>
                <a:effectLst/>
                <a:latin typeface="Calibri" panose="020F0502020204030204" pitchFamily="34" charset="0"/>
                <a:ea typeface="SimSun" panose="02010600030101010101" pitchFamily="2" charset="-122"/>
                <a:cs typeface="Calibri" panose="020F0502020204030204" pitchFamily="34" charset="0"/>
              </a:rPr>
              <a:t>ms</a:t>
            </a:r>
            <a:endParaRPr lang="en-US" dirty="0">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BC7C3DC3-EA07-4671-D1AF-E4D026954C42}"/>
              </a:ext>
            </a:extLst>
          </p:cNvPr>
          <p:cNvSpPr txBox="1"/>
          <p:nvPr/>
        </p:nvSpPr>
        <p:spPr>
          <a:xfrm>
            <a:off x="5010527" y="2520602"/>
            <a:ext cx="1659469" cy="369332"/>
          </a:xfrm>
          <a:prstGeom prst="rect">
            <a:avLst/>
          </a:prstGeom>
          <a:noFill/>
        </p:spPr>
        <p:txBody>
          <a:bodyPr wrap="square" rtlCol="0">
            <a:spAutoFit/>
          </a:bodyPr>
          <a:lstStyle/>
          <a:p>
            <a:r>
              <a:rPr lang="en-US" dirty="0">
                <a:solidFill>
                  <a:srgbClr val="000000"/>
                </a:solidFill>
                <a:latin typeface="Calibri" panose="020F0502020204030204" pitchFamily="34" charset="0"/>
                <a:ea typeface="SimSun" panose="02010600030101010101" pitchFamily="2" charset="-122"/>
                <a:cs typeface="Calibri" panose="020F0502020204030204" pitchFamily="34" charset="0"/>
              </a:rPr>
              <a:t>K</a:t>
            </a:r>
            <a:r>
              <a:rPr lang="en-US" altLang="zh-CN" dirty="0">
                <a:solidFill>
                  <a:srgbClr val="000000"/>
                </a:solidFill>
                <a:latin typeface="Calibri" panose="020F0502020204030204" pitchFamily="34" charset="0"/>
                <a:ea typeface="SimSun" panose="02010600030101010101" pitchFamily="2" charset="-122"/>
                <a:cs typeface="Calibri" panose="020F0502020204030204" pitchFamily="34" charset="0"/>
              </a:rPr>
              <a:t>ey Response</a:t>
            </a:r>
            <a:endParaRPr lang="en-US" dirty="0">
              <a:latin typeface="Calibri" panose="020F0502020204030204" pitchFamily="34" charset="0"/>
              <a:cs typeface="Calibri" panose="020F0502020204030204" pitchFamily="34" charset="0"/>
            </a:endParaRPr>
          </a:p>
        </p:txBody>
      </p:sp>
      <p:sp>
        <p:nvSpPr>
          <p:cNvPr id="9" name="Rectangle 8">
            <a:extLst>
              <a:ext uri="{FF2B5EF4-FFF2-40B4-BE49-F238E27FC236}">
                <a16:creationId xmlns:a16="http://schemas.microsoft.com/office/drawing/2014/main" id="{C0890263-DDC8-874D-FA6C-02797DD2E3CE}"/>
              </a:ext>
            </a:extLst>
          </p:cNvPr>
          <p:cNvSpPr/>
          <p:nvPr/>
        </p:nvSpPr>
        <p:spPr>
          <a:xfrm>
            <a:off x="6492799" y="2444401"/>
            <a:ext cx="1541650" cy="83598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10" name="TextBox 9">
            <a:extLst>
              <a:ext uri="{FF2B5EF4-FFF2-40B4-BE49-F238E27FC236}">
                <a16:creationId xmlns:a16="http://schemas.microsoft.com/office/drawing/2014/main" id="{99547D95-46CB-901A-5C9B-58E16DEE82B8}"/>
              </a:ext>
            </a:extLst>
          </p:cNvPr>
          <p:cNvSpPr txBox="1"/>
          <p:nvPr/>
        </p:nvSpPr>
        <p:spPr>
          <a:xfrm>
            <a:off x="6491581" y="1336637"/>
            <a:ext cx="1153008" cy="276999"/>
          </a:xfrm>
          <a:prstGeom prst="rect">
            <a:avLst/>
          </a:prstGeom>
          <a:noFill/>
        </p:spPr>
        <p:txBody>
          <a:bodyPr wrap="none" rtlCol="0">
            <a:spAutoFit/>
          </a:bodyPr>
          <a:lstStyle/>
          <a:p>
            <a:r>
              <a:rPr lang="en-US" sz="1200" b="1" dirty="0">
                <a:solidFill>
                  <a:srgbClr val="000000"/>
                </a:solidFill>
                <a:latin typeface="Open Sans" panose="020B0606030504020204" pitchFamily="34" charset="0"/>
                <a:ea typeface="Open Sans" panose="020B0606030504020204" pitchFamily="34" charset="0"/>
                <a:cs typeface="Open Sans" panose="020B0606030504020204" pitchFamily="34" charset="0"/>
              </a:rPr>
              <a:t>Introduction</a:t>
            </a:r>
          </a:p>
        </p:txBody>
      </p:sp>
      <p:sp>
        <p:nvSpPr>
          <p:cNvPr id="14" name="Rectangle 13">
            <a:extLst>
              <a:ext uri="{FF2B5EF4-FFF2-40B4-BE49-F238E27FC236}">
                <a16:creationId xmlns:a16="http://schemas.microsoft.com/office/drawing/2014/main" id="{746D4472-44CF-5D13-4EAB-924363A51FB3}"/>
              </a:ext>
            </a:extLst>
          </p:cNvPr>
          <p:cNvSpPr/>
          <p:nvPr/>
        </p:nvSpPr>
        <p:spPr>
          <a:xfrm>
            <a:off x="6488153" y="3659388"/>
            <a:ext cx="1541650" cy="83598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BA4F7CDF-F08A-908F-8EDB-CD5C865B416F}"/>
              </a:ext>
            </a:extLst>
          </p:cNvPr>
          <p:cNvSpPr/>
          <p:nvPr/>
        </p:nvSpPr>
        <p:spPr>
          <a:xfrm>
            <a:off x="6488153" y="4878641"/>
            <a:ext cx="1541650" cy="95352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pic>
        <p:nvPicPr>
          <p:cNvPr id="16" name="Picture 15" descr="A black and white image of a nice line&#10;&#10;Description automatically generated">
            <a:extLst>
              <a:ext uri="{FF2B5EF4-FFF2-40B4-BE49-F238E27FC236}">
                <a16:creationId xmlns:a16="http://schemas.microsoft.com/office/drawing/2014/main" id="{05CFED78-AAED-3EA8-30B7-AD2B1CC6F5F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597567" y="4996388"/>
            <a:ext cx="1322821" cy="744087"/>
          </a:xfrm>
          <a:prstGeom prst="rect">
            <a:avLst/>
          </a:prstGeom>
        </p:spPr>
      </p:pic>
      <p:sp>
        <p:nvSpPr>
          <p:cNvPr id="17" name="TextBox 16">
            <a:extLst>
              <a:ext uri="{FF2B5EF4-FFF2-40B4-BE49-F238E27FC236}">
                <a16:creationId xmlns:a16="http://schemas.microsoft.com/office/drawing/2014/main" id="{62E38559-7FA2-4C61-60DF-D049E3BBC148}"/>
              </a:ext>
            </a:extLst>
          </p:cNvPr>
          <p:cNvSpPr txBox="1"/>
          <p:nvPr/>
        </p:nvSpPr>
        <p:spPr>
          <a:xfrm>
            <a:off x="5044276" y="3690569"/>
            <a:ext cx="1167533" cy="369332"/>
          </a:xfrm>
          <a:prstGeom prst="rect">
            <a:avLst/>
          </a:prstGeom>
          <a:noFill/>
        </p:spPr>
        <p:txBody>
          <a:bodyPr wrap="square" rtlCol="0">
            <a:spAutoFit/>
          </a:bodyPr>
          <a:lstStyle/>
          <a:p>
            <a:r>
              <a:rPr lang="en-US" dirty="0">
                <a:solidFill>
                  <a:srgbClr val="000000"/>
                </a:solidFill>
                <a:latin typeface="Calibri" panose="020F0502020204030204" pitchFamily="34" charset="0"/>
                <a:ea typeface="SimSun" panose="02010600030101010101" pitchFamily="2" charset="-122"/>
                <a:cs typeface="Calibri" panose="020F0502020204030204" pitchFamily="34" charset="0"/>
              </a:rPr>
              <a:t>Feedback</a:t>
            </a:r>
            <a:endParaRPr lang="en-US" dirty="0">
              <a:latin typeface="Calibri" panose="020F0502020204030204" pitchFamily="34" charset="0"/>
              <a:cs typeface="Calibri" panose="020F0502020204030204" pitchFamily="34" charset="0"/>
            </a:endParaRPr>
          </a:p>
        </p:txBody>
      </p:sp>
      <p:sp>
        <p:nvSpPr>
          <p:cNvPr id="18" name="TextBox 17">
            <a:extLst>
              <a:ext uri="{FF2B5EF4-FFF2-40B4-BE49-F238E27FC236}">
                <a16:creationId xmlns:a16="http://schemas.microsoft.com/office/drawing/2014/main" id="{B392B634-49A7-44C9-4B68-C31246A6C8F5}"/>
              </a:ext>
            </a:extLst>
          </p:cNvPr>
          <p:cNvSpPr txBox="1"/>
          <p:nvPr/>
        </p:nvSpPr>
        <p:spPr>
          <a:xfrm>
            <a:off x="6782855" y="3944434"/>
            <a:ext cx="986489" cy="276999"/>
          </a:xfrm>
          <a:prstGeom prst="rect">
            <a:avLst/>
          </a:prstGeom>
          <a:noFill/>
        </p:spPr>
        <p:txBody>
          <a:bodyPr wrap="none" rtlCol="0">
            <a:spAutoFit/>
          </a:bodyPr>
          <a:lstStyle/>
          <a:p>
            <a:r>
              <a:rPr lang="en-US" sz="1200" b="1" dirty="0">
                <a:solidFill>
                  <a:srgbClr val="000000"/>
                </a:solidFill>
                <a:latin typeface="Open Sans" panose="020B0606030504020204" pitchFamily="34" charset="0"/>
                <a:ea typeface="Open Sans" panose="020B0606030504020204" pitchFamily="34" charset="0"/>
                <a:cs typeface="Open Sans" panose="020B0606030504020204" pitchFamily="34" charset="0"/>
              </a:rPr>
              <a:t>True/False</a:t>
            </a:r>
          </a:p>
        </p:txBody>
      </p:sp>
      <p:cxnSp>
        <p:nvCxnSpPr>
          <p:cNvPr id="19" name="Straight Arrow Connector 18">
            <a:extLst>
              <a:ext uri="{FF2B5EF4-FFF2-40B4-BE49-F238E27FC236}">
                <a16:creationId xmlns:a16="http://schemas.microsoft.com/office/drawing/2014/main" id="{A2C70F71-CCC7-8F60-EDD2-D729BA324898}"/>
              </a:ext>
            </a:extLst>
          </p:cNvPr>
          <p:cNvCxnSpPr>
            <a:cxnSpLocks/>
          </p:cNvCxnSpPr>
          <p:nvPr/>
        </p:nvCxnSpPr>
        <p:spPr>
          <a:xfrm>
            <a:off x="7700843" y="4021919"/>
            <a:ext cx="570221" cy="55462"/>
          </a:xfrm>
          <a:prstGeom prst="straightConnector1">
            <a:avLst/>
          </a:prstGeom>
          <a:ln w="19050">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20" name="TextBox 19">
            <a:extLst>
              <a:ext uri="{FF2B5EF4-FFF2-40B4-BE49-F238E27FC236}">
                <a16:creationId xmlns:a16="http://schemas.microsoft.com/office/drawing/2014/main" id="{E7ACD365-EF2A-DC86-419D-A6F6E70BEEE1}"/>
              </a:ext>
            </a:extLst>
          </p:cNvPr>
          <p:cNvSpPr txBox="1"/>
          <p:nvPr/>
        </p:nvSpPr>
        <p:spPr>
          <a:xfrm>
            <a:off x="8271064" y="3849043"/>
            <a:ext cx="1032387" cy="646331"/>
          </a:xfrm>
          <a:prstGeom prst="rect">
            <a:avLst/>
          </a:prstGeom>
          <a:noFill/>
        </p:spPr>
        <p:txBody>
          <a:bodyPr wrap="square" rtlCol="0">
            <a:spAutoFit/>
          </a:bodyPr>
          <a:lstStyle/>
          <a:p>
            <a:r>
              <a:rPr lang="en-US" sz="1200" b="1" dirty="0">
                <a:solidFill>
                  <a:srgbClr val="FF0000"/>
                </a:solidFill>
                <a:latin typeface="Open Sans" panose="020B0606030504020204" pitchFamily="34" charset="0"/>
                <a:ea typeface="Open Sans" panose="020B0606030504020204" pitchFamily="34" charset="0"/>
                <a:cs typeface="Open Sans" panose="020B0606030504020204" pitchFamily="34" charset="0"/>
              </a:rPr>
              <a:t>Only for</a:t>
            </a:r>
          </a:p>
          <a:p>
            <a:r>
              <a:rPr lang="en-US" sz="1200" b="1" dirty="0">
                <a:solidFill>
                  <a:srgbClr val="FF0000"/>
                </a:solidFill>
                <a:latin typeface="Open Sans" panose="020B0606030504020204" pitchFamily="34" charset="0"/>
                <a:ea typeface="Open Sans" panose="020B0606030504020204" pitchFamily="34" charset="0"/>
                <a:cs typeface="Open Sans" panose="020B0606030504020204" pitchFamily="34" charset="0"/>
              </a:rPr>
              <a:t>Practice Trials</a:t>
            </a:r>
          </a:p>
        </p:txBody>
      </p:sp>
      <p:pic>
        <p:nvPicPr>
          <p:cNvPr id="24" name="Picture 23">
            <a:extLst>
              <a:ext uri="{FF2B5EF4-FFF2-40B4-BE49-F238E27FC236}">
                <a16:creationId xmlns:a16="http://schemas.microsoft.com/office/drawing/2014/main" id="{B24C6D1F-FDE3-375D-8397-BE6D96CF7F0D}"/>
              </a:ext>
            </a:extLst>
          </p:cNvPr>
          <p:cNvPicPr>
            <a:picLocks noChangeAspect="1"/>
          </p:cNvPicPr>
          <p:nvPr/>
        </p:nvPicPr>
        <p:blipFill>
          <a:blip r:embed="rId4"/>
          <a:srcRect r="26760"/>
          <a:stretch/>
        </p:blipFill>
        <p:spPr>
          <a:xfrm>
            <a:off x="6782855" y="2545131"/>
            <a:ext cx="704490" cy="645299"/>
          </a:xfrm>
          <a:prstGeom prst="rect">
            <a:avLst/>
          </a:prstGeom>
        </p:spPr>
      </p:pic>
    </p:spTree>
    <p:extLst>
      <p:ext uri="{BB962C8B-B14F-4D97-AF65-F5344CB8AC3E}">
        <p14:creationId xmlns:p14="http://schemas.microsoft.com/office/powerpoint/2010/main" val="368132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F6E20A-8426-1BBB-7099-D29A69A94D6E}"/>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8CA6E493-2156-E3C8-AE6B-DBA4F2888E35}"/>
              </a:ext>
            </a:extLst>
          </p:cNvPr>
          <p:cNvSpPr/>
          <p:nvPr/>
        </p:nvSpPr>
        <p:spPr>
          <a:xfrm>
            <a:off x="0" y="881981"/>
            <a:ext cx="2457421" cy="707886"/>
          </a:xfrm>
          <a:prstGeom prst="rect">
            <a:avLst/>
          </a:prstGeom>
          <a:noFill/>
        </p:spPr>
        <p:txBody>
          <a:bodyPr wrap="square" lIns="91440" tIns="45720" rIns="91440" bIns="45720">
            <a:spAutoFit/>
          </a:bodyPr>
          <a:lstStyle/>
          <a:p>
            <a:pPr algn="ctr"/>
            <a:r>
              <a:rPr lang="en-US" sz="40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rPr>
              <a:t>R</a:t>
            </a:r>
            <a:r>
              <a:rPr lang="en-US" altLang="zh-CN" sz="40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rPr>
              <a:t>esults</a:t>
            </a:r>
            <a:endParaRPr lang="en-US" sz="40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14" name="矩形 15">
            <a:extLst>
              <a:ext uri="{FF2B5EF4-FFF2-40B4-BE49-F238E27FC236}">
                <a16:creationId xmlns:a16="http://schemas.microsoft.com/office/drawing/2014/main" id="{56DDCA86-CB33-1A90-0660-F8DCC2670F9B}"/>
              </a:ext>
            </a:extLst>
          </p:cNvPr>
          <p:cNvSpPr>
            <a:spLocks noChangeArrowheads="1"/>
          </p:cNvSpPr>
          <p:nvPr/>
        </p:nvSpPr>
        <p:spPr bwMode="auto">
          <a:xfrm>
            <a:off x="1423826" y="5344095"/>
            <a:ext cx="289780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911225">
              <a:defRPr>
                <a:solidFill>
                  <a:schemeClr val="tx1"/>
                </a:solidFill>
                <a:latin typeface="Calibri" panose="020F0502020204030204" pitchFamily="34" charset="0"/>
                <a:ea typeface="宋体" panose="02010600030101010101" pitchFamily="2" charset="-122"/>
              </a:defRPr>
            </a:lvl1pPr>
            <a:lvl2pPr marL="742950" indent="-285750" defTabSz="911225">
              <a:defRPr>
                <a:solidFill>
                  <a:schemeClr val="tx1"/>
                </a:solidFill>
                <a:latin typeface="Calibri" panose="020F0502020204030204" pitchFamily="34" charset="0"/>
                <a:ea typeface="宋体" panose="02010600030101010101" pitchFamily="2" charset="-122"/>
              </a:defRPr>
            </a:lvl2pPr>
            <a:lvl3pPr marL="1143000" indent="-228600" defTabSz="911225">
              <a:defRPr>
                <a:solidFill>
                  <a:schemeClr val="tx1"/>
                </a:solidFill>
                <a:latin typeface="Calibri" panose="020F0502020204030204" pitchFamily="34" charset="0"/>
                <a:ea typeface="宋体" panose="02010600030101010101" pitchFamily="2" charset="-122"/>
              </a:defRPr>
            </a:lvl3pPr>
            <a:lvl4pPr marL="1600200" indent="-228600" defTabSz="911225">
              <a:defRPr>
                <a:solidFill>
                  <a:schemeClr val="tx1"/>
                </a:solidFill>
                <a:latin typeface="Calibri" panose="020F0502020204030204" pitchFamily="34" charset="0"/>
                <a:ea typeface="宋体" panose="02010600030101010101" pitchFamily="2" charset="-122"/>
              </a:defRPr>
            </a:lvl4pPr>
            <a:lvl5pPr marL="2057400" indent="-228600" defTabSz="911225">
              <a:defRPr>
                <a:solidFill>
                  <a:schemeClr val="tx1"/>
                </a:solidFill>
                <a:latin typeface="Calibri" panose="020F0502020204030204" pitchFamily="34" charset="0"/>
                <a:ea typeface="宋体" panose="02010600030101010101" pitchFamily="2" charset="-122"/>
              </a:defRPr>
            </a:lvl5pPr>
            <a:lvl6pPr marL="25146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l"/>
            <a:r>
              <a:rPr lang="en-US" altLang="zh-CN" b="1" i="1" dirty="0">
                <a:effectLst>
                  <a:innerShdw blurRad="63500" dist="50800">
                    <a:prstClr val="black">
                      <a:alpha val="50000"/>
                    </a:prstClr>
                  </a:innerShdw>
                </a:effectLst>
                <a:latin typeface="open sans" panose="020B0606030504020204" pitchFamily="34" charset="0"/>
              </a:rPr>
              <a:t>t</a:t>
            </a:r>
            <a:r>
              <a:rPr lang="en-US" altLang="zh-CN" b="1" dirty="0">
                <a:effectLst>
                  <a:innerShdw blurRad="63500" dist="50800">
                    <a:prstClr val="black">
                      <a:alpha val="50000"/>
                    </a:prstClr>
                  </a:innerShdw>
                </a:effectLst>
                <a:latin typeface="open sans" panose="020B0606030504020204" pitchFamily="34" charset="0"/>
              </a:rPr>
              <a:t>(23) = -4.41</a:t>
            </a:r>
            <a:r>
              <a:rPr lang="en-US" altLang="zh-CN" b="1" dirty="0">
                <a:solidFill>
                  <a:srgbClr val="FF0000"/>
                </a:solidFill>
                <a:effectLst>
                  <a:innerShdw blurRad="63500" dist="50800">
                    <a:prstClr val="black">
                      <a:alpha val="50000"/>
                    </a:prstClr>
                  </a:innerShdw>
                </a:effectLst>
                <a:latin typeface="open sans" panose="020B0606030504020204" pitchFamily="34" charset="0"/>
              </a:rPr>
              <a:t>, </a:t>
            </a:r>
            <a:r>
              <a:rPr lang="en-US" altLang="zh-CN" b="1" i="1" dirty="0">
                <a:solidFill>
                  <a:srgbClr val="FF0000"/>
                </a:solidFill>
                <a:effectLst>
                  <a:innerShdw blurRad="63500" dist="50800">
                    <a:prstClr val="black">
                      <a:alpha val="50000"/>
                    </a:prstClr>
                  </a:innerShdw>
                </a:effectLst>
                <a:latin typeface="open sans" panose="020B0606030504020204" pitchFamily="34" charset="0"/>
              </a:rPr>
              <a:t>p</a:t>
            </a:r>
            <a:r>
              <a:rPr lang="en-US" altLang="zh-CN" b="1" dirty="0">
                <a:solidFill>
                  <a:srgbClr val="FF0000"/>
                </a:solidFill>
                <a:effectLst>
                  <a:innerShdw blurRad="63500" dist="50800">
                    <a:prstClr val="black">
                      <a:alpha val="50000"/>
                    </a:prstClr>
                  </a:innerShdw>
                </a:effectLst>
                <a:latin typeface="open sans" panose="020B0606030504020204" pitchFamily="34" charset="0"/>
              </a:rPr>
              <a:t> &lt; .001</a:t>
            </a:r>
          </a:p>
        </p:txBody>
      </p:sp>
      <p:graphicFrame>
        <p:nvGraphicFramePr>
          <p:cNvPr id="5" name="Table 4">
            <a:extLst>
              <a:ext uri="{FF2B5EF4-FFF2-40B4-BE49-F238E27FC236}">
                <a16:creationId xmlns:a16="http://schemas.microsoft.com/office/drawing/2014/main" id="{2A472493-31BE-C0EC-7681-5B88D89B246E}"/>
              </a:ext>
            </a:extLst>
          </p:cNvPr>
          <p:cNvGraphicFramePr>
            <a:graphicFrameLocks noGrp="1"/>
          </p:cNvGraphicFramePr>
          <p:nvPr>
            <p:extLst>
              <p:ext uri="{D42A27DB-BD31-4B8C-83A1-F6EECF244321}">
                <p14:modId xmlns:p14="http://schemas.microsoft.com/office/powerpoint/2010/main" val="1265958487"/>
              </p:ext>
            </p:extLst>
          </p:nvPr>
        </p:nvGraphicFramePr>
        <p:xfrm>
          <a:off x="4762559" y="2884714"/>
          <a:ext cx="4065756" cy="1664501"/>
        </p:xfrm>
        <a:graphic>
          <a:graphicData uri="http://schemas.openxmlformats.org/drawingml/2006/table">
            <a:tbl>
              <a:tblPr firstRow="1" bandRow="1">
                <a:tableStyleId>{72833802-FEF1-4C79-8D5D-14CF1EAF98D9}</a:tableStyleId>
              </a:tblPr>
              <a:tblGrid>
                <a:gridCol w="1355252">
                  <a:extLst>
                    <a:ext uri="{9D8B030D-6E8A-4147-A177-3AD203B41FA5}">
                      <a16:colId xmlns:a16="http://schemas.microsoft.com/office/drawing/2014/main" val="1009955955"/>
                    </a:ext>
                  </a:extLst>
                </a:gridCol>
                <a:gridCol w="1355252">
                  <a:extLst>
                    <a:ext uri="{9D8B030D-6E8A-4147-A177-3AD203B41FA5}">
                      <a16:colId xmlns:a16="http://schemas.microsoft.com/office/drawing/2014/main" val="1410870798"/>
                    </a:ext>
                  </a:extLst>
                </a:gridCol>
                <a:gridCol w="1355252">
                  <a:extLst>
                    <a:ext uri="{9D8B030D-6E8A-4147-A177-3AD203B41FA5}">
                      <a16:colId xmlns:a16="http://schemas.microsoft.com/office/drawing/2014/main" val="1469460153"/>
                    </a:ext>
                  </a:extLst>
                </a:gridCol>
              </a:tblGrid>
              <a:tr h="384341">
                <a:tc>
                  <a:txBody>
                    <a:bodyPr/>
                    <a:lstStyle/>
                    <a:p>
                      <a:pPr algn="ctr"/>
                      <a:r>
                        <a:rPr lang="en-US" dirty="0">
                          <a:effectLst/>
                        </a:rPr>
                        <a:t>Search </a:t>
                      </a:r>
                      <a:endParaRPr lang="en-US" dirty="0"/>
                    </a:p>
                  </a:txBody>
                  <a:tcPr/>
                </a:tc>
                <a:tc>
                  <a:txBody>
                    <a:bodyPr/>
                    <a:lstStyle/>
                    <a:p>
                      <a:pPr algn="ctr"/>
                      <a:r>
                        <a:rPr lang="en-US" dirty="0" err="1">
                          <a:effectLst/>
                        </a:rPr>
                        <a:t>RT</a:t>
                      </a:r>
                      <a:r>
                        <a:rPr lang="en-US" sz="1200" u="none" dirty="0" err="1">
                          <a:effectLst>
                            <a:outerShdw blurRad="38100" dist="38100" dir="2700000" algn="tl">
                              <a:srgbClr val="000000">
                                <a:alpha val="43137"/>
                              </a:srgbClr>
                            </a:outerShdw>
                          </a:effectLst>
                        </a:rPr>
                        <a:t>Mean</a:t>
                      </a:r>
                      <a:r>
                        <a:rPr lang="en-US" dirty="0">
                          <a:effectLst/>
                        </a:rPr>
                        <a:t> </a:t>
                      </a:r>
                      <a:endParaRPr 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effectLst/>
                        </a:rPr>
                        <a:t>RT</a:t>
                      </a:r>
                      <a:r>
                        <a:rPr lang="en-US" sz="1200" u="none" dirty="0">
                          <a:effectLst>
                            <a:outerShdw blurRad="38100" dist="38100" dir="2700000" algn="tl">
                              <a:srgbClr val="000000">
                                <a:alpha val="43137"/>
                              </a:srgbClr>
                            </a:outerShdw>
                          </a:effectLst>
                        </a:rPr>
                        <a:t>SD</a:t>
                      </a:r>
                      <a:r>
                        <a:rPr lang="en-US" dirty="0">
                          <a:effectLst/>
                        </a:rPr>
                        <a:t> </a:t>
                      </a:r>
                      <a:endParaRPr lang="en-US" dirty="0"/>
                    </a:p>
                  </a:txBody>
                  <a:tcPr/>
                </a:tc>
                <a:extLst>
                  <a:ext uri="{0D108BD9-81ED-4DB2-BD59-A6C34878D82A}">
                    <a16:rowId xmlns:a16="http://schemas.microsoft.com/office/drawing/2014/main" val="2569407630"/>
                  </a:ext>
                </a:extLst>
              </a:tr>
              <a:tr h="629701">
                <a:tc>
                  <a:txBody>
                    <a:bodyPr/>
                    <a:lstStyle/>
                    <a:p>
                      <a:pPr algn="ctr"/>
                      <a:r>
                        <a:rPr lang="en-US" dirty="0">
                          <a:effectLst/>
                        </a:rPr>
                        <a:t>Agent search</a:t>
                      </a:r>
                      <a:endParaRPr lang="en-US" dirty="0"/>
                    </a:p>
                  </a:txBody>
                  <a:tcPr/>
                </a:tc>
                <a:tc>
                  <a:txBody>
                    <a:bodyPr/>
                    <a:lstStyle/>
                    <a:p>
                      <a:pPr algn="ctr"/>
                      <a:r>
                        <a:rPr lang="en-US" dirty="0">
                          <a:effectLst/>
                        </a:rPr>
                        <a:t>660</a:t>
                      </a:r>
                      <a:endParaRPr lang="en-US" dirty="0"/>
                    </a:p>
                  </a:txBody>
                  <a:tcPr/>
                </a:tc>
                <a:tc>
                  <a:txBody>
                    <a:bodyPr/>
                    <a:lstStyle/>
                    <a:p>
                      <a:pPr algn="ctr"/>
                      <a:r>
                        <a:rPr lang="en-US" dirty="0">
                          <a:effectLst/>
                        </a:rPr>
                        <a:t>102</a:t>
                      </a:r>
                      <a:endParaRPr lang="en-US" dirty="0"/>
                    </a:p>
                  </a:txBody>
                  <a:tcPr/>
                </a:tc>
                <a:extLst>
                  <a:ext uri="{0D108BD9-81ED-4DB2-BD59-A6C34878D82A}">
                    <a16:rowId xmlns:a16="http://schemas.microsoft.com/office/drawing/2014/main" val="3343231561"/>
                  </a:ext>
                </a:extLst>
              </a:tr>
              <a:tr h="629701">
                <a:tc>
                  <a:txBody>
                    <a:bodyPr/>
                    <a:lstStyle/>
                    <a:p>
                      <a:pPr algn="ctr"/>
                      <a:r>
                        <a:rPr lang="en-US" dirty="0">
                          <a:effectLst/>
                        </a:rPr>
                        <a:t>Patient search</a:t>
                      </a:r>
                      <a:endParaRPr lang="en-US" dirty="0"/>
                    </a:p>
                  </a:txBody>
                  <a:tcPr/>
                </a:tc>
                <a:tc>
                  <a:txBody>
                    <a:bodyPr/>
                    <a:lstStyle/>
                    <a:p>
                      <a:pPr algn="ctr"/>
                      <a:r>
                        <a:rPr lang="en-US" dirty="0">
                          <a:effectLst/>
                        </a:rPr>
                        <a:t>787</a:t>
                      </a:r>
                      <a:endParaRPr lang="en-US" dirty="0"/>
                    </a:p>
                  </a:txBody>
                  <a:tcPr/>
                </a:tc>
                <a:tc>
                  <a:txBody>
                    <a:bodyPr/>
                    <a:lstStyle/>
                    <a:p>
                      <a:pPr algn="ctr"/>
                      <a:r>
                        <a:rPr lang="en-US" dirty="0">
                          <a:effectLst/>
                        </a:rPr>
                        <a:t>182</a:t>
                      </a:r>
                      <a:endParaRPr lang="en-US" dirty="0"/>
                    </a:p>
                  </a:txBody>
                  <a:tcPr/>
                </a:tc>
                <a:extLst>
                  <a:ext uri="{0D108BD9-81ED-4DB2-BD59-A6C34878D82A}">
                    <a16:rowId xmlns:a16="http://schemas.microsoft.com/office/drawing/2014/main" val="2443910506"/>
                  </a:ext>
                </a:extLst>
              </a:tr>
            </a:tbl>
          </a:graphicData>
        </a:graphic>
      </p:graphicFrame>
      <p:sp>
        <p:nvSpPr>
          <p:cNvPr id="2" name="TextBox 1">
            <a:extLst>
              <a:ext uri="{FF2B5EF4-FFF2-40B4-BE49-F238E27FC236}">
                <a16:creationId xmlns:a16="http://schemas.microsoft.com/office/drawing/2014/main" id="{3F7FB71F-4F50-0E08-E5E6-89625E89203D}"/>
              </a:ext>
            </a:extLst>
          </p:cNvPr>
          <p:cNvSpPr txBox="1"/>
          <p:nvPr/>
        </p:nvSpPr>
        <p:spPr>
          <a:xfrm>
            <a:off x="402554" y="1589867"/>
            <a:ext cx="8513064" cy="646331"/>
          </a:xfrm>
          <a:prstGeom prst="rect">
            <a:avLst/>
          </a:prstGeom>
          <a:noFill/>
        </p:spPr>
        <p:txBody>
          <a:bodyPr wrap="square">
            <a:spAutoFit/>
          </a:bodyPr>
          <a:lstStyle/>
          <a:p>
            <a:r>
              <a:rPr lang="en-US" dirty="0">
                <a:solidFill>
                  <a:srgbClr val="000000"/>
                </a:solidFill>
                <a:latin typeface="Calibri" panose="020F0502020204030204" pitchFamily="34" charset="0"/>
                <a:ea typeface="SimSun" panose="02010600030101010101" pitchFamily="2" charset="-122"/>
                <a:cs typeface="Calibri" panose="020F0502020204030204" pitchFamily="34" charset="0"/>
              </a:rPr>
              <a:t>To investigate hypothesis, we ran a paired t-test with the dependent variable reaction time and the independent variable search task (agent search, patient search).</a:t>
            </a:r>
          </a:p>
        </p:txBody>
      </p:sp>
      <p:sp>
        <p:nvSpPr>
          <p:cNvPr id="7" name="Rectangle 6">
            <a:extLst>
              <a:ext uri="{FF2B5EF4-FFF2-40B4-BE49-F238E27FC236}">
                <a16:creationId xmlns:a16="http://schemas.microsoft.com/office/drawing/2014/main" id="{2A0475C4-2424-AE0A-B59F-2E45280306ED}"/>
              </a:ext>
            </a:extLst>
          </p:cNvPr>
          <p:cNvSpPr/>
          <p:nvPr/>
        </p:nvSpPr>
        <p:spPr>
          <a:xfrm>
            <a:off x="4508703" y="4719976"/>
            <a:ext cx="4405373" cy="1323439"/>
          </a:xfrm>
          <a:prstGeom prst="rect">
            <a:avLst/>
          </a:prstGeom>
          <a:noFill/>
        </p:spPr>
        <p:txBody>
          <a:bodyPr wrap="none" lIns="91440" tIns="45720" rIns="91440" bIns="45720">
            <a:spAutoFit/>
          </a:bodyPr>
          <a:lstStyle/>
          <a:p>
            <a:pPr algn="ctr"/>
            <a:r>
              <a:rPr lang="en-US" altLang="zh-CN" sz="4000" b="1"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rPr>
              <a:t>Agent </a:t>
            </a:r>
            <a:br>
              <a:rPr lang="en-US" altLang="zh-CN" sz="4000" b="1"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rPr>
            </a:br>
            <a:r>
              <a:rPr lang="en-US" altLang="zh-CN" sz="4000" b="1"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rPr>
              <a:t>advantage effect!</a:t>
            </a:r>
            <a:endParaRPr lang="en-US" sz="4000" b="1"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endParaRPr>
          </a:p>
        </p:txBody>
      </p:sp>
      <p:pic>
        <p:nvPicPr>
          <p:cNvPr id="8" name="Picture 7">
            <a:extLst>
              <a:ext uri="{FF2B5EF4-FFF2-40B4-BE49-F238E27FC236}">
                <a16:creationId xmlns:a16="http://schemas.microsoft.com/office/drawing/2014/main" id="{E0702132-EB83-98B3-3AF9-87A35C1772C4}"/>
              </a:ext>
            </a:extLst>
          </p:cNvPr>
          <p:cNvPicPr>
            <a:picLocks noChangeAspect="1"/>
          </p:cNvPicPr>
          <p:nvPr/>
        </p:nvPicPr>
        <p:blipFill>
          <a:blip r:embed="rId4"/>
          <a:srcRect l="1082" r="5980"/>
          <a:stretch/>
        </p:blipFill>
        <p:spPr>
          <a:xfrm>
            <a:off x="865868" y="2236198"/>
            <a:ext cx="3455760" cy="3046741"/>
          </a:xfrm>
          <a:prstGeom prst="rect">
            <a:avLst/>
          </a:prstGeom>
        </p:spPr>
      </p:pic>
      <p:sp>
        <p:nvSpPr>
          <p:cNvPr id="9" name="TextBox 8">
            <a:extLst>
              <a:ext uri="{FF2B5EF4-FFF2-40B4-BE49-F238E27FC236}">
                <a16:creationId xmlns:a16="http://schemas.microsoft.com/office/drawing/2014/main" id="{FDF23EFA-B698-6887-A7E2-41D4231A6403}"/>
              </a:ext>
            </a:extLst>
          </p:cNvPr>
          <p:cNvSpPr txBox="1"/>
          <p:nvPr/>
        </p:nvSpPr>
        <p:spPr>
          <a:xfrm>
            <a:off x="2757330" y="2598003"/>
            <a:ext cx="453956" cy="830997"/>
          </a:xfrm>
          <a:prstGeom prst="rect">
            <a:avLst/>
          </a:prstGeom>
          <a:noFill/>
        </p:spPr>
        <p:txBody>
          <a:bodyPr wrap="square">
            <a:spAutoFit/>
          </a:bodyPr>
          <a:lstStyle/>
          <a:p>
            <a:r>
              <a:rPr lang="en-US" altLang="zh-CN" sz="4800" dirty="0">
                <a:solidFill>
                  <a:srgbClr val="000000"/>
                </a:solidFill>
                <a:latin typeface="Calibri" panose="020F0502020204030204" pitchFamily="34" charset="0"/>
                <a:ea typeface="SimSun" panose="02010600030101010101" pitchFamily="2" charset="-122"/>
                <a:cs typeface="Calibri" panose="020F0502020204030204" pitchFamily="34" charset="0"/>
              </a:rPr>
              <a:t>*</a:t>
            </a:r>
            <a:endParaRPr lang="en-US" sz="4800" dirty="0">
              <a:solidFill>
                <a:srgbClr val="000000"/>
              </a:solidFill>
              <a:latin typeface="Calibri" panose="020F0502020204030204" pitchFamily="34" charset="0"/>
              <a:ea typeface="SimSun" panose="02010600030101010101" pitchFamily="2" charset="-122"/>
              <a:cs typeface="Calibri" panose="020F0502020204030204" pitchFamily="34" charset="0"/>
            </a:endParaRPr>
          </a:p>
        </p:txBody>
      </p:sp>
    </p:spTree>
    <p:extLst>
      <p:ext uri="{BB962C8B-B14F-4D97-AF65-F5344CB8AC3E}">
        <p14:creationId xmlns:p14="http://schemas.microsoft.com/office/powerpoint/2010/main" val="550223193"/>
      </p:ext>
    </p:extLst>
  </p:cSld>
  <p:clrMapOvr>
    <a:masterClrMapping/>
  </p:clrMapOvr>
  <p:extLst>
    <p:ext uri="{6950BFC3-D8DA-4A85-94F7-54DA5524770B}">
      <p188:commentRel xmlns:p188="http://schemas.microsoft.com/office/powerpoint/2018/8/main" r:id="rId3"/>
    </p:ext>
  </p:extLs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BDD4E4-0B90-9F8E-B5FA-0AE5BC0D4D69}"/>
            </a:ext>
          </a:extLst>
        </p:cNvPr>
        <p:cNvGrpSpPr/>
        <p:nvPr/>
      </p:nvGrpSpPr>
      <p:grpSpPr>
        <a:xfrm>
          <a:off x="0" y="0"/>
          <a:ext cx="0" cy="0"/>
          <a:chOff x="0" y="0"/>
          <a:chExt cx="0" cy="0"/>
        </a:xfrm>
      </p:grpSpPr>
      <p:sp>
        <p:nvSpPr>
          <p:cNvPr id="14" name="矩形 15">
            <a:extLst>
              <a:ext uri="{FF2B5EF4-FFF2-40B4-BE49-F238E27FC236}">
                <a16:creationId xmlns:a16="http://schemas.microsoft.com/office/drawing/2014/main" id="{ED113A9B-D1FE-51BD-37CF-E524CE84A002}"/>
              </a:ext>
            </a:extLst>
          </p:cNvPr>
          <p:cNvSpPr>
            <a:spLocks noChangeArrowheads="1"/>
          </p:cNvSpPr>
          <p:nvPr/>
        </p:nvSpPr>
        <p:spPr bwMode="auto">
          <a:xfrm>
            <a:off x="1108140" y="4781132"/>
            <a:ext cx="289780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911225">
              <a:defRPr>
                <a:solidFill>
                  <a:schemeClr val="tx1"/>
                </a:solidFill>
                <a:latin typeface="Calibri" panose="020F0502020204030204" pitchFamily="34" charset="0"/>
                <a:ea typeface="宋体" panose="02010600030101010101" pitchFamily="2" charset="-122"/>
              </a:defRPr>
            </a:lvl1pPr>
            <a:lvl2pPr marL="742950" indent="-285750" defTabSz="911225">
              <a:defRPr>
                <a:solidFill>
                  <a:schemeClr val="tx1"/>
                </a:solidFill>
                <a:latin typeface="Calibri" panose="020F0502020204030204" pitchFamily="34" charset="0"/>
                <a:ea typeface="宋体" panose="02010600030101010101" pitchFamily="2" charset="-122"/>
              </a:defRPr>
            </a:lvl2pPr>
            <a:lvl3pPr marL="1143000" indent="-228600" defTabSz="911225">
              <a:defRPr>
                <a:solidFill>
                  <a:schemeClr val="tx1"/>
                </a:solidFill>
                <a:latin typeface="Calibri" panose="020F0502020204030204" pitchFamily="34" charset="0"/>
                <a:ea typeface="宋体" panose="02010600030101010101" pitchFamily="2" charset="-122"/>
              </a:defRPr>
            </a:lvl3pPr>
            <a:lvl4pPr marL="1600200" indent="-228600" defTabSz="911225">
              <a:defRPr>
                <a:solidFill>
                  <a:schemeClr val="tx1"/>
                </a:solidFill>
                <a:latin typeface="Calibri" panose="020F0502020204030204" pitchFamily="34" charset="0"/>
                <a:ea typeface="宋体" panose="02010600030101010101" pitchFamily="2" charset="-122"/>
              </a:defRPr>
            </a:lvl4pPr>
            <a:lvl5pPr marL="2057400" indent="-228600" defTabSz="911225">
              <a:defRPr>
                <a:solidFill>
                  <a:schemeClr val="tx1"/>
                </a:solidFill>
                <a:latin typeface="Calibri" panose="020F0502020204030204" pitchFamily="34" charset="0"/>
                <a:ea typeface="宋体" panose="02010600030101010101" pitchFamily="2" charset="-122"/>
              </a:defRPr>
            </a:lvl5pPr>
            <a:lvl6pPr marL="25146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l"/>
            <a:r>
              <a:rPr lang="en-US" altLang="zh-CN" b="1" i="1" dirty="0">
                <a:effectLst>
                  <a:innerShdw blurRad="63500" dist="50800">
                    <a:prstClr val="black">
                      <a:alpha val="50000"/>
                    </a:prstClr>
                  </a:innerShdw>
                </a:effectLst>
                <a:latin typeface="open sans" panose="020B0606030504020204" pitchFamily="34" charset="0"/>
              </a:rPr>
              <a:t>t</a:t>
            </a:r>
            <a:r>
              <a:rPr lang="en-US" altLang="zh-CN" b="1" dirty="0">
                <a:effectLst>
                  <a:innerShdw blurRad="63500" dist="50800">
                    <a:prstClr val="black">
                      <a:alpha val="50000"/>
                    </a:prstClr>
                  </a:innerShdw>
                </a:effectLst>
                <a:latin typeface="open sans" panose="020B0606030504020204" pitchFamily="34" charset="0"/>
              </a:rPr>
              <a:t>(23) = -4.41</a:t>
            </a:r>
            <a:r>
              <a:rPr lang="en-US" altLang="zh-CN" b="1" dirty="0">
                <a:solidFill>
                  <a:srgbClr val="FF0000"/>
                </a:solidFill>
                <a:effectLst>
                  <a:innerShdw blurRad="63500" dist="50800">
                    <a:prstClr val="black">
                      <a:alpha val="50000"/>
                    </a:prstClr>
                  </a:innerShdw>
                </a:effectLst>
                <a:latin typeface="open sans" panose="020B0606030504020204" pitchFamily="34" charset="0"/>
              </a:rPr>
              <a:t>, </a:t>
            </a:r>
            <a:r>
              <a:rPr lang="en-US" altLang="zh-CN" b="1" i="1" dirty="0">
                <a:solidFill>
                  <a:srgbClr val="FF0000"/>
                </a:solidFill>
                <a:effectLst>
                  <a:innerShdw blurRad="63500" dist="50800">
                    <a:prstClr val="black">
                      <a:alpha val="50000"/>
                    </a:prstClr>
                  </a:innerShdw>
                </a:effectLst>
                <a:latin typeface="open sans" panose="020B0606030504020204" pitchFamily="34" charset="0"/>
              </a:rPr>
              <a:t>p</a:t>
            </a:r>
            <a:r>
              <a:rPr lang="en-US" altLang="zh-CN" b="1" dirty="0">
                <a:solidFill>
                  <a:srgbClr val="FF0000"/>
                </a:solidFill>
                <a:effectLst>
                  <a:innerShdw blurRad="63500" dist="50800">
                    <a:prstClr val="black">
                      <a:alpha val="50000"/>
                    </a:prstClr>
                  </a:innerShdw>
                </a:effectLst>
                <a:latin typeface="open sans" panose="020B0606030504020204" pitchFamily="34" charset="0"/>
              </a:rPr>
              <a:t> &lt; .001</a:t>
            </a:r>
          </a:p>
        </p:txBody>
      </p:sp>
      <p:pic>
        <p:nvPicPr>
          <p:cNvPr id="8" name="Picture 7">
            <a:extLst>
              <a:ext uri="{FF2B5EF4-FFF2-40B4-BE49-F238E27FC236}">
                <a16:creationId xmlns:a16="http://schemas.microsoft.com/office/drawing/2014/main" id="{BD14C5F5-E974-C930-2652-6BB7AAD4BA2B}"/>
              </a:ext>
            </a:extLst>
          </p:cNvPr>
          <p:cNvPicPr>
            <a:picLocks noChangeAspect="1"/>
          </p:cNvPicPr>
          <p:nvPr/>
        </p:nvPicPr>
        <p:blipFill>
          <a:blip r:embed="rId3"/>
          <a:srcRect l="1082" r="5980"/>
          <a:stretch/>
        </p:blipFill>
        <p:spPr>
          <a:xfrm>
            <a:off x="550182" y="1673235"/>
            <a:ext cx="3455760" cy="3046741"/>
          </a:xfrm>
          <a:prstGeom prst="rect">
            <a:avLst/>
          </a:prstGeom>
        </p:spPr>
      </p:pic>
      <p:sp>
        <p:nvSpPr>
          <p:cNvPr id="9" name="TextBox 8">
            <a:extLst>
              <a:ext uri="{FF2B5EF4-FFF2-40B4-BE49-F238E27FC236}">
                <a16:creationId xmlns:a16="http://schemas.microsoft.com/office/drawing/2014/main" id="{D659310A-F0A8-7E0D-2E1C-180E98F2BFCA}"/>
              </a:ext>
            </a:extLst>
          </p:cNvPr>
          <p:cNvSpPr txBox="1"/>
          <p:nvPr/>
        </p:nvSpPr>
        <p:spPr>
          <a:xfrm>
            <a:off x="2441644" y="2035040"/>
            <a:ext cx="453956" cy="830997"/>
          </a:xfrm>
          <a:prstGeom prst="rect">
            <a:avLst/>
          </a:prstGeom>
          <a:noFill/>
        </p:spPr>
        <p:txBody>
          <a:bodyPr wrap="square">
            <a:spAutoFit/>
          </a:bodyPr>
          <a:lstStyle/>
          <a:p>
            <a:r>
              <a:rPr lang="en-US" altLang="zh-CN" sz="4800" dirty="0">
                <a:solidFill>
                  <a:srgbClr val="000000"/>
                </a:solidFill>
                <a:latin typeface="Calibri" panose="020F0502020204030204" pitchFamily="34" charset="0"/>
                <a:ea typeface="SimSun" panose="02010600030101010101" pitchFamily="2" charset="-122"/>
                <a:cs typeface="Calibri" panose="020F0502020204030204" pitchFamily="34" charset="0"/>
              </a:rPr>
              <a:t>*</a:t>
            </a:r>
            <a:endParaRPr lang="en-US" sz="4800" dirty="0">
              <a:solidFill>
                <a:srgbClr val="000000"/>
              </a:solidFill>
              <a:latin typeface="Calibri" panose="020F0502020204030204" pitchFamily="34" charset="0"/>
              <a:ea typeface="SimSun" panose="02010600030101010101" pitchFamily="2" charset="-122"/>
              <a:cs typeface="Calibri" panose="020F0502020204030204" pitchFamily="34" charset="0"/>
            </a:endParaRPr>
          </a:p>
        </p:txBody>
      </p:sp>
      <p:sp>
        <p:nvSpPr>
          <p:cNvPr id="3" name="Rectangle 2">
            <a:extLst>
              <a:ext uri="{FF2B5EF4-FFF2-40B4-BE49-F238E27FC236}">
                <a16:creationId xmlns:a16="http://schemas.microsoft.com/office/drawing/2014/main" id="{681EBFB5-4E2C-B7B7-2664-DAAEA382F1F3}"/>
              </a:ext>
            </a:extLst>
          </p:cNvPr>
          <p:cNvSpPr/>
          <p:nvPr/>
        </p:nvSpPr>
        <p:spPr>
          <a:xfrm>
            <a:off x="321189" y="915466"/>
            <a:ext cx="2457421" cy="707886"/>
          </a:xfrm>
          <a:prstGeom prst="rect">
            <a:avLst/>
          </a:prstGeom>
          <a:noFill/>
        </p:spPr>
        <p:txBody>
          <a:bodyPr wrap="square" lIns="91440" tIns="45720" rIns="91440" bIns="45720">
            <a:spAutoFit/>
          </a:bodyPr>
          <a:lstStyle/>
          <a:p>
            <a:pPr algn="ctr"/>
            <a:r>
              <a:rPr lang="en-US" sz="40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rPr>
              <a:t>Discussion</a:t>
            </a:r>
          </a:p>
        </p:txBody>
      </p:sp>
      <p:pic>
        <p:nvPicPr>
          <p:cNvPr id="20" name="Picture 19" descr="A white fish on a black background&#10;&#10;Description automatically generated">
            <a:extLst>
              <a:ext uri="{FF2B5EF4-FFF2-40B4-BE49-F238E27FC236}">
                <a16:creationId xmlns:a16="http://schemas.microsoft.com/office/drawing/2014/main" id="{E75E21AC-FFAF-0C04-F599-C4412D44B110}"/>
              </a:ext>
            </a:extLst>
          </p:cNvPr>
          <p:cNvPicPr>
            <a:picLocks noChangeAspect="1"/>
          </p:cNvPicPr>
          <p:nvPr/>
        </p:nvPicPr>
        <p:blipFill>
          <a:blip r:embed="rId4"/>
          <a:stretch>
            <a:fillRect/>
          </a:stretch>
        </p:blipFill>
        <p:spPr>
          <a:xfrm>
            <a:off x="4186991" y="3325168"/>
            <a:ext cx="1750283" cy="1750283"/>
          </a:xfrm>
          <a:prstGeom prst="rect">
            <a:avLst/>
          </a:prstGeom>
        </p:spPr>
      </p:pic>
      <p:pic>
        <p:nvPicPr>
          <p:cNvPr id="21" name="Picture 20" descr="A white fish on a black background&#10;&#10;Description automatically generated">
            <a:extLst>
              <a:ext uri="{FF2B5EF4-FFF2-40B4-BE49-F238E27FC236}">
                <a16:creationId xmlns:a16="http://schemas.microsoft.com/office/drawing/2014/main" id="{E5D88785-E939-10C3-EDC2-14844FD5B5D1}"/>
              </a:ext>
            </a:extLst>
          </p:cNvPr>
          <p:cNvPicPr>
            <a:picLocks noChangeAspect="1"/>
          </p:cNvPicPr>
          <p:nvPr/>
        </p:nvPicPr>
        <p:blipFill>
          <a:blip r:embed="rId4">
            <a:duotone>
              <a:schemeClr val="accent1">
                <a:shade val="45000"/>
                <a:satMod val="135000"/>
              </a:schemeClr>
              <a:prstClr val="white"/>
            </a:duotone>
          </a:blip>
          <a:stretch>
            <a:fillRect/>
          </a:stretch>
        </p:blipFill>
        <p:spPr>
          <a:xfrm rot="20859437">
            <a:off x="5004937" y="3342859"/>
            <a:ext cx="1462396" cy="1462396"/>
          </a:xfrm>
          <a:prstGeom prst="rect">
            <a:avLst/>
          </a:prstGeom>
          <a:ln>
            <a:noFill/>
          </a:ln>
        </p:spPr>
      </p:pic>
      <p:pic>
        <p:nvPicPr>
          <p:cNvPr id="22" name="Picture 21" descr="A white fish on a black background&#10;&#10;Description automatically generated">
            <a:extLst>
              <a:ext uri="{FF2B5EF4-FFF2-40B4-BE49-F238E27FC236}">
                <a16:creationId xmlns:a16="http://schemas.microsoft.com/office/drawing/2014/main" id="{3024DA86-D415-25D2-E254-DE1A42C71051}"/>
              </a:ext>
            </a:extLst>
          </p:cNvPr>
          <p:cNvPicPr>
            <a:picLocks noChangeAspect="1"/>
          </p:cNvPicPr>
          <p:nvPr/>
        </p:nvPicPr>
        <p:blipFill>
          <a:blip r:embed="rId4">
            <a:duotone>
              <a:schemeClr val="accent1">
                <a:shade val="45000"/>
                <a:satMod val="135000"/>
              </a:schemeClr>
              <a:prstClr val="white"/>
            </a:duotone>
          </a:blip>
          <a:stretch>
            <a:fillRect/>
          </a:stretch>
        </p:blipFill>
        <p:spPr>
          <a:xfrm rot="1470129">
            <a:off x="5003267" y="3795502"/>
            <a:ext cx="1341843" cy="1341843"/>
          </a:xfrm>
          <a:prstGeom prst="rect">
            <a:avLst/>
          </a:prstGeom>
          <a:ln>
            <a:noFill/>
          </a:ln>
        </p:spPr>
      </p:pic>
      <p:pic>
        <p:nvPicPr>
          <p:cNvPr id="23" name="Picture 22" descr="A white fish on a black background&#10;&#10;Description automatically generated">
            <a:extLst>
              <a:ext uri="{FF2B5EF4-FFF2-40B4-BE49-F238E27FC236}">
                <a16:creationId xmlns:a16="http://schemas.microsoft.com/office/drawing/2014/main" id="{699B168B-A462-D99D-1042-E11E00A717E2}"/>
              </a:ext>
            </a:extLst>
          </p:cNvPr>
          <p:cNvPicPr>
            <a:picLocks noChangeAspect="1"/>
          </p:cNvPicPr>
          <p:nvPr/>
        </p:nvPicPr>
        <p:blipFill>
          <a:blip r:embed="rId4"/>
          <a:stretch>
            <a:fillRect/>
          </a:stretch>
        </p:blipFill>
        <p:spPr>
          <a:xfrm>
            <a:off x="4267092" y="4642953"/>
            <a:ext cx="1750283" cy="1750283"/>
          </a:xfrm>
          <a:prstGeom prst="rect">
            <a:avLst/>
          </a:prstGeom>
        </p:spPr>
      </p:pic>
      <p:pic>
        <p:nvPicPr>
          <p:cNvPr id="24" name="Picture 23">
            <a:extLst>
              <a:ext uri="{FF2B5EF4-FFF2-40B4-BE49-F238E27FC236}">
                <a16:creationId xmlns:a16="http://schemas.microsoft.com/office/drawing/2014/main" id="{08C74E3B-6AAF-DA92-63C8-8C83B0A89800}"/>
              </a:ext>
            </a:extLst>
          </p:cNvPr>
          <p:cNvPicPr>
            <a:picLocks noChangeAspect="1"/>
          </p:cNvPicPr>
          <p:nvPr/>
        </p:nvPicPr>
        <p:blipFill>
          <a:blip r:embed="rId5"/>
          <a:srcRect l="15006" t="27410" r="18185" b="20912"/>
          <a:stretch/>
        </p:blipFill>
        <p:spPr>
          <a:xfrm>
            <a:off x="4099978" y="1812613"/>
            <a:ext cx="1924307" cy="1439494"/>
          </a:xfrm>
          <a:prstGeom prst="rect">
            <a:avLst/>
          </a:prstGeom>
        </p:spPr>
      </p:pic>
      <p:pic>
        <p:nvPicPr>
          <p:cNvPr id="25" name="Picture 24" descr="A white fish on a black background&#10;&#10;Description automatically generated">
            <a:extLst>
              <a:ext uri="{FF2B5EF4-FFF2-40B4-BE49-F238E27FC236}">
                <a16:creationId xmlns:a16="http://schemas.microsoft.com/office/drawing/2014/main" id="{788241B4-5677-F2CF-467B-3D37F144A5CC}"/>
              </a:ext>
            </a:extLst>
          </p:cNvPr>
          <p:cNvPicPr>
            <a:picLocks noChangeAspect="1"/>
          </p:cNvPicPr>
          <p:nvPr/>
        </p:nvPicPr>
        <p:blipFill>
          <a:blip r:embed="rId4">
            <a:duotone>
              <a:schemeClr val="accent1">
                <a:shade val="45000"/>
                <a:satMod val="135000"/>
              </a:schemeClr>
              <a:prstClr val="white"/>
            </a:duotone>
          </a:blip>
          <a:stretch>
            <a:fillRect/>
          </a:stretch>
        </p:blipFill>
        <p:spPr>
          <a:xfrm rot="1470129">
            <a:off x="3828524" y="4663174"/>
            <a:ext cx="1341843" cy="1341843"/>
          </a:xfrm>
          <a:prstGeom prst="rect">
            <a:avLst/>
          </a:prstGeom>
          <a:ln>
            <a:noFill/>
          </a:ln>
        </p:spPr>
      </p:pic>
      <p:sp>
        <p:nvSpPr>
          <p:cNvPr id="26" name="Rectangle 25">
            <a:extLst>
              <a:ext uri="{FF2B5EF4-FFF2-40B4-BE49-F238E27FC236}">
                <a16:creationId xmlns:a16="http://schemas.microsoft.com/office/drawing/2014/main" id="{9D07639B-5BEF-6A05-DB4F-544CEBC6666A}"/>
              </a:ext>
            </a:extLst>
          </p:cNvPr>
          <p:cNvSpPr/>
          <p:nvPr/>
        </p:nvSpPr>
        <p:spPr>
          <a:xfrm>
            <a:off x="4314715" y="1625273"/>
            <a:ext cx="1622559" cy="461665"/>
          </a:xfrm>
          <a:prstGeom prst="rect">
            <a:avLst/>
          </a:prstGeom>
          <a:noFill/>
        </p:spPr>
        <p:txBody>
          <a:bodyPr wrap="none" lIns="91440" tIns="45720" rIns="91440" bIns="45720">
            <a:spAutoFit/>
          </a:bodyPr>
          <a:lstStyle/>
          <a:p>
            <a:pPr algn="ctr"/>
            <a:r>
              <a:rPr lang="en-US" sz="2400" b="0" cap="none" spc="0" dirty="0">
                <a:ln w="0"/>
                <a:solidFill>
                  <a:schemeClr val="tx1"/>
                </a:solidFill>
                <a:effectLst>
                  <a:outerShdw blurRad="38100" dist="19050" dir="2700000" algn="tl" rotWithShape="0">
                    <a:schemeClr val="dk1">
                      <a:alpha val="40000"/>
                    </a:schemeClr>
                  </a:outerShdw>
                </a:effectLst>
              </a:rPr>
              <a:t>Same size</a:t>
            </a:r>
          </a:p>
        </p:txBody>
      </p:sp>
      <p:sp>
        <p:nvSpPr>
          <p:cNvPr id="27" name="Rectangle 26">
            <a:extLst>
              <a:ext uri="{FF2B5EF4-FFF2-40B4-BE49-F238E27FC236}">
                <a16:creationId xmlns:a16="http://schemas.microsoft.com/office/drawing/2014/main" id="{23ED4CEE-3A20-4A13-09CB-210513799575}"/>
              </a:ext>
            </a:extLst>
          </p:cNvPr>
          <p:cNvSpPr/>
          <p:nvPr/>
        </p:nvSpPr>
        <p:spPr>
          <a:xfrm>
            <a:off x="4507331" y="3163084"/>
            <a:ext cx="1109599" cy="461665"/>
          </a:xfrm>
          <a:prstGeom prst="rect">
            <a:avLst/>
          </a:prstGeom>
          <a:noFill/>
        </p:spPr>
        <p:txBody>
          <a:bodyPr wrap="none" lIns="91440" tIns="45720" rIns="91440" bIns="45720">
            <a:spAutoFit/>
          </a:bodyPr>
          <a:lstStyle/>
          <a:p>
            <a:pPr algn="ctr"/>
            <a:r>
              <a:rPr lang="en-US" sz="2400" b="0" cap="none" spc="0" dirty="0">
                <a:ln w="0"/>
                <a:solidFill>
                  <a:srgbClr val="C00000"/>
                </a:solidFill>
                <a:effectLst>
                  <a:outerShdw blurRad="38100" dist="19050" dir="2700000" algn="tl" rotWithShape="0">
                    <a:schemeClr val="dk1">
                      <a:alpha val="40000"/>
                    </a:schemeClr>
                  </a:outerShdw>
                </a:effectLst>
              </a:rPr>
              <a:t>Center</a:t>
            </a:r>
          </a:p>
        </p:txBody>
      </p:sp>
      <p:cxnSp>
        <p:nvCxnSpPr>
          <p:cNvPr id="28" name="Straight Arrow Connector 27">
            <a:extLst>
              <a:ext uri="{FF2B5EF4-FFF2-40B4-BE49-F238E27FC236}">
                <a16:creationId xmlns:a16="http://schemas.microsoft.com/office/drawing/2014/main" id="{082B6346-ED01-C3CA-93B8-C11FD2C311CD}"/>
              </a:ext>
            </a:extLst>
          </p:cNvPr>
          <p:cNvCxnSpPr/>
          <p:nvPr/>
        </p:nvCxnSpPr>
        <p:spPr>
          <a:xfrm flipH="1">
            <a:off x="4974772" y="3647668"/>
            <a:ext cx="87359" cy="421133"/>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19EC6E47-6A9C-882A-3EB8-217C8F704499}"/>
              </a:ext>
            </a:extLst>
          </p:cNvPr>
          <p:cNvCxnSpPr>
            <a:cxnSpLocks/>
          </p:cNvCxnSpPr>
          <p:nvPr/>
        </p:nvCxnSpPr>
        <p:spPr>
          <a:xfrm>
            <a:off x="5062130" y="3688201"/>
            <a:ext cx="109236" cy="1536058"/>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30" name="Rectangle 29">
            <a:extLst>
              <a:ext uri="{FF2B5EF4-FFF2-40B4-BE49-F238E27FC236}">
                <a16:creationId xmlns:a16="http://schemas.microsoft.com/office/drawing/2014/main" id="{4CEB03EF-4413-5C0E-F39F-91AAE4B84F3E}"/>
              </a:ext>
            </a:extLst>
          </p:cNvPr>
          <p:cNvSpPr/>
          <p:nvPr/>
        </p:nvSpPr>
        <p:spPr>
          <a:xfrm>
            <a:off x="4038659" y="1505270"/>
            <a:ext cx="2265414" cy="491249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1" name="Picture 30">
            <a:extLst>
              <a:ext uri="{FF2B5EF4-FFF2-40B4-BE49-F238E27FC236}">
                <a16:creationId xmlns:a16="http://schemas.microsoft.com/office/drawing/2014/main" id="{7B3D3B74-FE0E-97BC-283A-C67E9DB77789}"/>
              </a:ext>
            </a:extLst>
          </p:cNvPr>
          <p:cNvPicPr>
            <a:picLocks noChangeAspect="1"/>
          </p:cNvPicPr>
          <p:nvPr/>
        </p:nvPicPr>
        <p:blipFill>
          <a:blip r:embed="rId6"/>
          <a:srcRect r="26760"/>
          <a:stretch/>
        </p:blipFill>
        <p:spPr>
          <a:xfrm>
            <a:off x="6773996" y="1817249"/>
            <a:ext cx="1546457" cy="1416525"/>
          </a:xfrm>
          <a:prstGeom prst="rect">
            <a:avLst/>
          </a:prstGeom>
        </p:spPr>
      </p:pic>
      <p:pic>
        <p:nvPicPr>
          <p:cNvPr id="32" name="Picture 31">
            <a:extLst>
              <a:ext uri="{FF2B5EF4-FFF2-40B4-BE49-F238E27FC236}">
                <a16:creationId xmlns:a16="http://schemas.microsoft.com/office/drawing/2014/main" id="{E7E04043-6F2A-05A7-9644-957F8E748A1B}"/>
              </a:ext>
            </a:extLst>
          </p:cNvPr>
          <p:cNvPicPr>
            <a:picLocks noChangeAspect="1"/>
          </p:cNvPicPr>
          <p:nvPr/>
        </p:nvPicPr>
        <p:blipFill>
          <a:blip r:embed="rId7"/>
          <a:stretch>
            <a:fillRect/>
          </a:stretch>
        </p:blipFill>
        <p:spPr>
          <a:xfrm>
            <a:off x="6957931" y="3464750"/>
            <a:ext cx="1644222" cy="1338943"/>
          </a:xfrm>
          <a:prstGeom prst="rect">
            <a:avLst/>
          </a:prstGeom>
        </p:spPr>
      </p:pic>
      <p:pic>
        <p:nvPicPr>
          <p:cNvPr id="33" name="Picture 32">
            <a:extLst>
              <a:ext uri="{FF2B5EF4-FFF2-40B4-BE49-F238E27FC236}">
                <a16:creationId xmlns:a16="http://schemas.microsoft.com/office/drawing/2014/main" id="{D82DF621-0153-B412-8965-A230CDFA70EB}"/>
              </a:ext>
            </a:extLst>
          </p:cNvPr>
          <p:cNvPicPr>
            <a:picLocks noChangeAspect="1"/>
          </p:cNvPicPr>
          <p:nvPr/>
        </p:nvPicPr>
        <p:blipFill>
          <a:blip r:embed="rId8"/>
          <a:stretch>
            <a:fillRect/>
          </a:stretch>
        </p:blipFill>
        <p:spPr>
          <a:xfrm>
            <a:off x="6773996" y="4904103"/>
            <a:ext cx="1955854" cy="1416525"/>
          </a:xfrm>
          <a:prstGeom prst="rect">
            <a:avLst/>
          </a:prstGeom>
        </p:spPr>
      </p:pic>
      <p:sp>
        <p:nvSpPr>
          <p:cNvPr id="34" name="Rectangle 33">
            <a:extLst>
              <a:ext uri="{FF2B5EF4-FFF2-40B4-BE49-F238E27FC236}">
                <a16:creationId xmlns:a16="http://schemas.microsoft.com/office/drawing/2014/main" id="{331F0698-CD86-E170-CF79-7D4617ECE351}"/>
              </a:ext>
            </a:extLst>
          </p:cNvPr>
          <p:cNvSpPr/>
          <p:nvPr/>
        </p:nvSpPr>
        <p:spPr>
          <a:xfrm>
            <a:off x="6622730" y="1505269"/>
            <a:ext cx="2265414" cy="491249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1D367795-7DF2-9AB6-BFA1-0CD7B89FA0DB}"/>
              </a:ext>
            </a:extLst>
          </p:cNvPr>
          <p:cNvSpPr/>
          <p:nvPr/>
        </p:nvSpPr>
        <p:spPr>
          <a:xfrm>
            <a:off x="4179122" y="822981"/>
            <a:ext cx="1984487" cy="707886"/>
          </a:xfrm>
          <a:prstGeom prst="rect">
            <a:avLst/>
          </a:prstGeom>
          <a:noFill/>
        </p:spPr>
        <p:txBody>
          <a:bodyPr wrap="square" lIns="91440" tIns="45720" rIns="91440" bIns="45720">
            <a:spAutoFit/>
          </a:bodyPr>
          <a:lstStyle/>
          <a:p>
            <a:pPr algn="ctr"/>
            <a:r>
              <a:rPr lang="en-US" sz="40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rPr>
              <a:t>Exp 1: </a:t>
            </a:r>
            <a:r>
              <a:rPr lang="en-US" sz="4000" b="1" cap="none" spc="0" dirty="0">
                <a:ln w="0"/>
                <a:solidFill>
                  <a:srgbClr val="C00000"/>
                </a:solidFill>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rPr>
              <a:t>x</a:t>
            </a:r>
          </a:p>
        </p:txBody>
      </p:sp>
      <p:sp>
        <p:nvSpPr>
          <p:cNvPr id="37" name="Rectangle 36">
            <a:extLst>
              <a:ext uri="{FF2B5EF4-FFF2-40B4-BE49-F238E27FC236}">
                <a16:creationId xmlns:a16="http://schemas.microsoft.com/office/drawing/2014/main" id="{B618662F-FFDC-45E8-4AA6-F6A321F245FC}"/>
              </a:ext>
            </a:extLst>
          </p:cNvPr>
          <p:cNvSpPr/>
          <p:nvPr/>
        </p:nvSpPr>
        <p:spPr>
          <a:xfrm>
            <a:off x="6758575" y="822981"/>
            <a:ext cx="1892019" cy="707886"/>
          </a:xfrm>
          <a:prstGeom prst="rect">
            <a:avLst/>
          </a:prstGeom>
          <a:noFill/>
        </p:spPr>
        <p:txBody>
          <a:bodyPr wrap="square" lIns="91440" tIns="45720" rIns="91440" bIns="45720">
            <a:spAutoFit/>
          </a:bodyPr>
          <a:lstStyle/>
          <a:p>
            <a:pPr algn="ctr"/>
            <a:r>
              <a:rPr lang="en-US" sz="40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rPr>
              <a:t>Exp 2: </a:t>
            </a:r>
            <a:r>
              <a:rPr lang="zh-CN" altLang="en-US" sz="4000" b="1" cap="none" spc="0" dirty="0">
                <a:ln w="0"/>
                <a:solidFill>
                  <a:srgbClr val="00B050"/>
                </a:solidFill>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rPr>
              <a:t>√</a:t>
            </a:r>
            <a:endParaRPr lang="en-US" sz="4000" b="1" cap="none" spc="0" dirty="0">
              <a:ln w="0"/>
              <a:solidFill>
                <a:srgbClr val="00B050"/>
              </a:solidFill>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38" name="Rectangle 37">
            <a:extLst>
              <a:ext uri="{FF2B5EF4-FFF2-40B4-BE49-F238E27FC236}">
                <a16:creationId xmlns:a16="http://schemas.microsoft.com/office/drawing/2014/main" id="{8335918A-2A03-BDD4-21FE-EE75F637DC59}"/>
              </a:ext>
            </a:extLst>
          </p:cNvPr>
          <p:cNvSpPr/>
          <p:nvPr/>
        </p:nvSpPr>
        <p:spPr>
          <a:xfrm>
            <a:off x="494366" y="5258422"/>
            <a:ext cx="3236729" cy="584775"/>
          </a:xfrm>
          <a:prstGeom prst="rect">
            <a:avLst/>
          </a:prstGeom>
          <a:noFill/>
        </p:spPr>
        <p:txBody>
          <a:bodyPr wrap="square" lIns="91440" tIns="45720" rIns="91440" bIns="45720">
            <a:spAutoFit/>
          </a:bodyPr>
          <a:lstStyle/>
          <a:p>
            <a:pPr algn="ctr"/>
            <a:r>
              <a:rPr lang="en-US" sz="3200" b="1" cap="none" spc="0" dirty="0">
                <a:ln w="0"/>
                <a:solidFill>
                  <a:srgbClr val="C00000"/>
                </a:solidFill>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rPr>
              <a:t>B</a:t>
            </a:r>
            <a:r>
              <a:rPr lang="en-US" altLang="zh-CN" sz="3200" b="1" cap="none" spc="0" dirty="0">
                <a:ln w="0"/>
                <a:solidFill>
                  <a:srgbClr val="C00000"/>
                </a:solidFill>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rPr>
              <a:t>iting Orientation?</a:t>
            </a:r>
            <a:endParaRPr lang="en-US" sz="3200" b="1" cap="none" spc="0" dirty="0">
              <a:ln w="0"/>
              <a:solidFill>
                <a:srgbClr val="C00000"/>
              </a:solidFill>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39" name="Rectangle 38">
            <a:extLst>
              <a:ext uri="{FF2B5EF4-FFF2-40B4-BE49-F238E27FC236}">
                <a16:creationId xmlns:a16="http://schemas.microsoft.com/office/drawing/2014/main" id="{61C9533D-27B5-BC11-F6A3-CBB63BADDC7F}"/>
              </a:ext>
            </a:extLst>
          </p:cNvPr>
          <p:cNvSpPr/>
          <p:nvPr/>
        </p:nvSpPr>
        <p:spPr>
          <a:xfrm>
            <a:off x="-510225" y="5843197"/>
            <a:ext cx="3236729" cy="523220"/>
          </a:xfrm>
          <a:prstGeom prst="rect">
            <a:avLst/>
          </a:prstGeom>
          <a:noFill/>
        </p:spPr>
        <p:txBody>
          <a:bodyPr wrap="square" lIns="91440" tIns="45720" rIns="91440" bIns="45720">
            <a:spAutoFit/>
          </a:bodyPr>
          <a:lstStyle/>
          <a:p>
            <a:pPr algn="ctr"/>
            <a:r>
              <a:rPr lang="en-US" sz="2800" b="1" cap="none" spc="0" dirty="0">
                <a:ln w="0"/>
                <a:solidFill>
                  <a:schemeClr val="tx2">
                    <a:lumMod val="60000"/>
                    <a:lumOff val="40000"/>
                  </a:schemeClr>
                </a:solidFill>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rPr>
              <a:t>face-to-face </a:t>
            </a:r>
          </a:p>
        </p:txBody>
      </p:sp>
      <p:sp>
        <p:nvSpPr>
          <p:cNvPr id="40" name="Rectangle 39">
            <a:extLst>
              <a:ext uri="{FF2B5EF4-FFF2-40B4-BE49-F238E27FC236}">
                <a16:creationId xmlns:a16="http://schemas.microsoft.com/office/drawing/2014/main" id="{18A2CCA9-C9EE-3BB5-960F-E4FD8F2F11B0}"/>
              </a:ext>
            </a:extLst>
          </p:cNvPr>
          <p:cNvSpPr/>
          <p:nvPr/>
        </p:nvSpPr>
        <p:spPr>
          <a:xfrm>
            <a:off x="1487062" y="5843197"/>
            <a:ext cx="3236729" cy="523220"/>
          </a:xfrm>
          <a:prstGeom prst="rect">
            <a:avLst/>
          </a:prstGeom>
          <a:noFill/>
        </p:spPr>
        <p:txBody>
          <a:bodyPr wrap="square" lIns="91440" tIns="45720" rIns="91440" bIns="45720">
            <a:spAutoFit/>
          </a:bodyPr>
          <a:lstStyle/>
          <a:p>
            <a:pPr algn="ctr"/>
            <a:r>
              <a:rPr lang="en-US" sz="2800" b="1" cap="none" spc="0" dirty="0">
                <a:ln w="0"/>
                <a:solidFill>
                  <a:schemeClr val="tx2">
                    <a:lumMod val="60000"/>
                    <a:lumOff val="40000"/>
                  </a:schemeClr>
                </a:solidFill>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rPr>
              <a:t>face-to-tail </a:t>
            </a:r>
          </a:p>
        </p:txBody>
      </p:sp>
      <p:pic>
        <p:nvPicPr>
          <p:cNvPr id="2" name="Picture 1" descr="A white fish on a black background&#10;&#10;Description automatically generated">
            <a:extLst>
              <a:ext uri="{FF2B5EF4-FFF2-40B4-BE49-F238E27FC236}">
                <a16:creationId xmlns:a16="http://schemas.microsoft.com/office/drawing/2014/main" id="{63E37A8A-2017-6C9B-A730-9AD5390FF3F0}"/>
              </a:ext>
            </a:extLst>
          </p:cNvPr>
          <p:cNvPicPr>
            <a:picLocks noChangeAspect="1"/>
          </p:cNvPicPr>
          <p:nvPr/>
        </p:nvPicPr>
        <p:blipFill>
          <a:blip r:embed="rId4">
            <a:duotone>
              <a:schemeClr val="accent1">
                <a:shade val="45000"/>
                <a:satMod val="135000"/>
              </a:schemeClr>
              <a:prstClr val="white"/>
            </a:duotone>
          </a:blip>
          <a:stretch>
            <a:fillRect/>
          </a:stretch>
        </p:blipFill>
        <p:spPr>
          <a:xfrm rot="20859437">
            <a:off x="3733865" y="5021234"/>
            <a:ext cx="1462396" cy="1462396"/>
          </a:xfrm>
          <a:prstGeom prst="rect">
            <a:avLst/>
          </a:prstGeom>
          <a:ln>
            <a:noFill/>
          </a:ln>
        </p:spPr>
      </p:pic>
    </p:spTree>
    <p:extLst>
      <p:ext uri="{BB962C8B-B14F-4D97-AF65-F5344CB8AC3E}">
        <p14:creationId xmlns:p14="http://schemas.microsoft.com/office/powerpoint/2010/main" val="920918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3554DD-693D-FEEF-3374-C0B143FA5B7B}"/>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7C96116E-3A1B-FF56-2E29-F8C668EED09E}"/>
              </a:ext>
            </a:extLst>
          </p:cNvPr>
          <p:cNvSpPr/>
          <p:nvPr/>
        </p:nvSpPr>
        <p:spPr>
          <a:xfrm>
            <a:off x="-662329" y="1032424"/>
            <a:ext cx="5137051" cy="707886"/>
          </a:xfrm>
          <a:prstGeom prst="rect">
            <a:avLst/>
          </a:prstGeom>
          <a:noFill/>
        </p:spPr>
        <p:txBody>
          <a:bodyPr wrap="square" lIns="91440" tIns="45720" rIns="91440" bIns="45720">
            <a:spAutoFit/>
          </a:bodyPr>
          <a:lstStyle/>
          <a:p>
            <a:pPr algn="ctr"/>
            <a:r>
              <a:rPr lang="en-US" sz="40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rPr>
              <a:t>Study 3: Exp 3</a:t>
            </a:r>
          </a:p>
        </p:txBody>
      </p:sp>
      <p:sp>
        <p:nvSpPr>
          <p:cNvPr id="2" name="TextBox 1">
            <a:extLst>
              <a:ext uri="{FF2B5EF4-FFF2-40B4-BE49-F238E27FC236}">
                <a16:creationId xmlns:a16="http://schemas.microsoft.com/office/drawing/2014/main" id="{C3A18212-C2A0-A82D-5241-8143253D6B37}"/>
              </a:ext>
            </a:extLst>
          </p:cNvPr>
          <p:cNvSpPr txBox="1"/>
          <p:nvPr/>
        </p:nvSpPr>
        <p:spPr>
          <a:xfrm>
            <a:off x="363306" y="1685881"/>
            <a:ext cx="8611947" cy="224676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000000"/>
                </a:solidFill>
                <a:effectLst/>
                <a:uLnTx/>
                <a:uFillTx/>
                <a:latin typeface="Calibri" panose="020F0502020204030204" pitchFamily="34" charset="0"/>
                <a:ea typeface="SimSun" panose="02010600030101010101" pitchFamily="2" charset="-122"/>
                <a:cs typeface="Calibri" panose="020F0502020204030204" pitchFamily="34" charset="0"/>
              </a:rPr>
              <a:t>Hypotheses:</a:t>
            </a:r>
            <a:br>
              <a:rPr lang="en-US" sz="2000" dirty="0">
                <a:solidFill>
                  <a:srgbClr val="000000"/>
                </a:solidFill>
                <a:latin typeface="Calibri" panose="020F0502020204030204" pitchFamily="34" charset="0"/>
                <a:ea typeface="SimSun" panose="02010600030101010101" pitchFamily="2" charset="-122"/>
                <a:cs typeface="Calibri" panose="020F0502020204030204" pitchFamily="34" charset="0"/>
              </a:rPr>
            </a:br>
            <a:r>
              <a:rPr lang="en-US" sz="2000" dirty="0">
                <a:effectLst/>
                <a:latin typeface="Calibri" panose="020F0502020204030204" pitchFamily="34" charset="0"/>
                <a:ea typeface="Times New Roman" panose="02020603050405020304" pitchFamily="18" charset="0"/>
                <a:cs typeface="Calibri" panose="020F0502020204030204" pitchFamily="34" charset="0"/>
              </a:rPr>
              <a:t>If the biting orientations impact the agent advantage effect, we should see an interaction between the biting orientation (face-to-face, face-to-tail) and the search task (agent search, patient search) regarding reaction time. </a:t>
            </a:r>
            <a:br>
              <a:rPr lang="en-US" sz="2000" dirty="0">
                <a:effectLst/>
                <a:latin typeface="Calibri" panose="020F0502020204030204" pitchFamily="34" charset="0"/>
                <a:ea typeface="Times New Roman" panose="02020603050405020304" pitchFamily="18" charset="0"/>
                <a:cs typeface="Calibri" panose="020F0502020204030204" pitchFamily="34" charset="0"/>
              </a:rPr>
            </a:br>
            <a:br>
              <a:rPr lang="en-US" sz="2000" dirty="0">
                <a:effectLst/>
                <a:latin typeface="Calibri" panose="020F0502020204030204" pitchFamily="34" charset="0"/>
                <a:ea typeface="Times New Roman" panose="02020603050405020304" pitchFamily="18" charset="0"/>
                <a:cs typeface="Calibri" panose="020F0502020204030204" pitchFamily="34" charset="0"/>
              </a:rPr>
            </a:br>
            <a:br>
              <a:rPr lang="en-US" sz="2000" dirty="0">
                <a:effectLst/>
                <a:latin typeface="Calibri" panose="020F0502020204030204" pitchFamily="34" charset="0"/>
                <a:ea typeface="Times New Roman" panose="02020603050405020304" pitchFamily="18" charset="0"/>
                <a:cs typeface="Calibri" panose="020F0502020204030204" pitchFamily="34" charset="0"/>
              </a:rPr>
            </a:br>
            <a:endParaRPr lang="en-US" sz="2000" dirty="0">
              <a:effectLst/>
              <a:latin typeface="Calibri" panose="020F0502020204030204" pitchFamily="34" charset="0"/>
              <a:ea typeface="SimSun" panose="02010600030101010101" pitchFamily="2" charset="-122"/>
              <a:cs typeface="Calibri" panose="020F0502020204030204" pitchFamily="34" charset="0"/>
            </a:endParaRPr>
          </a:p>
        </p:txBody>
      </p:sp>
      <p:sp>
        <p:nvSpPr>
          <p:cNvPr id="5" name="TextBox 4">
            <a:extLst>
              <a:ext uri="{FF2B5EF4-FFF2-40B4-BE49-F238E27FC236}">
                <a16:creationId xmlns:a16="http://schemas.microsoft.com/office/drawing/2014/main" id="{AA3DF6FD-2680-7700-C5C8-EAF4FDB13DFF}"/>
              </a:ext>
            </a:extLst>
          </p:cNvPr>
          <p:cNvSpPr txBox="1"/>
          <p:nvPr/>
        </p:nvSpPr>
        <p:spPr>
          <a:xfrm>
            <a:off x="2018690" y="3732003"/>
            <a:ext cx="6185807" cy="369332"/>
          </a:xfrm>
          <a:prstGeom prst="rect">
            <a:avLst/>
          </a:prstGeom>
          <a:noFill/>
        </p:spPr>
        <p:txBody>
          <a:bodyPr wrap="square">
            <a:spAutoFit/>
          </a:bodyPr>
          <a:lstStyle/>
          <a:p>
            <a:r>
              <a:rPr lang="en-US" sz="1800" b="1" dirty="0">
                <a:solidFill>
                  <a:srgbClr val="000000"/>
                </a:solidFill>
                <a:latin typeface="Calibri" panose="020F0502020204030204" pitchFamily="34" charset="0"/>
                <a:ea typeface="SimSun" panose="02010600030101010101" pitchFamily="2" charset="-122"/>
                <a:cs typeface="Calibri" panose="020F0502020204030204" pitchFamily="34" charset="0"/>
              </a:rPr>
              <a:t> RT D</a:t>
            </a:r>
            <a:r>
              <a:rPr lang="en-US" altLang="zh-CN" sz="1800" b="1" dirty="0">
                <a:solidFill>
                  <a:srgbClr val="000000"/>
                </a:solidFill>
                <a:latin typeface="Calibri" panose="020F0502020204030204" pitchFamily="34" charset="0"/>
                <a:ea typeface="SimSun" panose="02010600030101010101" pitchFamily="2" charset="-122"/>
                <a:cs typeface="Calibri" panose="020F0502020204030204" pitchFamily="34" charset="0"/>
              </a:rPr>
              <a:t>ifference</a:t>
            </a:r>
            <a:r>
              <a:rPr lang="en-US" sz="1800" b="1" dirty="0">
                <a:solidFill>
                  <a:srgbClr val="000000"/>
                </a:solidFill>
                <a:latin typeface="Calibri" panose="020F0502020204030204" pitchFamily="34" charset="0"/>
                <a:ea typeface="SimSun" panose="02010600030101010101" pitchFamily="2" charset="-122"/>
                <a:cs typeface="Calibri" panose="020F0502020204030204" pitchFamily="34" charset="0"/>
              </a:rPr>
              <a:t> </a:t>
            </a:r>
            <a:r>
              <a:rPr lang="en-US" sz="1800" b="1" baseline="-25000" dirty="0">
                <a:solidFill>
                  <a:srgbClr val="000000"/>
                </a:solidFill>
                <a:latin typeface="Calibri" panose="020F0502020204030204" pitchFamily="34" charset="0"/>
                <a:ea typeface="SimSun" panose="02010600030101010101" pitchFamily="2" charset="-122"/>
                <a:cs typeface="Calibri" panose="020F0502020204030204" pitchFamily="34" charset="0"/>
              </a:rPr>
              <a:t>face-to-tail              </a:t>
            </a:r>
            <a:r>
              <a:rPr lang="en-US" sz="1800" b="1" dirty="0">
                <a:solidFill>
                  <a:srgbClr val="000000"/>
                </a:solidFill>
                <a:latin typeface="Calibri" panose="020F0502020204030204" pitchFamily="34" charset="0"/>
                <a:ea typeface="SimSun" panose="02010600030101010101" pitchFamily="2" charset="-122"/>
                <a:cs typeface="Calibri" panose="020F0502020204030204" pitchFamily="34" charset="0"/>
              </a:rPr>
              <a:t>&lt;          </a:t>
            </a:r>
            <a:r>
              <a:rPr kumimoji="0" lang="en-US" sz="1800" b="1" i="0" u="none" strike="noStrike" kern="1200" cap="none" spc="0" normalizeH="0" baseline="0" noProof="0" dirty="0">
                <a:ln>
                  <a:noFill/>
                </a:ln>
                <a:solidFill>
                  <a:srgbClr val="000000"/>
                </a:solidFill>
                <a:effectLst/>
                <a:uLnTx/>
                <a:uFillTx/>
                <a:latin typeface="Calibri" panose="020F0502020204030204" pitchFamily="34" charset="0"/>
                <a:ea typeface="SimSun" panose="02010600030101010101" pitchFamily="2" charset="-122"/>
                <a:cs typeface="Calibri" panose="020F0502020204030204" pitchFamily="34" charset="0"/>
              </a:rPr>
              <a:t>RT </a:t>
            </a:r>
            <a:r>
              <a:rPr lang="en-US" sz="1800" b="1" dirty="0">
                <a:solidFill>
                  <a:srgbClr val="000000"/>
                </a:solidFill>
                <a:latin typeface="Calibri" panose="020F0502020204030204" pitchFamily="34" charset="0"/>
                <a:ea typeface="SimSun" panose="02010600030101010101" pitchFamily="2" charset="-122"/>
                <a:cs typeface="Calibri" panose="020F0502020204030204" pitchFamily="34" charset="0"/>
              </a:rPr>
              <a:t>D</a:t>
            </a:r>
            <a:r>
              <a:rPr lang="en-US" altLang="zh-CN" sz="1800" b="1" dirty="0">
                <a:solidFill>
                  <a:srgbClr val="000000"/>
                </a:solidFill>
                <a:latin typeface="Calibri" panose="020F0502020204030204" pitchFamily="34" charset="0"/>
                <a:ea typeface="SimSun" panose="02010600030101010101" pitchFamily="2" charset="-122"/>
                <a:cs typeface="Calibri" panose="020F0502020204030204" pitchFamily="34" charset="0"/>
              </a:rPr>
              <a:t>ifference </a:t>
            </a:r>
            <a:r>
              <a:rPr kumimoji="0" lang="en-US" sz="1800" b="1" i="0" u="none" strike="noStrike" kern="1200" cap="none" spc="0" normalizeH="0" baseline="-25000" noProof="0" dirty="0">
                <a:ln>
                  <a:noFill/>
                </a:ln>
                <a:solidFill>
                  <a:srgbClr val="000000"/>
                </a:solidFill>
                <a:effectLst/>
                <a:uLnTx/>
                <a:uFillTx/>
                <a:latin typeface="Calibri" panose="020F0502020204030204" pitchFamily="34" charset="0"/>
                <a:ea typeface="SimSun" panose="02010600030101010101" pitchFamily="2" charset="-122"/>
                <a:cs typeface="Calibri" panose="020F0502020204030204" pitchFamily="34" charset="0"/>
              </a:rPr>
              <a:t>face-to-face</a:t>
            </a:r>
            <a:endParaRPr lang="en-US" dirty="0"/>
          </a:p>
        </p:txBody>
      </p:sp>
      <p:sp>
        <p:nvSpPr>
          <p:cNvPr id="7" name="TextBox 6">
            <a:extLst>
              <a:ext uri="{FF2B5EF4-FFF2-40B4-BE49-F238E27FC236}">
                <a16:creationId xmlns:a16="http://schemas.microsoft.com/office/drawing/2014/main" id="{C3BEBD4C-9373-7317-AE1A-3FF508E94693}"/>
              </a:ext>
            </a:extLst>
          </p:cNvPr>
          <p:cNvSpPr txBox="1"/>
          <p:nvPr/>
        </p:nvSpPr>
        <p:spPr>
          <a:xfrm>
            <a:off x="3137997" y="4401441"/>
            <a:ext cx="4914900" cy="369332"/>
          </a:xfrm>
          <a:prstGeom prst="rect">
            <a:avLst/>
          </a:prstGeom>
          <a:noFill/>
        </p:spPr>
        <p:txBody>
          <a:bodyPr wrap="square">
            <a:spAutoFit/>
          </a:bodyPr>
          <a:lstStyle/>
          <a:p>
            <a:r>
              <a:rPr lang="en-US" sz="1800" b="1" dirty="0">
                <a:solidFill>
                  <a:srgbClr val="000000"/>
                </a:solidFill>
                <a:latin typeface="Calibri" panose="020F0502020204030204" pitchFamily="34" charset="0"/>
                <a:ea typeface="SimSun" panose="02010600030101010101" pitchFamily="2" charset="-122"/>
                <a:cs typeface="Calibri" panose="020F0502020204030204" pitchFamily="34" charset="0"/>
              </a:rPr>
              <a:t>RT </a:t>
            </a:r>
            <a:r>
              <a:rPr lang="en-US" sz="1800" b="1" baseline="-25000" dirty="0">
                <a:solidFill>
                  <a:srgbClr val="000000"/>
                </a:solidFill>
                <a:latin typeface="Calibri" panose="020F0502020204030204" pitchFamily="34" charset="0"/>
                <a:ea typeface="SimSun" panose="02010600030101010101" pitchFamily="2" charset="-122"/>
                <a:cs typeface="Calibri" panose="020F0502020204030204" pitchFamily="34" charset="0"/>
              </a:rPr>
              <a:t>agent search</a:t>
            </a:r>
            <a:r>
              <a:rPr lang="en-US" sz="1800" b="1" dirty="0">
                <a:solidFill>
                  <a:srgbClr val="000000"/>
                </a:solidFill>
                <a:latin typeface="Calibri" panose="020F0502020204030204" pitchFamily="34" charset="0"/>
                <a:ea typeface="SimSun" panose="02010600030101010101" pitchFamily="2" charset="-122"/>
                <a:cs typeface="Calibri" panose="020F0502020204030204" pitchFamily="34" charset="0"/>
              </a:rPr>
              <a:t>       &lt;          </a:t>
            </a:r>
            <a:r>
              <a:rPr kumimoji="0" lang="en-US" sz="1800" b="1" i="0" u="none" strike="noStrike" kern="1200" cap="none" spc="0" normalizeH="0" baseline="0" noProof="0" dirty="0">
                <a:ln>
                  <a:noFill/>
                </a:ln>
                <a:solidFill>
                  <a:srgbClr val="000000"/>
                </a:solidFill>
                <a:effectLst/>
                <a:uLnTx/>
                <a:uFillTx/>
                <a:latin typeface="Calibri" panose="020F0502020204030204" pitchFamily="34" charset="0"/>
                <a:ea typeface="SimSun" panose="02010600030101010101" pitchFamily="2" charset="-122"/>
                <a:cs typeface="Calibri" panose="020F0502020204030204" pitchFamily="34" charset="0"/>
              </a:rPr>
              <a:t>RT </a:t>
            </a:r>
            <a:r>
              <a:rPr kumimoji="0" lang="en-US" sz="1800" b="1" i="0" u="none" strike="noStrike" kern="1200" cap="none" spc="0" normalizeH="0" baseline="-25000" noProof="0" dirty="0">
                <a:ln>
                  <a:noFill/>
                </a:ln>
                <a:solidFill>
                  <a:srgbClr val="000000"/>
                </a:solidFill>
                <a:effectLst/>
                <a:uLnTx/>
                <a:uFillTx/>
                <a:latin typeface="Calibri" panose="020F0502020204030204" pitchFamily="34" charset="0"/>
                <a:ea typeface="SimSun" panose="02010600030101010101" pitchFamily="2" charset="-122"/>
                <a:cs typeface="Calibri" panose="020F0502020204030204" pitchFamily="34" charset="0"/>
              </a:rPr>
              <a:t>patient search</a:t>
            </a:r>
            <a:endParaRPr lang="en-US" dirty="0"/>
          </a:p>
        </p:txBody>
      </p:sp>
      <p:sp>
        <p:nvSpPr>
          <p:cNvPr id="8" name="TextBox 7">
            <a:extLst>
              <a:ext uri="{FF2B5EF4-FFF2-40B4-BE49-F238E27FC236}">
                <a16:creationId xmlns:a16="http://schemas.microsoft.com/office/drawing/2014/main" id="{0244C769-2D92-9F8E-35AA-A777E6C49852}"/>
              </a:ext>
            </a:extLst>
          </p:cNvPr>
          <p:cNvSpPr txBox="1"/>
          <p:nvPr/>
        </p:nvSpPr>
        <p:spPr>
          <a:xfrm>
            <a:off x="363306" y="4401441"/>
            <a:ext cx="2677885" cy="369332"/>
          </a:xfrm>
          <a:prstGeom prst="rect">
            <a:avLst/>
          </a:prstGeom>
          <a:noFill/>
        </p:spPr>
        <p:txBody>
          <a:bodyPr wrap="square">
            <a:spAutoFit/>
          </a:bodyPr>
          <a:lstStyle/>
          <a:p>
            <a:r>
              <a:rPr lang="en-US" sz="1800" b="1" dirty="0">
                <a:solidFill>
                  <a:srgbClr val="0070C0"/>
                </a:solidFill>
                <a:latin typeface="Calibri" panose="020F0502020204030204" pitchFamily="34" charset="0"/>
                <a:ea typeface="SimSun" panose="02010600030101010101" pitchFamily="2" charset="-122"/>
                <a:cs typeface="Calibri" panose="020F0502020204030204" pitchFamily="34" charset="0"/>
              </a:rPr>
              <a:t>Face-to-face Condition:</a:t>
            </a:r>
            <a:endParaRPr lang="en-US" dirty="0">
              <a:solidFill>
                <a:srgbClr val="0070C0"/>
              </a:solidFill>
            </a:endParaRPr>
          </a:p>
        </p:txBody>
      </p:sp>
      <p:sp>
        <p:nvSpPr>
          <p:cNvPr id="9" name="TextBox 8">
            <a:extLst>
              <a:ext uri="{FF2B5EF4-FFF2-40B4-BE49-F238E27FC236}">
                <a16:creationId xmlns:a16="http://schemas.microsoft.com/office/drawing/2014/main" id="{BCD85D08-90B3-4260-9599-E42E0CBA7F66}"/>
              </a:ext>
            </a:extLst>
          </p:cNvPr>
          <p:cNvSpPr txBox="1"/>
          <p:nvPr/>
        </p:nvSpPr>
        <p:spPr>
          <a:xfrm>
            <a:off x="363306" y="4987453"/>
            <a:ext cx="2677885" cy="369332"/>
          </a:xfrm>
          <a:prstGeom prst="rect">
            <a:avLst/>
          </a:prstGeom>
          <a:noFill/>
        </p:spPr>
        <p:txBody>
          <a:bodyPr wrap="square">
            <a:spAutoFit/>
          </a:bodyPr>
          <a:lstStyle/>
          <a:p>
            <a:r>
              <a:rPr lang="en-US" sz="1800" b="1" dirty="0">
                <a:solidFill>
                  <a:srgbClr val="0070C0"/>
                </a:solidFill>
                <a:latin typeface="Calibri" panose="020F0502020204030204" pitchFamily="34" charset="0"/>
                <a:ea typeface="SimSun" panose="02010600030101010101" pitchFamily="2" charset="-122"/>
                <a:cs typeface="Calibri" panose="020F0502020204030204" pitchFamily="34" charset="0"/>
              </a:rPr>
              <a:t>Face-to-tail Condition:</a:t>
            </a:r>
            <a:endParaRPr lang="en-US" dirty="0">
              <a:solidFill>
                <a:srgbClr val="0070C0"/>
              </a:solidFill>
            </a:endParaRPr>
          </a:p>
        </p:txBody>
      </p:sp>
      <p:pic>
        <p:nvPicPr>
          <p:cNvPr id="13" name="Picture 12">
            <a:extLst>
              <a:ext uri="{FF2B5EF4-FFF2-40B4-BE49-F238E27FC236}">
                <a16:creationId xmlns:a16="http://schemas.microsoft.com/office/drawing/2014/main" id="{9F69543A-E3CE-5281-A345-A3D8B9938E8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282301" y="205847"/>
            <a:ext cx="2346476" cy="1319893"/>
          </a:xfrm>
          <a:prstGeom prst="rect">
            <a:avLst/>
          </a:prstGeom>
        </p:spPr>
      </p:pic>
      <p:pic>
        <p:nvPicPr>
          <p:cNvPr id="15" name="Picture 14">
            <a:extLst>
              <a:ext uri="{FF2B5EF4-FFF2-40B4-BE49-F238E27FC236}">
                <a16:creationId xmlns:a16="http://schemas.microsoft.com/office/drawing/2014/main" id="{7865F975-1E97-515E-066D-8B8CE1C23625}"/>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628777" y="197303"/>
            <a:ext cx="2346476" cy="1319893"/>
          </a:xfrm>
          <a:prstGeom prst="rect">
            <a:avLst/>
          </a:prstGeom>
        </p:spPr>
      </p:pic>
      <p:sp>
        <p:nvSpPr>
          <p:cNvPr id="16" name="TextBox 15">
            <a:extLst>
              <a:ext uri="{FF2B5EF4-FFF2-40B4-BE49-F238E27FC236}">
                <a16:creationId xmlns:a16="http://schemas.microsoft.com/office/drawing/2014/main" id="{74F65BF1-D930-ADFB-C65A-9B37A85FD21E}"/>
              </a:ext>
            </a:extLst>
          </p:cNvPr>
          <p:cNvSpPr txBox="1"/>
          <p:nvPr/>
        </p:nvSpPr>
        <p:spPr>
          <a:xfrm>
            <a:off x="4865087" y="1386367"/>
            <a:ext cx="1373325" cy="369332"/>
          </a:xfrm>
          <a:prstGeom prst="rect">
            <a:avLst/>
          </a:prstGeom>
          <a:noFill/>
        </p:spPr>
        <p:txBody>
          <a:bodyPr wrap="square">
            <a:spAutoFit/>
          </a:bodyPr>
          <a:lstStyle/>
          <a:p>
            <a:r>
              <a:rPr lang="en-US" sz="1800" b="1" dirty="0">
                <a:solidFill>
                  <a:srgbClr val="0070C0"/>
                </a:solidFill>
                <a:latin typeface="Calibri" panose="020F0502020204030204" pitchFamily="34" charset="0"/>
                <a:ea typeface="SimSun" panose="02010600030101010101" pitchFamily="2" charset="-122"/>
                <a:cs typeface="Calibri" panose="020F0502020204030204" pitchFamily="34" charset="0"/>
              </a:rPr>
              <a:t>Face-to-face</a:t>
            </a:r>
            <a:endParaRPr lang="en-US" dirty="0">
              <a:solidFill>
                <a:srgbClr val="0070C0"/>
              </a:solidFill>
            </a:endParaRPr>
          </a:p>
        </p:txBody>
      </p:sp>
      <p:sp>
        <p:nvSpPr>
          <p:cNvPr id="17" name="TextBox 16">
            <a:extLst>
              <a:ext uri="{FF2B5EF4-FFF2-40B4-BE49-F238E27FC236}">
                <a16:creationId xmlns:a16="http://schemas.microsoft.com/office/drawing/2014/main" id="{C44E433F-CAE4-6779-8851-6A6C623B87C8}"/>
              </a:ext>
            </a:extLst>
          </p:cNvPr>
          <p:cNvSpPr txBox="1"/>
          <p:nvPr/>
        </p:nvSpPr>
        <p:spPr>
          <a:xfrm>
            <a:off x="7264047" y="1384963"/>
            <a:ext cx="1260341" cy="369332"/>
          </a:xfrm>
          <a:prstGeom prst="rect">
            <a:avLst/>
          </a:prstGeom>
          <a:noFill/>
        </p:spPr>
        <p:txBody>
          <a:bodyPr wrap="square">
            <a:spAutoFit/>
          </a:bodyPr>
          <a:lstStyle/>
          <a:p>
            <a:r>
              <a:rPr lang="en-US" sz="1800" b="1" dirty="0">
                <a:solidFill>
                  <a:srgbClr val="0070C0"/>
                </a:solidFill>
                <a:latin typeface="Calibri" panose="020F0502020204030204" pitchFamily="34" charset="0"/>
                <a:ea typeface="SimSun" panose="02010600030101010101" pitchFamily="2" charset="-122"/>
                <a:cs typeface="Calibri" panose="020F0502020204030204" pitchFamily="34" charset="0"/>
              </a:rPr>
              <a:t>Face-to-tail</a:t>
            </a:r>
            <a:endParaRPr lang="en-US" dirty="0">
              <a:solidFill>
                <a:srgbClr val="0070C0"/>
              </a:solidFill>
            </a:endParaRPr>
          </a:p>
        </p:txBody>
      </p:sp>
      <p:sp>
        <p:nvSpPr>
          <p:cNvPr id="6" name="TextBox 5">
            <a:extLst>
              <a:ext uri="{FF2B5EF4-FFF2-40B4-BE49-F238E27FC236}">
                <a16:creationId xmlns:a16="http://schemas.microsoft.com/office/drawing/2014/main" id="{B9541EBB-79DB-1786-F965-064966D2512E}"/>
              </a:ext>
            </a:extLst>
          </p:cNvPr>
          <p:cNvSpPr txBox="1"/>
          <p:nvPr/>
        </p:nvSpPr>
        <p:spPr>
          <a:xfrm>
            <a:off x="363306" y="3397050"/>
            <a:ext cx="4916244" cy="369332"/>
          </a:xfrm>
          <a:prstGeom prst="rect">
            <a:avLst/>
          </a:prstGeom>
          <a:noFill/>
        </p:spPr>
        <p:txBody>
          <a:bodyPr wrap="square">
            <a:spAutoFit/>
          </a:bodyPr>
          <a:lstStyle/>
          <a:p>
            <a:r>
              <a:rPr lang="en-US" sz="1800" b="1" dirty="0">
                <a:effectLst/>
                <a:latin typeface="Calibri" panose="020F0502020204030204" pitchFamily="34" charset="0"/>
                <a:ea typeface="Times New Roman" panose="02020603050405020304" pitchFamily="18" charset="0"/>
                <a:cs typeface="Calibri" panose="020F0502020204030204" pitchFamily="34" charset="0"/>
              </a:rPr>
              <a:t>Predictions:</a:t>
            </a:r>
            <a:endParaRPr lang="en-US" b="1" dirty="0"/>
          </a:p>
        </p:txBody>
      </p:sp>
      <p:sp>
        <p:nvSpPr>
          <p:cNvPr id="3" name="TextBox 2">
            <a:extLst>
              <a:ext uri="{FF2B5EF4-FFF2-40B4-BE49-F238E27FC236}">
                <a16:creationId xmlns:a16="http://schemas.microsoft.com/office/drawing/2014/main" id="{89CF7A0D-30A1-3CB9-F41A-2DA769C5119D}"/>
              </a:ext>
            </a:extLst>
          </p:cNvPr>
          <p:cNvSpPr txBox="1"/>
          <p:nvPr/>
        </p:nvSpPr>
        <p:spPr>
          <a:xfrm>
            <a:off x="3137997" y="4987453"/>
            <a:ext cx="4914900" cy="369332"/>
          </a:xfrm>
          <a:prstGeom prst="rect">
            <a:avLst/>
          </a:prstGeom>
          <a:noFill/>
        </p:spPr>
        <p:txBody>
          <a:bodyPr wrap="square">
            <a:spAutoFit/>
          </a:bodyPr>
          <a:lstStyle/>
          <a:p>
            <a:r>
              <a:rPr lang="en-US" sz="1800" b="1" dirty="0">
                <a:solidFill>
                  <a:srgbClr val="000000"/>
                </a:solidFill>
                <a:latin typeface="Calibri" panose="020F0502020204030204" pitchFamily="34" charset="0"/>
                <a:ea typeface="SimSun" panose="02010600030101010101" pitchFamily="2" charset="-122"/>
                <a:cs typeface="Calibri" panose="020F0502020204030204" pitchFamily="34" charset="0"/>
              </a:rPr>
              <a:t>RT </a:t>
            </a:r>
            <a:r>
              <a:rPr lang="en-US" sz="1800" b="1" baseline="-25000" dirty="0">
                <a:solidFill>
                  <a:srgbClr val="000000"/>
                </a:solidFill>
                <a:latin typeface="Calibri" panose="020F0502020204030204" pitchFamily="34" charset="0"/>
                <a:ea typeface="SimSun" panose="02010600030101010101" pitchFamily="2" charset="-122"/>
                <a:cs typeface="Calibri" panose="020F0502020204030204" pitchFamily="34" charset="0"/>
              </a:rPr>
              <a:t>agent search</a:t>
            </a:r>
            <a:r>
              <a:rPr lang="en-US" sz="1800" b="1" dirty="0">
                <a:solidFill>
                  <a:srgbClr val="000000"/>
                </a:solidFill>
                <a:latin typeface="Calibri" panose="020F0502020204030204" pitchFamily="34" charset="0"/>
                <a:ea typeface="SimSun" panose="02010600030101010101" pitchFamily="2" charset="-122"/>
                <a:cs typeface="Calibri" panose="020F0502020204030204" pitchFamily="34" charset="0"/>
              </a:rPr>
              <a:t>       ≤          </a:t>
            </a:r>
            <a:r>
              <a:rPr kumimoji="0" lang="en-US" sz="1800" b="1" i="0" u="none" strike="noStrike" kern="1200" cap="none" spc="0" normalizeH="0" baseline="0" noProof="0" dirty="0">
                <a:ln>
                  <a:noFill/>
                </a:ln>
                <a:solidFill>
                  <a:srgbClr val="000000"/>
                </a:solidFill>
                <a:effectLst/>
                <a:uLnTx/>
                <a:uFillTx/>
                <a:latin typeface="Calibri" panose="020F0502020204030204" pitchFamily="34" charset="0"/>
                <a:ea typeface="SimSun" panose="02010600030101010101" pitchFamily="2" charset="-122"/>
                <a:cs typeface="Calibri" panose="020F0502020204030204" pitchFamily="34" charset="0"/>
              </a:rPr>
              <a:t>RT </a:t>
            </a:r>
            <a:r>
              <a:rPr kumimoji="0" lang="en-US" sz="1800" b="1" i="0" u="none" strike="noStrike" kern="1200" cap="none" spc="0" normalizeH="0" baseline="-25000" noProof="0" dirty="0">
                <a:ln>
                  <a:noFill/>
                </a:ln>
                <a:solidFill>
                  <a:srgbClr val="000000"/>
                </a:solidFill>
                <a:effectLst/>
                <a:uLnTx/>
                <a:uFillTx/>
                <a:latin typeface="Calibri" panose="020F0502020204030204" pitchFamily="34" charset="0"/>
                <a:ea typeface="SimSun" panose="02010600030101010101" pitchFamily="2" charset="-122"/>
                <a:cs typeface="Calibri" panose="020F0502020204030204" pitchFamily="34" charset="0"/>
              </a:rPr>
              <a:t>patient search</a:t>
            </a:r>
            <a:endParaRPr lang="en-US" dirty="0"/>
          </a:p>
        </p:txBody>
      </p:sp>
    </p:spTree>
    <p:extLst>
      <p:ext uri="{BB962C8B-B14F-4D97-AF65-F5344CB8AC3E}">
        <p14:creationId xmlns:p14="http://schemas.microsoft.com/office/powerpoint/2010/main" val="2042581959"/>
      </p:ext>
    </p:extLst>
  </p:cSld>
  <p:clrMapOvr>
    <a:masterClrMapping/>
  </p:clrMapOvr>
  <p:extLst>
    <p:ext uri="{6950BFC3-D8DA-4A85-94F7-54DA5524770B}">
      <p188:commentRel xmlns:p188="http://schemas.microsoft.com/office/powerpoint/2018/8/main" r:id="rId3"/>
    </p:ext>
  </p:extLs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45A716-E47B-61CF-8BCA-F021D571E43F}"/>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3A35D5C3-14F3-C0BE-B51F-6C7617F0DBDC}"/>
              </a:ext>
            </a:extLst>
          </p:cNvPr>
          <p:cNvSpPr/>
          <p:nvPr/>
        </p:nvSpPr>
        <p:spPr>
          <a:xfrm>
            <a:off x="0" y="775285"/>
            <a:ext cx="2457421" cy="707886"/>
          </a:xfrm>
          <a:prstGeom prst="rect">
            <a:avLst/>
          </a:prstGeom>
          <a:noFill/>
        </p:spPr>
        <p:txBody>
          <a:bodyPr wrap="square" lIns="91440" tIns="45720" rIns="91440" bIns="45720">
            <a:spAutoFit/>
          </a:bodyPr>
          <a:lstStyle/>
          <a:p>
            <a:pPr algn="ctr"/>
            <a:r>
              <a:rPr lang="en-US" sz="40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rPr>
              <a:t>R</a:t>
            </a:r>
            <a:r>
              <a:rPr lang="en-US" altLang="zh-CN" sz="40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rPr>
              <a:t>esults</a:t>
            </a:r>
            <a:endParaRPr lang="en-US" sz="40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2" name="TextBox 1">
            <a:extLst>
              <a:ext uri="{FF2B5EF4-FFF2-40B4-BE49-F238E27FC236}">
                <a16:creationId xmlns:a16="http://schemas.microsoft.com/office/drawing/2014/main" id="{02C59BDC-EABF-4405-639B-9DCBA52F1AAC}"/>
              </a:ext>
            </a:extLst>
          </p:cNvPr>
          <p:cNvSpPr txBox="1"/>
          <p:nvPr/>
        </p:nvSpPr>
        <p:spPr>
          <a:xfrm>
            <a:off x="449960" y="1385318"/>
            <a:ext cx="8513064" cy="276999"/>
          </a:xfrm>
          <a:prstGeom prst="rect">
            <a:avLst/>
          </a:prstGeom>
          <a:noFill/>
        </p:spPr>
        <p:txBody>
          <a:bodyPr wrap="square">
            <a:spAutoFit/>
          </a:bodyPr>
          <a:lstStyle/>
          <a:p>
            <a:r>
              <a:rPr lang="en-US" sz="1200" b="1" dirty="0">
                <a:solidFill>
                  <a:srgbClr val="000000"/>
                </a:solidFill>
                <a:latin typeface="Calibri" panose="020F0502020204030204" pitchFamily="34" charset="0"/>
                <a:ea typeface="SimSun" panose="02010600030101010101" pitchFamily="2" charset="-122"/>
                <a:cs typeface="Calibri" panose="020F0502020204030204" pitchFamily="34" charset="0"/>
              </a:rPr>
              <a:t>repeated-measures 2 (search-task: agent search, patient search) x 2 (biting orientation: face-to-face, face-to-tail)</a:t>
            </a:r>
          </a:p>
        </p:txBody>
      </p:sp>
      <p:pic>
        <p:nvPicPr>
          <p:cNvPr id="6" name="Picture 5">
            <a:extLst>
              <a:ext uri="{FF2B5EF4-FFF2-40B4-BE49-F238E27FC236}">
                <a16:creationId xmlns:a16="http://schemas.microsoft.com/office/drawing/2014/main" id="{6DBC8035-CE15-57D1-C94E-6C7446FF2BAE}"/>
              </a:ext>
            </a:extLst>
          </p:cNvPr>
          <p:cNvPicPr>
            <a:picLocks noChangeAspect="1"/>
          </p:cNvPicPr>
          <p:nvPr/>
        </p:nvPicPr>
        <p:blipFill>
          <a:blip r:embed="rId4"/>
          <a:stretch>
            <a:fillRect/>
          </a:stretch>
        </p:blipFill>
        <p:spPr>
          <a:xfrm>
            <a:off x="556568" y="1704573"/>
            <a:ext cx="7451466" cy="934258"/>
          </a:xfrm>
          <a:prstGeom prst="rect">
            <a:avLst/>
          </a:prstGeom>
        </p:spPr>
      </p:pic>
      <p:pic>
        <p:nvPicPr>
          <p:cNvPr id="12" name="Picture 11">
            <a:extLst>
              <a:ext uri="{FF2B5EF4-FFF2-40B4-BE49-F238E27FC236}">
                <a16:creationId xmlns:a16="http://schemas.microsoft.com/office/drawing/2014/main" id="{3CFC3F8F-9E1A-0301-BA29-D58A1B20855A}"/>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282301" y="205847"/>
            <a:ext cx="1685982" cy="948365"/>
          </a:xfrm>
          <a:prstGeom prst="rect">
            <a:avLst/>
          </a:prstGeom>
        </p:spPr>
      </p:pic>
      <p:pic>
        <p:nvPicPr>
          <p:cNvPr id="13" name="Picture 12">
            <a:extLst>
              <a:ext uri="{FF2B5EF4-FFF2-40B4-BE49-F238E27FC236}">
                <a16:creationId xmlns:a16="http://schemas.microsoft.com/office/drawing/2014/main" id="{5EA548B0-969D-0C83-140E-2E4C428408F6}"/>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543001" y="142420"/>
            <a:ext cx="1568933" cy="882525"/>
          </a:xfrm>
          <a:prstGeom prst="rect">
            <a:avLst/>
          </a:prstGeom>
        </p:spPr>
      </p:pic>
      <p:sp>
        <p:nvSpPr>
          <p:cNvPr id="15" name="TextBox 14">
            <a:extLst>
              <a:ext uri="{FF2B5EF4-FFF2-40B4-BE49-F238E27FC236}">
                <a16:creationId xmlns:a16="http://schemas.microsoft.com/office/drawing/2014/main" id="{39BD720C-DAA7-85D4-16A8-5ABE4D795A7B}"/>
              </a:ext>
            </a:extLst>
          </p:cNvPr>
          <p:cNvSpPr txBox="1"/>
          <p:nvPr/>
        </p:nvSpPr>
        <p:spPr>
          <a:xfrm>
            <a:off x="4601072" y="1015312"/>
            <a:ext cx="1373325" cy="369332"/>
          </a:xfrm>
          <a:prstGeom prst="rect">
            <a:avLst/>
          </a:prstGeom>
          <a:noFill/>
        </p:spPr>
        <p:txBody>
          <a:bodyPr wrap="square">
            <a:spAutoFit/>
          </a:bodyPr>
          <a:lstStyle/>
          <a:p>
            <a:r>
              <a:rPr lang="en-US" sz="1800" b="1" dirty="0">
                <a:solidFill>
                  <a:srgbClr val="0070C0"/>
                </a:solidFill>
                <a:latin typeface="Calibri" panose="020F0502020204030204" pitchFamily="34" charset="0"/>
                <a:ea typeface="SimSun" panose="02010600030101010101" pitchFamily="2" charset="-122"/>
                <a:cs typeface="Calibri" panose="020F0502020204030204" pitchFamily="34" charset="0"/>
              </a:rPr>
              <a:t>Face-to-face</a:t>
            </a:r>
            <a:endParaRPr lang="en-US" dirty="0">
              <a:solidFill>
                <a:srgbClr val="0070C0"/>
              </a:solidFill>
            </a:endParaRPr>
          </a:p>
        </p:txBody>
      </p:sp>
      <p:sp>
        <p:nvSpPr>
          <p:cNvPr id="16" name="TextBox 15">
            <a:extLst>
              <a:ext uri="{FF2B5EF4-FFF2-40B4-BE49-F238E27FC236}">
                <a16:creationId xmlns:a16="http://schemas.microsoft.com/office/drawing/2014/main" id="{9EF9B101-61CF-596A-A84A-EBD537D8F8FD}"/>
              </a:ext>
            </a:extLst>
          </p:cNvPr>
          <p:cNvSpPr txBox="1"/>
          <p:nvPr/>
        </p:nvSpPr>
        <p:spPr>
          <a:xfrm>
            <a:off x="6832426" y="1014966"/>
            <a:ext cx="1260341" cy="369332"/>
          </a:xfrm>
          <a:prstGeom prst="rect">
            <a:avLst/>
          </a:prstGeom>
          <a:noFill/>
        </p:spPr>
        <p:txBody>
          <a:bodyPr wrap="square">
            <a:spAutoFit/>
          </a:bodyPr>
          <a:lstStyle/>
          <a:p>
            <a:r>
              <a:rPr lang="en-US" sz="1800" b="1" dirty="0">
                <a:solidFill>
                  <a:srgbClr val="0070C0"/>
                </a:solidFill>
                <a:latin typeface="Calibri" panose="020F0502020204030204" pitchFamily="34" charset="0"/>
                <a:ea typeface="SimSun" panose="02010600030101010101" pitchFamily="2" charset="-122"/>
                <a:cs typeface="Calibri" panose="020F0502020204030204" pitchFamily="34" charset="0"/>
              </a:rPr>
              <a:t>Face-to-tail</a:t>
            </a:r>
            <a:endParaRPr lang="en-US" dirty="0">
              <a:solidFill>
                <a:srgbClr val="0070C0"/>
              </a:solidFill>
            </a:endParaRPr>
          </a:p>
        </p:txBody>
      </p:sp>
      <p:pic>
        <p:nvPicPr>
          <p:cNvPr id="3" name="Picture 2">
            <a:extLst>
              <a:ext uri="{FF2B5EF4-FFF2-40B4-BE49-F238E27FC236}">
                <a16:creationId xmlns:a16="http://schemas.microsoft.com/office/drawing/2014/main" id="{A7B6A394-A872-2E2F-D400-7F9D04F68147}"/>
              </a:ext>
            </a:extLst>
          </p:cNvPr>
          <p:cNvPicPr>
            <a:picLocks noChangeAspect="1"/>
          </p:cNvPicPr>
          <p:nvPr/>
        </p:nvPicPr>
        <p:blipFill>
          <a:blip r:embed="rId7"/>
          <a:stretch>
            <a:fillRect/>
          </a:stretch>
        </p:blipFill>
        <p:spPr>
          <a:xfrm>
            <a:off x="217435" y="2781972"/>
            <a:ext cx="3725922" cy="3473317"/>
          </a:xfrm>
          <a:prstGeom prst="rect">
            <a:avLst/>
          </a:prstGeom>
        </p:spPr>
      </p:pic>
      <p:graphicFrame>
        <p:nvGraphicFramePr>
          <p:cNvPr id="5" name="Table 4">
            <a:extLst>
              <a:ext uri="{FF2B5EF4-FFF2-40B4-BE49-F238E27FC236}">
                <a16:creationId xmlns:a16="http://schemas.microsoft.com/office/drawing/2014/main" id="{5C2F3919-7A0B-9C4B-BC2E-AC836A148D06}"/>
              </a:ext>
            </a:extLst>
          </p:cNvPr>
          <p:cNvGraphicFramePr>
            <a:graphicFrameLocks noGrp="1"/>
          </p:cNvGraphicFramePr>
          <p:nvPr>
            <p:extLst>
              <p:ext uri="{D42A27DB-BD31-4B8C-83A1-F6EECF244321}">
                <p14:modId xmlns:p14="http://schemas.microsoft.com/office/powerpoint/2010/main" val="2532381358"/>
              </p:ext>
            </p:extLst>
          </p:nvPr>
        </p:nvGraphicFramePr>
        <p:xfrm>
          <a:off x="4724399" y="2880360"/>
          <a:ext cx="4238625" cy="1062870"/>
        </p:xfrm>
        <a:graphic>
          <a:graphicData uri="http://schemas.openxmlformats.org/drawingml/2006/table">
            <a:tbl>
              <a:tblPr firstRow="1" bandRow="1">
                <a:tableStyleId>{72833802-FEF1-4C79-8D5D-14CF1EAF98D9}</a:tableStyleId>
              </a:tblPr>
              <a:tblGrid>
                <a:gridCol w="1412875">
                  <a:extLst>
                    <a:ext uri="{9D8B030D-6E8A-4147-A177-3AD203B41FA5}">
                      <a16:colId xmlns:a16="http://schemas.microsoft.com/office/drawing/2014/main" val="1009955955"/>
                    </a:ext>
                  </a:extLst>
                </a:gridCol>
                <a:gridCol w="1412875">
                  <a:extLst>
                    <a:ext uri="{9D8B030D-6E8A-4147-A177-3AD203B41FA5}">
                      <a16:colId xmlns:a16="http://schemas.microsoft.com/office/drawing/2014/main" val="1410870798"/>
                    </a:ext>
                  </a:extLst>
                </a:gridCol>
                <a:gridCol w="1412875">
                  <a:extLst>
                    <a:ext uri="{9D8B030D-6E8A-4147-A177-3AD203B41FA5}">
                      <a16:colId xmlns:a16="http://schemas.microsoft.com/office/drawing/2014/main" val="1469460153"/>
                    </a:ext>
                  </a:extLst>
                </a:gridCol>
              </a:tblGrid>
              <a:tr h="293230">
                <a:tc>
                  <a:txBody>
                    <a:bodyPr/>
                    <a:lstStyle/>
                    <a:p>
                      <a:pPr algn="ctr"/>
                      <a:r>
                        <a:rPr lang="en-US" sz="1200" dirty="0">
                          <a:effectLst/>
                        </a:rPr>
                        <a:t>Search </a:t>
                      </a:r>
                      <a:endParaRPr lang="en-US" sz="1200" dirty="0"/>
                    </a:p>
                  </a:txBody>
                  <a:tcPr/>
                </a:tc>
                <a:tc>
                  <a:txBody>
                    <a:bodyPr/>
                    <a:lstStyle/>
                    <a:p>
                      <a:pPr algn="ctr"/>
                      <a:r>
                        <a:rPr lang="en-US" sz="1200" b="1" dirty="0" err="1">
                          <a:effectLst/>
                        </a:rPr>
                        <a:t>RT</a:t>
                      </a:r>
                      <a:r>
                        <a:rPr lang="en-US" sz="1200" b="1" u="none" dirty="0" err="1">
                          <a:effectLst>
                            <a:outerShdw blurRad="38100" dist="38100" dir="2700000" algn="tl">
                              <a:srgbClr val="000000">
                                <a:alpha val="43137"/>
                              </a:srgbClr>
                            </a:outerShdw>
                          </a:effectLst>
                        </a:rPr>
                        <a:t>Mean</a:t>
                      </a:r>
                      <a:r>
                        <a:rPr lang="en-US" sz="1200" b="1" dirty="0">
                          <a:effectLst/>
                        </a:rPr>
                        <a:t> </a:t>
                      </a:r>
                      <a:endParaRPr lang="en-US" sz="1200" b="1"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dirty="0">
                          <a:effectLst/>
                        </a:rPr>
                        <a:t>RT</a:t>
                      </a:r>
                      <a:r>
                        <a:rPr lang="en-US" sz="1200" b="1" u="none" dirty="0">
                          <a:effectLst>
                            <a:outerShdw blurRad="38100" dist="38100" dir="2700000" algn="tl">
                              <a:srgbClr val="000000">
                                <a:alpha val="43137"/>
                              </a:srgbClr>
                            </a:outerShdw>
                          </a:effectLst>
                        </a:rPr>
                        <a:t>SD</a:t>
                      </a:r>
                      <a:r>
                        <a:rPr lang="en-US" sz="1200" b="1" dirty="0">
                          <a:effectLst/>
                        </a:rPr>
                        <a:t> </a:t>
                      </a:r>
                      <a:endParaRPr lang="en-US" sz="1200" b="1" dirty="0"/>
                    </a:p>
                  </a:txBody>
                  <a:tcPr/>
                </a:tc>
                <a:extLst>
                  <a:ext uri="{0D108BD9-81ED-4DB2-BD59-A6C34878D82A}">
                    <a16:rowId xmlns:a16="http://schemas.microsoft.com/office/drawing/2014/main" val="2569407630"/>
                  </a:ext>
                </a:extLst>
              </a:tr>
              <a:tr h="384820">
                <a:tc>
                  <a:txBody>
                    <a:bodyPr/>
                    <a:lstStyle/>
                    <a:p>
                      <a:pPr algn="ctr"/>
                      <a:r>
                        <a:rPr lang="en-US" sz="1200" b="1" dirty="0">
                          <a:effectLst/>
                        </a:rPr>
                        <a:t>Agent search</a:t>
                      </a:r>
                      <a:endParaRPr lang="en-US" sz="1200" b="1" dirty="0"/>
                    </a:p>
                  </a:txBody>
                  <a:tcPr/>
                </a:tc>
                <a:tc>
                  <a:txBody>
                    <a:bodyPr/>
                    <a:lstStyle/>
                    <a:p>
                      <a:pPr algn="ctr"/>
                      <a:r>
                        <a:rPr lang="en-US" sz="1200" b="1" dirty="0">
                          <a:effectLst/>
                        </a:rPr>
                        <a:t>678</a:t>
                      </a:r>
                      <a:endParaRPr lang="en-US" sz="1200" b="1" dirty="0"/>
                    </a:p>
                  </a:txBody>
                  <a:tcPr/>
                </a:tc>
                <a:tc>
                  <a:txBody>
                    <a:bodyPr/>
                    <a:lstStyle/>
                    <a:p>
                      <a:pPr algn="ctr"/>
                      <a:r>
                        <a:rPr lang="en-US" sz="1200" b="1" dirty="0">
                          <a:effectLst/>
                        </a:rPr>
                        <a:t>203</a:t>
                      </a:r>
                      <a:endParaRPr lang="en-US" sz="1200" b="1" dirty="0"/>
                    </a:p>
                  </a:txBody>
                  <a:tcPr/>
                </a:tc>
                <a:extLst>
                  <a:ext uri="{0D108BD9-81ED-4DB2-BD59-A6C34878D82A}">
                    <a16:rowId xmlns:a16="http://schemas.microsoft.com/office/drawing/2014/main" val="3343231561"/>
                  </a:ext>
                </a:extLst>
              </a:tr>
              <a:tr h="384820">
                <a:tc>
                  <a:txBody>
                    <a:bodyPr/>
                    <a:lstStyle/>
                    <a:p>
                      <a:pPr algn="ctr"/>
                      <a:r>
                        <a:rPr lang="en-US" sz="1200" b="1" dirty="0">
                          <a:effectLst/>
                        </a:rPr>
                        <a:t>Patient search</a:t>
                      </a:r>
                      <a:endParaRPr lang="en-US" sz="1200" b="1" dirty="0"/>
                    </a:p>
                  </a:txBody>
                  <a:tcPr/>
                </a:tc>
                <a:tc>
                  <a:txBody>
                    <a:bodyPr/>
                    <a:lstStyle/>
                    <a:p>
                      <a:pPr algn="ctr"/>
                      <a:r>
                        <a:rPr lang="en-US" sz="1200" b="1" dirty="0">
                          <a:effectLst/>
                        </a:rPr>
                        <a:t>782</a:t>
                      </a:r>
                      <a:endParaRPr lang="en-US" sz="1200" b="1" dirty="0"/>
                    </a:p>
                  </a:txBody>
                  <a:tcPr/>
                </a:tc>
                <a:tc>
                  <a:txBody>
                    <a:bodyPr/>
                    <a:lstStyle/>
                    <a:p>
                      <a:pPr algn="ctr"/>
                      <a:r>
                        <a:rPr lang="en-US" sz="1200" b="1" dirty="0">
                          <a:effectLst/>
                        </a:rPr>
                        <a:t>278</a:t>
                      </a:r>
                      <a:endParaRPr lang="en-US" sz="1200" b="1" dirty="0"/>
                    </a:p>
                  </a:txBody>
                  <a:tcPr/>
                </a:tc>
                <a:extLst>
                  <a:ext uri="{0D108BD9-81ED-4DB2-BD59-A6C34878D82A}">
                    <a16:rowId xmlns:a16="http://schemas.microsoft.com/office/drawing/2014/main" val="2443910506"/>
                  </a:ext>
                </a:extLst>
              </a:tr>
            </a:tbl>
          </a:graphicData>
        </a:graphic>
      </p:graphicFrame>
      <p:sp>
        <p:nvSpPr>
          <p:cNvPr id="7" name="矩形 15">
            <a:extLst>
              <a:ext uri="{FF2B5EF4-FFF2-40B4-BE49-F238E27FC236}">
                <a16:creationId xmlns:a16="http://schemas.microsoft.com/office/drawing/2014/main" id="{CAA75030-0732-359D-409B-31E329BD97BF}"/>
              </a:ext>
            </a:extLst>
          </p:cNvPr>
          <p:cNvSpPr>
            <a:spLocks noChangeArrowheads="1"/>
          </p:cNvSpPr>
          <p:nvPr/>
        </p:nvSpPr>
        <p:spPr bwMode="auto">
          <a:xfrm>
            <a:off x="5394810" y="4118137"/>
            <a:ext cx="289780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911225">
              <a:defRPr>
                <a:solidFill>
                  <a:schemeClr val="tx1"/>
                </a:solidFill>
                <a:latin typeface="Calibri" panose="020F0502020204030204" pitchFamily="34" charset="0"/>
                <a:ea typeface="宋体" panose="02010600030101010101" pitchFamily="2" charset="-122"/>
              </a:defRPr>
            </a:lvl1pPr>
            <a:lvl2pPr marL="742950" indent="-285750" defTabSz="911225">
              <a:defRPr>
                <a:solidFill>
                  <a:schemeClr val="tx1"/>
                </a:solidFill>
                <a:latin typeface="Calibri" panose="020F0502020204030204" pitchFamily="34" charset="0"/>
                <a:ea typeface="宋体" panose="02010600030101010101" pitchFamily="2" charset="-122"/>
              </a:defRPr>
            </a:lvl2pPr>
            <a:lvl3pPr marL="1143000" indent="-228600" defTabSz="911225">
              <a:defRPr>
                <a:solidFill>
                  <a:schemeClr val="tx1"/>
                </a:solidFill>
                <a:latin typeface="Calibri" panose="020F0502020204030204" pitchFamily="34" charset="0"/>
                <a:ea typeface="宋体" panose="02010600030101010101" pitchFamily="2" charset="-122"/>
              </a:defRPr>
            </a:lvl3pPr>
            <a:lvl4pPr marL="1600200" indent="-228600" defTabSz="911225">
              <a:defRPr>
                <a:solidFill>
                  <a:schemeClr val="tx1"/>
                </a:solidFill>
                <a:latin typeface="Calibri" panose="020F0502020204030204" pitchFamily="34" charset="0"/>
                <a:ea typeface="宋体" panose="02010600030101010101" pitchFamily="2" charset="-122"/>
              </a:defRPr>
            </a:lvl4pPr>
            <a:lvl5pPr marL="2057400" indent="-228600" defTabSz="911225">
              <a:defRPr>
                <a:solidFill>
                  <a:schemeClr val="tx1"/>
                </a:solidFill>
                <a:latin typeface="Calibri" panose="020F0502020204030204" pitchFamily="34" charset="0"/>
                <a:ea typeface="宋体" panose="02010600030101010101" pitchFamily="2" charset="-122"/>
              </a:defRPr>
            </a:lvl5pPr>
            <a:lvl6pPr marL="25146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l"/>
            <a:r>
              <a:rPr lang="en-US" altLang="zh-CN" b="1" i="1" dirty="0">
                <a:effectLst>
                  <a:innerShdw blurRad="63500" dist="50800">
                    <a:prstClr val="black">
                      <a:alpha val="50000"/>
                    </a:prstClr>
                  </a:innerShdw>
                </a:effectLst>
                <a:latin typeface="open sans" panose="020B0606030504020204" pitchFamily="34" charset="0"/>
              </a:rPr>
              <a:t>t</a:t>
            </a:r>
            <a:r>
              <a:rPr lang="en-US" altLang="zh-CN" b="1" dirty="0">
                <a:effectLst>
                  <a:innerShdw blurRad="63500" dist="50800">
                    <a:prstClr val="black">
                      <a:alpha val="50000"/>
                    </a:prstClr>
                  </a:innerShdw>
                </a:effectLst>
                <a:latin typeface="open sans" panose="020B0606030504020204" pitchFamily="34" charset="0"/>
              </a:rPr>
              <a:t>(83) = -6.83</a:t>
            </a:r>
            <a:r>
              <a:rPr lang="en-US" altLang="zh-CN" b="1" dirty="0">
                <a:solidFill>
                  <a:srgbClr val="FF0000"/>
                </a:solidFill>
                <a:effectLst>
                  <a:innerShdw blurRad="63500" dist="50800">
                    <a:prstClr val="black">
                      <a:alpha val="50000"/>
                    </a:prstClr>
                  </a:innerShdw>
                </a:effectLst>
                <a:latin typeface="open sans" panose="020B0606030504020204" pitchFamily="34" charset="0"/>
              </a:rPr>
              <a:t>, </a:t>
            </a:r>
            <a:r>
              <a:rPr lang="en-US" altLang="zh-CN" b="1" i="1" dirty="0">
                <a:solidFill>
                  <a:srgbClr val="FF0000"/>
                </a:solidFill>
                <a:effectLst>
                  <a:innerShdw blurRad="63500" dist="50800">
                    <a:prstClr val="black">
                      <a:alpha val="50000"/>
                    </a:prstClr>
                  </a:innerShdw>
                </a:effectLst>
                <a:latin typeface="open sans" panose="020B0606030504020204" pitchFamily="34" charset="0"/>
              </a:rPr>
              <a:t>p</a:t>
            </a:r>
            <a:r>
              <a:rPr lang="en-US" altLang="zh-CN" b="1" dirty="0">
                <a:solidFill>
                  <a:srgbClr val="FF0000"/>
                </a:solidFill>
                <a:effectLst>
                  <a:innerShdw blurRad="63500" dist="50800">
                    <a:prstClr val="black">
                      <a:alpha val="50000"/>
                    </a:prstClr>
                  </a:innerShdw>
                </a:effectLst>
                <a:latin typeface="open sans" panose="020B0606030504020204" pitchFamily="34" charset="0"/>
              </a:rPr>
              <a:t> &lt; .001</a:t>
            </a:r>
          </a:p>
        </p:txBody>
      </p:sp>
      <p:sp>
        <p:nvSpPr>
          <p:cNvPr id="9" name="TextBox 8">
            <a:extLst>
              <a:ext uri="{FF2B5EF4-FFF2-40B4-BE49-F238E27FC236}">
                <a16:creationId xmlns:a16="http://schemas.microsoft.com/office/drawing/2014/main" id="{12AB2C90-5BCE-1A64-BA7D-DB2AD9904ED9}"/>
              </a:ext>
            </a:extLst>
          </p:cNvPr>
          <p:cNvSpPr txBox="1"/>
          <p:nvPr/>
        </p:nvSpPr>
        <p:spPr>
          <a:xfrm>
            <a:off x="3162316" y="2865889"/>
            <a:ext cx="1562083" cy="646331"/>
          </a:xfrm>
          <a:prstGeom prst="rect">
            <a:avLst/>
          </a:prstGeom>
          <a:noFill/>
        </p:spPr>
        <p:txBody>
          <a:bodyPr wrap="square">
            <a:spAutoFit/>
          </a:bodyPr>
          <a:lstStyle/>
          <a:p>
            <a:r>
              <a:rPr lang="en-US" sz="1800" b="1" dirty="0">
                <a:solidFill>
                  <a:srgbClr val="0070C0"/>
                </a:solidFill>
                <a:latin typeface="Calibri" panose="020F0502020204030204" pitchFamily="34" charset="0"/>
                <a:ea typeface="SimSun" panose="02010600030101010101" pitchFamily="2" charset="-122"/>
                <a:cs typeface="Calibri" panose="020F0502020204030204" pitchFamily="34" charset="0"/>
              </a:rPr>
              <a:t>Face-to-face Condition:</a:t>
            </a:r>
            <a:endParaRPr lang="en-US" dirty="0">
              <a:solidFill>
                <a:srgbClr val="0070C0"/>
              </a:solidFill>
            </a:endParaRPr>
          </a:p>
        </p:txBody>
      </p:sp>
      <p:sp>
        <p:nvSpPr>
          <p:cNvPr id="10" name="TextBox 9">
            <a:extLst>
              <a:ext uri="{FF2B5EF4-FFF2-40B4-BE49-F238E27FC236}">
                <a16:creationId xmlns:a16="http://schemas.microsoft.com/office/drawing/2014/main" id="{E6360E8E-7D7F-344A-E8F3-1A5664AE84D7}"/>
              </a:ext>
            </a:extLst>
          </p:cNvPr>
          <p:cNvSpPr txBox="1"/>
          <p:nvPr/>
        </p:nvSpPr>
        <p:spPr>
          <a:xfrm>
            <a:off x="3161242" y="4822452"/>
            <a:ext cx="1356621" cy="646331"/>
          </a:xfrm>
          <a:prstGeom prst="rect">
            <a:avLst/>
          </a:prstGeom>
          <a:noFill/>
        </p:spPr>
        <p:txBody>
          <a:bodyPr wrap="square">
            <a:spAutoFit/>
          </a:bodyPr>
          <a:lstStyle/>
          <a:p>
            <a:r>
              <a:rPr lang="en-US" sz="1800" b="1" dirty="0">
                <a:solidFill>
                  <a:srgbClr val="0070C0"/>
                </a:solidFill>
                <a:latin typeface="Calibri" panose="020F0502020204030204" pitchFamily="34" charset="0"/>
                <a:ea typeface="SimSun" panose="02010600030101010101" pitchFamily="2" charset="-122"/>
                <a:cs typeface="Calibri" panose="020F0502020204030204" pitchFamily="34" charset="0"/>
              </a:rPr>
              <a:t>Face-to-tail Condition:</a:t>
            </a:r>
            <a:endParaRPr lang="en-US" dirty="0">
              <a:solidFill>
                <a:srgbClr val="0070C0"/>
              </a:solidFill>
            </a:endParaRPr>
          </a:p>
        </p:txBody>
      </p:sp>
      <p:graphicFrame>
        <p:nvGraphicFramePr>
          <p:cNvPr id="11" name="Table 10">
            <a:extLst>
              <a:ext uri="{FF2B5EF4-FFF2-40B4-BE49-F238E27FC236}">
                <a16:creationId xmlns:a16="http://schemas.microsoft.com/office/drawing/2014/main" id="{14D0B42F-E635-4219-F323-CA95D7F86789}"/>
              </a:ext>
            </a:extLst>
          </p:cNvPr>
          <p:cNvGraphicFramePr>
            <a:graphicFrameLocks noGrp="1"/>
          </p:cNvGraphicFramePr>
          <p:nvPr>
            <p:extLst>
              <p:ext uri="{D42A27DB-BD31-4B8C-83A1-F6EECF244321}">
                <p14:modId xmlns:p14="http://schemas.microsoft.com/office/powerpoint/2010/main" val="160926394"/>
              </p:ext>
            </p:extLst>
          </p:nvPr>
        </p:nvGraphicFramePr>
        <p:xfrm>
          <a:off x="4724399" y="4744510"/>
          <a:ext cx="4238625" cy="1062870"/>
        </p:xfrm>
        <a:graphic>
          <a:graphicData uri="http://schemas.openxmlformats.org/drawingml/2006/table">
            <a:tbl>
              <a:tblPr firstRow="1" bandRow="1">
                <a:tableStyleId>{72833802-FEF1-4C79-8D5D-14CF1EAF98D9}</a:tableStyleId>
              </a:tblPr>
              <a:tblGrid>
                <a:gridCol w="1412875">
                  <a:extLst>
                    <a:ext uri="{9D8B030D-6E8A-4147-A177-3AD203B41FA5}">
                      <a16:colId xmlns:a16="http://schemas.microsoft.com/office/drawing/2014/main" val="1009955955"/>
                    </a:ext>
                  </a:extLst>
                </a:gridCol>
                <a:gridCol w="1412875">
                  <a:extLst>
                    <a:ext uri="{9D8B030D-6E8A-4147-A177-3AD203B41FA5}">
                      <a16:colId xmlns:a16="http://schemas.microsoft.com/office/drawing/2014/main" val="1410870798"/>
                    </a:ext>
                  </a:extLst>
                </a:gridCol>
                <a:gridCol w="1412875">
                  <a:extLst>
                    <a:ext uri="{9D8B030D-6E8A-4147-A177-3AD203B41FA5}">
                      <a16:colId xmlns:a16="http://schemas.microsoft.com/office/drawing/2014/main" val="1469460153"/>
                    </a:ext>
                  </a:extLst>
                </a:gridCol>
              </a:tblGrid>
              <a:tr h="293230">
                <a:tc>
                  <a:txBody>
                    <a:bodyPr/>
                    <a:lstStyle/>
                    <a:p>
                      <a:pPr algn="ctr"/>
                      <a:r>
                        <a:rPr lang="en-US" sz="1200" dirty="0">
                          <a:effectLst/>
                        </a:rPr>
                        <a:t>Search </a:t>
                      </a:r>
                      <a:endParaRPr lang="en-US" sz="1200" dirty="0"/>
                    </a:p>
                  </a:txBody>
                  <a:tcPr/>
                </a:tc>
                <a:tc>
                  <a:txBody>
                    <a:bodyPr/>
                    <a:lstStyle/>
                    <a:p>
                      <a:pPr algn="ctr"/>
                      <a:r>
                        <a:rPr lang="en-US" sz="1200" b="1" dirty="0" err="1">
                          <a:effectLst/>
                        </a:rPr>
                        <a:t>RT</a:t>
                      </a:r>
                      <a:r>
                        <a:rPr lang="en-US" sz="1200" b="1" u="none" dirty="0" err="1">
                          <a:effectLst>
                            <a:outerShdw blurRad="38100" dist="38100" dir="2700000" algn="tl">
                              <a:srgbClr val="000000">
                                <a:alpha val="43137"/>
                              </a:srgbClr>
                            </a:outerShdw>
                          </a:effectLst>
                        </a:rPr>
                        <a:t>Mean</a:t>
                      </a:r>
                      <a:r>
                        <a:rPr lang="en-US" sz="1200" b="1" dirty="0">
                          <a:effectLst/>
                        </a:rPr>
                        <a:t> </a:t>
                      </a:r>
                      <a:endParaRPr lang="en-US" sz="1200" b="1"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dirty="0">
                          <a:effectLst/>
                        </a:rPr>
                        <a:t>RT</a:t>
                      </a:r>
                      <a:r>
                        <a:rPr lang="en-US" sz="1200" b="1" u="none" dirty="0">
                          <a:effectLst>
                            <a:outerShdw blurRad="38100" dist="38100" dir="2700000" algn="tl">
                              <a:srgbClr val="000000">
                                <a:alpha val="43137"/>
                              </a:srgbClr>
                            </a:outerShdw>
                          </a:effectLst>
                        </a:rPr>
                        <a:t>SD</a:t>
                      </a:r>
                      <a:r>
                        <a:rPr lang="en-US" sz="1200" b="1" dirty="0">
                          <a:effectLst/>
                        </a:rPr>
                        <a:t> </a:t>
                      </a:r>
                      <a:endParaRPr lang="en-US" sz="1200" b="1" dirty="0"/>
                    </a:p>
                  </a:txBody>
                  <a:tcPr/>
                </a:tc>
                <a:extLst>
                  <a:ext uri="{0D108BD9-81ED-4DB2-BD59-A6C34878D82A}">
                    <a16:rowId xmlns:a16="http://schemas.microsoft.com/office/drawing/2014/main" val="2569407630"/>
                  </a:ext>
                </a:extLst>
              </a:tr>
              <a:tr h="384820">
                <a:tc>
                  <a:txBody>
                    <a:bodyPr/>
                    <a:lstStyle/>
                    <a:p>
                      <a:pPr algn="ctr"/>
                      <a:r>
                        <a:rPr lang="en-US" sz="1200" b="1" dirty="0">
                          <a:effectLst/>
                        </a:rPr>
                        <a:t>Agent search</a:t>
                      </a:r>
                      <a:endParaRPr lang="en-US" sz="1200" b="1" dirty="0"/>
                    </a:p>
                  </a:txBody>
                  <a:tcPr/>
                </a:tc>
                <a:tc>
                  <a:txBody>
                    <a:bodyPr/>
                    <a:lstStyle/>
                    <a:p>
                      <a:pPr algn="ctr"/>
                      <a:r>
                        <a:rPr lang="en-US" sz="1200" b="1" dirty="0">
                          <a:effectLst/>
                        </a:rPr>
                        <a:t>552</a:t>
                      </a:r>
                      <a:endParaRPr lang="en-US" sz="1200" b="1" dirty="0"/>
                    </a:p>
                  </a:txBody>
                  <a:tcPr/>
                </a:tc>
                <a:tc>
                  <a:txBody>
                    <a:bodyPr/>
                    <a:lstStyle/>
                    <a:p>
                      <a:pPr algn="ctr"/>
                      <a:r>
                        <a:rPr lang="en-US" sz="1200" b="1" dirty="0">
                          <a:effectLst/>
                        </a:rPr>
                        <a:t>114</a:t>
                      </a:r>
                      <a:endParaRPr lang="en-US" sz="1200" b="1" dirty="0"/>
                    </a:p>
                  </a:txBody>
                  <a:tcPr/>
                </a:tc>
                <a:extLst>
                  <a:ext uri="{0D108BD9-81ED-4DB2-BD59-A6C34878D82A}">
                    <a16:rowId xmlns:a16="http://schemas.microsoft.com/office/drawing/2014/main" val="3343231561"/>
                  </a:ext>
                </a:extLst>
              </a:tr>
              <a:tr h="384820">
                <a:tc>
                  <a:txBody>
                    <a:bodyPr/>
                    <a:lstStyle/>
                    <a:p>
                      <a:pPr algn="ctr"/>
                      <a:r>
                        <a:rPr lang="en-US" sz="1200" b="1" dirty="0">
                          <a:effectLst/>
                        </a:rPr>
                        <a:t>Patient search</a:t>
                      </a:r>
                      <a:endParaRPr lang="en-US" sz="1200" b="1" dirty="0"/>
                    </a:p>
                  </a:txBody>
                  <a:tcPr/>
                </a:tc>
                <a:tc>
                  <a:txBody>
                    <a:bodyPr/>
                    <a:lstStyle/>
                    <a:p>
                      <a:pPr algn="ctr"/>
                      <a:r>
                        <a:rPr lang="en-US" sz="1200" b="1" dirty="0">
                          <a:effectLst/>
                        </a:rPr>
                        <a:t>545</a:t>
                      </a:r>
                      <a:endParaRPr lang="en-US" sz="1200" b="1" dirty="0"/>
                    </a:p>
                  </a:txBody>
                  <a:tcPr/>
                </a:tc>
                <a:tc>
                  <a:txBody>
                    <a:bodyPr/>
                    <a:lstStyle/>
                    <a:p>
                      <a:pPr algn="ctr"/>
                      <a:r>
                        <a:rPr lang="en-US" sz="1200" b="1" dirty="0">
                          <a:effectLst/>
                        </a:rPr>
                        <a:t>140</a:t>
                      </a:r>
                      <a:endParaRPr lang="en-US" sz="1200" b="1" dirty="0"/>
                    </a:p>
                  </a:txBody>
                  <a:tcPr/>
                </a:tc>
                <a:extLst>
                  <a:ext uri="{0D108BD9-81ED-4DB2-BD59-A6C34878D82A}">
                    <a16:rowId xmlns:a16="http://schemas.microsoft.com/office/drawing/2014/main" val="2443910506"/>
                  </a:ext>
                </a:extLst>
              </a:tr>
            </a:tbl>
          </a:graphicData>
        </a:graphic>
      </p:graphicFrame>
      <p:sp>
        <p:nvSpPr>
          <p:cNvPr id="14" name="矩形 15">
            <a:extLst>
              <a:ext uri="{FF2B5EF4-FFF2-40B4-BE49-F238E27FC236}">
                <a16:creationId xmlns:a16="http://schemas.microsoft.com/office/drawing/2014/main" id="{D62C6EC3-CCD5-A654-188B-D5A7AF0E1880}"/>
              </a:ext>
            </a:extLst>
          </p:cNvPr>
          <p:cNvSpPr>
            <a:spLocks noChangeArrowheads="1"/>
          </p:cNvSpPr>
          <p:nvPr/>
        </p:nvSpPr>
        <p:spPr bwMode="auto">
          <a:xfrm>
            <a:off x="5394810" y="5982287"/>
            <a:ext cx="289780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911225">
              <a:defRPr>
                <a:solidFill>
                  <a:schemeClr val="tx1"/>
                </a:solidFill>
                <a:latin typeface="Calibri" panose="020F0502020204030204" pitchFamily="34" charset="0"/>
                <a:ea typeface="宋体" panose="02010600030101010101" pitchFamily="2" charset="-122"/>
              </a:defRPr>
            </a:lvl1pPr>
            <a:lvl2pPr marL="742950" indent="-285750" defTabSz="911225">
              <a:defRPr>
                <a:solidFill>
                  <a:schemeClr val="tx1"/>
                </a:solidFill>
                <a:latin typeface="Calibri" panose="020F0502020204030204" pitchFamily="34" charset="0"/>
                <a:ea typeface="宋体" panose="02010600030101010101" pitchFamily="2" charset="-122"/>
              </a:defRPr>
            </a:lvl2pPr>
            <a:lvl3pPr marL="1143000" indent="-228600" defTabSz="911225">
              <a:defRPr>
                <a:solidFill>
                  <a:schemeClr val="tx1"/>
                </a:solidFill>
                <a:latin typeface="Calibri" panose="020F0502020204030204" pitchFamily="34" charset="0"/>
                <a:ea typeface="宋体" panose="02010600030101010101" pitchFamily="2" charset="-122"/>
              </a:defRPr>
            </a:lvl3pPr>
            <a:lvl4pPr marL="1600200" indent="-228600" defTabSz="911225">
              <a:defRPr>
                <a:solidFill>
                  <a:schemeClr val="tx1"/>
                </a:solidFill>
                <a:latin typeface="Calibri" panose="020F0502020204030204" pitchFamily="34" charset="0"/>
                <a:ea typeface="宋体" panose="02010600030101010101" pitchFamily="2" charset="-122"/>
              </a:defRPr>
            </a:lvl4pPr>
            <a:lvl5pPr marL="2057400" indent="-228600" defTabSz="911225">
              <a:defRPr>
                <a:solidFill>
                  <a:schemeClr val="tx1"/>
                </a:solidFill>
                <a:latin typeface="Calibri" panose="020F0502020204030204" pitchFamily="34" charset="0"/>
                <a:ea typeface="宋体" panose="02010600030101010101" pitchFamily="2" charset="-122"/>
              </a:defRPr>
            </a:lvl5pPr>
            <a:lvl6pPr marL="25146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l"/>
            <a:r>
              <a:rPr lang="en-US" altLang="zh-CN" b="1" i="1" dirty="0">
                <a:effectLst>
                  <a:innerShdw blurRad="63500" dist="50800">
                    <a:prstClr val="black">
                      <a:alpha val="50000"/>
                    </a:prstClr>
                  </a:innerShdw>
                </a:effectLst>
                <a:latin typeface="open sans" panose="020B0606030504020204" pitchFamily="34" charset="0"/>
              </a:rPr>
              <a:t>t</a:t>
            </a:r>
            <a:r>
              <a:rPr lang="en-US" altLang="zh-CN" b="1" dirty="0">
                <a:effectLst>
                  <a:innerShdw blurRad="63500" dist="50800">
                    <a:prstClr val="black">
                      <a:alpha val="50000"/>
                    </a:prstClr>
                  </a:innerShdw>
                </a:effectLst>
                <a:latin typeface="open sans" panose="020B0606030504020204" pitchFamily="34" charset="0"/>
              </a:rPr>
              <a:t>(83) = 0.68</a:t>
            </a:r>
            <a:r>
              <a:rPr lang="en-US" altLang="zh-CN" b="1" dirty="0">
                <a:solidFill>
                  <a:srgbClr val="FF0000"/>
                </a:solidFill>
                <a:effectLst>
                  <a:innerShdw blurRad="63500" dist="50800">
                    <a:prstClr val="black">
                      <a:alpha val="50000"/>
                    </a:prstClr>
                  </a:innerShdw>
                </a:effectLst>
                <a:latin typeface="open sans" panose="020B0606030504020204" pitchFamily="34" charset="0"/>
              </a:rPr>
              <a:t>, </a:t>
            </a:r>
            <a:r>
              <a:rPr lang="en-US" altLang="zh-CN" b="1" i="1" dirty="0">
                <a:solidFill>
                  <a:srgbClr val="FF0000"/>
                </a:solidFill>
                <a:effectLst>
                  <a:innerShdw blurRad="63500" dist="50800">
                    <a:prstClr val="black">
                      <a:alpha val="50000"/>
                    </a:prstClr>
                  </a:innerShdw>
                </a:effectLst>
                <a:latin typeface="open sans" panose="020B0606030504020204" pitchFamily="34" charset="0"/>
              </a:rPr>
              <a:t>p</a:t>
            </a:r>
            <a:r>
              <a:rPr lang="en-US" altLang="zh-CN" b="1" dirty="0">
                <a:solidFill>
                  <a:srgbClr val="FF0000"/>
                </a:solidFill>
                <a:effectLst>
                  <a:innerShdw blurRad="63500" dist="50800">
                    <a:prstClr val="black">
                      <a:alpha val="50000"/>
                    </a:prstClr>
                  </a:innerShdw>
                </a:effectLst>
                <a:latin typeface="open sans" panose="020B0606030504020204" pitchFamily="34" charset="0"/>
              </a:rPr>
              <a:t> = .497</a:t>
            </a:r>
          </a:p>
        </p:txBody>
      </p:sp>
      <p:sp>
        <p:nvSpPr>
          <p:cNvPr id="17" name="TextBox 16">
            <a:extLst>
              <a:ext uri="{FF2B5EF4-FFF2-40B4-BE49-F238E27FC236}">
                <a16:creationId xmlns:a16="http://schemas.microsoft.com/office/drawing/2014/main" id="{59188B7C-BBED-B8A1-6604-1ECA0AEFA907}"/>
              </a:ext>
            </a:extLst>
          </p:cNvPr>
          <p:cNvSpPr txBox="1"/>
          <p:nvPr/>
        </p:nvSpPr>
        <p:spPr>
          <a:xfrm>
            <a:off x="180975" y="6195679"/>
            <a:ext cx="7900147" cy="646331"/>
          </a:xfrm>
          <a:prstGeom prst="rect">
            <a:avLst/>
          </a:prstGeom>
          <a:noFill/>
        </p:spPr>
        <p:txBody>
          <a:bodyPr wrap="square">
            <a:spAutoFit/>
          </a:bodyPr>
          <a:lstStyle/>
          <a:p>
            <a:r>
              <a:rPr lang="en-US" sz="1800" b="1" dirty="0">
                <a:solidFill>
                  <a:srgbClr val="0070C0"/>
                </a:solidFill>
                <a:latin typeface="Calibri" panose="020F0502020204030204" pitchFamily="34" charset="0"/>
                <a:ea typeface="SimSun" panose="02010600030101010101" pitchFamily="2" charset="-122"/>
                <a:cs typeface="Calibri" panose="020F0502020204030204" pitchFamily="34" charset="0"/>
              </a:rPr>
              <a:t>W</a:t>
            </a:r>
            <a:r>
              <a:rPr lang="en-US" b="1" dirty="0">
                <a:solidFill>
                  <a:srgbClr val="0070C0"/>
                </a:solidFill>
                <a:latin typeface="Calibri" panose="020F0502020204030204" pitchFamily="34" charset="0"/>
                <a:ea typeface="SimSun" panose="02010600030101010101" pitchFamily="2" charset="-122"/>
                <a:cs typeface="Calibri" panose="020F0502020204030204" pitchFamily="34" charset="0"/>
              </a:rPr>
              <a:t>e</a:t>
            </a:r>
            <a:r>
              <a:rPr lang="zh-CN" altLang="en-US" b="1" dirty="0">
                <a:solidFill>
                  <a:srgbClr val="0070C0"/>
                </a:solidFill>
                <a:latin typeface="Calibri" panose="020F0502020204030204" pitchFamily="34" charset="0"/>
                <a:ea typeface="SimSun" panose="02010600030101010101" pitchFamily="2" charset="-122"/>
                <a:cs typeface="Calibri" panose="020F0502020204030204" pitchFamily="34" charset="0"/>
              </a:rPr>
              <a:t> </a:t>
            </a:r>
            <a:r>
              <a:rPr lang="en-US" altLang="zh-CN" b="1" dirty="0">
                <a:solidFill>
                  <a:srgbClr val="0070C0"/>
                </a:solidFill>
                <a:latin typeface="Calibri" panose="020F0502020204030204" pitchFamily="34" charset="0"/>
                <a:ea typeface="SimSun" panose="02010600030101010101" pitchFamily="2" charset="-122"/>
                <a:cs typeface="Calibri" panose="020F0502020204030204" pitchFamily="34" charset="0"/>
              </a:rPr>
              <a:t>replicated</a:t>
            </a:r>
            <a:r>
              <a:rPr lang="zh-CN" altLang="en-US" b="1" dirty="0">
                <a:solidFill>
                  <a:srgbClr val="0070C0"/>
                </a:solidFill>
                <a:latin typeface="Calibri" panose="020F0502020204030204" pitchFamily="34" charset="0"/>
                <a:ea typeface="SimSun" panose="02010600030101010101" pitchFamily="2" charset="-122"/>
                <a:cs typeface="Calibri" panose="020F0502020204030204" pitchFamily="34" charset="0"/>
              </a:rPr>
              <a:t> </a:t>
            </a:r>
            <a:r>
              <a:rPr lang="en-US" altLang="zh-CN" b="1" dirty="0">
                <a:solidFill>
                  <a:srgbClr val="0070C0"/>
                </a:solidFill>
                <a:latin typeface="Calibri" panose="020F0502020204030204" pitchFamily="34" charset="0"/>
                <a:ea typeface="SimSun" panose="02010600030101010101" pitchFamily="2" charset="-122"/>
                <a:cs typeface="Calibri" panose="020F0502020204030204" pitchFamily="34" charset="0"/>
              </a:rPr>
              <a:t>the</a:t>
            </a:r>
            <a:r>
              <a:rPr lang="zh-CN" altLang="en-US" b="1" dirty="0">
                <a:solidFill>
                  <a:srgbClr val="0070C0"/>
                </a:solidFill>
                <a:latin typeface="Calibri" panose="020F0502020204030204" pitchFamily="34" charset="0"/>
                <a:ea typeface="SimSun" panose="02010600030101010101" pitchFamily="2" charset="-122"/>
                <a:cs typeface="Calibri" panose="020F0502020204030204" pitchFamily="34" charset="0"/>
              </a:rPr>
              <a:t> </a:t>
            </a:r>
            <a:r>
              <a:rPr lang="en-US" altLang="zh-CN" b="1" dirty="0">
                <a:solidFill>
                  <a:srgbClr val="0070C0"/>
                </a:solidFill>
                <a:latin typeface="Calibri" panose="020F0502020204030204" pitchFamily="34" charset="0"/>
                <a:ea typeface="SimSun" panose="02010600030101010101" pitchFamily="2" charset="-122"/>
                <a:cs typeface="Calibri" panose="020F0502020204030204" pitchFamily="34" charset="0"/>
              </a:rPr>
              <a:t>agent advantage effect in the face-to-face</a:t>
            </a:r>
            <a:r>
              <a:rPr lang="zh-CN" altLang="en-US" b="1" dirty="0">
                <a:solidFill>
                  <a:srgbClr val="0070C0"/>
                </a:solidFill>
                <a:latin typeface="Calibri" panose="020F0502020204030204" pitchFamily="34" charset="0"/>
                <a:ea typeface="SimSun" panose="02010600030101010101" pitchFamily="2" charset="-122"/>
                <a:cs typeface="Calibri" panose="020F0502020204030204" pitchFamily="34" charset="0"/>
              </a:rPr>
              <a:t> </a:t>
            </a:r>
            <a:r>
              <a:rPr lang="en-US" altLang="zh-CN" b="1" dirty="0">
                <a:solidFill>
                  <a:srgbClr val="0070C0"/>
                </a:solidFill>
                <a:latin typeface="Calibri" panose="020F0502020204030204" pitchFamily="34" charset="0"/>
                <a:ea typeface="SimSun" panose="02010600030101010101" pitchFamily="2" charset="-122"/>
                <a:cs typeface="Calibri" panose="020F0502020204030204" pitchFamily="34" charset="0"/>
              </a:rPr>
              <a:t>condition, but not in the </a:t>
            </a:r>
            <a:r>
              <a:rPr lang="en-US" sz="1800" b="1" dirty="0">
                <a:solidFill>
                  <a:srgbClr val="0070C0"/>
                </a:solidFill>
                <a:latin typeface="Calibri" panose="020F0502020204030204" pitchFamily="34" charset="0"/>
                <a:ea typeface="SimSun" panose="02010600030101010101" pitchFamily="2" charset="-122"/>
                <a:cs typeface="Calibri" panose="020F0502020204030204" pitchFamily="34" charset="0"/>
              </a:rPr>
              <a:t>face-to-tail condition</a:t>
            </a:r>
            <a:r>
              <a:rPr lang="en-US" altLang="zh-CN" b="1" dirty="0">
                <a:solidFill>
                  <a:srgbClr val="0070C0"/>
                </a:solidFill>
                <a:latin typeface="Calibri" panose="020F0502020204030204" pitchFamily="34" charset="0"/>
                <a:ea typeface="SimSun" panose="02010600030101010101" pitchFamily="2" charset="-122"/>
                <a:cs typeface="Calibri" panose="020F0502020204030204" pitchFamily="34" charset="0"/>
              </a:rPr>
              <a:t>.</a:t>
            </a:r>
            <a:endParaRPr lang="en-US" dirty="0">
              <a:solidFill>
                <a:srgbClr val="0070C0"/>
              </a:solidFill>
            </a:endParaRPr>
          </a:p>
        </p:txBody>
      </p:sp>
    </p:spTree>
    <p:extLst>
      <p:ext uri="{BB962C8B-B14F-4D97-AF65-F5344CB8AC3E}">
        <p14:creationId xmlns:p14="http://schemas.microsoft.com/office/powerpoint/2010/main" val="4174095248"/>
      </p:ext>
    </p:extLst>
  </p:cSld>
  <p:clrMapOvr>
    <a:masterClrMapping/>
  </p:clrMapOvr>
  <p:extLst>
    <p:ext uri="{6950BFC3-D8DA-4A85-94F7-54DA5524770B}">
      <p188:commentRel xmlns:p188="http://schemas.microsoft.com/office/powerpoint/2018/8/main" r:id="rId3"/>
    </p:ext>
  </p:extLs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5FEEF9-033B-12E6-C6FF-68E36E7289CA}"/>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D248B6E4-39B9-7B1F-71E5-428F4F0F9B30}"/>
              </a:ext>
            </a:extLst>
          </p:cNvPr>
          <p:cNvSpPr/>
          <p:nvPr/>
        </p:nvSpPr>
        <p:spPr>
          <a:xfrm>
            <a:off x="321189" y="915466"/>
            <a:ext cx="2457421" cy="707886"/>
          </a:xfrm>
          <a:prstGeom prst="rect">
            <a:avLst/>
          </a:prstGeom>
          <a:noFill/>
        </p:spPr>
        <p:txBody>
          <a:bodyPr wrap="square" lIns="91440" tIns="45720" rIns="91440" bIns="45720">
            <a:spAutoFit/>
          </a:bodyPr>
          <a:lstStyle/>
          <a:p>
            <a:pPr algn="ctr"/>
            <a:r>
              <a:rPr lang="en-US" sz="40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rPr>
              <a:t>Discussion</a:t>
            </a:r>
          </a:p>
        </p:txBody>
      </p:sp>
      <p:pic>
        <p:nvPicPr>
          <p:cNvPr id="6" name="Picture 5">
            <a:extLst>
              <a:ext uri="{FF2B5EF4-FFF2-40B4-BE49-F238E27FC236}">
                <a16:creationId xmlns:a16="http://schemas.microsoft.com/office/drawing/2014/main" id="{BB566EAA-0976-F42A-04A5-2AF532500DCB}"/>
              </a:ext>
            </a:extLst>
          </p:cNvPr>
          <p:cNvPicPr>
            <a:picLocks noChangeAspect="1"/>
          </p:cNvPicPr>
          <p:nvPr/>
        </p:nvPicPr>
        <p:blipFill>
          <a:blip r:embed="rId3"/>
          <a:stretch>
            <a:fillRect/>
          </a:stretch>
        </p:blipFill>
        <p:spPr>
          <a:xfrm>
            <a:off x="272143" y="2126032"/>
            <a:ext cx="3725922" cy="3473317"/>
          </a:xfrm>
          <a:prstGeom prst="rect">
            <a:avLst/>
          </a:prstGeom>
        </p:spPr>
      </p:pic>
      <p:sp>
        <p:nvSpPr>
          <p:cNvPr id="9" name="TextBox 8">
            <a:extLst>
              <a:ext uri="{FF2B5EF4-FFF2-40B4-BE49-F238E27FC236}">
                <a16:creationId xmlns:a16="http://schemas.microsoft.com/office/drawing/2014/main" id="{ED8FCB0C-D165-FD4E-8FF1-56CB3860EF58}"/>
              </a:ext>
            </a:extLst>
          </p:cNvPr>
          <p:cNvSpPr txBox="1"/>
          <p:nvPr/>
        </p:nvSpPr>
        <p:spPr>
          <a:xfrm>
            <a:off x="4572000" y="1972841"/>
            <a:ext cx="4299857" cy="3970318"/>
          </a:xfrm>
          <a:prstGeom prst="rect">
            <a:avLst/>
          </a:prstGeom>
          <a:noFill/>
        </p:spPr>
        <p:txBody>
          <a:bodyPr wrap="square">
            <a:spAutoFit/>
          </a:bodyPr>
          <a:lstStyle/>
          <a:p>
            <a:pPr marL="342900" indent="-342900">
              <a:buAutoNum type="arabicPeriod"/>
            </a:pPr>
            <a:r>
              <a:rPr lang="en-US" sz="1800" b="1" dirty="0">
                <a:latin typeface="Calibri" panose="020F0502020204030204" pitchFamily="34" charset="0"/>
                <a:ea typeface="SimSun" panose="02010600030101010101" pitchFamily="2" charset="-122"/>
                <a:cs typeface="Calibri" panose="020F0502020204030204" pitchFamily="34" charset="0"/>
              </a:rPr>
              <a:t>Reaction tim</a:t>
            </a:r>
            <a:r>
              <a:rPr lang="en-US" b="1" dirty="0">
                <a:latin typeface="Calibri" panose="020F0502020204030204" pitchFamily="34" charset="0"/>
                <a:ea typeface="SimSun" panose="02010600030101010101" pitchFamily="2" charset="-122"/>
                <a:cs typeface="Calibri" panose="020F0502020204030204" pitchFamily="34" charset="0"/>
              </a:rPr>
              <a:t>e for the face-to-tail condition is faster than for the face-to-face condition. </a:t>
            </a:r>
            <a:r>
              <a:rPr lang="zh-CN" altLang="en-US" b="1" dirty="0">
                <a:solidFill>
                  <a:srgbClr val="0070C0"/>
                </a:solidFill>
                <a:latin typeface="Calibri" panose="020F0502020204030204" pitchFamily="34" charset="0"/>
                <a:ea typeface="SimSun" panose="02010600030101010101" pitchFamily="2" charset="-122"/>
                <a:cs typeface="Calibri" panose="020F0502020204030204" pitchFamily="34" charset="0"/>
              </a:rPr>
              <a:t>→</a:t>
            </a:r>
            <a:r>
              <a:rPr lang="zh-CN" altLang="en-US" b="1" dirty="0">
                <a:latin typeface="Calibri" panose="020F0502020204030204" pitchFamily="34" charset="0"/>
                <a:ea typeface="SimSun" panose="02010600030101010101" pitchFamily="2" charset="-122"/>
                <a:cs typeface="Calibri" panose="020F0502020204030204" pitchFamily="34" charset="0"/>
              </a:rPr>
              <a:t> </a:t>
            </a:r>
            <a:r>
              <a:rPr lang="en-US" altLang="zh-CN" b="1" dirty="0">
                <a:solidFill>
                  <a:srgbClr val="0070C0"/>
                </a:solidFill>
                <a:latin typeface="Calibri" panose="020F0502020204030204" pitchFamily="34" charset="0"/>
                <a:ea typeface="SimSun" panose="02010600030101010101" pitchFamily="2" charset="-122"/>
                <a:cs typeface="Calibri" panose="020F0502020204030204" pitchFamily="34" charset="0"/>
              </a:rPr>
              <a:t>There were no differences between the two fish other than the biting orientations. Is the task easier?</a:t>
            </a:r>
            <a:br>
              <a:rPr lang="en-US" b="1" dirty="0">
                <a:solidFill>
                  <a:srgbClr val="0070C0"/>
                </a:solidFill>
                <a:latin typeface="Calibri" panose="020F0502020204030204" pitchFamily="34" charset="0"/>
                <a:ea typeface="SimSun" panose="02010600030101010101" pitchFamily="2" charset="-122"/>
                <a:cs typeface="Calibri" panose="020F0502020204030204" pitchFamily="34" charset="0"/>
              </a:rPr>
            </a:br>
            <a:endParaRPr lang="en-US" b="1" dirty="0">
              <a:solidFill>
                <a:srgbClr val="0070C0"/>
              </a:solidFill>
              <a:latin typeface="Calibri" panose="020F0502020204030204" pitchFamily="34" charset="0"/>
              <a:ea typeface="SimSun" panose="02010600030101010101" pitchFamily="2" charset="-122"/>
              <a:cs typeface="Calibri" panose="020F0502020204030204" pitchFamily="34" charset="0"/>
            </a:endParaRPr>
          </a:p>
          <a:p>
            <a:pPr marL="342900" indent="-342900">
              <a:buAutoNum type="arabicPeriod"/>
            </a:pPr>
            <a:r>
              <a:rPr lang="en-US" b="1" dirty="0">
                <a:latin typeface="Calibri" panose="020F0502020204030204" pitchFamily="34" charset="0"/>
                <a:ea typeface="SimSun" panose="02010600030101010101" pitchFamily="2" charset="-122"/>
                <a:cs typeface="Calibri" panose="020F0502020204030204" pitchFamily="34" charset="0"/>
              </a:rPr>
              <a:t>There is no reaction time difference between agent search and patient search in the face-to-tail conditions.</a:t>
            </a:r>
            <a:r>
              <a:rPr lang="zh-CN" altLang="en-US" b="1" dirty="0">
                <a:solidFill>
                  <a:srgbClr val="0070C0"/>
                </a:solidFill>
                <a:latin typeface="Calibri" panose="020F0502020204030204" pitchFamily="34" charset="0"/>
                <a:ea typeface="SimSun" panose="02010600030101010101" pitchFamily="2" charset="-122"/>
                <a:cs typeface="Calibri" panose="020F0502020204030204" pitchFamily="34" charset="0"/>
              </a:rPr>
              <a:t> →</a:t>
            </a:r>
            <a:r>
              <a:rPr lang="zh-CN" altLang="en-US" b="1" dirty="0">
                <a:latin typeface="Calibri" panose="020F0502020204030204" pitchFamily="34" charset="0"/>
                <a:ea typeface="SimSun" panose="02010600030101010101" pitchFamily="2" charset="-122"/>
                <a:cs typeface="Calibri" panose="020F0502020204030204" pitchFamily="34" charset="0"/>
              </a:rPr>
              <a:t> </a:t>
            </a:r>
            <a:r>
              <a:rPr lang="en-US" altLang="zh-CN" b="1" dirty="0">
                <a:solidFill>
                  <a:srgbClr val="0070C0"/>
                </a:solidFill>
                <a:latin typeface="Calibri" panose="020F0502020204030204" pitchFamily="34" charset="0"/>
                <a:ea typeface="SimSun" panose="02010600030101010101" pitchFamily="2" charset="-122"/>
                <a:cs typeface="Calibri" panose="020F0502020204030204" pitchFamily="34" charset="0"/>
              </a:rPr>
              <a:t>Same-level difficulties in locating the agent and patient in the face-to-tail condition?</a:t>
            </a:r>
            <a:br>
              <a:rPr lang="en-US" b="1" dirty="0">
                <a:solidFill>
                  <a:srgbClr val="0070C0"/>
                </a:solidFill>
                <a:latin typeface="Calibri" panose="020F0502020204030204" pitchFamily="34" charset="0"/>
                <a:ea typeface="SimSun" panose="02010600030101010101" pitchFamily="2" charset="-122"/>
                <a:cs typeface="Calibri" panose="020F0502020204030204" pitchFamily="34" charset="0"/>
              </a:rPr>
            </a:br>
            <a:endParaRPr lang="en-US" b="1" dirty="0">
              <a:latin typeface="Calibri" panose="020F0502020204030204" pitchFamily="34" charset="0"/>
              <a:ea typeface="SimSun" panose="02010600030101010101" pitchFamily="2" charset="-122"/>
              <a:cs typeface="Calibri" panose="020F0502020204030204" pitchFamily="34" charset="0"/>
            </a:endParaRPr>
          </a:p>
        </p:txBody>
      </p:sp>
      <p:pic>
        <p:nvPicPr>
          <p:cNvPr id="15" name="Picture 14">
            <a:extLst>
              <a:ext uri="{FF2B5EF4-FFF2-40B4-BE49-F238E27FC236}">
                <a16:creationId xmlns:a16="http://schemas.microsoft.com/office/drawing/2014/main" id="{1AFCC130-6E05-D9C5-2023-E3F443602E6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282301" y="118759"/>
            <a:ext cx="2346476" cy="1319893"/>
          </a:xfrm>
          <a:prstGeom prst="rect">
            <a:avLst/>
          </a:prstGeom>
        </p:spPr>
      </p:pic>
      <p:pic>
        <p:nvPicPr>
          <p:cNvPr id="16" name="Picture 15">
            <a:extLst>
              <a:ext uri="{FF2B5EF4-FFF2-40B4-BE49-F238E27FC236}">
                <a16:creationId xmlns:a16="http://schemas.microsoft.com/office/drawing/2014/main" id="{D60B8198-2664-BAF8-F7DE-0F34A2449F5C}"/>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628777" y="110215"/>
            <a:ext cx="2346476" cy="1319893"/>
          </a:xfrm>
          <a:prstGeom prst="rect">
            <a:avLst/>
          </a:prstGeom>
        </p:spPr>
      </p:pic>
      <p:sp>
        <p:nvSpPr>
          <p:cNvPr id="17" name="TextBox 16">
            <a:extLst>
              <a:ext uri="{FF2B5EF4-FFF2-40B4-BE49-F238E27FC236}">
                <a16:creationId xmlns:a16="http://schemas.microsoft.com/office/drawing/2014/main" id="{BB2D7A33-FB85-E191-D871-FC3BC2516C96}"/>
              </a:ext>
            </a:extLst>
          </p:cNvPr>
          <p:cNvSpPr txBox="1"/>
          <p:nvPr/>
        </p:nvSpPr>
        <p:spPr>
          <a:xfrm>
            <a:off x="4865087" y="1299279"/>
            <a:ext cx="1373325" cy="369332"/>
          </a:xfrm>
          <a:prstGeom prst="rect">
            <a:avLst/>
          </a:prstGeom>
          <a:noFill/>
        </p:spPr>
        <p:txBody>
          <a:bodyPr wrap="square">
            <a:spAutoFit/>
          </a:bodyPr>
          <a:lstStyle/>
          <a:p>
            <a:r>
              <a:rPr lang="en-US" sz="1800" b="1" dirty="0">
                <a:solidFill>
                  <a:srgbClr val="0070C0"/>
                </a:solidFill>
                <a:latin typeface="Calibri" panose="020F0502020204030204" pitchFamily="34" charset="0"/>
                <a:ea typeface="SimSun" panose="02010600030101010101" pitchFamily="2" charset="-122"/>
                <a:cs typeface="Calibri" panose="020F0502020204030204" pitchFamily="34" charset="0"/>
              </a:rPr>
              <a:t>Face-to-face</a:t>
            </a:r>
            <a:endParaRPr lang="en-US" dirty="0">
              <a:solidFill>
                <a:srgbClr val="0070C0"/>
              </a:solidFill>
            </a:endParaRPr>
          </a:p>
        </p:txBody>
      </p:sp>
      <p:sp>
        <p:nvSpPr>
          <p:cNvPr id="18" name="TextBox 17">
            <a:extLst>
              <a:ext uri="{FF2B5EF4-FFF2-40B4-BE49-F238E27FC236}">
                <a16:creationId xmlns:a16="http://schemas.microsoft.com/office/drawing/2014/main" id="{D63B5CD9-613A-4D35-5EEC-887408FD0452}"/>
              </a:ext>
            </a:extLst>
          </p:cNvPr>
          <p:cNvSpPr txBox="1"/>
          <p:nvPr/>
        </p:nvSpPr>
        <p:spPr>
          <a:xfrm>
            <a:off x="7264047" y="1297875"/>
            <a:ext cx="1260341" cy="369332"/>
          </a:xfrm>
          <a:prstGeom prst="rect">
            <a:avLst/>
          </a:prstGeom>
          <a:noFill/>
        </p:spPr>
        <p:txBody>
          <a:bodyPr wrap="square">
            <a:spAutoFit/>
          </a:bodyPr>
          <a:lstStyle/>
          <a:p>
            <a:r>
              <a:rPr lang="en-US" sz="1800" b="1" dirty="0">
                <a:solidFill>
                  <a:srgbClr val="0070C0"/>
                </a:solidFill>
                <a:latin typeface="Calibri" panose="020F0502020204030204" pitchFamily="34" charset="0"/>
                <a:ea typeface="SimSun" panose="02010600030101010101" pitchFamily="2" charset="-122"/>
                <a:cs typeface="Calibri" panose="020F0502020204030204" pitchFamily="34" charset="0"/>
              </a:rPr>
              <a:t>Face-to-tail</a:t>
            </a:r>
            <a:endParaRPr lang="en-US" dirty="0">
              <a:solidFill>
                <a:srgbClr val="0070C0"/>
              </a:solidFill>
            </a:endParaRPr>
          </a:p>
        </p:txBody>
      </p:sp>
      <p:sp>
        <p:nvSpPr>
          <p:cNvPr id="19" name="Arrow: Right 18">
            <a:extLst>
              <a:ext uri="{FF2B5EF4-FFF2-40B4-BE49-F238E27FC236}">
                <a16:creationId xmlns:a16="http://schemas.microsoft.com/office/drawing/2014/main" id="{B606462A-6FAD-111A-9BC9-4A9E53FDBD4C}"/>
              </a:ext>
            </a:extLst>
          </p:cNvPr>
          <p:cNvSpPr/>
          <p:nvPr/>
        </p:nvSpPr>
        <p:spPr>
          <a:xfrm>
            <a:off x="3520479" y="4333296"/>
            <a:ext cx="516197" cy="27739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252649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3FED78-95BF-8159-9DE2-533B7EAB409F}"/>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BD6B3A7B-D3DF-6082-5EBE-583BE4F02001}"/>
              </a:ext>
            </a:extLst>
          </p:cNvPr>
          <p:cNvSpPr/>
          <p:nvPr/>
        </p:nvSpPr>
        <p:spPr>
          <a:xfrm>
            <a:off x="321189" y="915466"/>
            <a:ext cx="2457421" cy="707886"/>
          </a:xfrm>
          <a:prstGeom prst="rect">
            <a:avLst/>
          </a:prstGeom>
          <a:noFill/>
        </p:spPr>
        <p:txBody>
          <a:bodyPr wrap="square" lIns="91440" tIns="45720" rIns="91440" bIns="45720">
            <a:spAutoFit/>
          </a:bodyPr>
          <a:lstStyle/>
          <a:p>
            <a:pPr algn="ctr"/>
            <a:r>
              <a:rPr lang="en-US" sz="40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rPr>
              <a:t>Discussion</a:t>
            </a:r>
          </a:p>
        </p:txBody>
      </p:sp>
      <p:pic>
        <p:nvPicPr>
          <p:cNvPr id="6" name="Picture 5">
            <a:extLst>
              <a:ext uri="{FF2B5EF4-FFF2-40B4-BE49-F238E27FC236}">
                <a16:creationId xmlns:a16="http://schemas.microsoft.com/office/drawing/2014/main" id="{3842C75C-444E-BD45-15DC-8E40AFA8AEED}"/>
              </a:ext>
            </a:extLst>
          </p:cNvPr>
          <p:cNvPicPr>
            <a:picLocks noChangeAspect="1"/>
          </p:cNvPicPr>
          <p:nvPr/>
        </p:nvPicPr>
        <p:blipFill>
          <a:blip r:embed="rId3"/>
          <a:stretch>
            <a:fillRect/>
          </a:stretch>
        </p:blipFill>
        <p:spPr>
          <a:xfrm>
            <a:off x="180975" y="1555877"/>
            <a:ext cx="3725922" cy="3473317"/>
          </a:xfrm>
          <a:prstGeom prst="rect">
            <a:avLst/>
          </a:prstGeom>
        </p:spPr>
      </p:pic>
      <p:sp>
        <p:nvSpPr>
          <p:cNvPr id="9" name="TextBox 8">
            <a:extLst>
              <a:ext uri="{FF2B5EF4-FFF2-40B4-BE49-F238E27FC236}">
                <a16:creationId xmlns:a16="http://schemas.microsoft.com/office/drawing/2014/main" id="{478FC581-2EFD-6570-0E28-C232555C048B}"/>
              </a:ext>
            </a:extLst>
          </p:cNvPr>
          <p:cNvSpPr txBox="1"/>
          <p:nvPr/>
        </p:nvSpPr>
        <p:spPr>
          <a:xfrm>
            <a:off x="4572000" y="1972841"/>
            <a:ext cx="4299857" cy="646331"/>
          </a:xfrm>
          <a:prstGeom prst="rect">
            <a:avLst/>
          </a:prstGeom>
          <a:noFill/>
        </p:spPr>
        <p:txBody>
          <a:bodyPr wrap="square">
            <a:spAutoFit/>
          </a:bodyPr>
          <a:lstStyle/>
          <a:p>
            <a:r>
              <a:rPr lang="en-US" b="1" dirty="0">
                <a:latin typeface="Calibri" panose="020F0502020204030204" pitchFamily="34" charset="0"/>
                <a:ea typeface="SimSun" panose="02010600030101010101" pitchFamily="2" charset="-122"/>
                <a:cs typeface="Calibri" panose="020F0502020204030204" pitchFamily="34" charset="0"/>
              </a:rPr>
              <a:t>Link to former eye-tracking results:</a:t>
            </a:r>
            <a:br>
              <a:rPr lang="en-US" b="1" dirty="0">
                <a:solidFill>
                  <a:srgbClr val="0070C0"/>
                </a:solidFill>
                <a:latin typeface="Calibri" panose="020F0502020204030204" pitchFamily="34" charset="0"/>
                <a:ea typeface="SimSun" panose="02010600030101010101" pitchFamily="2" charset="-122"/>
                <a:cs typeface="Calibri" panose="020F0502020204030204" pitchFamily="34" charset="0"/>
              </a:rPr>
            </a:br>
            <a:endParaRPr lang="en-US" b="1" dirty="0">
              <a:latin typeface="Calibri" panose="020F0502020204030204" pitchFamily="34" charset="0"/>
              <a:ea typeface="SimSun" panose="02010600030101010101" pitchFamily="2" charset="-122"/>
              <a:cs typeface="Calibri" panose="020F0502020204030204" pitchFamily="34" charset="0"/>
            </a:endParaRPr>
          </a:p>
        </p:txBody>
      </p:sp>
      <p:pic>
        <p:nvPicPr>
          <p:cNvPr id="15" name="Picture 14">
            <a:extLst>
              <a:ext uri="{FF2B5EF4-FFF2-40B4-BE49-F238E27FC236}">
                <a16:creationId xmlns:a16="http://schemas.microsoft.com/office/drawing/2014/main" id="{0E3BDE40-91C8-FAD1-623C-B7F3D28FE24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282301" y="118759"/>
            <a:ext cx="2346476" cy="1319893"/>
          </a:xfrm>
          <a:prstGeom prst="rect">
            <a:avLst/>
          </a:prstGeom>
        </p:spPr>
      </p:pic>
      <p:pic>
        <p:nvPicPr>
          <p:cNvPr id="16" name="Picture 15">
            <a:extLst>
              <a:ext uri="{FF2B5EF4-FFF2-40B4-BE49-F238E27FC236}">
                <a16:creationId xmlns:a16="http://schemas.microsoft.com/office/drawing/2014/main" id="{AE7810C4-C08A-6C1E-C5C0-772E85AF7FB3}"/>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628777" y="110215"/>
            <a:ext cx="2346476" cy="1319893"/>
          </a:xfrm>
          <a:prstGeom prst="rect">
            <a:avLst/>
          </a:prstGeom>
        </p:spPr>
      </p:pic>
      <p:sp>
        <p:nvSpPr>
          <p:cNvPr id="17" name="TextBox 16">
            <a:extLst>
              <a:ext uri="{FF2B5EF4-FFF2-40B4-BE49-F238E27FC236}">
                <a16:creationId xmlns:a16="http://schemas.microsoft.com/office/drawing/2014/main" id="{5C349B55-DAF1-6D83-8FC7-663B4F09906E}"/>
              </a:ext>
            </a:extLst>
          </p:cNvPr>
          <p:cNvSpPr txBox="1"/>
          <p:nvPr/>
        </p:nvSpPr>
        <p:spPr>
          <a:xfrm>
            <a:off x="4865087" y="1299279"/>
            <a:ext cx="1373325" cy="369332"/>
          </a:xfrm>
          <a:prstGeom prst="rect">
            <a:avLst/>
          </a:prstGeom>
          <a:noFill/>
        </p:spPr>
        <p:txBody>
          <a:bodyPr wrap="square">
            <a:spAutoFit/>
          </a:bodyPr>
          <a:lstStyle/>
          <a:p>
            <a:r>
              <a:rPr lang="en-US" sz="1800" b="1" dirty="0">
                <a:solidFill>
                  <a:srgbClr val="0070C0"/>
                </a:solidFill>
                <a:latin typeface="Calibri" panose="020F0502020204030204" pitchFamily="34" charset="0"/>
                <a:ea typeface="SimSun" panose="02010600030101010101" pitchFamily="2" charset="-122"/>
                <a:cs typeface="Calibri" panose="020F0502020204030204" pitchFamily="34" charset="0"/>
              </a:rPr>
              <a:t>Face-to-face</a:t>
            </a:r>
            <a:endParaRPr lang="en-US" dirty="0">
              <a:solidFill>
                <a:srgbClr val="0070C0"/>
              </a:solidFill>
            </a:endParaRPr>
          </a:p>
        </p:txBody>
      </p:sp>
      <p:sp>
        <p:nvSpPr>
          <p:cNvPr id="18" name="TextBox 17">
            <a:extLst>
              <a:ext uri="{FF2B5EF4-FFF2-40B4-BE49-F238E27FC236}">
                <a16:creationId xmlns:a16="http://schemas.microsoft.com/office/drawing/2014/main" id="{8A7A3F4A-829E-C159-EAF7-A1DD3955EB22}"/>
              </a:ext>
            </a:extLst>
          </p:cNvPr>
          <p:cNvSpPr txBox="1"/>
          <p:nvPr/>
        </p:nvSpPr>
        <p:spPr>
          <a:xfrm>
            <a:off x="7264047" y="1297875"/>
            <a:ext cx="1260341" cy="369332"/>
          </a:xfrm>
          <a:prstGeom prst="rect">
            <a:avLst/>
          </a:prstGeom>
          <a:noFill/>
        </p:spPr>
        <p:txBody>
          <a:bodyPr wrap="square">
            <a:spAutoFit/>
          </a:bodyPr>
          <a:lstStyle/>
          <a:p>
            <a:r>
              <a:rPr lang="en-US" sz="1800" b="1" dirty="0">
                <a:solidFill>
                  <a:srgbClr val="0070C0"/>
                </a:solidFill>
                <a:latin typeface="Calibri" panose="020F0502020204030204" pitchFamily="34" charset="0"/>
                <a:ea typeface="SimSun" panose="02010600030101010101" pitchFamily="2" charset="-122"/>
                <a:cs typeface="Calibri" panose="020F0502020204030204" pitchFamily="34" charset="0"/>
              </a:rPr>
              <a:t>Face-to-tail</a:t>
            </a:r>
            <a:endParaRPr lang="en-US" dirty="0">
              <a:solidFill>
                <a:srgbClr val="0070C0"/>
              </a:solidFill>
            </a:endParaRPr>
          </a:p>
        </p:txBody>
      </p:sp>
      <p:sp>
        <p:nvSpPr>
          <p:cNvPr id="19" name="Arrow: Right 18">
            <a:extLst>
              <a:ext uri="{FF2B5EF4-FFF2-40B4-BE49-F238E27FC236}">
                <a16:creationId xmlns:a16="http://schemas.microsoft.com/office/drawing/2014/main" id="{D7E7190C-4907-56E5-04AF-F52EC7E28320}"/>
              </a:ext>
            </a:extLst>
          </p:cNvPr>
          <p:cNvSpPr/>
          <p:nvPr/>
        </p:nvSpPr>
        <p:spPr>
          <a:xfrm>
            <a:off x="3520479" y="4333296"/>
            <a:ext cx="516197" cy="27739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a:extLst>
              <a:ext uri="{FF2B5EF4-FFF2-40B4-BE49-F238E27FC236}">
                <a16:creationId xmlns:a16="http://schemas.microsoft.com/office/drawing/2014/main" id="{B954C0C8-3918-FC16-3EAE-4BC4EDDBF40C}"/>
              </a:ext>
            </a:extLst>
          </p:cNvPr>
          <p:cNvPicPr>
            <a:picLocks noChangeAspect="1"/>
          </p:cNvPicPr>
          <p:nvPr/>
        </p:nvPicPr>
        <p:blipFill>
          <a:blip r:embed="rId6"/>
          <a:stretch>
            <a:fillRect/>
          </a:stretch>
        </p:blipFill>
        <p:spPr>
          <a:xfrm>
            <a:off x="4393406" y="2367232"/>
            <a:ext cx="4657043" cy="2254132"/>
          </a:xfrm>
          <a:prstGeom prst="rect">
            <a:avLst/>
          </a:prstGeom>
        </p:spPr>
      </p:pic>
      <p:pic>
        <p:nvPicPr>
          <p:cNvPr id="4" name="Picture 3">
            <a:extLst>
              <a:ext uri="{FF2B5EF4-FFF2-40B4-BE49-F238E27FC236}">
                <a16:creationId xmlns:a16="http://schemas.microsoft.com/office/drawing/2014/main" id="{071D3205-F56B-0967-F513-D84E4AFC6C65}"/>
              </a:ext>
            </a:extLst>
          </p:cNvPr>
          <p:cNvPicPr>
            <a:picLocks noChangeAspect="1"/>
          </p:cNvPicPr>
          <p:nvPr/>
        </p:nvPicPr>
        <p:blipFill>
          <a:blip r:embed="rId7"/>
          <a:srcRect t="145" b="145"/>
          <a:stretch>
            <a:fillRect/>
          </a:stretch>
        </p:blipFill>
        <p:spPr bwMode="auto">
          <a:xfrm>
            <a:off x="5052943" y="4827214"/>
            <a:ext cx="692881" cy="722730"/>
          </a:xfrm>
          <a:prstGeom prst="rect">
            <a:avLst/>
          </a:prstGeom>
          <a:ln>
            <a:noFill/>
          </a:ln>
          <a:extLst>
            <a:ext uri="{53640926-AAD7-44D8-BBD7-CCE9431645EC}">
              <a14:shadowObscured xmlns:a14="http://schemas.microsoft.com/office/drawing/2010/main"/>
            </a:ext>
          </a:extLst>
        </p:spPr>
      </p:pic>
      <p:sp>
        <p:nvSpPr>
          <p:cNvPr id="5" name="Rectangle 4">
            <a:extLst>
              <a:ext uri="{FF2B5EF4-FFF2-40B4-BE49-F238E27FC236}">
                <a16:creationId xmlns:a16="http://schemas.microsoft.com/office/drawing/2014/main" id="{D5B73D16-3731-3BAB-AB6A-4195EDF06E11}"/>
              </a:ext>
            </a:extLst>
          </p:cNvPr>
          <p:cNvSpPr/>
          <p:nvPr/>
        </p:nvSpPr>
        <p:spPr>
          <a:xfrm>
            <a:off x="5551749" y="5050079"/>
            <a:ext cx="2164403" cy="276999"/>
          </a:xfrm>
          <a:prstGeom prst="rect">
            <a:avLst/>
          </a:prstGeom>
          <a:noFill/>
        </p:spPr>
        <p:txBody>
          <a:bodyPr wrap="square" lIns="91440" tIns="45720" rIns="91440" bIns="45720">
            <a:spAutoFit/>
          </a:bodyPr>
          <a:lstStyle/>
          <a:p>
            <a:pPr algn="ctr"/>
            <a:r>
              <a:rPr lang="en-US" sz="1200" b="0"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rPr>
              <a:t>AOI: </a:t>
            </a:r>
            <a:r>
              <a:rPr lang="en-US" sz="1200" dirty="0">
                <a:effectLst/>
                <a:latin typeface="Calibri" panose="020F0502020204030204" pitchFamily="34" charset="0"/>
                <a:ea typeface="SimSun" panose="02010600030101010101" pitchFamily="2" charset="-122"/>
                <a:cs typeface="Calibri" panose="020F0502020204030204" pitchFamily="34" charset="0"/>
              </a:rPr>
              <a:t>Areas of Interest </a:t>
            </a:r>
            <a:endParaRPr lang="en-US" sz="1200" b="0"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54366932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4C4C96-0845-CC0C-5B96-E2066B35DB89}"/>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F10FC981-BAD5-3737-F168-6C06AFD91E83}"/>
              </a:ext>
            </a:extLst>
          </p:cNvPr>
          <p:cNvSpPr/>
          <p:nvPr/>
        </p:nvSpPr>
        <p:spPr>
          <a:xfrm>
            <a:off x="-662328" y="1032424"/>
            <a:ext cx="3877986" cy="707886"/>
          </a:xfrm>
          <a:prstGeom prst="rect">
            <a:avLst/>
          </a:prstGeom>
          <a:noFill/>
        </p:spPr>
        <p:txBody>
          <a:bodyPr wrap="square" lIns="91440" tIns="45720" rIns="91440" bIns="45720">
            <a:spAutoFit/>
          </a:bodyPr>
          <a:lstStyle/>
          <a:p>
            <a:pPr algn="ctr"/>
            <a:r>
              <a:rPr lang="en-US" sz="40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rPr>
              <a:t>R</a:t>
            </a:r>
            <a:r>
              <a:rPr lang="en-US" altLang="zh-CN" sz="40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rPr>
              <a:t>esults</a:t>
            </a:r>
            <a:endParaRPr lang="en-US" sz="40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28" name="TextBox 27">
            <a:extLst>
              <a:ext uri="{FF2B5EF4-FFF2-40B4-BE49-F238E27FC236}">
                <a16:creationId xmlns:a16="http://schemas.microsoft.com/office/drawing/2014/main" id="{CF537A61-FACD-8F65-62AF-AC636DD79CE2}"/>
              </a:ext>
            </a:extLst>
          </p:cNvPr>
          <p:cNvSpPr txBox="1"/>
          <p:nvPr/>
        </p:nvSpPr>
        <p:spPr>
          <a:xfrm>
            <a:off x="1254903" y="1755481"/>
            <a:ext cx="3232404" cy="338554"/>
          </a:xfrm>
          <a:prstGeom prst="rect">
            <a:avLst/>
          </a:prstGeom>
          <a:noFill/>
        </p:spPr>
        <p:txBody>
          <a:bodyPr wrap="square">
            <a:spAutoFit/>
          </a:bodyPr>
          <a:lstStyle/>
          <a:p>
            <a:pPr marL="0" marR="0" indent="0">
              <a:spcBef>
                <a:spcPts val="0"/>
              </a:spcBef>
              <a:spcAft>
                <a:spcPts val="0"/>
              </a:spcAft>
            </a:pPr>
            <a:r>
              <a:rPr lang="en-US" sz="1600" b="1" dirty="0">
                <a:effectLst/>
                <a:latin typeface="Times New Roman" panose="02020603050405020304" pitchFamily="18" charset="0"/>
                <a:ea typeface="SimSun" panose="02010600030101010101" pitchFamily="2" charset="-122"/>
              </a:rPr>
              <a:t>Overall Number of Fixations</a:t>
            </a:r>
            <a:endParaRPr lang="en-US" sz="1600" dirty="0">
              <a:effectLst/>
              <a:latin typeface="Times New Roman" panose="02020603050405020304" pitchFamily="18" charset="0"/>
              <a:ea typeface="SimSun" panose="02010600030101010101" pitchFamily="2" charset="-122"/>
            </a:endParaRPr>
          </a:p>
        </p:txBody>
      </p:sp>
      <p:sp>
        <p:nvSpPr>
          <p:cNvPr id="34" name="TextBox 33">
            <a:extLst>
              <a:ext uri="{FF2B5EF4-FFF2-40B4-BE49-F238E27FC236}">
                <a16:creationId xmlns:a16="http://schemas.microsoft.com/office/drawing/2014/main" id="{4674CC09-73AD-9220-0F4D-CB8595780DD4}"/>
              </a:ext>
            </a:extLst>
          </p:cNvPr>
          <p:cNvSpPr txBox="1"/>
          <p:nvPr/>
        </p:nvSpPr>
        <p:spPr>
          <a:xfrm>
            <a:off x="520133" y="5213998"/>
            <a:ext cx="2199339" cy="307777"/>
          </a:xfrm>
          <a:prstGeom prst="rect">
            <a:avLst/>
          </a:prstGeom>
          <a:noFill/>
        </p:spPr>
        <p:txBody>
          <a:bodyPr wrap="square">
            <a:spAutoFit/>
          </a:bodyPr>
          <a:lstStyle/>
          <a:p>
            <a:r>
              <a:rPr lang="en-US" sz="1400" dirty="0">
                <a:effectLst/>
                <a:latin typeface="Calibri" panose="020F0502020204030204" pitchFamily="34" charset="0"/>
                <a:ea typeface="SimSun" panose="02010600030101010101" pitchFamily="2" charset="-122"/>
                <a:cs typeface="Calibri" panose="020F0502020204030204" pitchFamily="34" charset="0"/>
              </a:rPr>
              <a:t> </a:t>
            </a:r>
            <a:r>
              <a:rPr lang="en-US" sz="1400" dirty="0">
                <a:solidFill>
                  <a:srgbClr val="000000"/>
                </a:solidFill>
                <a:effectLst/>
                <a:latin typeface="Calibri" panose="020F0502020204030204" pitchFamily="34" charset="0"/>
                <a:ea typeface="SimSun" panose="02010600030101010101" pitchFamily="2" charset="-122"/>
                <a:cs typeface="Calibri" panose="020F0502020204030204" pitchFamily="34" charset="0"/>
              </a:rPr>
              <a:t>(</a:t>
            </a:r>
            <a:r>
              <a:rPr lang="en-US" sz="1400" i="1" dirty="0">
                <a:solidFill>
                  <a:srgbClr val="000000"/>
                </a:solidFill>
                <a:effectLst/>
                <a:latin typeface="Times New Roman" panose="02020603050405020304" pitchFamily="18" charset="0"/>
                <a:ea typeface="SimSun" panose="02010600030101010101" pitchFamily="2" charset="-122"/>
              </a:rPr>
              <a:t>M</a:t>
            </a:r>
            <a:r>
              <a:rPr lang="en-US" sz="1400" dirty="0">
                <a:solidFill>
                  <a:srgbClr val="000000"/>
                </a:solidFill>
                <a:effectLst/>
                <a:latin typeface="Times New Roman" panose="02020603050405020304" pitchFamily="18" charset="0"/>
                <a:ea typeface="SimSun" panose="02010600030101010101" pitchFamily="2" charset="-122"/>
              </a:rPr>
              <a:t> = 3.02, </a:t>
            </a:r>
            <a:r>
              <a:rPr lang="en-US" sz="1400" i="1" dirty="0">
                <a:solidFill>
                  <a:srgbClr val="000000"/>
                </a:solidFill>
                <a:effectLst/>
                <a:latin typeface="Times New Roman" panose="02020603050405020304" pitchFamily="18" charset="0"/>
                <a:ea typeface="SimSun" panose="02010600030101010101" pitchFamily="2" charset="-122"/>
              </a:rPr>
              <a:t>SD</a:t>
            </a:r>
            <a:r>
              <a:rPr lang="en-US" sz="1400" dirty="0">
                <a:solidFill>
                  <a:srgbClr val="000000"/>
                </a:solidFill>
                <a:effectLst/>
                <a:latin typeface="Times New Roman" panose="02020603050405020304" pitchFamily="18" charset="0"/>
                <a:ea typeface="SimSun" panose="02010600030101010101" pitchFamily="2" charset="-122"/>
              </a:rPr>
              <a:t> = 0.42</a:t>
            </a:r>
            <a:r>
              <a:rPr lang="en-US" sz="1400" dirty="0">
                <a:solidFill>
                  <a:srgbClr val="000000"/>
                </a:solidFill>
                <a:effectLst/>
                <a:latin typeface="Calibri" panose="020F0502020204030204" pitchFamily="34" charset="0"/>
                <a:ea typeface="SimSun" panose="02010600030101010101" pitchFamily="2" charset="-122"/>
                <a:cs typeface="Calibri" panose="020F0502020204030204" pitchFamily="34" charset="0"/>
              </a:rPr>
              <a:t>)</a:t>
            </a:r>
            <a:endParaRPr lang="en-US" sz="1400" dirty="0">
              <a:latin typeface="Calibri" panose="020F0502020204030204" pitchFamily="34" charset="0"/>
              <a:cs typeface="Calibri" panose="020F0502020204030204" pitchFamily="34" charset="0"/>
            </a:endParaRPr>
          </a:p>
        </p:txBody>
      </p:sp>
      <p:sp>
        <p:nvSpPr>
          <p:cNvPr id="41" name="TextBox 40">
            <a:extLst>
              <a:ext uri="{FF2B5EF4-FFF2-40B4-BE49-F238E27FC236}">
                <a16:creationId xmlns:a16="http://schemas.microsoft.com/office/drawing/2014/main" id="{6FDC7C79-6916-DDF4-050E-E957DF8080BE}"/>
              </a:ext>
            </a:extLst>
          </p:cNvPr>
          <p:cNvSpPr txBox="1"/>
          <p:nvPr/>
        </p:nvSpPr>
        <p:spPr>
          <a:xfrm>
            <a:off x="2578315" y="5213998"/>
            <a:ext cx="1993685" cy="307777"/>
          </a:xfrm>
          <a:prstGeom prst="rect">
            <a:avLst/>
          </a:prstGeom>
          <a:noFill/>
        </p:spPr>
        <p:txBody>
          <a:bodyPr wrap="square">
            <a:spAutoFit/>
          </a:bodyPr>
          <a:lstStyle/>
          <a:p>
            <a:r>
              <a:rPr lang="en-US" sz="1400" dirty="0">
                <a:solidFill>
                  <a:srgbClr val="000000"/>
                </a:solidFill>
                <a:effectLst/>
                <a:latin typeface="Calibri" panose="020F0502020204030204" pitchFamily="34" charset="0"/>
                <a:ea typeface="SimSun" panose="02010600030101010101" pitchFamily="2" charset="-122"/>
                <a:cs typeface="Calibri" panose="020F0502020204030204" pitchFamily="34" charset="0"/>
              </a:rPr>
              <a:t>(</a:t>
            </a:r>
            <a:r>
              <a:rPr lang="en-US" sz="1400" i="1" dirty="0">
                <a:solidFill>
                  <a:srgbClr val="000000"/>
                </a:solidFill>
                <a:effectLst/>
                <a:latin typeface="Times New Roman" panose="02020603050405020304" pitchFamily="18" charset="0"/>
                <a:ea typeface="SimSun" panose="02010600030101010101" pitchFamily="2" charset="-122"/>
              </a:rPr>
              <a:t>M</a:t>
            </a:r>
            <a:r>
              <a:rPr lang="en-US" sz="1400" dirty="0">
                <a:solidFill>
                  <a:srgbClr val="000000"/>
                </a:solidFill>
                <a:effectLst/>
                <a:latin typeface="Times New Roman" panose="02020603050405020304" pitchFamily="18" charset="0"/>
                <a:ea typeface="SimSun" panose="02010600030101010101" pitchFamily="2" charset="-122"/>
              </a:rPr>
              <a:t> = 3.29, </a:t>
            </a:r>
            <a:r>
              <a:rPr lang="en-US" sz="1400" i="1" dirty="0">
                <a:solidFill>
                  <a:srgbClr val="000000"/>
                </a:solidFill>
                <a:effectLst/>
                <a:latin typeface="Times New Roman" panose="02020603050405020304" pitchFamily="18" charset="0"/>
                <a:ea typeface="SimSun" panose="02010600030101010101" pitchFamily="2" charset="-122"/>
              </a:rPr>
              <a:t>SD</a:t>
            </a:r>
            <a:r>
              <a:rPr lang="en-US" sz="1400" dirty="0">
                <a:solidFill>
                  <a:srgbClr val="000000"/>
                </a:solidFill>
                <a:effectLst/>
                <a:latin typeface="Times New Roman" panose="02020603050405020304" pitchFamily="18" charset="0"/>
                <a:ea typeface="SimSun" panose="02010600030101010101" pitchFamily="2" charset="-122"/>
              </a:rPr>
              <a:t> = 0.58</a:t>
            </a:r>
            <a:r>
              <a:rPr lang="en-US" sz="1400" dirty="0">
                <a:solidFill>
                  <a:srgbClr val="000000"/>
                </a:solidFill>
                <a:effectLst/>
                <a:latin typeface="Calibri" panose="020F0502020204030204" pitchFamily="34" charset="0"/>
                <a:ea typeface="SimSun" panose="02010600030101010101" pitchFamily="2" charset="-122"/>
                <a:cs typeface="Calibri" panose="020F0502020204030204" pitchFamily="34" charset="0"/>
              </a:rPr>
              <a:t>)</a:t>
            </a:r>
            <a:endParaRPr lang="en-US" sz="1400" dirty="0">
              <a:latin typeface="Calibri" panose="020F0502020204030204" pitchFamily="34" charset="0"/>
              <a:cs typeface="Calibri" panose="020F0502020204030204" pitchFamily="34" charset="0"/>
            </a:endParaRPr>
          </a:p>
        </p:txBody>
      </p:sp>
      <p:sp>
        <p:nvSpPr>
          <p:cNvPr id="46" name="TextBox 45">
            <a:extLst>
              <a:ext uri="{FF2B5EF4-FFF2-40B4-BE49-F238E27FC236}">
                <a16:creationId xmlns:a16="http://schemas.microsoft.com/office/drawing/2014/main" id="{A27BF90D-7224-3BAC-15B7-E4A3C25F45D7}"/>
              </a:ext>
            </a:extLst>
          </p:cNvPr>
          <p:cNvSpPr txBox="1"/>
          <p:nvPr/>
        </p:nvSpPr>
        <p:spPr>
          <a:xfrm>
            <a:off x="5336682" y="1719411"/>
            <a:ext cx="2862072" cy="338554"/>
          </a:xfrm>
          <a:prstGeom prst="rect">
            <a:avLst/>
          </a:prstGeom>
          <a:noFill/>
        </p:spPr>
        <p:txBody>
          <a:bodyPr wrap="square">
            <a:spAutoFit/>
          </a:bodyPr>
          <a:lstStyle/>
          <a:p>
            <a:pPr marL="0" marR="0" indent="0">
              <a:spcBef>
                <a:spcPts val="0"/>
              </a:spcBef>
              <a:spcAft>
                <a:spcPts val="0"/>
              </a:spcAft>
            </a:pPr>
            <a:r>
              <a:rPr lang="en-US" sz="1600" b="1" dirty="0">
                <a:effectLst/>
                <a:latin typeface="Times New Roman" panose="02020603050405020304" pitchFamily="18" charset="0"/>
                <a:ea typeface="SimSun" panose="02010600030101010101" pitchFamily="2" charset="-122"/>
              </a:rPr>
              <a:t>Overall Fixation Duration</a:t>
            </a:r>
            <a:endParaRPr lang="en-US" sz="1600" dirty="0">
              <a:effectLst/>
              <a:latin typeface="Times New Roman" panose="02020603050405020304" pitchFamily="18" charset="0"/>
              <a:ea typeface="SimSun" panose="02010600030101010101" pitchFamily="2" charset="-122"/>
            </a:endParaRPr>
          </a:p>
        </p:txBody>
      </p:sp>
      <p:sp>
        <p:nvSpPr>
          <p:cNvPr id="56" name="TextBox 55">
            <a:extLst>
              <a:ext uri="{FF2B5EF4-FFF2-40B4-BE49-F238E27FC236}">
                <a16:creationId xmlns:a16="http://schemas.microsoft.com/office/drawing/2014/main" id="{334932AA-0CB0-F060-79B2-9C8848216FFC}"/>
              </a:ext>
            </a:extLst>
          </p:cNvPr>
          <p:cNvSpPr txBox="1"/>
          <p:nvPr/>
        </p:nvSpPr>
        <p:spPr>
          <a:xfrm>
            <a:off x="4572000" y="5213998"/>
            <a:ext cx="2528316" cy="307777"/>
          </a:xfrm>
          <a:prstGeom prst="rect">
            <a:avLst/>
          </a:prstGeom>
          <a:noFill/>
        </p:spPr>
        <p:txBody>
          <a:bodyPr wrap="square">
            <a:spAutoFit/>
          </a:bodyPr>
          <a:lstStyle/>
          <a:p>
            <a:r>
              <a:rPr lang="en-US" sz="1400" dirty="0">
                <a:solidFill>
                  <a:srgbClr val="000000"/>
                </a:solidFill>
                <a:effectLst/>
                <a:latin typeface="Calibri" panose="020F0502020204030204" pitchFamily="34" charset="0"/>
                <a:ea typeface="SimSun" panose="02010600030101010101" pitchFamily="2" charset="-122"/>
                <a:cs typeface="Calibri" panose="020F0502020204030204" pitchFamily="34" charset="0"/>
              </a:rPr>
              <a:t>(</a:t>
            </a:r>
            <a:r>
              <a:rPr lang="en-US" sz="1400" i="1" dirty="0">
                <a:solidFill>
                  <a:srgbClr val="000000"/>
                </a:solidFill>
                <a:effectLst/>
                <a:latin typeface="Calibri" panose="020F0502020204030204" pitchFamily="34" charset="0"/>
                <a:ea typeface="SimSun" panose="02010600030101010101" pitchFamily="2" charset="-122"/>
                <a:cs typeface="Calibri" panose="020F0502020204030204" pitchFamily="34" charset="0"/>
              </a:rPr>
              <a:t>M</a:t>
            </a:r>
            <a:r>
              <a:rPr lang="en-US" sz="1400" dirty="0">
                <a:solidFill>
                  <a:srgbClr val="000000"/>
                </a:solidFill>
                <a:effectLst/>
                <a:latin typeface="Calibri" panose="020F0502020204030204" pitchFamily="34" charset="0"/>
                <a:ea typeface="SimSun" panose="02010600030101010101" pitchFamily="2" charset="-122"/>
                <a:cs typeface="Calibri" panose="020F0502020204030204" pitchFamily="34" charset="0"/>
              </a:rPr>
              <a:t> = 987 </a:t>
            </a:r>
            <a:r>
              <a:rPr lang="en-US" sz="1400" dirty="0" err="1">
                <a:solidFill>
                  <a:srgbClr val="000000"/>
                </a:solidFill>
                <a:effectLst/>
                <a:latin typeface="Calibri" panose="020F0502020204030204" pitchFamily="34" charset="0"/>
                <a:ea typeface="SimSun" panose="02010600030101010101" pitchFamily="2" charset="-122"/>
                <a:cs typeface="Calibri" panose="020F0502020204030204" pitchFamily="34" charset="0"/>
              </a:rPr>
              <a:t>ms</a:t>
            </a:r>
            <a:r>
              <a:rPr lang="en-US" sz="1400" dirty="0">
                <a:solidFill>
                  <a:srgbClr val="000000"/>
                </a:solidFill>
                <a:effectLst/>
                <a:latin typeface="Calibri" panose="020F0502020204030204" pitchFamily="34" charset="0"/>
                <a:ea typeface="SimSun" panose="02010600030101010101" pitchFamily="2" charset="-122"/>
                <a:cs typeface="Calibri" panose="020F0502020204030204" pitchFamily="34" charset="0"/>
              </a:rPr>
              <a:t>, </a:t>
            </a:r>
            <a:r>
              <a:rPr lang="en-US" sz="1400" i="1" dirty="0">
                <a:solidFill>
                  <a:srgbClr val="000000"/>
                </a:solidFill>
                <a:effectLst/>
                <a:latin typeface="Calibri" panose="020F0502020204030204" pitchFamily="34" charset="0"/>
                <a:ea typeface="SimSun" panose="02010600030101010101" pitchFamily="2" charset="-122"/>
                <a:cs typeface="Calibri" panose="020F0502020204030204" pitchFamily="34" charset="0"/>
              </a:rPr>
              <a:t>SD</a:t>
            </a:r>
            <a:r>
              <a:rPr lang="en-US" sz="1400" dirty="0">
                <a:solidFill>
                  <a:srgbClr val="000000"/>
                </a:solidFill>
                <a:effectLst/>
                <a:latin typeface="Calibri" panose="020F0502020204030204" pitchFamily="34" charset="0"/>
                <a:ea typeface="SimSun" panose="02010600030101010101" pitchFamily="2" charset="-122"/>
                <a:cs typeface="Calibri" panose="020F0502020204030204" pitchFamily="34" charset="0"/>
              </a:rPr>
              <a:t> = 220)</a:t>
            </a:r>
            <a:endParaRPr lang="en-US" sz="1400" dirty="0">
              <a:latin typeface="Calibri" panose="020F0502020204030204" pitchFamily="34" charset="0"/>
              <a:cs typeface="Calibri" panose="020F0502020204030204" pitchFamily="34" charset="0"/>
            </a:endParaRPr>
          </a:p>
        </p:txBody>
      </p:sp>
      <p:sp>
        <p:nvSpPr>
          <p:cNvPr id="57" name="Rectangle 56">
            <a:extLst>
              <a:ext uri="{FF2B5EF4-FFF2-40B4-BE49-F238E27FC236}">
                <a16:creationId xmlns:a16="http://schemas.microsoft.com/office/drawing/2014/main" id="{8C4FB1EE-074A-CFEB-A854-07DEF99EF7D1}"/>
              </a:ext>
            </a:extLst>
          </p:cNvPr>
          <p:cNvSpPr/>
          <p:nvPr/>
        </p:nvSpPr>
        <p:spPr>
          <a:xfrm>
            <a:off x="1025145" y="3183719"/>
            <a:ext cx="45719" cy="85572"/>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63" name="TextBox 62">
            <a:extLst>
              <a:ext uri="{FF2B5EF4-FFF2-40B4-BE49-F238E27FC236}">
                <a16:creationId xmlns:a16="http://schemas.microsoft.com/office/drawing/2014/main" id="{E93DAE8D-A74E-0427-DDDA-89C9DBB96C37}"/>
              </a:ext>
            </a:extLst>
          </p:cNvPr>
          <p:cNvSpPr txBox="1"/>
          <p:nvPr/>
        </p:nvSpPr>
        <p:spPr>
          <a:xfrm>
            <a:off x="6605925" y="5191998"/>
            <a:ext cx="1978361" cy="307777"/>
          </a:xfrm>
          <a:prstGeom prst="rect">
            <a:avLst/>
          </a:prstGeom>
          <a:noFill/>
        </p:spPr>
        <p:txBody>
          <a:bodyPr wrap="square">
            <a:spAutoFit/>
          </a:bodyPr>
          <a:lstStyle/>
          <a:p>
            <a:r>
              <a:rPr lang="en-US" sz="1400" dirty="0">
                <a:solidFill>
                  <a:srgbClr val="000000"/>
                </a:solidFill>
                <a:effectLst/>
                <a:latin typeface="Calibri" panose="020F0502020204030204" pitchFamily="34" charset="0"/>
                <a:ea typeface="SimSun" panose="02010600030101010101" pitchFamily="2" charset="-122"/>
                <a:cs typeface="Calibri" panose="020F0502020204030204" pitchFamily="34" charset="0"/>
              </a:rPr>
              <a:t>(</a:t>
            </a:r>
            <a:r>
              <a:rPr lang="en-US" sz="1400" i="1" dirty="0">
                <a:solidFill>
                  <a:srgbClr val="000000"/>
                </a:solidFill>
                <a:effectLst/>
                <a:latin typeface="Calibri" panose="020F0502020204030204" pitchFamily="34" charset="0"/>
                <a:ea typeface="SimSun" panose="02010600030101010101" pitchFamily="2" charset="-122"/>
                <a:cs typeface="Calibri" panose="020F0502020204030204" pitchFamily="34" charset="0"/>
              </a:rPr>
              <a:t>M</a:t>
            </a:r>
            <a:r>
              <a:rPr lang="en-US" sz="1400" dirty="0">
                <a:solidFill>
                  <a:srgbClr val="000000"/>
                </a:solidFill>
                <a:effectLst/>
                <a:latin typeface="Calibri" panose="020F0502020204030204" pitchFamily="34" charset="0"/>
                <a:ea typeface="SimSun" panose="02010600030101010101" pitchFamily="2" charset="-122"/>
                <a:cs typeface="Calibri" panose="020F0502020204030204" pitchFamily="34" charset="0"/>
              </a:rPr>
              <a:t> = 1139 </a:t>
            </a:r>
            <a:r>
              <a:rPr lang="en-US" sz="1400" dirty="0" err="1">
                <a:solidFill>
                  <a:srgbClr val="000000"/>
                </a:solidFill>
                <a:effectLst/>
                <a:latin typeface="Calibri" panose="020F0502020204030204" pitchFamily="34" charset="0"/>
                <a:ea typeface="SimSun" panose="02010600030101010101" pitchFamily="2" charset="-122"/>
                <a:cs typeface="Calibri" panose="020F0502020204030204" pitchFamily="34" charset="0"/>
              </a:rPr>
              <a:t>ms</a:t>
            </a:r>
            <a:r>
              <a:rPr lang="en-US" sz="1400" dirty="0">
                <a:solidFill>
                  <a:srgbClr val="000000"/>
                </a:solidFill>
                <a:effectLst/>
                <a:latin typeface="Calibri" panose="020F0502020204030204" pitchFamily="34" charset="0"/>
                <a:ea typeface="SimSun" panose="02010600030101010101" pitchFamily="2" charset="-122"/>
                <a:cs typeface="Calibri" panose="020F0502020204030204" pitchFamily="34" charset="0"/>
              </a:rPr>
              <a:t>, </a:t>
            </a:r>
            <a:r>
              <a:rPr lang="en-US" sz="1400" i="1" dirty="0">
                <a:solidFill>
                  <a:srgbClr val="000000"/>
                </a:solidFill>
                <a:effectLst/>
                <a:latin typeface="Calibri" panose="020F0502020204030204" pitchFamily="34" charset="0"/>
                <a:ea typeface="SimSun" panose="02010600030101010101" pitchFamily="2" charset="-122"/>
                <a:cs typeface="Calibri" panose="020F0502020204030204" pitchFamily="34" charset="0"/>
              </a:rPr>
              <a:t>SD</a:t>
            </a:r>
            <a:r>
              <a:rPr lang="en-US" sz="1400" dirty="0">
                <a:solidFill>
                  <a:srgbClr val="000000"/>
                </a:solidFill>
                <a:effectLst/>
                <a:latin typeface="Calibri" panose="020F0502020204030204" pitchFamily="34" charset="0"/>
                <a:ea typeface="SimSun" panose="02010600030101010101" pitchFamily="2" charset="-122"/>
                <a:cs typeface="Calibri" panose="020F0502020204030204" pitchFamily="34" charset="0"/>
              </a:rPr>
              <a:t> = 306)</a:t>
            </a:r>
            <a:endParaRPr lang="en-US" sz="1400" dirty="0">
              <a:latin typeface="Calibri" panose="020F0502020204030204" pitchFamily="34" charset="0"/>
              <a:cs typeface="Calibri" panose="020F0502020204030204" pitchFamily="34" charset="0"/>
            </a:endParaRPr>
          </a:p>
        </p:txBody>
      </p:sp>
      <p:sp>
        <p:nvSpPr>
          <p:cNvPr id="7" name="矩形 15">
            <a:extLst>
              <a:ext uri="{FF2B5EF4-FFF2-40B4-BE49-F238E27FC236}">
                <a16:creationId xmlns:a16="http://schemas.microsoft.com/office/drawing/2014/main" id="{9D3DD6DF-824A-0B18-793F-8BD6496E8945}"/>
              </a:ext>
            </a:extLst>
          </p:cNvPr>
          <p:cNvSpPr>
            <a:spLocks noChangeArrowheads="1"/>
          </p:cNvSpPr>
          <p:nvPr/>
        </p:nvSpPr>
        <p:spPr bwMode="auto">
          <a:xfrm>
            <a:off x="1294052" y="2195481"/>
            <a:ext cx="2702504"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911225">
              <a:defRPr>
                <a:solidFill>
                  <a:schemeClr val="tx1"/>
                </a:solidFill>
                <a:latin typeface="Calibri" panose="020F0502020204030204" pitchFamily="34" charset="0"/>
                <a:ea typeface="宋体" panose="02010600030101010101" pitchFamily="2" charset="-122"/>
              </a:defRPr>
            </a:lvl1pPr>
            <a:lvl2pPr marL="742950" indent="-285750" defTabSz="911225">
              <a:defRPr>
                <a:solidFill>
                  <a:schemeClr val="tx1"/>
                </a:solidFill>
                <a:latin typeface="Calibri" panose="020F0502020204030204" pitchFamily="34" charset="0"/>
                <a:ea typeface="宋体" panose="02010600030101010101" pitchFamily="2" charset="-122"/>
              </a:defRPr>
            </a:lvl2pPr>
            <a:lvl3pPr marL="1143000" indent="-228600" defTabSz="911225">
              <a:defRPr>
                <a:solidFill>
                  <a:schemeClr val="tx1"/>
                </a:solidFill>
                <a:latin typeface="Calibri" panose="020F0502020204030204" pitchFamily="34" charset="0"/>
                <a:ea typeface="宋体" panose="02010600030101010101" pitchFamily="2" charset="-122"/>
              </a:defRPr>
            </a:lvl3pPr>
            <a:lvl4pPr marL="1600200" indent="-228600" defTabSz="911225">
              <a:defRPr>
                <a:solidFill>
                  <a:schemeClr val="tx1"/>
                </a:solidFill>
                <a:latin typeface="Calibri" panose="020F0502020204030204" pitchFamily="34" charset="0"/>
                <a:ea typeface="宋体" panose="02010600030101010101" pitchFamily="2" charset="-122"/>
              </a:defRPr>
            </a:lvl4pPr>
            <a:lvl5pPr marL="2057400" indent="-228600" defTabSz="911225">
              <a:defRPr>
                <a:solidFill>
                  <a:schemeClr val="tx1"/>
                </a:solidFill>
                <a:latin typeface="Calibri" panose="020F0502020204030204" pitchFamily="34" charset="0"/>
                <a:ea typeface="宋体" panose="02010600030101010101" pitchFamily="2" charset="-122"/>
              </a:defRPr>
            </a:lvl5pPr>
            <a:lvl6pPr marL="25146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l"/>
            <a:r>
              <a:rPr lang="en-US" sz="1400" b="1" i="1" dirty="0">
                <a:solidFill>
                  <a:srgbClr val="000000"/>
                </a:solidFill>
                <a:effectLst/>
                <a:latin typeface="open sans" panose="020B0606030504020204" pitchFamily="34" charset="0"/>
                <a:ea typeface="open sans" panose="020B0606030504020204" pitchFamily="34" charset="0"/>
                <a:cs typeface="open sans" panose="020B0606030504020204" pitchFamily="34" charset="0"/>
              </a:rPr>
              <a:t>t</a:t>
            </a:r>
            <a:r>
              <a:rPr lang="en-US" sz="1400" b="1" dirty="0">
                <a:solidFill>
                  <a:srgbClr val="000000"/>
                </a:solidFill>
                <a:effectLst/>
                <a:latin typeface="open sans" panose="020B0606030504020204" pitchFamily="34" charset="0"/>
                <a:ea typeface="open sans" panose="020B0606030504020204" pitchFamily="34" charset="0"/>
                <a:cs typeface="open sans" panose="020B0606030504020204" pitchFamily="34" charset="0"/>
              </a:rPr>
              <a:t>(15) = -2.00, </a:t>
            </a:r>
            <a:r>
              <a:rPr lang="en-US" sz="1400" b="1" i="1" dirty="0">
                <a:solidFill>
                  <a:srgbClr val="000000"/>
                </a:solidFill>
                <a:effectLst/>
                <a:latin typeface="open sans" panose="020B0606030504020204" pitchFamily="34" charset="0"/>
                <a:ea typeface="open sans" panose="020B0606030504020204" pitchFamily="34" charset="0"/>
                <a:cs typeface="open sans" panose="020B0606030504020204" pitchFamily="34" charset="0"/>
              </a:rPr>
              <a:t>p</a:t>
            </a:r>
            <a:r>
              <a:rPr lang="en-US" sz="1400" b="1" dirty="0">
                <a:solidFill>
                  <a:srgbClr val="000000"/>
                </a:solidFill>
                <a:effectLst/>
                <a:latin typeface="open sans" panose="020B0606030504020204" pitchFamily="34" charset="0"/>
                <a:ea typeface="open sans" panose="020B0606030504020204" pitchFamily="34" charset="0"/>
                <a:cs typeface="open sans" panose="020B0606030504020204" pitchFamily="34" charset="0"/>
              </a:rPr>
              <a:t> = .064, </a:t>
            </a:r>
            <a:r>
              <a:rPr lang="en-US" sz="1400" b="1" i="1" dirty="0" err="1">
                <a:solidFill>
                  <a:srgbClr val="000000"/>
                </a:solidFill>
                <a:effectLst/>
                <a:latin typeface="open sans" panose="020B0606030504020204" pitchFamily="34" charset="0"/>
                <a:ea typeface="open sans" panose="020B0606030504020204" pitchFamily="34" charset="0"/>
                <a:cs typeface="open sans" panose="020B0606030504020204" pitchFamily="34" charset="0"/>
              </a:rPr>
              <a:t>d</a:t>
            </a:r>
            <a:r>
              <a:rPr lang="en-US" sz="1400" b="1" baseline="-25000" dirty="0" err="1">
                <a:solidFill>
                  <a:srgbClr val="000000"/>
                </a:solidFill>
                <a:effectLst/>
                <a:latin typeface="open sans" panose="020B0606030504020204" pitchFamily="34" charset="0"/>
                <a:ea typeface="open sans" panose="020B0606030504020204" pitchFamily="34" charset="0"/>
                <a:cs typeface="open sans" panose="020B0606030504020204" pitchFamily="34" charset="0"/>
              </a:rPr>
              <a:t>z</a:t>
            </a:r>
            <a:r>
              <a:rPr lang="en-US" sz="1400" b="1" dirty="0">
                <a:solidFill>
                  <a:srgbClr val="000000"/>
                </a:solidFill>
                <a:effectLst/>
                <a:latin typeface="open sans" panose="020B0606030504020204" pitchFamily="34" charset="0"/>
                <a:ea typeface="open sans" panose="020B0606030504020204" pitchFamily="34" charset="0"/>
                <a:cs typeface="open sans" panose="020B0606030504020204" pitchFamily="34" charset="0"/>
              </a:rPr>
              <a:t> = -0.50</a:t>
            </a:r>
            <a:endParaRPr lang="en-US" altLang="zh-CN" sz="1400" b="1" dirty="0">
              <a:effectLst>
                <a:innerShdw blurRad="63500" dist="50800">
                  <a:prstClr val="black">
                    <a:alpha val="50000"/>
                  </a:prstClr>
                </a:innerShdw>
              </a:effectLst>
              <a:latin typeface="open sans" panose="020B0606030504020204" pitchFamily="34" charset="0"/>
              <a:ea typeface="open sans" panose="020B0606030504020204" pitchFamily="34" charset="0"/>
              <a:cs typeface="open sans" panose="020B0606030504020204" pitchFamily="34" charset="0"/>
            </a:endParaRPr>
          </a:p>
        </p:txBody>
      </p:sp>
      <p:sp>
        <p:nvSpPr>
          <p:cNvPr id="16" name="矩形 15">
            <a:extLst>
              <a:ext uri="{FF2B5EF4-FFF2-40B4-BE49-F238E27FC236}">
                <a16:creationId xmlns:a16="http://schemas.microsoft.com/office/drawing/2014/main" id="{03A5B6F4-58D4-A632-A799-25BA37C43A10}"/>
              </a:ext>
            </a:extLst>
          </p:cNvPr>
          <p:cNvSpPr>
            <a:spLocks noChangeArrowheads="1"/>
          </p:cNvSpPr>
          <p:nvPr/>
        </p:nvSpPr>
        <p:spPr bwMode="auto">
          <a:xfrm>
            <a:off x="5416351" y="2195481"/>
            <a:ext cx="2702504"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911225">
              <a:defRPr>
                <a:solidFill>
                  <a:schemeClr val="tx1"/>
                </a:solidFill>
                <a:latin typeface="Calibri" panose="020F0502020204030204" pitchFamily="34" charset="0"/>
                <a:ea typeface="宋体" panose="02010600030101010101" pitchFamily="2" charset="-122"/>
              </a:defRPr>
            </a:lvl1pPr>
            <a:lvl2pPr marL="742950" indent="-285750" defTabSz="911225">
              <a:defRPr>
                <a:solidFill>
                  <a:schemeClr val="tx1"/>
                </a:solidFill>
                <a:latin typeface="Calibri" panose="020F0502020204030204" pitchFamily="34" charset="0"/>
                <a:ea typeface="宋体" panose="02010600030101010101" pitchFamily="2" charset="-122"/>
              </a:defRPr>
            </a:lvl2pPr>
            <a:lvl3pPr marL="1143000" indent="-228600" defTabSz="911225">
              <a:defRPr>
                <a:solidFill>
                  <a:schemeClr val="tx1"/>
                </a:solidFill>
                <a:latin typeface="Calibri" panose="020F0502020204030204" pitchFamily="34" charset="0"/>
                <a:ea typeface="宋体" panose="02010600030101010101" pitchFamily="2" charset="-122"/>
              </a:defRPr>
            </a:lvl3pPr>
            <a:lvl4pPr marL="1600200" indent="-228600" defTabSz="911225">
              <a:defRPr>
                <a:solidFill>
                  <a:schemeClr val="tx1"/>
                </a:solidFill>
                <a:latin typeface="Calibri" panose="020F0502020204030204" pitchFamily="34" charset="0"/>
                <a:ea typeface="宋体" panose="02010600030101010101" pitchFamily="2" charset="-122"/>
              </a:defRPr>
            </a:lvl4pPr>
            <a:lvl5pPr marL="2057400" indent="-228600" defTabSz="911225">
              <a:defRPr>
                <a:solidFill>
                  <a:schemeClr val="tx1"/>
                </a:solidFill>
                <a:latin typeface="Calibri" panose="020F0502020204030204" pitchFamily="34" charset="0"/>
                <a:ea typeface="宋体" panose="02010600030101010101" pitchFamily="2" charset="-122"/>
              </a:defRPr>
            </a:lvl5pPr>
            <a:lvl6pPr marL="25146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l"/>
            <a:r>
              <a:rPr lang="en-US" sz="1400" b="1" i="1" dirty="0">
                <a:solidFill>
                  <a:srgbClr val="000000"/>
                </a:solidFill>
                <a:effectLst/>
                <a:latin typeface="open sans" panose="020B0606030504020204" pitchFamily="34" charset="0"/>
                <a:ea typeface="open sans" panose="020B0606030504020204" pitchFamily="34" charset="0"/>
                <a:cs typeface="open sans" panose="020B0606030504020204" pitchFamily="34" charset="0"/>
              </a:rPr>
              <a:t>t</a:t>
            </a:r>
            <a:r>
              <a:rPr lang="en-US" sz="1400" b="1" dirty="0">
                <a:solidFill>
                  <a:srgbClr val="000000"/>
                </a:solidFill>
                <a:effectLst/>
                <a:latin typeface="open sans" panose="020B0606030504020204" pitchFamily="34" charset="0"/>
                <a:ea typeface="open sans" panose="020B0606030504020204" pitchFamily="34" charset="0"/>
                <a:cs typeface="open sans" panose="020B0606030504020204" pitchFamily="34" charset="0"/>
              </a:rPr>
              <a:t>(15) = -1.43, </a:t>
            </a:r>
            <a:r>
              <a:rPr lang="en-US" sz="1400" b="1" i="1" dirty="0">
                <a:solidFill>
                  <a:srgbClr val="000000"/>
                </a:solidFill>
                <a:effectLst/>
                <a:latin typeface="open sans" panose="020B0606030504020204" pitchFamily="34" charset="0"/>
                <a:ea typeface="open sans" panose="020B0606030504020204" pitchFamily="34" charset="0"/>
                <a:cs typeface="open sans" panose="020B0606030504020204" pitchFamily="34" charset="0"/>
              </a:rPr>
              <a:t>p</a:t>
            </a:r>
            <a:r>
              <a:rPr lang="en-US" sz="1400" b="1" dirty="0">
                <a:solidFill>
                  <a:srgbClr val="000000"/>
                </a:solidFill>
                <a:effectLst/>
                <a:latin typeface="open sans" panose="020B0606030504020204" pitchFamily="34" charset="0"/>
                <a:ea typeface="open sans" panose="020B0606030504020204" pitchFamily="34" charset="0"/>
                <a:cs typeface="open sans" panose="020B0606030504020204" pitchFamily="34" charset="0"/>
              </a:rPr>
              <a:t> = .173, </a:t>
            </a:r>
            <a:r>
              <a:rPr lang="en-US" sz="1400" b="1" i="1" dirty="0" err="1">
                <a:solidFill>
                  <a:srgbClr val="000000"/>
                </a:solidFill>
                <a:effectLst/>
                <a:latin typeface="open sans" panose="020B0606030504020204" pitchFamily="34" charset="0"/>
                <a:ea typeface="open sans" panose="020B0606030504020204" pitchFamily="34" charset="0"/>
                <a:cs typeface="open sans" panose="020B0606030504020204" pitchFamily="34" charset="0"/>
              </a:rPr>
              <a:t>d</a:t>
            </a:r>
            <a:r>
              <a:rPr lang="en-US" sz="1400" b="1" baseline="-25000" dirty="0" err="1">
                <a:solidFill>
                  <a:srgbClr val="000000"/>
                </a:solidFill>
                <a:effectLst/>
                <a:latin typeface="open sans" panose="020B0606030504020204" pitchFamily="34" charset="0"/>
                <a:ea typeface="open sans" panose="020B0606030504020204" pitchFamily="34" charset="0"/>
                <a:cs typeface="open sans" panose="020B0606030504020204" pitchFamily="34" charset="0"/>
              </a:rPr>
              <a:t>z</a:t>
            </a:r>
            <a:r>
              <a:rPr lang="en-US" sz="1400" b="1" dirty="0">
                <a:solidFill>
                  <a:srgbClr val="000000"/>
                </a:solidFill>
                <a:effectLst/>
                <a:latin typeface="open sans" panose="020B0606030504020204" pitchFamily="34" charset="0"/>
                <a:ea typeface="open sans" panose="020B0606030504020204" pitchFamily="34" charset="0"/>
                <a:cs typeface="open sans" panose="020B0606030504020204" pitchFamily="34" charset="0"/>
              </a:rPr>
              <a:t> = -0.36</a:t>
            </a:r>
            <a:endParaRPr lang="en-US" altLang="zh-CN" sz="1400" b="1" dirty="0">
              <a:effectLst>
                <a:innerShdw blurRad="63500" dist="50800">
                  <a:prstClr val="black">
                    <a:alpha val="50000"/>
                  </a:prstClr>
                </a:innerShdw>
              </a:effectLst>
              <a:latin typeface="open sans" panose="020B0606030504020204" pitchFamily="34" charset="0"/>
              <a:ea typeface="open sans" panose="020B0606030504020204" pitchFamily="34" charset="0"/>
              <a:cs typeface="open sans" panose="020B0606030504020204" pitchFamily="34" charset="0"/>
            </a:endParaRPr>
          </a:p>
        </p:txBody>
      </p:sp>
      <p:pic>
        <p:nvPicPr>
          <p:cNvPr id="10" name="Picture 9">
            <a:extLst>
              <a:ext uri="{FF2B5EF4-FFF2-40B4-BE49-F238E27FC236}">
                <a16:creationId xmlns:a16="http://schemas.microsoft.com/office/drawing/2014/main" id="{C4C962F5-2E14-53B9-85E9-78E3BAE5D301}"/>
              </a:ext>
            </a:extLst>
          </p:cNvPr>
          <p:cNvPicPr>
            <a:picLocks noChangeAspect="1"/>
          </p:cNvPicPr>
          <p:nvPr/>
        </p:nvPicPr>
        <p:blipFill>
          <a:blip r:embed="rId3"/>
          <a:stretch>
            <a:fillRect/>
          </a:stretch>
        </p:blipFill>
        <p:spPr>
          <a:xfrm>
            <a:off x="234086" y="1755481"/>
            <a:ext cx="8746766" cy="4233666"/>
          </a:xfrm>
          <a:prstGeom prst="rect">
            <a:avLst/>
          </a:prstGeom>
        </p:spPr>
      </p:pic>
      <p:pic>
        <p:nvPicPr>
          <p:cNvPr id="11" name="Picture 10">
            <a:extLst>
              <a:ext uri="{FF2B5EF4-FFF2-40B4-BE49-F238E27FC236}">
                <a16:creationId xmlns:a16="http://schemas.microsoft.com/office/drawing/2014/main" id="{2E01E6F3-D996-F4A2-5B01-C54DE4C4A04A}"/>
              </a:ext>
            </a:extLst>
          </p:cNvPr>
          <p:cNvPicPr>
            <a:picLocks noChangeAspect="1"/>
          </p:cNvPicPr>
          <p:nvPr/>
        </p:nvPicPr>
        <p:blipFill>
          <a:blip r:embed="rId4"/>
          <a:srcRect t="145" b="145"/>
          <a:stretch>
            <a:fillRect/>
          </a:stretch>
        </p:blipFill>
        <p:spPr bwMode="auto">
          <a:xfrm>
            <a:off x="7539452" y="907430"/>
            <a:ext cx="1441400" cy="1503495"/>
          </a:xfrm>
          <a:prstGeom prst="rect">
            <a:avLst/>
          </a:prstGeom>
          <a:ln>
            <a:noFill/>
          </a:ln>
          <a:extLst>
            <a:ext uri="{53640926-AAD7-44D8-BBD7-CCE9431645EC}">
              <a14:shadowObscured xmlns:a14="http://schemas.microsoft.com/office/drawing/2010/main"/>
            </a:ext>
          </a:extLst>
        </p:spPr>
      </p:pic>
      <p:sp>
        <p:nvSpPr>
          <p:cNvPr id="12" name="Rectangle 11">
            <a:extLst>
              <a:ext uri="{FF2B5EF4-FFF2-40B4-BE49-F238E27FC236}">
                <a16:creationId xmlns:a16="http://schemas.microsoft.com/office/drawing/2014/main" id="{D39E93DA-7512-D78F-868F-9FD1B6E07D0F}"/>
              </a:ext>
            </a:extLst>
          </p:cNvPr>
          <p:cNvSpPr/>
          <p:nvPr/>
        </p:nvSpPr>
        <p:spPr>
          <a:xfrm>
            <a:off x="5429806" y="1118832"/>
            <a:ext cx="2165299" cy="338554"/>
          </a:xfrm>
          <a:prstGeom prst="rect">
            <a:avLst/>
          </a:prstGeom>
          <a:noFill/>
        </p:spPr>
        <p:txBody>
          <a:bodyPr wrap="square" lIns="91440" tIns="45720" rIns="91440" bIns="45720">
            <a:spAutoFit/>
          </a:bodyPr>
          <a:lstStyle/>
          <a:p>
            <a:pPr algn="ctr"/>
            <a:r>
              <a:rPr lang="en-US" sz="1600" b="0"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rPr>
              <a:t>AOI: </a:t>
            </a:r>
            <a:r>
              <a:rPr lang="en-US" sz="1600" dirty="0">
                <a:effectLst/>
                <a:latin typeface="Calibri" panose="020F0502020204030204" pitchFamily="34" charset="0"/>
                <a:ea typeface="SimSun" panose="02010600030101010101" pitchFamily="2" charset="-122"/>
                <a:cs typeface="Calibri" panose="020F0502020204030204" pitchFamily="34" charset="0"/>
              </a:rPr>
              <a:t>Areas of Interest </a:t>
            </a:r>
            <a:endParaRPr lang="en-US" sz="1600" b="0"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13" name="Oval 12">
            <a:extLst>
              <a:ext uri="{FF2B5EF4-FFF2-40B4-BE49-F238E27FC236}">
                <a16:creationId xmlns:a16="http://schemas.microsoft.com/office/drawing/2014/main" id="{0C71E4C7-2D71-F448-71B0-0410626BBBD6}"/>
              </a:ext>
            </a:extLst>
          </p:cNvPr>
          <p:cNvSpPr/>
          <p:nvPr/>
        </p:nvSpPr>
        <p:spPr>
          <a:xfrm>
            <a:off x="6722708" y="2803196"/>
            <a:ext cx="667514" cy="1334930"/>
          </a:xfrm>
          <a:prstGeom prst="ellipse">
            <a:avLst/>
          </a:prstGeom>
          <a:no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 name="Oval 13">
            <a:extLst>
              <a:ext uri="{FF2B5EF4-FFF2-40B4-BE49-F238E27FC236}">
                <a16:creationId xmlns:a16="http://schemas.microsoft.com/office/drawing/2014/main" id="{3A9C5953-F8A0-D60F-171C-016B9BDE001A}"/>
              </a:ext>
            </a:extLst>
          </p:cNvPr>
          <p:cNvSpPr/>
          <p:nvPr/>
        </p:nvSpPr>
        <p:spPr>
          <a:xfrm>
            <a:off x="3554596" y="3269291"/>
            <a:ext cx="441960" cy="653391"/>
          </a:xfrm>
          <a:prstGeom prst="ellipse">
            <a:avLst/>
          </a:prstGeom>
          <a:no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32598399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55E446-9ADB-982A-4B5B-AB359E3C1171}"/>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1BCEF8B1-10C1-0301-77CC-C57C6D49D2CD}"/>
              </a:ext>
            </a:extLst>
          </p:cNvPr>
          <p:cNvSpPr/>
          <p:nvPr/>
        </p:nvSpPr>
        <p:spPr>
          <a:xfrm>
            <a:off x="321189" y="915466"/>
            <a:ext cx="2457421" cy="707886"/>
          </a:xfrm>
          <a:prstGeom prst="rect">
            <a:avLst/>
          </a:prstGeom>
          <a:noFill/>
        </p:spPr>
        <p:txBody>
          <a:bodyPr wrap="square" lIns="91440" tIns="45720" rIns="91440" bIns="45720">
            <a:spAutoFit/>
          </a:bodyPr>
          <a:lstStyle/>
          <a:p>
            <a:pPr algn="ctr"/>
            <a:r>
              <a:rPr lang="en-US" sz="40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rPr>
              <a:t>Discussion</a:t>
            </a:r>
          </a:p>
        </p:txBody>
      </p:sp>
      <p:pic>
        <p:nvPicPr>
          <p:cNvPr id="6" name="Picture 5">
            <a:extLst>
              <a:ext uri="{FF2B5EF4-FFF2-40B4-BE49-F238E27FC236}">
                <a16:creationId xmlns:a16="http://schemas.microsoft.com/office/drawing/2014/main" id="{959457E3-9BF1-1C02-4701-B39792F92F48}"/>
              </a:ext>
            </a:extLst>
          </p:cNvPr>
          <p:cNvPicPr>
            <a:picLocks noChangeAspect="1"/>
          </p:cNvPicPr>
          <p:nvPr/>
        </p:nvPicPr>
        <p:blipFill>
          <a:blip r:embed="rId3"/>
          <a:stretch>
            <a:fillRect/>
          </a:stretch>
        </p:blipFill>
        <p:spPr>
          <a:xfrm>
            <a:off x="180975" y="1555877"/>
            <a:ext cx="3725922" cy="3473317"/>
          </a:xfrm>
          <a:prstGeom prst="rect">
            <a:avLst/>
          </a:prstGeom>
        </p:spPr>
      </p:pic>
      <p:sp>
        <p:nvSpPr>
          <p:cNvPr id="9" name="TextBox 8">
            <a:extLst>
              <a:ext uri="{FF2B5EF4-FFF2-40B4-BE49-F238E27FC236}">
                <a16:creationId xmlns:a16="http://schemas.microsoft.com/office/drawing/2014/main" id="{6F32EFAE-B12A-6048-3D1C-4A3ED8CDD3BC}"/>
              </a:ext>
            </a:extLst>
          </p:cNvPr>
          <p:cNvSpPr txBox="1"/>
          <p:nvPr/>
        </p:nvSpPr>
        <p:spPr>
          <a:xfrm>
            <a:off x="4572000" y="1972841"/>
            <a:ext cx="4299857" cy="646331"/>
          </a:xfrm>
          <a:prstGeom prst="rect">
            <a:avLst/>
          </a:prstGeom>
          <a:noFill/>
        </p:spPr>
        <p:txBody>
          <a:bodyPr wrap="square">
            <a:spAutoFit/>
          </a:bodyPr>
          <a:lstStyle/>
          <a:p>
            <a:r>
              <a:rPr lang="en-US" b="1" dirty="0">
                <a:latin typeface="Calibri" panose="020F0502020204030204" pitchFamily="34" charset="0"/>
                <a:ea typeface="SimSun" panose="02010600030101010101" pitchFamily="2" charset="-122"/>
                <a:cs typeface="Calibri" panose="020F0502020204030204" pitchFamily="34" charset="0"/>
              </a:rPr>
              <a:t>Link to former eye-tracking results:</a:t>
            </a:r>
            <a:br>
              <a:rPr lang="en-US" b="1" dirty="0">
                <a:solidFill>
                  <a:srgbClr val="0070C0"/>
                </a:solidFill>
                <a:latin typeface="Calibri" panose="020F0502020204030204" pitchFamily="34" charset="0"/>
                <a:ea typeface="SimSun" panose="02010600030101010101" pitchFamily="2" charset="-122"/>
                <a:cs typeface="Calibri" panose="020F0502020204030204" pitchFamily="34" charset="0"/>
              </a:rPr>
            </a:br>
            <a:endParaRPr lang="en-US" b="1" dirty="0">
              <a:latin typeface="Calibri" panose="020F0502020204030204" pitchFamily="34" charset="0"/>
              <a:ea typeface="SimSun" panose="02010600030101010101" pitchFamily="2" charset="-122"/>
              <a:cs typeface="Calibri" panose="020F0502020204030204" pitchFamily="34" charset="0"/>
            </a:endParaRPr>
          </a:p>
        </p:txBody>
      </p:sp>
      <p:pic>
        <p:nvPicPr>
          <p:cNvPr id="15" name="Picture 14">
            <a:extLst>
              <a:ext uri="{FF2B5EF4-FFF2-40B4-BE49-F238E27FC236}">
                <a16:creationId xmlns:a16="http://schemas.microsoft.com/office/drawing/2014/main" id="{AC53F734-DB4E-12C6-FAC5-E442F1DF9C4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282301" y="118759"/>
            <a:ext cx="2346476" cy="1319893"/>
          </a:xfrm>
          <a:prstGeom prst="rect">
            <a:avLst/>
          </a:prstGeom>
        </p:spPr>
      </p:pic>
      <p:pic>
        <p:nvPicPr>
          <p:cNvPr id="16" name="Picture 15">
            <a:extLst>
              <a:ext uri="{FF2B5EF4-FFF2-40B4-BE49-F238E27FC236}">
                <a16:creationId xmlns:a16="http://schemas.microsoft.com/office/drawing/2014/main" id="{2CBD6FF1-B50C-3690-7212-DEBB9C19EF10}"/>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628777" y="110215"/>
            <a:ext cx="2346476" cy="1319893"/>
          </a:xfrm>
          <a:prstGeom prst="rect">
            <a:avLst/>
          </a:prstGeom>
        </p:spPr>
      </p:pic>
      <p:sp>
        <p:nvSpPr>
          <p:cNvPr id="17" name="TextBox 16">
            <a:extLst>
              <a:ext uri="{FF2B5EF4-FFF2-40B4-BE49-F238E27FC236}">
                <a16:creationId xmlns:a16="http://schemas.microsoft.com/office/drawing/2014/main" id="{7F8BB7F1-132B-4A77-E81E-AF5BF2CBB86D}"/>
              </a:ext>
            </a:extLst>
          </p:cNvPr>
          <p:cNvSpPr txBox="1"/>
          <p:nvPr/>
        </p:nvSpPr>
        <p:spPr>
          <a:xfrm>
            <a:off x="4865087" y="1299279"/>
            <a:ext cx="1373325" cy="369332"/>
          </a:xfrm>
          <a:prstGeom prst="rect">
            <a:avLst/>
          </a:prstGeom>
          <a:noFill/>
        </p:spPr>
        <p:txBody>
          <a:bodyPr wrap="square">
            <a:spAutoFit/>
          </a:bodyPr>
          <a:lstStyle/>
          <a:p>
            <a:r>
              <a:rPr lang="en-US" sz="1800" b="1" dirty="0">
                <a:solidFill>
                  <a:srgbClr val="0070C0"/>
                </a:solidFill>
                <a:latin typeface="Calibri" panose="020F0502020204030204" pitchFamily="34" charset="0"/>
                <a:ea typeface="SimSun" panose="02010600030101010101" pitchFamily="2" charset="-122"/>
                <a:cs typeface="Calibri" panose="020F0502020204030204" pitchFamily="34" charset="0"/>
              </a:rPr>
              <a:t>Face-to-face</a:t>
            </a:r>
            <a:endParaRPr lang="en-US" dirty="0">
              <a:solidFill>
                <a:srgbClr val="0070C0"/>
              </a:solidFill>
            </a:endParaRPr>
          </a:p>
        </p:txBody>
      </p:sp>
      <p:sp>
        <p:nvSpPr>
          <p:cNvPr id="18" name="TextBox 17">
            <a:extLst>
              <a:ext uri="{FF2B5EF4-FFF2-40B4-BE49-F238E27FC236}">
                <a16:creationId xmlns:a16="http://schemas.microsoft.com/office/drawing/2014/main" id="{4EB7B9A9-E1F1-74EA-38B6-C1EFE9934958}"/>
              </a:ext>
            </a:extLst>
          </p:cNvPr>
          <p:cNvSpPr txBox="1"/>
          <p:nvPr/>
        </p:nvSpPr>
        <p:spPr>
          <a:xfrm>
            <a:off x="7264047" y="1297875"/>
            <a:ext cx="1260341" cy="369332"/>
          </a:xfrm>
          <a:prstGeom prst="rect">
            <a:avLst/>
          </a:prstGeom>
          <a:noFill/>
        </p:spPr>
        <p:txBody>
          <a:bodyPr wrap="square">
            <a:spAutoFit/>
          </a:bodyPr>
          <a:lstStyle/>
          <a:p>
            <a:r>
              <a:rPr lang="en-US" sz="1800" b="1" dirty="0">
                <a:solidFill>
                  <a:srgbClr val="0070C0"/>
                </a:solidFill>
                <a:latin typeface="Calibri" panose="020F0502020204030204" pitchFamily="34" charset="0"/>
                <a:ea typeface="SimSun" panose="02010600030101010101" pitchFamily="2" charset="-122"/>
                <a:cs typeface="Calibri" panose="020F0502020204030204" pitchFamily="34" charset="0"/>
              </a:rPr>
              <a:t>Face-to-tail</a:t>
            </a:r>
            <a:endParaRPr lang="en-US" dirty="0">
              <a:solidFill>
                <a:srgbClr val="0070C0"/>
              </a:solidFill>
            </a:endParaRPr>
          </a:p>
        </p:txBody>
      </p:sp>
      <p:sp>
        <p:nvSpPr>
          <p:cNvPr id="19" name="Arrow: Right 18">
            <a:extLst>
              <a:ext uri="{FF2B5EF4-FFF2-40B4-BE49-F238E27FC236}">
                <a16:creationId xmlns:a16="http://schemas.microsoft.com/office/drawing/2014/main" id="{C330E203-96D0-45E9-63BD-A981285308EF}"/>
              </a:ext>
            </a:extLst>
          </p:cNvPr>
          <p:cNvSpPr/>
          <p:nvPr/>
        </p:nvSpPr>
        <p:spPr>
          <a:xfrm>
            <a:off x="3520479" y="4333296"/>
            <a:ext cx="516197" cy="27739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a:extLst>
              <a:ext uri="{FF2B5EF4-FFF2-40B4-BE49-F238E27FC236}">
                <a16:creationId xmlns:a16="http://schemas.microsoft.com/office/drawing/2014/main" id="{E0511A58-48EC-5D90-F293-1CB0FEBC32FC}"/>
              </a:ext>
            </a:extLst>
          </p:cNvPr>
          <p:cNvPicPr>
            <a:picLocks noChangeAspect="1"/>
          </p:cNvPicPr>
          <p:nvPr/>
        </p:nvPicPr>
        <p:blipFill>
          <a:blip r:embed="rId6"/>
          <a:stretch>
            <a:fillRect/>
          </a:stretch>
        </p:blipFill>
        <p:spPr>
          <a:xfrm>
            <a:off x="4393406" y="2367232"/>
            <a:ext cx="4657043" cy="2254132"/>
          </a:xfrm>
          <a:prstGeom prst="rect">
            <a:avLst/>
          </a:prstGeom>
        </p:spPr>
      </p:pic>
      <p:sp>
        <p:nvSpPr>
          <p:cNvPr id="7" name="TextBox 6">
            <a:extLst>
              <a:ext uri="{FF2B5EF4-FFF2-40B4-BE49-F238E27FC236}">
                <a16:creationId xmlns:a16="http://schemas.microsoft.com/office/drawing/2014/main" id="{8732A1CD-2A8D-5DA6-AC03-DC507F9E6A75}"/>
              </a:ext>
            </a:extLst>
          </p:cNvPr>
          <p:cNvSpPr txBox="1"/>
          <p:nvPr/>
        </p:nvSpPr>
        <p:spPr>
          <a:xfrm>
            <a:off x="465511" y="5223572"/>
            <a:ext cx="3054968" cy="1477328"/>
          </a:xfrm>
          <a:prstGeom prst="rect">
            <a:avLst/>
          </a:prstGeom>
          <a:noFill/>
        </p:spPr>
        <p:txBody>
          <a:bodyPr wrap="square">
            <a:spAutoFit/>
          </a:bodyPr>
          <a:lstStyle/>
          <a:p>
            <a:r>
              <a:rPr lang="en-US" b="1" dirty="0">
                <a:latin typeface="Calibri" panose="020F0502020204030204" pitchFamily="34" charset="0"/>
                <a:ea typeface="SimSun" panose="02010600030101010101" pitchFamily="2" charset="-122"/>
                <a:cs typeface="Calibri" panose="020F0502020204030204" pitchFamily="34" charset="0"/>
              </a:rPr>
              <a:t>P</a:t>
            </a:r>
            <a:r>
              <a:rPr lang="en-US" altLang="zh-CN" b="1" dirty="0">
                <a:latin typeface="Calibri" panose="020F0502020204030204" pitchFamily="34" charset="0"/>
                <a:ea typeface="SimSun" panose="02010600030101010101" pitchFamily="2" charset="-122"/>
                <a:cs typeface="Calibri" panose="020F0502020204030204" pitchFamily="34" charset="0"/>
              </a:rPr>
              <a:t>otential reasons</a:t>
            </a:r>
            <a:r>
              <a:rPr lang="en-US" b="1" dirty="0">
                <a:latin typeface="Calibri" panose="020F0502020204030204" pitchFamily="34" charset="0"/>
                <a:ea typeface="SimSun" panose="02010600030101010101" pitchFamily="2" charset="-122"/>
                <a:cs typeface="Calibri" panose="020F0502020204030204" pitchFamily="34" charset="0"/>
              </a:rPr>
              <a:t>:</a:t>
            </a:r>
          </a:p>
          <a:p>
            <a:r>
              <a:rPr lang="en-US" b="1" dirty="0">
                <a:latin typeface="Calibri" panose="020F0502020204030204" pitchFamily="34" charset="0"/>
                <a:ea typeface="SimSun" panose="02010600030101010101" pitchFamily="2" charset="-122"/>
                <a:cs typeface="Calibri" panose="020F0502020204030204" pitchFamily="34" charset="0"/>
              </a:rPr>
              <a:t>1. Overlapping position</a:t>
            </a:r>
            <a:br>
              <a:rPr lang="en-US" b="1" dirty="0">
                <a:latin typeface="Calibri" panose="020F0502020204030204" pitchFamily="34" charset="0"/>
                <a:ea typeface="SimSun" panose="02010600030101010101" pitchFamily="2" charset="-122"/>
                <a:cs typeface="Calibri" panose="020F0502020204030204" pitchFamily="34" charset="0"/>
              </a:rPr>
            </a:br>
            <a:r>
              <a:rPr lang="en-US" b="1" dirty="0">
                <a:latin typeface="Calibri" panose="020F0502020204030204" pitchFamily="34" charset="0"/>
                <a:ea typeface="SimSun" panose="02010600030101010101" pitchFamily="2" charset="-122"/>
                <a:cs typeface="Calibri" panose="020F0502020204030204" pitchFamily="34" charset="0"/>
              </a:rPr>
              <a:t>2. Fighting or chasing action (biting orientation)</a:t>
            </a:r>
            <a:br>
              <a:rPr lang="en-US" b="1" dirty="0">
                <a:latin typeface="Calibri" panose="020F0502020204030204" pitchFamily="34" charset="0"/>
                <a:ea typeface="SimSun" panose="02010600030101010101" pitchFamily="2" charset="-122"/>
                <a:cs typeface="Calibri" panose="020F0502020204030204" pitchFamily="34" charset="0"/>
              </a:rPr>
            </a:br>
            <a:endParaRPr lang="en-US" b="1" dirty="0">
              <a:latin typeface="Calibri" panose="020F0502020204030204" pitchFamily="34" charset="0"/>
              <a:ea typeface="SimSun" panose="02010600030101010101" pitchFamily="2" charset="-122"/>
              <a:cs typeface="Calibri" panose="020F0502020204030204" pitchFamily="34" charset="0"/>
            </a:endParaRPr>
          </a:p>
        </p:txBody>
      </p:sp>
      <p:sp>
        <p:nvSpPr>
          <p:cNvPr id="8" name="TextBox 7">
            <a:extLst>
              <a:ext uri="{FF2B5EF4-FFF2-40B4-BE49-F238E27FC236}">
                <a16:creationId xmlns:a16="http://schemas.microsoft.com/office/drawing/2014/main" id="{A973D9C1-9EEB-4CEF-0CAE-2E699F4E0C8E}"/>
              </a:ext>
            </a:extLst>
          </p:cNvPr>
          <p:cNvSpPr txBox="1"/>
          <p:nvPr/>
        </p:nvSpPr>
        <p:spPr>
          <a:xfrm>
            <a:off x="4289806" y="5373821"/>
            <a:ext cx="1862051" cy="646331"/>
          </a:xfrm>
          <a:prstGeom prst="rect">
            <a:avLst/>
          </a:prstGeom>
          <a:noFill/>
        </p:spPr>
        <p:txBody>
          <a:bodyPr wrap="square">
            <a:spAutoFit/>
          </a:bodyPr>
          <a:lstStyle/>
          <a:p>
            <a:r>
              <a:rPr lang="en-US" sz="1800" b="1" dirty="0">
                <a:solidFill>
                  <a:srgbClr val="0070C0"/>
                </a:solidFill>
                <a:latin typeface="Calibri" panose="020F0502020204030204" pitchFamily="34" charset="0"/>
                <a:ea typeface="SimSun" panose="02010600030101010101" pitchFamily="2" charset="-122"/>
                <a:cs typeface="Calibri" panose="020F0502020204030204" pitchFamily="34" charset="0"/>
              </a:rPr>
              <a:t>Stimulus related or general effect?</a:t>
            </a:r>
            <a:endParaRPr lang="en-US" dirty="0">
              <a:solidFill>
                <a:srgbClr val="0070C0"/>
              </a:solidFill>
            </a:endParaRPr>
          </a:p>
        </p:txBody>
      </p:sp>
      <p:sp>
        <p:nvSpPr>
          <p:cNvPr id="10" name="Arrow: Right 9">
            <a:extLst>
              <a:ext uri="{FF2B5EF4-FFF2-40B4-BE49-F238E27FC236}">
                <a16:creationId xmlns:a16="http://schemas.microsoft.com/office/drawing/2014/main" id="{A74EAD70-72DA-6D9A-BB63-45EE50A38B6C}"/>
              </a:ext>
            </a:extLst>
          </p:cNvPr>
          <p:cNvSpPr/>
          <p:nvPr/>
        </p:nvSpPr>
        <p:spPr>
          <a:xfrm>
            <a:off x="3530042" y="5558292"/>
            <a:ext cx="516197" cy="27739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Arrow: Right 10">
            <a:extLst>
              <a:ext uri="{FF2B5EF4-FFF2-40B4-BE49-F238E27FC236}">
                <a16:creationId xmlns:a16="http://schemas.microsoft.com/office/drawing/2014/main" id="{0CF52582-F567-6D37-0B6F-0662A5C67E1B}"/>
              </a:ext>
            </a:extLst>
          </p:cNvPr>
          <p:cNvSpPr/>
          <p:nvPr/>
        </p:nvSpPr>
        <p:spPr>
          <a:xfrm>
            <a:off x="6463828" y="5558292"/>
            <a:ext cx="516197" cy="27739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10E96FBB-5AC8-E927-DE8E-EBECF6A408E4}"/>
              </a:ext>
            </a:extLst>
          </p:cNvPr>
          <p:cNvSpPr txBox="1"/>
          <p:nvPr/>
        </p:nvSpPr>
        <p:spPr>
          <a:xfrm>
            <a:off x="7188398" y="5373820"/>
            <a:ext cx="1862051" cy="923330"/>
          </a:xfrm>
          <a:prstGeom prst="rect">
            <a:avLst/>
          </a:prstGeom>
          <a:noFill/>
        </p:spPr>
        <p:txBody>
          <a:bodyPr wrap="square">
            <a:spAutoFit/>
          </a:bodyPr>
          <a:lstStyle/>
          <a:p>
            <a:r>
              <a:rPr lang="en-US" sz="1800" b="1" dirty="0">
                <a:solidFill>
                  <a:srgbClr val="0070C0"/>
                </a:solidFill>
                <a:latin typeface="Calibri" panose="020F0502020204030204" pitchFamily="34" charset="0"/>
                <a:ea typeface="SimSun" panose="02010600030101010101" pitchFamily="2" charset="-122"/>
                <a:cs typeface="Calibri" panose="020F0502020204030204" pitchFamily="34" charset="0"/>
              </a:rPr>
              <a:t>Change materials and new experiment</a:t>
            </a:r>
            <a:endParaRPr lang="en-US" dirty="0">
              <a:solidFill>
                <a:srgbClr val="0070C0"/>
              </a:solidFill>
            </a:endParaRPr>
          </a:p>
        </p:txBody>
      </p:sp>
    </p:spTree>
    <p:extLst>
      <p:ext uri="{BB962C8B-B14F-4D97-AF65-F5344CB8AC3E}">
        <p14:creationId xmlns:p14="http://schemas.microsoft.com/office/powerpoint/2010/main" val="275574590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168278-A3C1-7E6E-22AF-2F217EAC5BCA}"/>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0F2ECF88-D65B-ACE2-2A80-DA673CA512CE}"/>
              </a:ext>
            </a:extLst>
          </p:cNvPr>
          <p:cNvSpPr/>
          <p:nvPr/>
        </p:nvSpPr>
        <p:spPr>
          <a:xfrm>
            <a:off x="-997190" y="1057058"/>
            <a:ext cx="7050367" cy="707886"/>
          </a:xfrm>
          <a:prstGeom prst="rect">
            <a:avLst/>
          </a:prstGeom>
          <a:noFill/>
        </p:spPr>
        <p:txBody>
          <a:bodyPr wrap="square" lIns="91440" tIns="45720" rIns="91440" bIns="45720">
            <a:spAutoFit/>
          </a:bodyPr>
          <a:lstStyle/>
          <a:p>
            <a:pPr algn="ctr"/>
            <a:r>
              <a:rPr lang="en-US" sz="40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rPr>
              <a:t>Conclusion – Study 3</a:t>
            </a:r>
          </a:p>
        </p:txBody>
      </p:sp>
      <p:sp>
        <p:nvSpPr>
          <p:cNvPr id="6" name="TextBox 5">
            <a:extLst>
              <a:ext uri="{FF2B5EF4-FFF2-40B4-BE49-F238E27FC236}">
                <a16:creationId xmlns:a16="http://schemas.microsoft.com/office/drawing/2014/main" id="{E5636D0B-A7DA-3FCC-394E-834CED0D1390}"/>
              </a:ext>
            </a:extLst>
          </p:cNvPr>
          <p:cNvSpPr txBox="1"/>
          <p:nvPr/>
        </p:nvSpPr>
        <p:spPr>
          <a:xfrm>
            <a:off x="835789" y="5141488"/>
            <a:ext cx="7922193" cy="1200329"/>
          </a:xfrm>
          <a:prstGeom prst="rect">
            <a:avLst/>
          </a:prstGeom>
          <a:noFill/>
        </p:spPr>
        <p:txBody>
          <a:bodyPr wrap="square" rtlCol="0">
            <a:spAutoFit/>
          </a:bodyPr>
          <a:lstStyle/>
          <a:p>
            <a:pPr marL="342900" indent="-342900">
              <a:buAutoNum type="arabicPeriod"/>
            </a:pPr>
            <a:r>
              <a:rPr lang="en-US" b="1" dirty="0">
                <a:solidFill>
                  <a:srgbClr val="000000"/>
                </a:solidFill>
                <a:latin typeface="Calibri" panose="020F0502020204030204" pitchFamily="34" charset="0"/>
                <a:ea typeface="SimSun" panose="02010600030101010101" pitchFamily="2" charset="-122"/>
                <a:cs typeface="Calibri" panose="020F0502020204030204" pitchFamily="34" charset="0"/>
              </a:rPr>
              <a:t>With the abstract fish, we replicated the agent advantage effect in the face-to-face condition but not in the face-to-tail condition.</a:t>
            </a:r>
            <a:br>
              <a:rPr lang="en-US" b="1" dirty="0">
                <a:solidFill>
                  <a:srgbClr val="000000"/>
                </a:solidFill>
                <a:latin typeface="Calibri" panose="020F0502020204030204" pitchFamily="34" charset="0"/>
                <a:ea typeface="SimSun" panose="02010600030101010101" pitchFamily="2" charset="-122"/>
                <a:cs typeface="Calibri" panose="020F0502020204030204" pitchFamily="34" charset="0"/>
              </a:rPr>
            </a:br>
            <a:br>
              <a:rPr lang="en-US" dirty="0">
                <a:solidFill>
                  <a:srgbClr val="000000"/>
                </a:solidFill>
                <a:latin typeface="Calibri" panose="020F0502020204030204" pitchFamily="34" charset="0"/>
                <a:ea typeface="SimSun" panose="02010600030101010101" pitchFamily="2" charset="-122"/>
                <a:cs typeface="Calibri" panose="020F0502020204030204" pitchFamily="34" charset="0"/>
              </a:rPr>
            </a:br>
            <a:endParaRPr lang="en-US" sz="1800" dirty="0">
              <a:effectLst/>
              <a:latin typeface="Calibri" panose="020F0502020204030204" pitchFamily="34" charset="0"/>
              <a:ea typeface="SimSun" panose="02010600030101010101" pitchFamily="2" charset="-122"/>
              <a:cs typeface="Arial" panose="020B0604020202020204" pitchFamily="34" charset="0"/>
            </a:endParaRPr>
          </a:p>
        </p:txBody>
      </p:sp>
      <p:graphicFrame>
        <p:nvGraphicFramePr>
          <p:cNvPr id="2" name="Table 1">
            <a:extLst>
              <a:ext uri="{FF2B5EF4-FFF2-40B4-BE49-F238E27FC236}">
                <a16:creationId xmlns:a16="http://schemas.microsoft.com/office/drawing/2014/main" id="{D6F4008B-AEE9-5F65-EA03-0DBFC8F6348B}"/>
              </a:ext>
            </a:extLst>
          </p:cNvPr>
          <p:cNvGraphicFramePr>
            <a:graphicFrameLocks noGrp="1"/>
          </p:cNvGraphicFramePr>
          <p:nvPr>
            <p:extLst>
              <p:ext uri="{D42A27DB-BD31-4B8C-83A1-F6EECF244321}">
                <p14:modId xmlns:p14="http://schemas.microsoft.com/office/powerpoint/2010/main" val="402796292"/>
              </p:ext>
            </p:extLst>
          </p:nvPr>
        </p:nvGraphicFramePr>
        <p:xfrm>
          <a:off x="688489" y="1990854"/>
          <a:ext cx="8069493" cy="4046357"/>
        </p:xfrm>
        <a:graphic>
          <a:graphicData uri="http://schemas.openxmlformats.org/drawingml/2006/table">
            <a:tbl>
              <a:tblPr firstRow="1" bandRow="1">
                <a:tableStyleId>{0E3FDE45-AF77-4B5C-9715-49D594BDF05E}</a:tableStyleId>
              </a:tblPr>
              <a:tblGrid>
                <a:gridCol w="2689831">
                  <a:extLst>
                    <a:ext uri="{9D8B030D-6E8A-4147-A177-3AD203B41FA5}">
                      <a16:colId xmlns:a16="http://schemas.microsoft.com/office/drawing/2014/main" val="3685961140"/>
                    </a:ext>
                  </a:extLst>
                </a:gridCol>
                <a:gridCol w="2689831">
                  <a:extLst>
                    <a:ext uri="{9D8B030D-6E8A-4147-A177-3AD203B41FA5}">
                      <a16:colId xmlns:a16="http://schemas.microsoft.com/office/drawing/2014/main" val="3182446567"/>
                    </a:ext>
                  </a:extLst>
                </a:gridCol>
                <a:gridCol w="2689831">
                  <a:extLst>
                    <a:ext uri="{9D8B030D-6E8A-4147-A177-3AD203B41FA5}">
                      <a16:colId xmlns:a16="http://schemas.microsoft.com/office/drawing/2014/main" val="4102585288"/>
                    </a:ext>
                  </a:extLst>
                </a:gridCol>
              </a:tblGrid>
              <a:tr h="76310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000000"/>
                          </a:solidFill>
                          <a:effectLst/>
                          <a:uLnTx/>
                          <a:uFillTx/>
                          <a:latin typeface="Calibri" panose="020F0502020204030204" pitchFamily="34" charset="0"/>
                          <a:ea typeface="SimSun" panose="02010600030101010101" pitchFamily="2" charset="-122"/>
                          <a:cs typeface="Calibri" panose="020F0502020204030204" pitchFamily="34" charset="0"/>
                        </a:rPr>
                        <a:t>Exp 1</a:t>
                      </a:r>
                      <a:endParaRPr kumimoji="0" lang="en-US" sz="3200" b="1" i="0" u="none" strike="noStrike" kern="1200" cap="none" spc="0" normalizeH="0" baseline="0" noProof="0" dirty="0">
                        <a:ln>
                          <a:noFill/>
                        </a:ln>
                        <a:solidFill>
                          <a:srgbClr val="000000"/>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000000"/>
                          </a:solidFill>
                          <a:effectLst/>
                          <a:uLnTx/>
                          <a:uFillTx/>
                          <a:latin typeface="Calibri" panose="020F0502020204030204" pitchFamily="34" charset="0"/>
                          <a:ea typeface="SimSun" panose="02010600030101010101" pitchFamily="2" charset="-122"/>
                          <a:cs typeface="Calibri" panose="020F0502020204030204" pitchFamily="34" charset="0"/>
                        </a:rPr>
                        <a:t>Exp 2</a:t>
                      </a:r>
                      <a:endParaRPr kumimoji="0" lang="en-US" sz="3200" b="1" i="0" u="none" strike="noStrike" kern="1200" cap="none" spc="0" normalizeH="0" baseline="0" noProof="0" dirty="0">
                        <a:ln>
                          <a:noFill/>
                        </a:ln>
                        <a:solidFill>
                          <a:srgbClr val="000000"/>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000000"/>
                          </a:solidFill>
                          <a:effectLst/>
                          <a:uLnTx/>
                          <a:uFillTx/>
                          <a:latin typeface="Calibri" panose="020F0502020204030204" pitchFamily="34" charset="0"/>
                          <a:ea typeface="SimSun" panose="02010600030101010101" pitchFamily="2" charset="-122"/>
                          <a:cs typeface="Calibri" panose="020F0502020204030204" pitchFamily="34" charset="0"/>
                        </a:rPr>
                        <a:t>Exp 3</a:t>
                      </a:r>
                      <a:endParaRPr kumimoji="0" lang="en-US" sz="3200" b="1" i="0" u="none" strike="noStrike" kern="1200" cap="none" spc="0" normalizeH="0" baseline="0" noProof="0" dirty="0">
                        <a:ln>
                          <a:noFill/>
                        </a:ln>
                        <a:solidFill>
                          <a:srgbClr val="000000"/>
                        </a:solidFill>
                        <a:effectLst/>
                        <a:uLnTx/>
                        <a:uFillTx/>
                        <a:latin typeface="Arial"/>
                        <a:ea typeface="+mn-ea"/>
                        <a:cs typeface="+mn-cs"/>
                      </a:endParaRPr>
                    </a:p>
                  </a:txBody>
                  <a:tcPr/>
                </a:tc>
                <a:extLst>
                  <a:ext uri="{0D108BD9-81ED-4DB2-BD59-A6C34878D82A}">
                    <a16:rowId xmlns:a16="http://schemas.microsoft.com/office/drawing/2014/main" val="537886805"/>
                  </a:ext>
                </a:extLst>
              </a:tr>
              <a:tr h="1094418">
                <a:tc>
                  <a:txBody>
                    <a:bodyPr/>
                    <a:lstStyle/>
                    <a:p>
                      <a:endParaRPr lang="en-US" dirty="0"/>
                    </a:p>
                  </a:txBody>
                  <a:tcPr/>
                </a:tc>
                <a:tc>
                  <a:txBody>
                    <a:bodyPr/>
                    <a:lstStyle/>
                    <a:p>
                      <a:endParaRPr lang="en-US" dirty="0"/>
                    </a:p>
                  </a:txBody>
                  <a:tcPr/>
                </a:tc>
                <a:tc>
                  <a:txBody>
                    <a:bodyPr/>
                    <a:lstStyle/>
                    <a:p>
                      <a:endParaRPr lang="en-US"/>
                    </a:p>
                  </a:txBody>
                  <a:tcPr/>
                </a:tc>
                <a:extLst>
                  <a:ext uri="{0D108BD9-81ED-4DB2-BD59-A6C34878D82A}">
                    <a16:rowId xmlns:a16="http://schemas.microsoft.com/office/drawing/2014/main" val="3820327720"/>
                  </a:ext>
                </a:extLst>
              </a:tr>
              <a:tr h="1094418">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4262035577"/>
                  </a:ext>
                </a:extLst>
              </a:tr>
              <a:tr h="1094418">
                <a:tc>
                  <a:txBody>
                    <a:bodyPr/>
                    <a:lstStyle/>
                    <a:p>
                      <a:endParaRPr lang="en-US" dirty="0"/>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82802358"/>
                  </a:ext>
                </a:extLst>
              </a:tr>
            </a:tbl>
          </a:graphicData>
        </a:graphic>
      </p:graphicFrame>
      <p:pic>
        <p:nvPicPr>
          <p:cNvPr id="3" name="Picture 2">
            <a:extLst>
              <a:ext uri="{FF2B5EF4-FFF2-40B4-BE49-F238E27FC236}">
                <a16:creationId xmlns:a16="http://schemas.microsoft.com/office/drawing/2014/main" id="{610DD86F-A436-900F-1456-38AC06361FBA}"/>
              </a:ext>
            </a:extLst>
          </p:cNvPr>
          <p:cNvPicPr>
            <a:picLocks noChangeAspect="1"/>
          </p:cNvPicPr>
          <p:nvPr/>
        </p:nvPicPr>
        <p:blipFill>
          <a:blip r:embed="rId2"/>
          <a:srcRect l="15006" t="27410" r="18185" b="20912"/>
          <a:stretch/>
        </p:blipFill>
        <p:spPr>
          <a:xfrm>
            <a:off x="1611884" y="2906701"/>
            <a:ext cx="1000201" cy="748209"/>
          </a:xfrm>
          <a:prstGeom prst="rect">
            <a:avLst/>
          </a:prstGeom>
        </p:spPr>
      </p:pic>
      <p:pic>
        <p:nvPicPr>
          <p:cNvPr id="4" name="Picture 3">
            <a:extLst>
              <a:ext uri="{FF2B5EF4-FFF2-40B4-BE49-F238E27FC236}">
                <a16:creationId xmlns:a16="http://schemas.microsoft.com/office/drawing/2014/main" id="{34DA8257-BC20-2792-22AA-329958D1516B}"/>
              </a:ext>
            </a:extLst>
          </p:cNvPr>
          <p:cNvPicPr>
            <a:picLocks noChangeAspect="1"/>
          </p:cNvPicPr>
          <p:nvPr/>
        </p:nvPicPr>
        <p:blipFill>
          <a:blip r:embed="rId3"/>
          <a:srcRect r="26760"/>
          <a:stretch/>
        </p:blipFill>
        <p:spPr>
          <a:xfrm>
            <a:off x="4297308" y="2906701"/>
            <a:ext cx="816839" cy="748209"/>
          </a:xfrm>
          <a:prstGeom prst="rect">
            <a:avLst/>
          </a:prstGeom>
        </p:spPr>
      </p:pic>
      <p:pic>
        <p:nvPicPr>
          <p:cNvPr id="7" name="Picture 6">
            <a:extLst>
              <a:ext uri="{FF2B5EF4-FFF2-40B4-BE49-F238E27FC236}">
                <a16:creationId xmlns:a16="http://schemas.microsoft.com/office/drawing/2014/main" id="{53D493F8-9E74-1CAA-DD43-7C1B87856526}"/>
              </a:ext>
            </a:extLst>
          </p:cNvPr>
          <p:cNvPicPr>
            <a:picLocks noChangeAspect="1"/>
          </p:cNvPicPr>
          <p:nvPr/>
        </p:nvPicPr>
        <p:blipFill>
          <a:blip r:embed="rId4" cstate="print">
            <a:extLst>
              <a:ext uri="{28A0092B-C50C-407E-A947-70E740481C1C}">
                <a14:useLocalDpi xmlns:a14="http://schemas.microsoft.com/office/drawing/2010/main" val="0"/>
              </a:ext>
            </a:extLst>
          </a:blip>
          <a:srcRect l="22433" r="21177"/>
          <a:stretch/>
        </p:blipFill>
        <p:spPr>
          <a:xfrm>
            <a:off x="6579579" y="2906701"/>
            <a:ext cx="816839" cy="814802"/>
          </a:xfrm>
          <a:prstGeom prst="rect">
            <a:avLst/>
          </a:prstGeom>
        </p:spPr>
      </p:pic>
      <p:pic>
        <p:nvPicPr>
          <p:cNvPr id="8" name="Picture 7">
            <a:extLst>
              <a:ext uri="{FF2B5EF4-FFF2-40B4-BE49-F238E27FC236}">
                <a16:creationId xmlns:a16="http://schemas.microsoft.com/office/drawing/2014/main" id="{5AD26AB5-16E5-841F-F700-C808E8C31128}"/>
              </a:ext>
            </a:extLst>
          </p:cNvPr>
          <p:cNvPicPr>
            <a:picLocks noChangeAspect="1"/>
          </p:cNvPicPr>
          <p:nvPr/>
        </p:nvPicPr>
        <p:blipFill>
          <a:blip r:embed="rId5" cstate="print">
            <a:extLst>
              <a:ext uri="{28A0092B-C50C-407E-A947-70E740481C1C}">
                <a14:useLocalDpi xmlns:a14="http://schemas.microsoft.com/office/drawing/2010/main" val="0"/>
              </a:ext>
            </a:extLst>
          </a:blip>
          <a:srcRect l="21459" r="13897"/>
          <a:stretch/>
        </p:blipFill>
        <p:spPr>
          <a:xfrm>
            <a:off x="7568912" y="2906700"/>
            <a:ext cx="894548" cy="778405"/>
          </a:xfrm>
          <a:prstGeom prst="rect">
            <a:avLst/>
          </a:prstGeom>
        </p:spPr>
      </p:pic>
      <p:sp>
        <p:nvSpPr>
          <p:cNvPr id="9" name="TextBox 8">
            <a:extLst>
              <a:ext uri="{FF2B5EF4-FFF2-40B4-BE49-F238E27FC236}">
                <a16:creationId xmlns:a16="http://schemas.microsoft.com/office/drawing/2014/main" id="{09829202-202E-B2E6-0907-28571D7AFE2C}"/>
              </a:ext>
            </a:extLst>
          </p:cNvPr>
          <p:cNvSpPr txBox="1"/>
          <p:nvPr/>
        </p:nvSpPr>
        <p:spPr>
          <a:xfrm>
            <a:off x="4527945" y="3951626"/>
            <a:ext cx="379207" cy="707886"/>
          </a:xfrm>
          <a:prstGeom prst="rect">
            <a:avLst/>
          </a:prstGeom>
          <a:noFill/>
        </p:spPr>
        <p:txBody>
          <a:bodyPr wrap="square">
            <a:spAutoFit/>
          </a:bodyPr>
          <a:lstStyle/>
          <a:p>
            <a:r>
              <a:rPr lang="zh-CN" altLang="en-US" sz="4000" b="1" cap="none" spc="0" dirty="0">
                <a:ln w="0"/>
                <a:solidFill>
                  <a:srgbClr val="00B050"/>
                </a:solidFill>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rPr>
              <a:t>√</a:t>
            </a:r>
            <a:endParaRPr lang="en-US" sz="4000" dirty="0"/>
          </a:p>
        </p:txBody>
      </p:sp>
      <p:sp>
        <p:nvSpPr>
          <p:cNvPr id="11" name="TextBox 10">
            <a:extLst>
              <a:ext uri="{FF2B5EF4-FFF2-40B4-BE49-F238E27FC236}">
                <a16:creationId xmlns:a16="http://schemas.microsoft.com/office/drawing/2014/main" id="{B0A871CC-EC84-CFD9-2894-AA2C241720BF}"/>
              </a:ext>
            </a:extLst>
          </p:cNvPr>
          <p:cNvSpPr txBox="1"/>
          <p:nvPr/>
        </p:nvSpPr>
        <p:spPr>
          <a:xfrm>
            <a:off x="1915661" y="3951626"/>
            <a:ext cx="637685" cy="707886"/>
          </a:xfrm>
          <a:prstGeom prst="rect">
            <a:avLst/>
          </a:prstGeom>
          <a:noFill/>
        </p:spPr>
        <p:txBody>
          <a:bodyPr wrap="square">
            <a:spAutoFit/>
          </a:bodyPr>
          <a:lstStyle/>
          <a:p>
            <a:r>
              <a:rPr lang="en-US" sz="4000" b="1" cap="none" spc="0" dirty="0">
                <a:ln w="0"/>
                <a:solidFill>
                  <a:srgbClr val="C00000"/>
                </a:solidFill>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rPr>
              <a:t>x</a:t>
            </a:r>
            <a:endParaRPr lang="en-US" sz="4000" dirty="0"/>
          </a:p>
        </p:txBody>
      </p:sp>
      <p:sp>
        <p:nvSpPr>
          <p:cNvPr id="12" name="TextBox 11">
            <a:extLst>
              <a:ext uri="{FF2B5EF4-FFF2-40B4-BE49-F238E27FC236}">
                <a16:creationId xmlns:a16="http://schemas.microsoft.com/office/drawing/2014/main" id="{FA8671F0-FABB-2D0F-FD60-3985ECF67E1A}"/>
              </a:ext>
            </a:extLst>
          </p:cNvPr>
          <p:cNvSpPr txBox="1"/>
          <p:nvPr/>
        </p:nvSpPr>
        <p:spPr>
          <a:xfrm>
            <a:off x="6718867" y="3954652"/>
            <a:ext cx="379207" cy="707886"/>
          </a:xfrm>
          <a:prstGeom prst="rect">
            <a:avLst/>
          </a:prstGeom>
          <a:noFill/>
        </p:spPr>
        <p:txBody>
          <a:bodyPr wrap="square">
            <a:spAutoFit/>
          </a:bodyPr>
          <a:lstStyle/>
          <a:p>
            <a:r>
              <a:rPr lang="zh-CN" altLang="en-US" sz="4000" b="1" cap="none" spc="0" dirty="0">
                <a:ln w="0"/>
                <a:solidFill>
                  <a:srgbClr val="00B050"/>
                </a:solidFill>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rPr>
              <a:t>√</a:t>
            </a:r>
            <a:endParaRPr lang="en-US" sz="4000" dirty="0"/>
          </a:p>
        </p:txBody>
      </p:sp>
      <p:sp>
        <p:nvSpPr>
          <p:cNvPr id="13" name="TextBox 12">
            <a:extLst>
              <a:ext uri="{FF2B5EF4-FFF2-40B4-BE49-F238E27FC236}">
                <a16:creationId xmlns:a16="http://schemas.microsoft.com/office/drawing/2014/main" id="{7D392253-AF8A-6061-ECF2-8E4A59E7863A}"/>
              </a:ext>
            </a:extLst>
          </p:cNvPr>
          <p:cNvSpPr txBox="1"/>
          <p:nvPr/>
        </p:nvSpPr>
        <p:spPr>
          <a:xfrm>
            <a:off x="7801455" y="3951626"/>
            <a:ext cx="637685" cy="707886"/>
          </a:xfrm>
          <a:prstGeom prst="rect">
            <a:avLst/>
          </a:prstGeom>
          <a:noFill/>
        </p:spPr>
        <p:txBody>
          <a:bodyPr wrap="square">
            <a:spAutoFit/>
          </a:bodyPr>
          <a:lstStyle/>
          <a:p>
            <a:r>
              <a:rPr lang="en-US" sz="4000" b="1" cap="none" spc="0" dirty="0">
                <a:ln w="0"/>
                <a:solidFill>
                  <a:srgbClr val="C00000"/>
                </a:solidFill>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rPr>
              <a:t>x</a:t>
            </a:r>
            <a:endParaRPr lang="en-US" sz="4000" dirty="0"/>
          </a:p>
        </p:txBody>
      </p:sp>
    </p:spTree>
    <p:extLst>
      <p:ext uri="{BB962C8B-B14F-4D97-AF65-F5344CB8AC3E}">
        <p14:creationId xmlns:p14="http://schemas.microsoft.com/office/powerpoint/2010/main" val="287594498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EFBD926-6D18-3EAA-65C9-B615046895EF}"/>
              </a:ext>
            </a:extLst>
          </p:cNvPr>
          <p:cNvPicPr>
            <a:picLocks noChangeAspect="1"/>
          </p:cNvPicPr>
          <p:nvPr/>
        </p:nvPicPr>
        <p:blipFill>
          <a:blip r:embed="rId2"/>
          <a:srcRect r="10875"/>
          <a:stretch/>
        </p:blipFill>
        <p:spPr>
          <a:xfrm>
            <a:off x="387274" y="1664315"/>
            <a:ext cx="7153837" cy="2172718"/>
          </a:xfrm>
          <a:prstGeom prst="rect">
            <a:avLst/>
          </a:prstGeom>
        </p:spPr>
      </p:pic>
      <p:sp>
        <p:nvSpPr>
          <p:cNvPr id="6" name="Textplatzhalter 1">
            <a:extLst>
              <a:ext uri="{FF2B5EF4-FFF2-40B4-BE49-F238E27FC236}">
                <a16:creationId xmlns:a16="http://schemas.microsoft.com/office/drawing/2014/main" id="{EEF74E75-7789-61C9-7DFC-D27B95ED9934}"/>
              </a:ext>
            </a:extLst>
          </p:cNvPr>
          <p:cNvSpPr>
            <a:spLocks noGrp="1"/>
          </p:cNvSpPr>
          <p:nvPr>
            <p:ph type="body" sz="quarter" idx="10"/>
          </p:nvPr>
        </p:nvSpPr>
        <p:spPr>
          <a:xfrm>
            <a:off x="387274" y="1138974"/>
            <a:ext cx="5559352" cy="1292662"/>
          </a:xfrm>
        </p:spPr>
        <p:txBody>
          <a:bodyPr/>
          <a:lstStyle/>
          <a:p>
            <a:r>
              <a:rPr lang="en-US" altLang="zh-CN" dirty="0"/>
              <a:t>Study 1: Published paper</a:t>
            </a:r>
          </a:p>
          <a:p>
            <a:endParaRPr lang="de-DE" dirty="0"/>
          </a:p>
        </p:txBody>
      </p:sp>
      <p:sp>
        <p:nvSpPr>
          <p:cNvPr id="7" name="Textplatzhalter 1">
            <a:extLst>
              <a:ext uri="{FF2B5EF4-FFF2-40B4-BE49-F238E27FC236}">
                <a16:creationId xmlns:a16="http://schemas.microsoft.com/office/drawing/2014/main" id="{C7A0D0CF-43DC-2FD9-92F0-FF4DD7737D2E}"/>
              </a:ext>
            </a:extLst>
          </p:cNvPr>
          <p:cNvSpPr txBox="1">
            <a:spLocks/>
          </p:cNvSpPr>
          <p:nvPr/>
        </p:nvSpPr>
        <p:spPr>
          <a:xfrm>
            <a:off x="387274" y="3931487"/>
            <a:ext cx="6164133" cy="861774"/>
          </a:xfrm>
          <a:prstGeom prst="rect">
            <a:avLst/>
          </a:prstGeom>
        </p:spPr>
        <p:txBody>
          <a:bodyPr wrap="square" lIns="0" tIns="0" rIns="0" bIns="0">
            <a:spAutoFit/>
          </a:bodyPr>
          <a:lstStyle>
            <a:lvl1pPr marL="0" indent="0" algn="l" rtl="0" eaLnBrk="0" fontAlgn="base" hangingPunct="0">
              <a:lnSpc>
                <a:spcPct val="100000"/>
              </a:lnSpc>
              <a:spcBef>
                <a:spcPct val="0"/>
              </a:spcBef>
              <a:spcAft>
                <a:spcPct val="0"/>
              </a:spcAft>
              <a:buNone/>
              <a:defRPr sz="2800" b="0" baseline="0">
                <a:solidFill>
                  <a:srgbClr val="000000"/>
                </a:solidFill>
                <a:latin typeface="+mj-lt"/>
                <a:ea typeface="+mn-ea"/>
                <a:cs typeface="+mn-cs"/>
              </a:defRPr>
            </a:lvl1pPr>
            <a:lvl2pPr marL="360363" indent="0" algn="l" rtl="0" eaLnBrk="0" fontAlgn="base" hangingPunct="0">
              <a:lnSpc>
                <a:spcPct val="110000"/>
              </a:lnSpc>
              <a:spcBef>
                <a:spcPct val="0"/>
              </a:spcBef>
              <a:spcAft>
                <a:spcPct val="0"/>
              </a:spcAft>
              <a:buSzPct val="80000"/>
              <a:buNone/>
              <a:defRPr sz="2800">
                <a:solidFill>
                  <a:schemeClr val="tx1"/>
                </a:solidFill>
                <a:latin typeface="+mj-lt"/>
              </a:defRPr>
            </a:lvl2pPr>
            <a:lvl3pPr marL="720725" indent="0" algn="l" rtl="0" eaLnBrk="0" fontAlgn="base" hangingPunct="0">
              <a:lnSpc>
                <a:spcPct val="110000"/>
              </a:lnSpc>
              <a:spcBef>
                <a:spcPct val="0"/>
              </a:spcBef>
              <a:spcAft>
                <a:spcPct val="0"/>
              </a:spcAft>
              <a:buFont typeface="Wingdings" panose="05000000000000000000" pitchFamily="2" charset="2"/>
              <a:buNone/>
              <a:defRPr sz="2800">
                <a:solidFill>
                  <a:schemeClr val="tx1"/>
                </a:solidFill>
                <a:latin typeface="+mj-lt"/>
              </a:defRPr>
            </a:lvl3pPr>
            <a:lvl4pPr marL="1074737" indent="0" algn="l" rtl="0" eaLnBrk="0" fontAlgn="base" hangingPunct="0">
              <a:lnSpc>
                <a:spcPct val="110000"/>
              </a:lnSpc>
              <a:spcBef>
                <a:spcPct val="0"/>
              </a:spcBef>
              <a:spcAft>
                <a:spcPct val="0"/>
              </a:spcAft>
              <a:buNone/>
              <a:defRPr sz="2800">
                <a:solidFill>
                  <a:schemeClr val="tx1"/>
                </a:solidFill>
                <a:latin typeface="+mj-lt"/>
              </a:defRPr>
            </a:lvl4pPr>
            <a:lvl5pPr marL="1439862" indent="0" algn="l" rtl="0" eaLnBrk="0" fontAlgn="base" hangingPunct="0">
              <a:lnSpc>
                <a:spcPct val="110000"/>
              </a:lnSpc>
              <a:spcBef>
                <a:spcPct val="0"/>
              </a:spcBef>
              <a:spcAft>
                <a:spcPct val="0"/>
              </a:spcAft>
              <a:buNone/>
              <a:defRPr sz="2800">
                <a:solidFill>
                  <a:schemeClr val="tx1"/>
                </a:solidFill>
                <a:latin typeface="+mj-lt"/>
              </a:defRPr>
            </a:lvl5pPr>
            <a:lvl6pPr marL="2079625" indent="-182563" algn="l" rtl="0" eaLnBrk="1" fontAlgn="base" hangingPunct="1">
              <a:lnSpc>
                <a:spcPct val="110000"/>
              </a:lnSpc>
              <a:spcBef>
                <a:spcPct val="0"/>
              </a:spcBef>
              <a:spcAft>
                <a:spcPct val="0"/>
              </a:spcAft>
              <a:buChar char="-"/>
              <a:defRPr sz="1200">
                <a:solidFill>
                  <a:schemeClr val="tx1"/>
                </a:solidFill>
                <a:latin typeface="+mn-lt"/>
              </a:defRPr>
            </a:lvl6pPr>
            <a:lvl7pPr marL="2536825" indent="-182563" algn="l" rtl="0" eaLnBrk="1" fontAlgn="base" hangingPunct="1">
              <a:lnSpc>
                <a:spcPct val="110000"/>
              </a:lnSpc>
              <a:spcBef>
                <a:spcPct val="0"/>
              </a:spcBef>
              <a:spcAft>
                <a:spcPct val="0"/>
              </a:spcAft>
              <a:buChar char="-"/>
              <a:defRPr sz="1200">
                <a:solidFill>
                  <a:schemeClr val="tx1"/>
                </a:solidFill>
                <a:latin typeface="+mn-lt"/>
              </a:defRPr>
            </a:lvl7pPr>
            <a:lvl8pPr marL="2994025" indent="-182563" algn="l" rtl="0" eaLnBrk="1" fontAlgn="base" hangingPunct="1">
              <a:lnSpc>
                <a:spcPct val="110000"/>
              </a:lnSpc>
              <a:spcBef>
                <a:spcPct val="0"/>
              </a:spcBef>
              <a:spcAft>
                <a:spcPct val="0"/>
              </a:spcAft>
              <a:buChar char="-"/>
              <a:defRPr sz="1200">
                <a:solidFill>
                  <a:schemeClr val="tx1"/>
                </a:solidFill>
                <a:latin typeface="+mn-lt"/>
              </a:defRPr>
            </a:lvl8pPr>
            <a:lvl9pPr marL="3451225" indent="-182563" algn="l" rtl="0" eaLnBrk="1" fontAlgn="base" hangingPunct="1">
              <a:lnSpc>
                <a:spcPct val="110000"/>
              </a:lnSpc>
              <a:spcBef>
                <a:spcPct val="0"/>
              </a:spcBef>
              <a:spcAft>
                <a:spcPct val="0"/>
              </a:spcAft>
              <a:buChar char="-"/>
              <a:defRPr sz="1200">
                <a:solidFill>
                  <a:schemeClr val="tx1"/>
                </a:solidFill>
                <a:latin typeface="+mn-lt"/>
              </a:defRPr>
            </a:lvl9pPr>
          </a:lstStyle>
          <a:p>
            <a:r>
              <a:rPr lang="en-US" altLang="zh-CN" kern="0" dirty="0"/>
              <a:t>Study 2: Preprint, under review</a:t>
            </a:r>
          </a:p>
          <a:p>
            <a:endParaRPr lang="de-DE" kern="0" dirty="0"/>
          </a:p>
        </p:txBody>
      </p:sp>
      <p:pic>
        <p:nvPicPr>
          <p:cNvPr id="9" name="Picture 8">
            <a:extLst>
              <a:ext uri="{FF2B5EF4-FFF2-40B4-BE49-F238E27FC236}">
                <a16:creationId xmlns:a16="http://schemas.microsoft.com/office/drawing/2014/main" id="{412F4F22-BB98-B36B-8943-327BD778ABFF}"/>
              </a:ext>
            </a:extLst>
          </p:cNvPr>
          <p:cNvPicPr>
            <a:picLocks noChangeAspect="1"/>
          </p:cNvPicPr>
          <p:nvPr/>
        </p:nvPicPr>
        <p:blipFill>
          <a:blip r:embed="rId3"/>
          <a:srcRect l="17758" t="52615" r="24880" b="8144"/>
          <a:stretch/>
        </p:blipFill>
        <p:spPr>
          <a:xfrm>
            <a:off x="228598" y="4336277"/>
            <a:ext cx="5559351" cy="1879228"/>
          </a:xfrm>
          <a:prstGeom prst="rect">
            <a:avLst/>
          </a:prstGeom>
        </p:spPr>
      </p:pic>
      <p:pic>
        <p:nvPicPr>
          <p:cNvPr id="11" name="Picture 10">
            <a:extLst>
              <a:ext uri="{FF2B5EF4-FFF2-40B4-BE49-F238E27FC236}">
                <a16:creationId xmlns:a16="http://schemas.microsoft.com/office/drawing/2014/main" id="{1C4A0670-6E6A-1D74-24C4-49AC8A441611}"/>
              </a:ext>
            </a:extLst>
          </p:cNvPr>
          <p:cNvPicPr>
            <a:picLocks noChangeAspect="1"/>
          </p:cNvPicPr>
          <p:nvPr/>
        </p:nvPicPr>
        <p:blipFill>
          <a:blip r:embed="rId4"/>
          <a:stretch>
            <a:fillRect/>
          </a:stretch>
        </p:blipFill>
        <p:spPr>
          <a:xfrm>
            <a:off x="5946626" y="4267920"/>
            <a:ext cx="1737024" cy="1737024"/>
          </a:xfrm>
          <a:prstGeom prst="rect">
            <a:avLst/>
          </a:prstGeom>
        </p:spPr>
      </p:pic>
    </p:spTree>
    <p:extLst>
      <p:ext uri="{BB962C8B-B14F-4D97-AF65-F5344CB8AC3E}">
        <p14:creationId xmlns:p14="http://schemas.microsoft.com/office/powerpoint/2010/main" val="12836408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4A5818-8524-8754-AC39-7DD4FA23963C}"/>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2A270DEF-3CDC-2860-906A-CFFDB0FE9305}"/>
              </a:ext>
            </a:extLst>
          </p:cNvPr>
          <p:cNvSpPr>
            <a:spLocks noGrp="1"/>
          </p:cNvSpPr>
          <p:nvPr>
            <p:ph type="body" sz="quarter" idx="11"/>
          </p:nvPr>
        </p:nvSpPr>
        <p:spPr/>
        <p:txBody>
          <a:bodyPr/>
          <a:lstStyle/>
          <a:p>
            <a:endParaRPr lang="en-US"/>
          </a:p>
        </p:txBody>
      </p:sp>
      <p:sp>
        <p:nvSpPr>
          <p:cNvPr id="4" name="Rectangle 3">
            <a:extLst>
              <a:ext uri="{FF2B5EF4-FFF2-40B4-BE49-F238E27FC236}">
                <a16:creationId xmlns:a16="http://schemas.microsoft.com/office/drawing/2014/main" id="{C1141C5A-EC6C-71E1-B6BE-D5306C0731B3}"/>
              </a:ext>
            </a:extLst>
          </p:cNvPr>
          <p:cNvSpPr/>
          <p:nvPr/>
        </p:nvSpPr>
        <p:spPr>
          <a:xfrm>
            <a:off x="871356" y="1264319"/>
            <a:ext cx="7401288" cy="769441"/>
          </a:xfrm>
          <a:prstGeom prst="rect">
            <a:avLst/>
          </a:prstGeom>
          <a:noFill/>
        </p:spPr>
        <p:txBody>
          <a:bodyPr wrap="square" lIns="91440" tIns="45720" rIns="91440" bIns="45720">
            <a:spAutoFit/>
          </a:bodyPr>
          <a:lstStyle/>
          <a:p>
            <a:pPr algn="ctr"/>
            <a:r>
              <a:rPr lang="en-US" sz="4400" dirty="0">
                <a:ln w="0"/>
                <a:effectLst>
                  <a:outerShdw blurRad="38100" dist="19050" dir="2700000" algn="tl" rotWithShape="0">
                    <a:schemeClr val="dk1">
                      <a:alpha val="40000"/>
                    </a:schemeClr>
                  </a:outerShdw>
                </a:effectLst>
              </a:rPr>
              <a:t>Thank you for your attention.</a:t>
            </a:r>
            <a:endParaRPr lang="en-US" sz="4400" b="0" cap="none" spc="0" dirty="0">
              <a:ln w="0"/>
              <a:solidFill>
                <a:schemeClr val="tx1"/>
              </a:solidFill>
              <a:effectLst>
                <a:outerShdw blurRad="38100" dist="19050" dir="2700000" algn="tl" rotWithShape="0">
                  <a:schemeClr val="dk1">
                    <a:alpha val="40000"/>
                  </a:schemeClr>
                </a:outerShdw>
              </a:effectLst>
            </a:endParaRPr>
          </a:p>
        </p:txBody>
      </p:sp>
      <p:sp>
        <p:nvSpPr>
          <p:cNvPr id="2" name="Textplatzhalter 1">
            <a:extLst>
              <a:ext uri="{FF2B5EF4-FFF2-40B4-BE49-F238E27FC236}">
                <a16:creationId xmlns:a16="http://schemas.microsoft.com/office/drawing/2014/main" id="{183B49EA-0E61-DE22-C665-9BF6EE5E1132}"/>
              </a:ext>
            </a:extLst>
          </p:cNvPr>
          <p:cNvSpPr>
            <a:spLocks noGrp="1"/>
          </p:cNvSpPr>
          <p:nvPr>
            <p:ph type="body" sz="quarter" idx="10"/>
          </p:nvPr>
        </p:nvSpPr>
        <p:spPr>
          <a:xfrm>
            <a:off x="695367" y="2226077"/>
            <a:ext cx="3663359" cy="861774"/>
          </a:xfrm>
        </p:spPr>
        <p:txBody>
          <a:bodyPr/>
          <a:lstStyle/>
          <a:p>
            <a:r>
              <a:rPr lang="en-US" altLang="zh-CN" dirty="0"/>
              <a:t>Prof. Dr. Markus Huff</a:t>
            </a:r>
            <a:br>
              <a:rPr lang="en-US" altLang="zh-CN" dirty="0"/>
            </a:br>
            <a:endParaRPr lang="de-DE" dirty="0"/>
          </a:p>
        </p:txBody>
      </p:sp>
      <p:sp>
        <p:nvSpPr>
          <p:cNvPr id="5" name="Textplatzhalter 1">
            <a:extLst>
              <a:ext uri="{FF2B5EF4-FFF2-40B4-BE49-F238E27FC236}">
                <a16:creationId xmlns:a16="http://schemas.microsoft.com/office/drawing/2014/main" id="{00EED875-4CD6-DAC0-AA8E-41627A05A0A2}"/>
              </a:ext>
            </a:extLst>
          </p:cNvPr>
          <p:cNvSpPr txBox="1">
            <a:spLocks/>
          </p:cNvSpPr>
          <p:nvPr/>
        </p:nvSpPr>
        <p:spPr>
          <a:xfrm>
            <a:off x="4785276" y="2226077"/>
            <a:ext cx="3812161" cy="861774"/>
          </a:xfrm>
          <a:prstGeom prst="rect">
            <a:avLst/>
          </a:prstGeom>
        </p:spPr>
        <p:txBody>
          <a:bodyPr wrap="square" lIns="0" tIns="0" rIns="0" bIns="0">
            <a:spAutoFit/>
          </a:bodyPr>
          <a:lstStyle>
            <a:lvl1pPr marL="0" indent="0" algn="l" rtl="0" eaLnBrk="0" fontAlgn="base" hangingPunct="0">
              <a:lnSpc>
                <a:spcPct val="100000"/>
              </a:lnSpc>
              <a:spcBef>
                <a:spcPct val="0"/>
              </a:spcBef>
              <a:spcAft>
                <a:spcPct val="0"/>
              </a:spcAft>
              <a:buNone/>
              <a:defRPr sz="2800" b="0" baseline="0">
                <a:solidFill>
                  <a:srgbClr val="000000"/>
                </a:solidFill>
                <a:latin typeface="+mj-lt"/>
                <a:ea typeface="+mn-ea"/>
                <a:cs typeface="+mn-cs"/>
              </a:defRPr>
            </a:lvl1pPr>
            <a:lvl2pPr marL="360363" indent="0" algn="l" rtl="0" eaLnBrk="0" fontAlgn="base" hangingPunct="0">
              <a:lnSpc>
                <a:spcPct val="110000"/>
              </a:lnSpc>
              <a:spcBef>
                <a:spcPct val="0"/>
              </a:spcBef>
              <a:spcAft>
                <a:spcPct val="0"/>
              </a:spcAft>
              <a:buSzPct val="80000"/>
              <a:buNone/>
              <a:defRPr sz="2800">
                <a:solidFill>
                  <a:schemeClr val="tx1"/>
                </a:solidFill>
                <a:latin typeface="+mj-lt"/>
              </a:defRPr>
            </a:lvl2pPr>
            <a:lvl3pPr marL="720725" indent="0" algn="l" rtl="0" eaLnBrk="0" fontAlgn="base" hangingPunct="0">
              <a:lnSpc>
                <a:spcPct val="110000"/>
              </a:lnSpc>
              <a:spcBef>
                <a:spcPct val="0"/>
              </a:spcBef>
              <a:spcAft>
                <a:spcPct val="0"/>
              </a:spcAft>
              <a:buFont typeface="Wingdings" panose="05000000000000000000" pitchFamily="2" charset="2"/>
              <a:buNone/>
              <a:defRPr sz="2800">
                <a:solidFill>
                  <a:schemeClr val="tx1"/>
                </a:solidFill>
                <a:latin typeface="+mj-lt"/>
              </a:defRPr>
            </a:lvl3pPr>
            <a:lvl4pPr marL="1074737" indent="0" algn="l" rtl="0" eaLnBrk="0" fontAlgn="base" hangingPunct="0">
              <a:lnSpc>
                <a:spcPct val="110000"/>
              </a:lnSpc>
              <a:spcBef>
                <a:spcPct val="0"/>
              </a:spcBef>
              <a:spcAft>
                <a:spcPct val="0"/>
              </a:spcAft>
              <a:buNone/>
              <a:defRPr sz="2800">
                <a:solidFill>
                  <a:schemeClr val="tx1"/>
                </a:solidFill>
                <a:latin typeface="+mj-lt"/>
              </a:defRPr>
            </a:lvl4pPr>
            <a:lvl5pPr marL="1439862" indent="0" algn="l" rtl="0" eaLnBrk="0" fontAlgn="base" hangingPunct="0">
              <a:lnSpc>
                <a:spcPct val="110000"/>
              </a:lnSpc>
              <a:spcBef>
                <a:spcPct val="0"/>
              </a:spcBef>
              <a:spcAft>
                <a:spcPct val="0"/>
              </a:spcAft>
              <a:buNone/>
              <a:defRPr sz="2800">
                <a:solidFill>
                  <a:schemeClr val="tx1"/>
                </a:solidFill>
                <a:latin typeface="+mj-lt"/>
              </a:defRPr>
            </a:lvl5pPr>
            <a:lvl6pPr marL="2079625" indent="-182563" algn="l" rtl="0" eaLnBrk="1" fontAlgn="base" hangingPunct="1">
              <a:lnSpc>
                <a:spcPct val="110000"/>
              </a:lnSpc>
              <a:spcBef>
                <a:spcPct val="0"/>
              </a:spcBef>
              <a:spcAft>
                <a:spcPct val="0"/>
              </a:spcAft>
              <a:buChar char="-"/>
              <a:defRPr sz="1200">
                <a:solidFill>
                  <a:schemeClr val="tx1"/>
                </a:solidFill>
                <a:latin typeface="+mn-lt"/>
              </a:defRPr>
            </a:lvl6pPr>
            <a:lvl7pPr marL="2536825" indent="-182563" algn="l" rtl="0" eaLnBrk="1" fontAlgn="base" hangingPunct="1">
              <a:lnSpc>
                <a:spcPct val="110000"/>
              </a:lnSpc>
              <a:spcBef>
                <a:spcPct val="0"/>
              </a:spcBef>
              <a:spcAft>
                <a:spcPct val="0"/>
              </a:spcAft>
              <a:buChar char="-"/>
              <a:defRPr sz="1200">
                <a:solidFill>
                  <a:schemeClr val="tx1"/>
                </a:solidFill>
                <a:latin typeface="+mn-lt"/>
              </a:defRPr>
            </a:lvl7pPr>
            <a:lvl8pPr marL="2994025" indent="-182563" algn="l" rtl="0" eaLnBrk="1" fontAlgn="base" hangingPunct="1">
              <a:lnSpc>
                <a:spcPct val="110000"/>
              </a:lnSpc>
              <a:spcBef>
                <a:spcPct val="0"/>
              </a:spcBef>
              <a:spcAft>
                <a:spcPct val="0"/>
              </a:spcAft>
              <a:buChar char="-"/>
              <a:defRPr sz="1200">
                <a:solidFill>
                  <a:schemeClr val="tx1"/>
                </a:solidFill>
                <a:latin typeface="+mn-lt"/>
              </a:defRPr>
            </a:lvl8pPr>
            <a:lvl9pPr marL="3451225" indent="-182563" algn="l" rtl="0" eaLnBrk="1" fontAlgn="base" hangingPunct="1">
              <a:lnSpc>
                <a:spcPct val="110000"/>
              </a:lnSpc>
              <a:spcBef>
                <a:spcPct val="0"/>
              </a:spcBef>
              <a:spcAft>
                <a:spcPct val="0"/>
              </a:spcAft>
              <a:buChar char="-"/>
              <a:defRPr sz="1200">
                <a:solidFill>
                  <a:schemeClr val="tx1"/>
                </a:solidFill>
                <a:latin typeface="+mn-lt"/>
              </a:defRPr>
            </a:lvl9pPr>
          </a:lstStyle>
          <a:p>
            <a:r>
              <a:rPr lang="en-US" altLang="zh-CN" kern="0" dirty="0"/>
              <a:t>Dr. Frank </a:t>
            </a:r>
            <a:r>
              <a:rPr lang="en-US" altLang="zh-CN" kern="0" dirty="0" err="1"/>
              <a:t>Papenmeier</a:t>
            </a:r>
            <a:br>
              <a:rPr lang="en-US" altLang="zh-CN" kern="0" dirty="0"/>
            </a:br>
            <a:endParaRPr lang="de-DE" kern="0" dirty="0"/>
          </a:p>
        </p:txBody>
      </p:sp>
      <p:pic>
        <p:nvPicPr>
          <p:cNvPr id="7" name="Picture 6">
            <a:extLst>
              <a:ext uri="{FF2B5EF4-FFF2-40B4-BE49-F238E27FC236}">
                <a16:creationId xmlns:a16="http://schemas.microsoft.com/office/drawing/2014/main" id="{36812E2E-FCFC-6DB2-2F79-CA8F5FA6C930}"/>
              </a:ext>
            </a:extLst>
          </p:cNvPr>
          <p:cNvPicPr>
            <a:picLocks noChangeAspect="1"/>
          </p:cNvPicPr>
          <p:nvPr/>
        </p:nvPicPr>
        <p:blipFill>
          <a:blip r:embed="rId2"/>
          <a:stretch>
            <a:fillRect/>
          </a:stretch>
        </p:blipFill>
        <p:spPr>
          <a:xfrm>
            <a:off x="1278158" y="2909935"/>
            <a:ext cx="2040079" cy="2348292"/>
          </a:xfrm>
          <a:prstGeom prst="rect">
            <a:avLst/>
          </a:prstGeom>
        </p:spPr>
      </p:pic>
      <p:pic>
        <p:nvPicPr>
          <p:cNvPr id="9" name="Picture 8">
            <a:extLst>
              <a:ext uri="{FF2B5EF4-FFF2-40B4-BE49-F238E27FC236}">
                <a16:creationId xmlns:a16="http://schemas.microsoft.com/office/drawing/2014/main" id="{8A115C81-D169-3DC0-C8EA-9543807C0B64}"/>
              </a:ext>
            </a:extLst>
          </p:cNvPr>
          <p:cNvPicPr>
            <a:picLocks noChangeAspect="1"/>
          </p:cNvPicPr>
          <p:nvPr/>
        </p:nvPicPr>
        <p:blipFill>
          <a:blip r:embed="rId3"/>
          <a:stretch>
            <a:fillRect/>
          </a:stretch>
        </p:blipFill>
        <p:spPr>
          <a:xfrm>
            <a:off x="5399216" y="2895534"/>
            <a:ext cx="2348292" cy="2348292"/>
          </a:xfrm>
          <a:prstGeom prst="rect">
            <a:avLst/>
          </a:prstGeom>
        </p:spPr>
      </p:pic>
    </p:spTree>
    <p:extLst>
      <p:ext uri="{BB962C8B-B14F-4D97-AF65-F5344CB8AC3E}">
        <p14:creationId xmlns:p14="http://schemas.microsoft.com/office/powerpoint/2010/main" val="78065398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64595-4C53-7174-E7BD-C3DAA09C2E00}"/>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51D689B0-7F94-D289-ACBC-F9474143D6DC}"/>
              </a:ext>
            </a:extLst>
          </p:cNvPr>
          <p:cNvSpPr>
            <a:spLocks noGrp="1"/>
          </p:cNvSpPr>
          <p:nvPr>
            <p:ph type="body" sz="quarter" idx="10"/>
          </p:nvPr>
        </p:nvSpPr>
        <p:spPr>
          <a:xfrm>
            <a:off x="319014" y="940635"/>
            <a:ext cx="8428037" cy="430887"/>
          </a:xfrm>
        </p:spPr>
        <p:txBody>
          <a:bodyPr/>
          <a:lstStyle/>
          <a:p>
            <a:r>
              <a:rPr lang="en-US" dirty="0"/>
              <a:t>Reference:</a:t>
            </a:r>
          </a:p>
        </p:txBody>
      </p:sp>
      <p:sp>
        <p:nvSpPr>
          <p:cNvPr id="4" name="TextBox 3">
            <a:extLst>
              <a:ext uri="{FF2B5EF4-FFF2-40B4-BE49-F238E27FC236}">
                <a16:creationId xmlns:a16="http://schemas.microsoft.com/office/drawing/2014/main" id="{E50C7E58-DDF6-EBC9-D064-0B484DFAB824}"/>
              </a:ext>
            </a:extLst>
          </p:cNvPr>
          <p:cNvSpPr txBox="1"/>
          <p:nvPr/>
        </p:nvSpPr>
        <p:spPr>
          <a:xfrm>
            <a:off x="235677" y="1323816"/>
            <a:ext cx="8908323" cy="5632311"/>
          </a:xfrm>
          <a:prstGeom prst="rect">
            <a:avLst/>
          </a:prstGeom>
          <a:noFill/>
        </p:spPr>
        <p:txBody>
          <a:bodyPr wrap="square" rtlCol="0">
            <a:spAutoFit/>
          </a:bodyPr>
          <a:lstStyle/>
          <a:p>
            <a:pPr marL="457200" marR="0" indent="-457200">
              <a:spcBef>
                <a:spcPts val="0"/>
              </a:spcBef>
              <a:spcAft>
                <a:spcPts val="0"/>
              </a:spcAft>
            </a:pPr>
            <a:r>
              <a:rPr lang="en-US" sz="1200" dirty="0">
                <a:solidFill>
                  <a:srgbClr val="222222"/>
                </a:solidFill>
                <a:effectLst/>
                <a:latin typeface="Times New Roman" panose="02020603050405020304" pitchFamily="18" charset="0"/>
                <a:ea typeface="SimSun" panose="02010600030101010101" pitchFamily="2" charset="-122"/>
              </a:rPr>
              <a:t>Clark, H. H. (1965). Some structural properties of simple active and passive sentences. </a:t>
            </a:r>
            <a:r>
              <a:rPr lang="en-US" sz="1200" i="1" dirty="0">
                <a:solidFill>
                  <a:srgbClr val="222222"/>
                </a:solidFill>
                <a:effectLst/>
                <a:latin typeface="Times New Roman" panose="02020603050405020304" pitchFamily="18" charset="0"/>
                <a:ea typeface="SimSun" panose="02010600030101010101" pitchFamily="2" charset="-122"/>
              </a:rPr>
              <a:t>Journal of Verbal Learning and Verbal Behavior</a:t>
            </a:r>
            <a:r>
              <a:rPr lang="en-US" sz="1200" dirty="0">
                <a:solidFill>
                  <a:srgbClr val="222222"/>
                </a:solidFill>
                <a:effectLst/>
                <a:latin typeface="Times New Roman" panose="02020603050405020304" pitchFamily="18" charset="0"/>
                <a:ea typeface="SimSun" panose="02010600030101010101" pitchFamily="2" charset="-122"/>
              </a:rPr>
              <a:t>, </a:t>
            </a:r>
            <a:r>
              <a:rPr lang="en-US" sz="1200" i="1" dirty="0">
                <a:solidFill>
                  <a:srgbClr val="222222"/>
                </a:solidFill>
                <a:effectLst/>
                <a:latin typeface="Times New Roman" panose="02020603050405020304" pitchFamily="18" charset="0"/>
                <a:ea typeface="SimSun" panose="02010600030101010101" pitchFamily="2" charset="-122"/>
              </a:rPr>
              <a:t>4</a:t>
            </a:r>
            <a:r>
              <a:rPr lang="en-US" sz="1200" dirty="0">
                <a:solidFill>
                  <a:srgbClr val="222222"/>
                </a:solidFill>
                <a:effectLst/>
                <a:latin typeface="Times New Roman" panose="02020603050405020304" pitchFamily="18" charset="0"/>
                <a:ea typeface="SimSun" panose="02010600030101010101" pitchFamily="2" charset="-122"/>
              </a:rPr>
              <a:t>(5), 365-370.</a:t>
            </a:r>
            <a:r>
              <a:rPr lang="en-US" sz="1200" dirty="0">
                <a:effectLst/>
                <a:latin typeface="Times New Roman" panose="02020603050405020304" pitchFamily="18" charset="0"/>
                <a:ea typeface="SimSun" panose="02010600030101010101" pitchFamily="2" charset="-122"/>
              </a:rPr>
              <a:t> </a:t>
            </a:r>
            <a:r>
              <a:rPr lang="en-US" sz="1200" dirty="0">
                <a:solidFill>
                  <a:srgbClr val="222222"/>
                </a:solidFill>
                <a:effectLst/>
                <a:latin typeface="Times New Roman" panose="02020603050405020304" pitchFamily="18" charset="0"/>
                <a:ea typeface="SimSun" panose="02010600030101010101" pitchFamily="2" charset="-122"/>
              </a:rPr>
              <a:t>https://doi.org/10.1016/S0022-5371(65)80073-1</a:t>
            </a:r>
            <a:endParaRPr lang="en-US" sz="1200" dirty="0">
              <a:effectLst/>
              <a:latin typeface="Times New Roman" panose="02020603050405020304" pitchFamily="18" charset="0"/>
              <a:ea typeface="SimSun" panose="02010600030101010101" pitchFamily="2" charset="-122"/>
            </a:endParaRPr>
          </a:p>
          <a:p>
            <a:pPr marL="457200" marR="0" indent="-457200">
              <a:spcBef>
                <a:spcPts val="0"/>
              </a:spcBef>
              <a:spcAft>
                <a:spcPts val="0"/>
              </a:spcAft>
            </a:pPr>
            <a:r>
              <a:rPr lang="en-US" sz="1200" dirty="0">
                <a:effectLst/>
                <a:latin typeface="Times New Roman" panose="02020603050405020304" pitchFamily="18" charset="0"/>
                <a:ea typeface="Times New Roman" panose="02020603050405020304" pitchFamily="18" charset="0"/>
              </a:rPr>
              <a:t>Cohn, N., &amp; Maher, S. (2015). The notion of the motion: The neurocognition of motion lines in visual narratives. </a:t>
            </a:r>
            <a:r>
              <a:rPr lang="en-US" sz="1200" i="1" dirty="0">
                <a:effectLst/>
                <a:latin typeface="Times New Roman" panose="02020603050405020304" pitchFamily="18" charset="0"/>
                <a:ea typeface="Times New Roman" panose="02020603050405020304" pitchFamily="18" charset="0"/>
              </a:rPr>
              <a:t>Brain Research</a:t>
            </a:r>
            <a:r>
              <a:rPr lang="en-US" sz="1200" dirty="0">
                <a:effectLst/>
                <a:latin typeface="Times New Roman" panose="02020603050405020304" pitchFamily="18" charset="0"/>
                <a:ea typeface="Times New Roman" panose="02020603050405020304" pitchFamily="18" charset="0"/>
              </a:rPr>
              <a:t>, 1601, 73-84.</a:t>
            </a:r>
            <a:endParaRPr lang="en-US" sz="1200" dirty="0">
              <a:effectLst/>
              <a:latin typeface="Times New Roman" panose="02020603050405020304" pitchFamily="18" charset="0"/>
              <a:ea typeface="SimSun" panose="02010600030101010101" pitchFamily="2" charset="-122"/>
            </a:endParaRPr>
          </a:p>
          <a:p>
            <a:pPr marL="457200" marR="0" indent="-457200">
              <a:spcBef>
                <a:spcPts val="0"/>
              </a:spcBef>
              <a:spcAft>
                <a:spcPts val="0"/>
              </a:spcAft>
            </a:pPr>
            <a:r>
              <a:rPr lang="en-US" sz="1200" dirty="0">
                <a:solidFill>
                  <a:srgbClr val="222222"/>
                </a:solidFill>
                <a:effectLst/>
                <a:latin typeface="Times New Roman" panose="02020603050405020304" pitchFamily="18" charset="0"/>
                <a:ea typeface="SimSun" panose="02010600030101010101" pitchFamily="2" charset="-122"/>
              </a:rPr>
              <a:t>Cohn, N., &amp; </a:t>
            </a:r>
            <a:r>
              <a:rPr lang="en-US" sz="1200" dirty="0" err="1">
                <a:solidFill>
                  <a:srgbClr val="222222"/>
                </a:solidFill>
                <a:effectLst/>
                <a:latin typeface="Times New Roman" panose="02020603050405020304" pitchFamily="18" charset="0"/>
                <a:ea typeface="SimSun" panose="02010600030101010101" pitchFamily="2" charset="-122"/>
              </a:rPr>
              <a:t>Paczynski</a:t>
            </a:r>
            <a:r>
              <a:rPr lang="en-US" sz="1200" dirty="0">
                <a:solidFill>
                  <a:srgbClr val="222222"/>
                </a:solidFill>
                <a:effectLst/>
                <a:latin typeface="Times New Roman" panose="02020603050405020304" pitchFamily="18" charset="0"/>
                <a:ea typeface="SimSun" panose="02010600030101010101" pitchFamily="2" charset="-122"/>
              </a:rPr>
              <a:t>, M. (2013). Prediction, events, and the advantage of Agents: The processing of semantic roles in visual narrative. </a:t>
            </a:r>
            <a:r>
              <a:rPr lang="de-DE" sz="1200" i="1" dirty="0">
                <a:solidFill>
                  <a:srgbClr val="222222"/>
                </a:solidFill>
                <a:effectLst/>
                <a:latin typeface="Times New Roman" panose="02020603050405020304" pitchFamily="18" charset="0"/>
                <a:ea typeface="SimSun" panose="02010600030101010101" pitchFamily="2" charset="-122"/>
              </a:rPr>
              <a:t>Cognitive Psychology</a:t>
            </a:r>
            <a:r>
              <a:rPr lang="de-DE" sz="1200" dirty="0">
                <a:solidFill>
                  <a:srgbClr val="222222"/>
                </a:solidFill>
                <a:effectLst/>
                <a:latin typeface="Times New Roman" panose="02020603050405020304" pitchFamily="18" charset="0"/>
                <a:ea typeface="SimSun" panose="02010600030101010101" pitchFamily="2" charset="-122"/>
              </a:rPr>
              <a:t>, </a:t>
            </a:r>
            <a:r>
              <a:rPr lang="de-DE" sz="1200" i="1" dirty="0">
                <a:solidFill>
                  <a:srgbClr val="222222"/>
                </a:solidFill>
                <a:effectLst/>
                <a:latin typeface="Times New Roman" panose="02020603050405020304" pitchFamily="18" charset="0"/>
                <a:ea typeface="SimSun" panose="02010600030101010101" pitchFamily="2" charset="-122"/>
              </a:rPr>
              <a:t>67</a:t>
            </a:r>
            <a:r>
              <a:rPr lang="de-DE" sz="1200" dirty="0">
                <a:solidFill>
                  <a:srgbClr val="222222"/>
                </a:solidFill>
                <a:effectLst/>
                <a:latin typeface="Times New Roman" panose="02020603050405020304" pitchFamily="18" charset="0"/>
                <a:ea typeface="SimSun" panose="02010600030101010101" pitchFamily="2" charset="-122"/>
              </a:rPr>
              <a:t>(3), 73-97.</a:t>
            </a:r>
            <a:r>
              <a:rPr lang="de-DE" sz="1200" dirty="0">
                <a:effectLst/>
                <a:latin typeface="Times New Roman" panose="02020603050405020304" pitchFamily="18" charset="0"/>
                <a:ea typeface="SimSun" panose="02010600030101010101" pitchFamily="2" charset="-122"/>
              </a:rPr>
              <a:t> </a:t>
            </a:r>
            <a:r>
              <a:rPr lang="de-DE" sz="1200" dirty="0">
                <a:solidFill>
                  <a:srgbClr val="222222"/>
                </a:solidFill>
                <a:effectLst/>
                <a:latin typeface="Times New Roman" panose="02020603050405020304" pitchFamily="18" charset="0"/>
                <a:ea typeface="SimSun" panose="02010600030101010101" pitchFamily="2" charset="-122"/>
              </a:rPr>
              <a:t>https://doi.org/10.1016/j.cogpsych.2013.07.002</a:t>
            </a:r>
            <a:endParaRPr lang="en-US" sz="1200" dirty="0">
              <a:effectLst/>
              <a:latin typeface="Times New Roman" panose="02020603050405020304" pitchFamily="18" charset="0"/>
              <a:ea typeface="SimSun" panose="02010600030101010101" pitchFamily="2" charset="-122"/>
            </a:endParaRPr>
          </a:p>
          <a:p>
            <a:pPr marL="457200" marR="0" indent="-457200">
              <a:spcBef>
                <a:spcPts val="0"/>
              </a:spcBef>
              <a:spcAft>
                <a:spcPts val="0"/>
              </a:spcAft>
            </a:pPr>
            <a:r>
              <a:rPr lang="de-DE" sz="1200" dirty="0">
                <a:solidFill>
                  <a:srgbClr val="222222"/>
                </a:solidFill>
                <a:effectLst/>
                <a:latin typeface="Times New Roman" panose="02020603050405020304" pitchFamily="18" charset="0"/>
                <a:ea typeface="SimSun" panose="02010600030101010101" pitchFamily="2" charset="-122"/>
              </a:rPr>
              <a:t>Hafri, A., Papafragou, A., &amp; Trueswell, J. C. (2013). </a:t>
            </a:r>
            <a:r>
              <a:rPr lang="en-US" sz="1200" dirty="0">
                <a:solidFill>
                  <a:srgbClr val="222222"/>
                </a:solidFill>
                <a:effectLst/>
                <a:latin typeface="Times New Roman" panose="02020603050405020304" pitchFamily="18" charset="0"/>
                <a:ea typeface="SimSun" panose="02010600030101010101" pitchFamily="2" charset="-122"/>
              </a:rPr>
              <a:t>Getting the gist of events: recognition of two-participant actions from brief displays. </a:t>
            </a:r>
            <a:r>
              <a:rPr lang="en-US" sz="1200" i="1" dirty="0">
                <a:solidFill>
                  <a:srgbClr val="222222"/>
                </a:solidFill>
                <a:effectLst/>
                <a:latin typeface="Times New Roman" panose="02020603050405020304" pitchFamily="18" charset="0"/>
                <a:ea typeface="SimSun" panose="02010600030101010101" pitchFamily="2" charset="-122"/>
              </a:rPr>
              <a:t>Journal of Experimental Psychology: General</a:t>
            </a:r>
            <a:r>
              <a:rPr lang="en-US" sz="1200" dirty="0">
                <a:solidFill>
                  <a:srgbClr val="222222"/>
                </a:solidFill>
                <a:effectLst/>
                <a:latin typeface="Times New Roman" panose="02020603050405020304" pitchFamily="18" charset="0"/>
                <a:ea typeface="SimSun" panose="02010600030101010101" pitchFamily="2" charset="-122"/>
              </a:rPr>
              <a:t>, </a:t>
            </a:r>
            <a:r>
              <a:rPr lang="en-US" sz="1200" i="1" dirty="0">
                <a:solidFill>
                  <a:srgbClr val="222222"/>
                </a:solidFill>
                <a:effectLst/>
                <a:latin typeface="Times New Roman" panose="02020603050405020304" pitchFamily="18" charset="0"/>
                <a:ea typeface="SimSun" panose="02010600030101010101" pitchFamily="2" charset="-122"/>
              </a:rPr>
              <a:t>142</a:t>
            </a:r>
            <a:r>
              <a:rPr lang="en-US" sz="1200" dirty="0">
                <a:solidFill>
                  <a:srgbClr val="222222"/>
                </a:solidFill>
                <a:effectLst/>
                <a:latin typeface="Times New Roman" panose="02020603050405020304" pitchFamily="18" charset="0"/>
                <a:ea typeface="SimSun" panose="02010600030101010101" pitchFamily="2" charset="-122"/>
              </a:rPr>
              <a:t>(3), 880.</a:t>
            </a:r>
            <a:r>
              <a:rPr lang="en-US" sz="1200" dirty="0">
                <a:effectLst/>
                <a:latin typeface="Times New Roman" panose="02020603050405020304" pitchFamily="18" charset="0"/>
                <a:ea typeface="SimSun" panose="02010600030101010101" pitchFamily="2" charset="-122"/>
              </a:rPr>
              <a:t> </a:t>
            </a:r>
            <a:r>
              <a:rPr lang="en-US" sz="1200" dirty="0">
                <a:solidFill>
                  <a:srgbClr val="222222"/>
                </a:solidFill>
                <a:effectLst/>
                <a:latin typeface="Times New Roman" panose="02020603050405020304" pitchFamily="18" charset="0"/>
                <a:ea typeface="SimSun" panose="02010600030101010101" pitchFamily="2" charset="-122"/>
              </a:rPr>
              <a:t>https://doi.org/10.1037/a0030045</a:t>
            </a:r>
            <a:endParaRPr lang="en-US" sz="1200" dirty="0">
              <a:effectLst/>
              <a:latin typeface="Times New Roman" panose="02020603050405020304" pitchFamily="18" charset="0"/>
              <a:ea typeface="SimSun" panose="02010600030101010101" pitchFamily="2" charset="-122"/>
            </a:endParaRPr>
          </a:p>
          <a:p>
            <a:pPr marL="457200" marR="0" indent="-457200">
              <a:spcBef>
                <a:spcPts val="0"/>
              </a:spcBef>
              <a:spcAft>
                <a:spcPts val="0"/>
              </a:spcAft>
            </a:pPr>
            <a:r>
              <a:rPr lang="de-DE" sz="1200" dirty="0">
                <a:solidFill>
                  <a:srgbClr val="222222"/>
                </a:solidFill>
                <a:effectLst/>
                <a:latin typeface="Times New Roman" panose="02020603050405020304" pitchFamily="18" charset="0"/>
                <a:ea typeface="SimSun" panose="02010600030101010101" pitchFamily="2" charset="-122"/>
              </a:rPr>
              <a:t>Huff, M., Meitz, T. G., &amp; Papenmeier, F. (2014). </a:t>
            </a:r>
            <a:r>
              <a:rPr lang="en-US" sz="1200" dirty="0">
                <a:solidFill>
                  <a:srgbClr val="222222"/>
                </a:solidFill>
                <a:effectLst/>
                <a:latin typeface="Times New Roman" panose="02020603050405020304" pitchFamily="18" charset="0"/>
                <a:ea typeface="SimSun" panose="02010600030101010101" pitchFamily="2" charset="-122"/>
              </a:rPr>
              <a:t>Changes in situation models modulate processes of event perception in audiovisual narratives. </a:t>
            </a:r>
            <a:r>
              <a:rPr lang="en-US" sz="1200" i="1" dirty="0">
                <a:solidFill>
                  <a:srgbClr val="222222"/>
                </a:solidFill>
                <a:effectLst/>
                <a:latin typeface="Times New Roman" panose="02020603050405020304" pitchFamily="18" charset="0"/>
                <a:ea typeface="SimSun" panose="02010600030101010101" pitchFamily="2" charset="-122"/>
              </a:rPr>
              <a:t>Journal of Experimental Psychology: Learning, Memory, and Cognition</a:t>
            </a:r>
            <a:r>
              <a:rPr lang="en-US" sz="1200" dirty="0">
                <a:solidFill>
                  <a:srgbClr val="222222"/>
                </a:solidFill>
                <a:effectLst/>
                <a:latin typeface="Times New Roman" panose="02020603050405020304" pitchFamily="18" charset="0"/>
                <a:ea typeface="SimSun" panose="02010600030101010101" pitchFamily="2" charset="-122"/>
              </a:rPr>
              <a:t>, </a:t>
            </a:r>
            <a:r>
              <a:rPr lang="en-US" sz="1200" i="1" dirty="0">
                <a:solidFill>
                  <a:srgbClr val="222222"/>
                </a:solidFill>
                <a:effectLst/>
                <a:latin typeface="Times New Roman" panose="02020603050405020304" pitchFamily="18" charset="0"/>
                <a:ea typeface="SimSun" panose="02010600030101010101" pitchFamily="2" charset="-122"/>
              </a:rPr>
              <a:t>40</a:t>
            </a:r>
            <a:r>
              <a:rPr lang="en-US" sz="1200" dirty="0">
                <a:solidFill>
                  <a:srgbClr val="222222"/>
                </a:solidFill>
                <a:effectLst/>
                <a:latin typeface="Times New Roman" panose="02020603050405020304" pitchFamily="18" charset="0"/>
                <a:ea typeface="SimSun" panose="02010600030101010101" pitchFamily="2" charset="-122"/>
              </a:rPr>
              <a:t>(5), 1377. </a:t>
            </a:r>
            <a:r>
              <a:rPr lang="en-US" sz="1200" dirty="0">
                <a:effectLst/>
                <a:latin typeface="Times New Roman" panose="02020603050405020304" pitchFamily="18" charset="0"/>
                <a:ea typeface="Times New Roman" panose="02020603050405020304" pitchFamily="18" charset="0"/>
              </a:rPr>
              <a:t>https://doi.org/10.1037/a0036780</a:t>
            </a:r>
            <a:endParaRPr lang="en-US" sz="1200" dirty="0">
              <a:effectLst/>
              <a:latin typeface="Times New Roman" panose="02020603050405020304" pitchFamily="18" charset="0"/>
              <a:ea typeface="SimSun" panose="02010600030101010101" pitchFamily="2" charset="-122"/>
            </a:endParaRPr>
          </a:p>
          <a:p>
            <a:pPr marL="457200" marR="0" indent="-457200">
              <a:spcBef>
                <a:spcPts val="0"/>
              </a:spcBef>
              <a:spcAft>
                <a:spcPts val="0"/>
              </a:spcAft>
            </a:pPr>
            <a:r>
              <a:rPr lang="de-DE" sz="1200" dirty="0">
                <a:solidFill>
                  <a:srgbClr val="222222"/>
                </a:solidFill>
                <a:effectLst/>
                <a:latin typeface="Times New Roman" panose="02020603050405020304" pitchFamily="18" charset="0"/>
                <a:ea typeface="SimSun" panose="02010600030101010101" pitchFamily="2" charset="-122"/>
              </a:rPr>
              <a:t>Isasi-Isasmendi, A., Andrews, C., Flecken, M., Laka, I., Daum, M. M., Meyer, M., ... &amp; Sauppe, S. (2023). </a:t>
            </a:r>
            <a:r>
              <a:rPr lang="en-US" sz="1200" dirty="0">
                <a:solidFill>
                  <a:srgbClr val="222222"/>
                </a:solidFill>
                <a:effectLst/>
                <a:latin typeface="Times New Roman" panose="02020603050405020304" pitchFamily="18" charset="0"/>
                <a:ea typeface="SimSun" panose="02010600030101010101" pitchFamily="2" charset="-122"/>
              </a:rPr>
              <a:t>The Agent Preference in Visual Event Apprehension. </a:t>
            </a:r>
            <a:r>
              <a:rPr lang="en-US" sz="1200" i="1" dirty="0">
                <a:solidFill>
                  <a:srgbClr val="222222"/>
                </a:solidFill>
                <a:effectLst/>
                <a:latin typeface="Times New Roman" panose="02020603050405020304" pitchFamily="18" charset="0"/>
                <a:ea typeface="SimSun" panose="02010600030101010101" pitchFamily="2" charset="-122"/>
              </a:rPr>
              <a:t>Open Mind</a:t>
            </a:r>
            <a:r>
              <a:rPr lang="en-US" sz="1200" dirty="0">
                <a:solidFill>
                  <a:srgbClr val="222222"/>
                </a:solidFill>
                <a:effectLst/>
                <a:latin typeface="Times New Roman" panose="02020603050405020304" pitchFamily="18" charset="0"/>
                <a:ea typeface="SimSun" panose="02010600030101010101" pitchFamily="2" charset="-122"/>
              </a:rPr>
              <a:t>, 1-43.</a:t>
            </a:r>
            <a:r>
              <a:rPr lang="en-US" sz="1200" dirty="0">
                <a:effectLst/>
                <a:latin typeface="Times New Roman" panose="02020603050405020304" pitchFamily="18" charset="0"/>
                <a:ea typeface="SimSun" panose="02010600030101010101" pitchFamily="2" charset="-122"/>
              </a:rPr>
              <a:t> </a:t>
            </a:r>
            <a:r>
              <a:rPr lang="en-US" sz="1200" dirty="0">
                <a:solidFill>
                  <a:srgbClr val="222222"/>
                </a:solidFill>
                <a:effectLst/>
                <a:latin typeface="Times New Roman" panose="02020603050405020304" pitchFamily="18" charset="0"/>
                <a:ea typeface="SimSun" panose="02010600030101010101" pitchFamily="2" charset="-122"/>
              </a:rPr>
              <a:t>https://doi.org/10.1162/opmi_a_00083</a:t>
            </a:r>
            <a:endParaRPr lang="en-US" sz="1200" dirty="0">
              <a:effectLst/>
              <a:latin typeface="Times New Roman" panose="02020603050405020304" pitchFamily="18" charset="0"/>
              <a:ea typeface="SimSun" panose="02010600030101010101" pitchFamily="2" charset="-122"/>
            </a:endParaRPr>
          </a:p>
          <a:p>
            <a:pPr marL="457200" marR="0" indent="-457200">
              <a:spcBef>
                <a:spcPts val="0"/>
              </a:spcBef>
              <a:spcAft>
                <a:spcPts val="0"/>
              </a:spcAft>
            </a:pPr>
            <a:r>
              <a:rPr lang="en-US" sz="1200" dirty="0" err="1">
                <a:solidFill>
                  <a:srgbClr val="222222"/>
                </a:solidFill>
                <a:effectLst/>
                <a:latin typeface="Times New Roman" panose="02020603050405020304" pitchFamily="18" charset="0"/>
                <a:ea typeface="SimSun" panose="02010600030101010101" pitchFamily="2" charset="-122"/>
              </a:rPr>
              <a:t>Jackendoff</a:t>
            </a:r>
            <a:r>
              <a:rPr lang="en-US" sz="1200" dirty="0">
                <a:solidFill>
                  <a:srgbClr val="222222"/>
                </a:solidFill>
                <a:effectLst/>
                <a:latin typeface="Times New Roman" panose="02020603050405020304" pitchFamily="18" charset="0"/>
                <a:ea typeface="SimSun" panose="02010600030101010101" pitchFamily="2" charset="-122"/>
              </a:rPr>
              <a:t>, R. S. (1972). Semantic interpretation in generative grammar.</a:t>
            </a:r>
            <a:r>
              <a:rPr lang="en-US" sz="1200" dirty="0">
                <a:effectLst/>
                <a:latin typeface="Times New Roman" panose="02020603050405020304" pitchFamily="18" charset="0"/>
                <a:ea typeface="SimSun" panose="02010600030101010101" pitchFamily="2" charset="-122"/>
              </a:rPr>
              <a:t> </a:t>
            </a:r>
            <a:r>
              <a:rPr lang="en-US" sz="1200" dirty="0">
                <a:solidFill>
                  <a:srgbClr val="222222"/>
                </a:solidFill>
                <a:effectLst/>
                <a:latin typeface="Times New Roman" panose="02020603050405020304" pitchFamily="18" charset="0"/>
                <a:ea typeface="SimSun" panose="02010600030101010101" pitchFamily="2" charset="-122"/>
              </a:rPr>
              <a:t>https://doi.org/10.2307/413161</a:t>
            </a:r>
            <a:endParaRPr lang="en-US" sz="1200" dirty="0">
              <a:effectLst/>
              <a:latin typeface="Times New Roman" panose="02020603050405020304" pitchFamily="18" charset="0"/>
              <a:ea typeface="SimSun" panose="02010600030101010101" pitchFamily="2" charset="-122"/>
            </a:endParaRPr>
          </a:p>
          <a:p>
            <a:pPr marL="457200" marR="0" indent="-457200">
              <a:spcBef>
                <a:spcPts val="0"/>
              </a:spcBef>
              <a:spcAft>
                <a:spcPts val="0"/>
              </a:spcAft>
            </a:pPr>
            <a:r>
              <a:rPr lang="en-US" sz="1200" dirty="0">
                <a:solidFill>
                  <a:srgbClr val="222222"/>
                </a:solidFill>
                <a:effectLst/>
                <a:latin typeface="Times New Roman" panose="02020603050405020304" pitchFamily="18" charset="0"/>
                <a:ea typeface="SimSun" panose="02010600030101010101" pitchFamily="2" charset="-122"/>
              </a:rPr>
              <a:t>Keenan, E. L. (1976). Towards a universal definition of subject. In C. N. Li (Ed.), </a:t>
            </a:r>
            <a:r>
              <a:rPr lang="en-US" sz="1200" i="1" dirty="0">
                <a:solidFill>
                  <a:srgbClr val="222222"/>
                </a:solidFill>
                <a:effectLst/>
                <a:latin typeface="Times New Roman" panose="02020603050405020304" pitchFamily="18" charset="0"/>
                <a:ea typeface="SimSun" panose="02010600030101010101" pitchFamily="2" charset="-122"/>
              </a:rPr>
              <a:t>Subject and topic</a:t>
            </a:r>
            <a:r>
              <a:rPr lang="en-US" sz="1200" dirty="0">
                <a:solidFill>
                  <a:srgbClr val="222222"/>
                </a:solidFill>
                <a:effectLst/>
                <a:latin typeface="Times New Roman" panose="02020603050405020304" pitchFamily="18" charset="0"/>
                <a:ea typeface="SimSun" panose="02010600030101010101" pitchFamily="2" charset="-122"/>
              </a:rPr>
              <a:t> (pp. 303–333). Academic Press.</a:t>
            </a:r>
            <a:endParaRPr lang="en-US" sz="1200" dirty="0">
              <a:effectLst/>
              <a:latin typeface="Times New Roman" panose="02020603050405020304" pitchFamily="18" charset="0"/>
              <a:ea typeface="SimSun" panose="02010600030101010101" pitchFamily="2" charset="-122"/>
            </a:endParaRPr>
          </a:p>
          <a:p>
            <a:pPr marL="457200" marR="0" indent="-457200">
              <a:spcBef>
                <a:spcPts val="0"/>
              </a:spcBef>
              <a:spcAft>
                <a:spcPts val="0"/>
              </a:spcAft>
            </a:pPr>
            <a:r>
              <a:rPr lang="de-DE" sz="1200" dirty="0">
                <a:solidFill>
                  <a:srgbClr val="222222"/>
                </a:solidFill>
                <a:effectLst/>
                <a:latin typeface="Times New Roman" panose="02020603050405020304" pitchFamily="18" charset="0"/>
                <a:ea typeface="SimSun" panose="02010600030101010101" pitchFamily="2" charset="-122"/>
              </a:rPr>
              <a:t>Papenmeier, F., Boss, A., &amp; Mahlke, A. K. (2019). </a:t>
            </a:r>
            <a:r>
              <a:rPr lang="en-US" sz="1200" dirty="0">
                <a:solidFill>
                  <a:srgbClr val="222222"/>
                </a:solidFill>
                <a:effectLst/>
                <a:latin typeface="Times New Roman" panose="02020603050405020304" pitchFamily="18" charset="0"/>
                <a:ea typeface="SimSun" panose="02010600030101010101" pitchFamily="2" charset="-122"/>
              </a:rPr>
              <a:t>Action goal changes caused by agents and patients both induce global updating of event models. </a:t>
            </a:r>
            <a:r>
              <a:rPr lang="en-US" sz="1200" i="1" dirty="0">
                <a:solidFill>
                  <a:srgbClr val="222222"/>
                </a:solidFill>
                <a:effectLst/>
                <a:latin typeface="Times New Roman" panose="02020603050405020304" pitchFamily="18" charset="0"/>
                <a:ea typeface="SimSun" panose="02010600030101010101" pitchFamily="2" charset="-122"/>
              </a:rPr>
              <a:t>Journal of Experimental Psychology: Learning, Memory, and Cognition</a:t>
            </a:r>
            <a:r>
              <a:rPr lang="en-US" sz="1200" dirty="0">
                <a:solidFill>
                  <a:srgbClr val="222222"/>
                </a:solidFill>
                <a:effectLst/>
                <a:latin typeface="Times New Roman" panose="02020603050405020304" pitchFamily="18" charset="0"/>
                <a:ea typeface="SimSun" panose="02010600030101010101" pitchFamily="2" charset="-122"/>
              </a:rPr>
              <a:t>, </a:t>
            </a:r>
            <a:r>
              <a:rPr lang="en-US" sz="1200" i="1" dirty="0">
                <a:solidFill>
                  <a:srgbClr val="222222"/>
                </a:solidFill>
                <a:effectLst/>
                <a:latin typeface="Times New Roman" panose="02020603050405020304" pitchFamily="18" charset="0"/>
                <a:ea typeface="SimSun" panose="02010600030101010101" pitchFamily="2" charset="-122"/>
              </a:rPr>
              <a:t>45</a:t>
            </a:r>
            <a:r>
              <a:rPr lang="en-US" sz="1200" dirty="0">
                <a:solidFill>
                  <a:srgbClr val="222222"/>
                </a:solidFill>
                <a:effectLst/>
                <a:latin typeface="Times New Roman" panose="02020603050405020304" pitchFamily="18" charset="0"/>
                <a:ea typeface="SimSun" panose="02010600030101010101" pitchFamily="2" charset="-122"/>
              </a:rPr>
              <a:t>(8), 1441.</a:t>
            </a:r>
            <a:r>
              <a:rPr lang="en-US" sz="1200" dirty="0">
                <a:effectLst/>
                <a:latin typeface="Times New Roman" panose="02020603050405020304" pitchFamily="18" charset="0"/>
                <a:ea typeface="SimSun" panose="02010600030101010101" pitchFamily="2" charset="-122"/>
              </a:rPr>
              <a:t> </a:t>
            </a:r>
            <a:r>
              <a:rPr lang="en-US" sz="1200" dirty="0">
                <a:solidFill>
                  <a:srgbClr val="222222"/>
                </a:solidFill>
                <a:effectLst/>
                <a:latin typeface="Times New Roman" panose="02020603050405020304" pitchFamily="18" charset="0"/>
                <a:ea typeface="SimSun" panose="02010600030101010101" pitchFamily="2" charset="-122"/>
              </a:rPr>
              <a:t>https://doi.org/10.1037/xlm0000651</a:t>
            </a:r>
            <a:endParaRPr lang="en-US" sz="1200" dirty="0">
              <a:effectLst/>
              <a:latin typeface="Times New Roman" panose="02020603050405020304" pitchFamily="18" charset="0"/>
              <a:ea typeface="SimSun" panose="02010600030101010101" pitchFamily="2" charset="-122"/>
            </a:endParaRPr>
          </a:p>
          <a:p>
            <a:pPr marL="457200" marR="0" indent="-457200">
              <a:spcBef>
                <a:spcPts val="0"/>
              </a:spcBef>
              <a:spcAft>
                <a:spcPts val="0"/>
              </a:spcAft>
            </a:pPr>
            <a:r>
              <a:rPr lang="en-US" sz="1200" dirty="0" err="1">
                <a:solidFill>
                  <a:srgbClr val="222222"/>
                </a:solidFill>
                <a:effectLst/>
                <a:latin typeface="Times New Roman" panose="02020603050405020304" pitchFamily="18" charset="0"/>
                <a:ea typeface="SimSun" panose="02010600030101010101" pitchFamily="2" charset="-122"/>
              </a:rPr>
              <a:t>Radvansky</a:t>
            </a:r>
            <a:r>
              <a:rPr lang="en-US" sz="1200" dirty="0">
                <a:solidFill>
                  <a:srgbClr val="222222"/>
                </a:solidFill>
                <a:effectLst/>
                <a:latin typeface="Times New Roman" panose="02020603050405020304" pitchFamily="18" charset="0"/>
                <a:ea typeface="SimSun" panose="02010600030101010101" pitchFamily="2" charset="-122"/>
              </a:rPr>
              <a:t>, G. A., &amp; Zacks, J. M. (2017). Event boundaries in memory and cognition. </a:t>
            </a:r>
            <a:r>
              <a:rPr lang="en-US" sz="1200" i="1" dirty="0">
                <a:solidFill>
                  <a:srgbClr val="222222"/>
                </a:solidFill>
                <a:effectLst/>
                <a:latin typeface="Times New Roman" panose="02020603050405020304" pitchFamily="18" charset="0"/>
                <a:ea typeface="SimSun" panose="02010600030101010101" pitchFamily="2" charset="-122"/>
              </a:rPr>
              <a:t>Current Opinion in Behavioral Sciences</a:t>
            </a:r>
            <a:r>
              <a:rPr lang="en-US" sz="1200" dirty="0">
                <a:solidFill>
                  <a:srgbClr val="222222"/>
                </a:solidFill>
                <a:effectLst/>
                <a:latin typeface="Times New Roman" panose="02020603050405020304" pitchFamily="18" charset="0"/>
                <a:ea typeface="SimSun" panose="02010600030101010101" pitchFamily="2" charset="-122"/>
              </a:rPr>
              <a:t>, </a:t>
            </a:r>
            <a:r>
              <a:rPr lang="en-US" sz="1200" i="1" dirty="0">
                <a:solidFill>
                  <a:srgbClr val="222222"/>
                </a:solidFill>
                <a:effectLst/>
                <a:latin typeface="Times New Roman" panose="02020603050405020304" pitchFamily="18" charset="0"/>
                <a:ea typeface="SimSun" panose="02010600030101010101" pitchFamily="2" charset="-122"/>
              </a:rPr>
              <a:t>17</a:t>
            </a:r>
            <a:r>
              <a:rPr lang="en-US" sz="1200" dirty="0">
                <a:solidFill>
                  <a:srgbClr val="222222"/>
                </a:solidFill>
                <a:effectLst/>
                <a:latin typeface="Times New Roman" panose="02020603050405020304" pitchFamily="18" charset="0"/>
                <a:ea typeface="SimSun" panose="02010600030101010101" pitchFamily="2" charset="-122"/>
              </a:rPr>
              <a:t>, 133-140.</a:t>
            </a:r>
            <a:r>
              <a:rPr lang="en-US" sz="1200" dirty="0">
                <a:effectLst/>
                <a:latin typeface="Times New Roman" panose="02020603050405020304" pitchFamily="18" charset="0"/>
                <a:ea typeface="SimSun" panose="02010600030101010101" pitchFamily="2" charset="-122"/>
              </a:rPr>
              <a:t> </a:t>
            </a:r>
            <a:r>
              <a:rPr lang="en-US" sz="1200" dirty="0">
                <a:solidFill>
                  <a:srgbClr val="222222"/>
                </a:solidFill>
                <a:effectLst/>
                <a:latin typeface="Times New Roman" panose="02020603050405020304" pitchFamily="18" charset="0"/>
                <a:ea typeface="SimSun" panose="02010600030101010101" pitchFamily="2" charset="-122"/>
              </a:rPr>
              <a:t>https://doi.org/10.1016/j.cobeha.2017.08.006</a:t>
            </a:r>
            <a:endParaRPr lang="en-US" sz="1200" dirty="0">
              <a:effectLst/>
              <a:latin typeface="Times New Roman" panose="02020603050405020304" pitchFamily="18" charset="0"/>
              <a:ea typeface="SimSun" panose="02010600030101010101" pitchFamily="2" charset="-122"/>
            </a:endParaRPr>
          </a:p>
          <a:p>
            <a:pPr marL="457200" marR="0" indent="-457200">
              <a:spcBef>
                <a:spcPts val="0"/>
              </a:spcBef>
              <a:spcAft>
                <a:spcPts val="0"/>
              </a:spcAft>
            </a:pPr>
            <a:r>
              <a:rPr lang="de-DE" sz="1200" dirty="0">
                <a:solidFill>
                  <a:srgbClr val="222222"/>
                </a:solidFill>
                <a:effectLst/>
                <a:latin typeface="Times New Roman" panose="02020603050405020304" pitchFamily="18" charset="0"/>
                <a:ea typeface="SimSun" panose="02010600030101010101" pitchFamily="2" charset="-122"/>
              </a:rPr>
              <a:t>Salvucci</a:t>
            </a:r>
            <a:r>
              <a:rPr lang="de-DE" sz="1200" dirty="0">
                <a:effectLst/>
                <a:latin typeface="Times New Roman" panose="02020603050405020304" pitchFamily="18" charset="0"/>
                <a:ea typeface="Times New Roman" panose="02020603050405020304" pitchFamily="18" charset="0"/>
              </a:rPr>
              <a:t>, D. D., &amp; Goldberg, J. H. (2000). </a:t>
            </a:r>
            <a:r>
              <a:rPr lang="en-US" sz="1200" dirty="0">
                <a:effectLst/>
                <a:latin typeface="Times New Roman" panose="02020603050405020304" pitchFamily="18" charset="0"/>
                <a:ea typeface="Times New Roman" panose="02020603050405020304" pitchFamily="18" charset="0"/>
              </a:rPr>
              <a:t>Identifying fixations and saccades in eye-tracking protocols. </a:t>
            </a:r>
            <a:r>
              <a:rPr lang="en-US" sz="1200" i="1" dirty="0">
                <a:effectLst/>
                <a:latin typeface="Times New Roman" panose="02020603050405020304" pitchFamily="18" charset="0"/>
                <a:ea typeface="Times New Roman" panose="02020603050405020304" pitchFamily="18" charset="0"/>
              </a:rPr>
              <a:t>Proceedings of the 2000 Symposium on Eye Tracking Research &amp; Applications</a:t>
            </a:r>
            <a:r>
              <a:rPr lang="en-US" sz="1200" dirty="0">
                <a:effectLst/>
                <a:latin typeface="Times New Roman" panose="02020603050405020304" pitchFamily="18" charset="0"/>
                <a:ea typeface="Times New Roman" panose="02020603050405020304" pitchFamily="18" charset="0"/>
              </a:rPr>
              <a:t>, 71–78. https://doi.org/10.1145/355017.355028</a:t>
            </a:r>
            <a:endParaRPr lang="en-US" sz="1200" dirty="0">
              <a:effectLst/>
              <a:latin typeface="Times New Roman" panose="02020603050405020304" pitchFamily="18" charset="0"/>
              <a:ea typeface="SimSun" panose="02010600030101010101" pitchFamily="2" charset="-122"/>
            </a:endParaRPr>
          </a:p>
          <a:p>
            <a:pPr marL="457200" marR="0" indent="-457200">
              <a:spcBef>
                <a:spcPts val="0"/>
              </a:spcBef>
              <a:spcAft>
                <a:spcPts val="0"/>
              </a:spcAft>
            </a:pPr>
            <a:r>
              <a:rPr lang="en-US" sz="1200" dirty="0" err="1">
                <a:solidFill>
                  <a:srgbClr val="222222"/>
                </a:solidFill>
                <a:effectLst/>
                <a:latin typeface="Times New Roman" panose="02020603050405020304" pitchFamily="18" charset="0"/>
                <a:ea typeface="SimSun" panose="02010600030101010101" pitchFamily="2" charset="-122"/>
              </a:rPr>
              <a:t>Segalowitz</a:t>
            </a:r>
            <a:r>
              <a:rPr lang="en-US" sz="1200" dirty="0">
                <a:solidFill>
                  <a:srgbClr val="222222"/>
                </a:solidFill>
                <a:effectLst/>
                <a:latin typeface="Times New Roman" panose="02020603050405020304" pitchFamily="18" charset="0"/>
                <a:ea typeface="SimSun" panose="02010600030101010101" pitchFamily="2" charset="-122"/>
              </a:rPr>
              <a:t>, N. S. (1982). The perception of semantic relations in pictures. </a:t>
            </a:r>
            <a:r>
              <a:rPr lang="en-US" sz="1200" i="1" dirty="0">
                <a:solidFill>
                  <a:srgbClr val="222222"/>
                </a:solidFill>
                <a:effectLst/>
                <a:latin typeface="Times New Roman" panose="02020603050405020304" pitchFamily="18" charset="0"/>
                <a:ea typeface="SimSun" panose="02010600030101010101" pitchFamily="2" charset="-122"/>
              </a:rPr>
              <a:t>Memory &amp; Cognition</a:t>
            </a:r>
            <a:r>
              <a:rPr lang="en-US" sz="1200" dirty="0">
                <a:solidFill>
                  <a:srgbClr val="222222"/>
                </a:solidFill>
                <a:effectLst/>
                <a:latin typeface="Times New Roman" panose="02020603050405020304" pitchFamily="18" charset="0"/>
                <a:ea typeface="SimSun" panose="02010600030101010101" pitchFamily="2" charset="-122"/>
              </a:rPr>
              <a:t>, </a:t>
            </a:r>
            <a:r>
              <a:rPr lang="en-US" sz="1200" i="1" dirty="0">
                <a:solidFill>
                  <a:srgbClr val="222222"/>
                </a:solidFill>
                <a:effectLst/>
                <a:latin typeface="Times New Roman" panose="02020603050405020304" pitchFamily="18" charset="0"/>
                <a:ea typeface="SimSun" panose="02010600030101010101" pitchFamily="2" charset="-122"/>
              </a:rPr>
              <a:t>10</a:t>
            </a:r>
            <a:r>
              <a:rPr lang="en-US" sz="1200" dirty="0">
                <a:solidFill>
                  <a:srgbClr val="222222"/>
                </a:solidFill>
                <a:effectLst/>
                <a:latin typeface="Times New Roman" panose="02020603050405020304" pitchFamily="18" charset="0"/>
                <a:ea typeface="SimSun" panose="02010600030101010101" pitchFamily="2" charset="-122"/>
              </a:rPr>
              <a:t>(4), 381-388.</a:t>
            </a:r>
            <a:r>
              <a:rPr lang="en-US" sz="1200" dirty="0">
                <a:effectLst/>
                <a:latin typeface="Times New Roman" panose="02020603050405020304" pitchFamily="18" charset="0"/>
                <a:ea typeface="SimSun" panose="02010600030101010101" pitchFamily="2" charset="-122"/>
              </a:rPr>
              <a:t> </a:t>
            </a:r>
            <a:r>
              <a:rPr lang="en-US" sz="1200" dirty="0">
                <a:solidFill>
                  <a:srgbClr val="222222"/>
                </a:solidFill>
                <a:effectLst/>
                <a:latin typeface="Times New Roman" panose="02020603050405020304" pitchFamily="18" charset="0"/>
                <a:ea typeface="SimSun" panose="02010600030101010101" pitchFamily="2" charset="-122"/>
              </a:rPr>
              <a:t>https://doi.org/10.3758/BF03202430</a:t>
            </a:r>
            <a:endParaRPr lang="en-US" sz="1200" dirty="0">
              <a:effectLst/>
              <a:latin typeface="Times New Roman" panose="02020603050405020304" pitchFamily="18" charset="0"/>
              <a:ea typeface="SimSun" panose="02010600030101010101" pitchFamily="2" charset="-122"/>
            </a:endParaRPr>
          </a:p>
          <a:p>
            <a:pPr marL="457200" marR="0" indent="-457200">
              <a:spcBef>
                <a:spcPts val="0"/>
              </a:spcBef>
              <a:spcAft>
                <a:spcPts val="0"/>
              </a:spcAft>
            </a:pPr>
            <a:r>
              <a:rPr lang="en-US" sz="1200" dirty="0" err="1">
                <a:solidFill>
                  <a:srgbClr val="222222"/>
                </a:solidFill>
                <a:effectLst/>
                <a:latin typeface="Times New Roman" panose="02020603050405020304" pitchFamily="18" charset="0"/>
                <a:ea typeface="SimSun" panose="02010600030101010101" pitchFamily="2" charset="-122"/>
              </a:rPr>
              <a:t>Segalowitz</a:t>
            </a:r>
            <a:r>
              <a:rPr lang="en-US" sz="1200" dirty="0">
                <a:solidFill>
                  <a:srgbClr val="222222"/>
                </a:solidFill>
                <a:effectLst/>
                <a:latin typeface="Times New Roman" panose="02020603050405020304" pitchFamily="18" charset="0"/>
                <a:ea typeface="SimSun" panose="02010600030101010101" pitchFamily="2" charset="-122"/>
              </a:rPr>
              <a:t>, N., &amp; Hansson, P. (1979). Hemispheric functions in the processing of agent-patient information. </a:t>
            </a:r>
            <a:r>
              <a:rPr lang="en-US" sz="1200" i="1" dirty="0">
                <a:solidFill>
                  <a:srgbClr val="222222"/>
                </a:solidFill>
                <a:effectLst/>
                <a:latin typeface="Times New Roman" panose="02020603050405020304" pitchFamily="18" charset="0"/>
                <a:ea typeface="SimSun" panose="02010600030101010101" pitchFamily="2" charset="-122"/>
              </a:rPr>
              <a:t>Brain and Language</a:t>
            </a:r>
            <a:r>
              <a:rPr lang="en-US" sz="1200" dirty="0">
                <a:solidFill>
                  <a:srgbClr val="222222"/>
                </a:solidFill>
                <a:effectLst/>
                <a:latin typeface="Times New Roman" panose="02020603050405020304" pitchFamily="18" charset="0"/>
                <a:ea typeface="SimSun" panose="02010600030101010101" pitchFamily="2" charset="-122"/>
              </a:rPr>
              <a:t>, </a:t>
            </a:r>
            <a:r>
              <a:rPr lang="en-US" sz="1200" i="1" dirty="0">
                <a:solidFill>
                  <a:srgbClr val="222222"/>
                </a:solidFill>
                <a:effectLst/>
                <a:latin typeface="Times New Roman" panose="02020603050405020304" pitchFamily="18" charset="0"/>
                <a:ea typeface="SimSun" panose="02010600030101010101" pitchFamily="2" charset="-122"/>
              </a:rPr>
              <a:t>8</a:t>
            </a:r>
            <a:r>
              <a:rPr lang="en-US" sz="1200" dirty="0">
                <a:solidFill>
                  <a:srgbClr val="222222"/>
                </a:solidFill>
                <a:effectLst/>
                <a:latin typeface="Times New Roman" panose="02020603050405020304" pitchFamily="18" charset="0"/>
                <a:ea typeface="SimSun" panose="02010600030101010101" pitchFamily="2" charset="-122"/>
              </a:rPr>
              <a:t>(1), 51-61.</a:t>
            </a:r>
            <a:r>
              <a:rPr lang="en-US" sz="1200" dirty="0">
                <a:effectLst/>
                <a:latin typeface="Times New Roman" panose="02020603050405020304" pitchFamily="18" charset="0"/>
                <a:ea typeface="SimSun" panose="02010600030101010101" pitchFamily="2" charset="-122"/>
              </a:rPr>
              <a:t> </a:t>
            </a:r>
            <a:r>
              <a:rPr lang="en-US" sz="1200" dirty="0">
                <a:solidFill>
                  <a:srgbClr val="222222"/>
                </a:solidFill>
                <a:effectLst/>
                <a:latin typeface="Times New Roman" panose="02020603050405020304" pitchFamily="18" charset="0"/>
                <a:ea typeface="SimSun" panose="02010600030101010101" pitchFamily="2" charset="-122"/>
              </a:rPr>
              <a:t>https://doi.org/10.1016/0093-934X(79)90039-7</a:t>
            </a:r>
            <a:endParaRPr lang="en-US" sz="1200" dirty="0">
              <a:effectLst/>
              <a:latin typeface="Times New Roman" panose="02020603050405020304" pitchFamily="18" charset="0"/>
              <a:ea typeface="SimSun" panose="02010600030101010101" pitchFamily="2" charset="-122"/>
            </a:endParaRPr>
          </a:p>
          <a:p>
            <a:pPr marL="457200" marR="0" indent="-457200">
              <a:spcBef>
                <a:spcPts val="0"/>
              </a:spcBef>
              <a:spcAft>
                <a:spcPts val="0"/>
              </a:spcAft>
            </a:pPr>
            <a:r>
              <a:rPr lang="en-US" sz="1200" dirty="0">
                <a:solidFill>
                  <a:srgbClr val="000000"/>
                </a:solidFill>
                <a:effectLst/>
                <a:latin typeface="Times New Roman" panose="02020603050405020304" pitchFamily="18" charset="0"/>
                <a:ea typeface="SimSun" panose="02010600030101010101" pitchFamily="2" charset="-122"/>
              </a:rPr>
              <a:t>Zacks, J. M. (2020). Event perception and memory. </a:t>
            </a:r>
            <a:r>
              <a:rPr lang="en-US" sz="1200" i="1" dirty="0">
                <a:solidFill>
                  <a:srgbClr val="000000"/>
                </a:solidFill>
                <a:effectLst/>
                <a:latin typeface="Times New Roman" panose="02020603050405020304" pitchFamily="18" charset="0"/>
                <a:ea typeface="SimSun" panose="02010600030101010101" pitchFamily="2" charset="-122"/>
              </a:rPr>
              <a:t>Annual Review of Psychology</a:t>
            </a:r>
            <a:r>
              <a:rPr lang="en-US" sz="1200" dirty="0">
                <a:solidFill>
                  <a:srgbClr val="000000"/>
                </a:solidFill>
                <a:effectLst/>
                <a:latin typeface="Times New Roman" panose="02020603050405020304" pitchFamily="18" charset="0"/>
                <a:ea typeface="SimSun" panose="02010600030101010101" pitchFamily="2" charset="-122"/>
              </a:rPr>
              <a:t>, </a:t>
            </a:r>
            <a:r>
              <a:rPr lang="en-US" sz="1200" i="1" dirty="0">
                <a:solidFill>
                  <a:srgbClr val="000000"/>
                </a:solidFill>
                <a:effectLst/>
                <a:latin typeface="Times New Roman" panose="02020603050405020304" pitchFamily="18" charset="0"/>
                <a:ea typeface="SimSun" panose="02010600030101010101" pitchFamily="2" charset="-122"/>
              </a:rPr>
              <a:t>71</a:t>
            </a:r>
            <a:r>
              <a:rPr lang="en-US" sz="1200" dirty="0">
                <a:solidFill>
                  <a:srgbClr val="000000"/>
                </a:solidFill>
                <a:effectLst/>
                <a:latin typeface="Times New Roman" panose="02020603050405020304" pitchFamily="18" charset="0"/>
                <a:ea typeface="SimSun" panose="02010600030101010101" pitchFamily="2" charset="-122"/>
              </a:rPr>
              <a:t>, 165. https://doi.org/10.1146/annurev-psych-010419-051101</a:t>
            </a:r>
            <a:endParaRPr lang="en-US" sz="1200" dirty="0">
              <a:effectLst/>
              <a:latin typeface="Times New Roman" panose="02020603050405020304" pitchFamily="18" charset="0"/>
              <a:ea typeface="SimSun" panose="02010600030101010101" pitchFamily="2" charset="-122"/>
            </a:endParaRPr>
          </a:p>
          <a:p>
            <a:pPr marL="457200" marR="0" indent="-457200">
              <a:spcBef>
                <a:spcPts val="0"/>
              </a:spcBef>
              <a:spcAft>
                <a:spcPts val="0"/>
              </a:spcAft>
            </a:pPr>
            <a:r>
              <a:rPr lang="en-US" sz="1200" dirty="0">
                <a:solidFill>
                  <a:srgbClr val="000000"/>
                </a:solidFill>
                <a:effectLst/>
                <a:latin typeface="Times New Roman" panose="02020603050405020304" pitchFamily="18" charset="0"/>
                <a:ea typeface="SimSun" panose="02010600030101010101" pitchFamily="2" charset="-122"/>
              </a:rPr>
              <a:t>Zacks, J. M., Speer, N. K., Swallow, K. M., Braver, T. S., &amp; Reynolds, J. R. (2007). Event perception: a mind-brain perspective. </a:t>
            </a:r>
            <a:r>
              <a:rPr lang="en-US" sz="1200" i="1" dirty="0">
                <a:solidFill>
                  <a:srgbClr val="000000"/>
                </a:solidFill>
                <a:effectLst/>
                <a:latin typeface="Times New Roman" panose="02020603050405020304" pitchFamily="18" charset="0"/>
                <a:ea typeface="SimSun" panose="02010600030101010101" pitchFamily="2" charset="-122"/>
              </a:rPr>
              <a:t>Psychological Bulletin</a:t>
            </a:r>
            <a:r>
              <a:rPr lang="en-US" sz="1200" dirty="0">
                <a:solidFill>
                  <a:srgbClr val="000000"/>
                </a:solidFill>
                <a:effectLst/>
                <a:latin typeface="Times New Roman" panose="02020603050405020304" pitchFamily="18" charset="0"/>
                <a:ea typeface="SimSun" panose="02010600030101010101" pitchFamily="2" charset="-122"/>
              </a:rPr>
              <a:t>, </a:t>
            </a:r>
            <a:r>
              <a:rPr lang="en-US" sz="1200" i="1" dirty="0">
                <a:solidFill>
                  <a:srgbClr val="000000"/>
                </a:solidFill>
                <a:effectLst/>
                <a:latin typeface="Times New Roman" panose="02020603050405020304" pitchFamily="18" charset="0"/>
                <a:ea typeface="SimSun" panose="02010600030101010101" pitchFamily="2" charset="-122"/>
              </a:rPr>
              <a:t>133</a:t>
            </a:r>
            <a:r>
              <a:rPr lang="en-US" sz="1200" dirty="0">
                <a:solidFill>
                  <a:srgbClr val="000000"/>
                </a:solidFill>
                <a:effectLst/>
                <a:latin typeface="Times New Roman" panose="02020603050405020304" pitchFamily="18" charset="0"/>
                <a:ea typeface="SimSun" panose="02010600030101010101" pitchFamily="2" charset="-122"/>
              </a:rPr>
              <a:t>(2), 273.</a:t>
            </a:r>
            <a:r>
              <a:rPr lang="en-US" sz="1200" dirty="0">
                <a:effectLst/>
                <a:latin typeface="Times New Roman" panose="02020603050405020304" pitchFamily="18" charset="0"/>
                <a:ea typeface="SimSun" panose="02010600030101010101" pitchFamily="2" charset="-122"/>
              </a:rPr>
              <a:t> </a:t>
            </a:r>
            <a:r>
              <a:rPr lang="en-US" sz="1200" dirty="0">
                <a:solidFill>
                  <a:srgbClr val="000000"/>
                </a:solidFill>
                <a:effectLst/>
                <a:latin typeface="Times New Roman" panose="02020603050405020304" pitchFamily="18" charset="0"/>
                <a:ea typeface="SimSun" panose="02010600030101010101" pitchFamily="2" charset="-122"/>
              </a:rPr>
              <a:t>https://doi.org/10.1037/0033-2909.133.2.273</a:t>
            </a:r>
            <a:endParaRPr lang="en-US" sz="1200" dirty="0">
              <a:effectLst/>
              <a:latin typeface="Times New Roman" panose="02020603050405020304" pitchFamily="18" charset="0"/>
              <a:ea typeface="SimSun" panose="02010600030101010101" pitchFamily="2" charset="-122"/>
            </a:endParaRPr>
          </a:p>
          <a:p>
            <a:pPr marL="0" marR="0" indent="457200">
              <a:spcBef>
                <a:spcPts val="0"/>
              </a:spcBef>
              <a:spcAft>
                <a:spcPts val="0"/>
              </a:spcAft>
            </a:pPr>
            <a:r>
              <a:rPr lang="en-US" sz="1200" dirty="0">
                <a:effectLst/>
                <a:latin typeface="Times New Roman" panose="02020603050405020304" pitchFamily="18" charset="0"/>
                <a:ea typeface="SimSun" panose="02010600030101010101" pitchFamily="2" charset="-122"/>
              </a:rPr>
              <a:t> </a:t>
            </a:r>
          </a:p>
          <a:p>
            <a:endParaRPr lang="en-US" sz="1200" dirty="0"/>
          </a:p>
        </p:txBody>
      </p:sp>
    </p:spTree>
    <p:extLst>
      <p:ext uri="{BB962C8B-B14F-4D97-AF65-F5344CB8AC3E}">
        <p14:creationId xmlns:p14="http://schemas.microsoft.com/office/powerpoint/2010/main" val="317495321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6CDB94-C2F7-723D-9571-99DF716D043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2D69012-1048-5D7D-B5A7-6852876B8954}"/>
              </a:ext>
            </a:extLst>
          </p:cNvPr>
          <p:cNvSpPr txBox="1"/>
          <p:nvPr/>
        </p:nvSpPr>
        <p:spPr>
          <a:xfrm>
            <a:off x="334970" y="1740310"/>
            <a:ext cx="7992494" cy="4247317"/>
          </a:xfrm>
          <a:prstGeom prst="rect">
            <a:avLst/>
          </a:prstGeom>
          <a:noFill/>
        </p:spPr>
        <p:txBody>
          <a:bodyPr wrap="square" rtlCol="0">
            <a:spAutoFit/>
          </a:bodyPr>
          <a:lstStyle/>
          <a:p>
            <a:r>
              <a:rPr lang="en-US" b="1" dirty="0">
                <a:solidFill>
                  <a:srgbClr val="000000"/>
                </a:solidFill>
                <a:latin typeface="Calibri" panose="020F0502020204030204" pitchFamily="34" charset="0"/>
                <a:ea typeface="SimSun" panose="02010600030101010101" pitchFamily="2" charset="-122"/>
                <a:cs typeface="Calibri" panose="020F0502020204030204" pitchFamily="34" charset="0"/>
              </a:rPr>
              <a:t>Research question:</a:t>
            </a:r>
          </a:p>
          <a:p>
            <a:r>
              <a:rPr lang="en-US" dirty="0">
                <a:solidFill>
                  <a:srgbClr val="000000"/>
                </a:solidFill>
                <a:latin typeface="Calibri" panose="020F0502020204030204" pitchFamily="34" charset="0"/>
                <a:ea typeface="SimSun" panose="02010600030101010101" pitchFamily="2" charset="-122"/>
                <a:cs typeface="Calibri" panose="020F0502020204030204" pitchFamily="34" charset="0"/>
              </a:rPr>
              <a:t>We investigate the default event role that human observers assign to a member of an agent-patient pair in pictures. We study whether this assignment is based (more) on bottom-up (i.e., general default) or top-down (i.e., task-dependent) processes.</a:t>
            </a:r>
            <a:br>
              <a:rPr lang="en-US" dirty="0">
                <a:solidFill>
                  <a:srgbClr val="000000"/>
                </a:solidFill>
                <a:latin typeface="Calibri" panose="020F0502020204030204" pitchFamily="34" charset="0"/>
                <a:ea typeface="SimSun" panose="02010600030101010101" pitchFamily="2" charset="-122"/>
                <a:cs typeface="Calibri" panose="020F0502020204030204" pitchFamily="34" charset="0"/>
              </a:rPr>
            </a:br>
            <a:br>
              <a:rPr lang="en-US" dirty="0">
                <a:solidFill>
                  <a:srgbClr val="000000"/>
                </a:solidFill>
                <a:latin typeface="Calibri" panose="020F0502020204030204" pitchFamily="34" charset="0"/>
                <a:ea typeface="SimSun" panose="02010600030101010101" pitchFamily="2" charset="-122"/>
                <a:cs typeface="Calibri" panose="020F0502020204030204" pitchFamily="34" charset="0"/>
              </a:rPr>
            </a:br>
            <a:br>
              <a:rPr lang="en-US" dirty="0">
                <a:solidFill>
                  <a:srgbClr val="000000"/>
                </a:solidFill>
                <a:latin typeface="Calibri" panose="020F0502020204030204" pitchFamily="34" charset="0"/>
                <a:ea typeface="SimSun" panose="02010600030101010101" pitchFamily="2" charset="-122"/>
                <a:cs typeface="Calibri" panose="020F0502020204030204" pitchFamily="34" charset="0"/>
              </a:rPr>
            </a:br>
            <a:r>
              <a:rPr lang="en-US" b="1" dirty="0">
                <a:solidFill>
                  <a:srgbClr val="000000"/>
                </a:solidFill>
                <a:latin typeface="Calibri" panose="020F0502020204030204" pitchFamily="34" charset="0"/>
                <a:ea typeface="SimSun" panose="02010600030101010101" pitchFamily="2" charset="-122"/>
                <a:cs typeface="Calibri" panose="020F0502020204030204" pitchFamily="34" charset="0"/>
              </a:rPr>
              <a:t>Experiment Design:</a:t>
            </a:r>
          </a:p>
          <a:p>
            <a:r>
              <a:rPr lang="en-US" dirty="0">
                <a:solidFill>
                  <a:srgbClr val="000000"/>
                </a:solidFill>
                <a:latin typeface="Calibri" panose="020F0502020204030204" pitchFamily="34" charset="0"/>
                <a:ea typeface="SimSun" panose="02010600030101010101" pitchFamily="2" charset="-122"/>
                <a:cs typeface="Calibri" panose="020F0502020204030204" pitchFamily="34" charset="0"/>
              </a:rPr>
              <a:t>        The experiment consists of a 4 (duration of the preview phase: 0 </a:t>
            </a:r>
            <a:r>
              <a:rPr lang="en-US" dirty="0" err="1">
                <a:solidFill>
                  <a:srgbClr val="000000"/>
                </a:solidFill>
                <a:latin typeface="Calibri" panose="020F0502020204030204" pitchFamily="34" charset="0"/>
                <a:ea typeface="SimSun" panose="02010600030101010101" pitchFamily="2" charset="-122"/>
                <a:cs typeface="Calibri" panose="020F0502020204030204" pitchFamily="34" charset="0"/>
              </a:rPr>
              <a:t>ms</a:t>
            </a:r>
            <a:r>
              <a:rPr lang="en-US" dirty="0">
                <a:solidFill>
                  <a:srgbClr val="000000"/>
                </a:solidFill>
                <a:latin typeface="Calibri" panose="020F0502020204030204" pitchFamily="34" charset="0"/>
                <a:ea typeface="SimSun" panose="02010600030101010101" pitchFamily="2" charset="-122"/>
                <a:cs typeface="Calibri" panose="020F0502020204030204" pitchFamily="34" charset="0"/>
              </a:rPr>
              <a:t>, 50 </a:t>
            </a:r>
            <a:r>
              <a:rPr lang="en-US" dirty="0" err="1">
                <a:solidFill>
                  <a:srgbClr val="000000"/>
                </a:solidFill>
                <a:latin typeface="Calibri" panose="020F0502020204030204" pitchFamily="34" charset="0"/>
                <a:ea typeface="SimSun" panose="02010600030101010101" pitchFamily="2" charset="-122"/>
                <a:cs typeface="Calibri" panose="020F0502020204030204" pitchFamily="34" charset="0"/>
              </a:rPr>
              <a:t>ms</a:t>
            </a:r>
            <a:r>
              <a:rPr lang="en-US" dirty="0">
                <a:solidFill>
                  <a:srgbClr val="000000"/>
                </a:solidFill>
                <a:latin typeface="Calibri" panose="020F0502020204030204" pitchFamily="34" charset="0"/>
                <a:ea typeface="SimSun" panose="02010600030101010101" pitchFamily="2" charset="-122"/>
                <a:cs typeface="Calibri" panose="020F0502020204030204" pitchFamily="34" charset="0"/>
              </a:rPr>
              <a:t>, 150 </a:t>
            </a:r>
            <a:r>
              <a:rPr lang="en-US" dirty="0" err="1">
                <a:solidFill>
                  <a:srgbClr val="000000"/>
                </a:solidFill>
                <a:latin typeface="Calibri" panose="020F0502020204030204" pitchFamily="34" charset="0"/>
                <a:ea typeface="SimSun" panose="02010600030101010101" pitchFamily="2" charset="-122"/>
                <a:cs typeface="Calibri" panose="020F0502020204030204" pitchFamily="34" charset="0"/>
              </a:rPr>
              <a:t>ms</a:t>
            </a:r>
            <a:r>
              <a:rPr lang="en-US" dirty="0">
                <a:solidFill>
                  <a:srgbClr val="000000"/>
                </a:solidFill>
                <a:latin typeface="Calibri" panose="020F0502020204030204" pitchFamily="34" charset="0"/>
                <a:ea typeface="SimSun" panose="02010600030101010101" pitchFamily="2" charset="-122"/>
                <a:cs typeface="Calibri" panose="020F0502020204030204" pitchFamily="34" charset="0"/>
              </a:rPr>
              <a:t>, 500 </a:t>
            </a:r>
            <a:r>
              <a:rPr lang="en-US" dirty="0" err="1">
                <a:solidFill>
                  <a:srgbClr val="000000"/>
                </a:solidFill>
                <a:latin typeface="Calibri" panose="020F0502020204030204" pitchFamily="34" charset="0"/>
                <a:ea typeface="SimSun" panose="02010600030101010101" pitchFamily="2" charset="-122"/>
                <a:cs typeface="Calibri" panose="020F0502020204030204" pitchFamily="34" charset="0"/>
              </a:rPr>
              <a:t>ms</a:t>
            </a:r>
            <a:r>
              <a:rPr lang="en-US" dirty="0">
                <a:solidFill>
                  <a:srgbClr val="000000"/>
                </a:solidFill>
                <a:latin typeface="Calibri" panose="020F0502020204030204" pitchFamily="34" charset="0"/>
                <a:ea typeface="SimSun" panose="02010600030101010101" pitchFamily="2" charset="-122"/>
                <a:cs typeface="Calibri" panose="020F0502020204030204" pitchFamily="34" charset="0"/>
              </a:rPr>
              <a:t>) x 2 (preview object: agent, patient) x 2 (search task: agent search, patient search) within-participants design. </a:t>
            </a:r>
            <a:br>
              <a:rPr lang="en-US" dirty="0">
                <a:solidFill>
                  <a:srgbClr val="000000"/>
                </a:solidFill>
                <a:latin typeface="Calibri" panose="020F0502020204030204" pitchFamily="34" charset="0"/>
                <a:ea typeface="SimSun" panose="02010600030101010101" pitchFamily="2" charset="-122"/>
                <a:cs typeface="Calibri" panose="020F0502020204030204" pitchFamily="34" charset="0"/>
              </a:rPr>
            </a:br>
            <a:br>
              <a:rPr lang="en-US" dirty="0">
                <a:solidFill>
                  <a:srgbClr val="000000"/>
                </a:solidFill>
                <a:latin typeface="Calibri" panose="020F0502020204030204" pitchFamily="34" charset="0"/>
                <a:ea typeface="SimSun" panose="02010600030101010101" pitchFamily="2" charset="-122"/>
                <a:cs typeface="Calibri" panose="020F0502020204030204" pitchFamily="34" charset="0"/>
              </a:rPr>
            </a:br>
            <a:endParaRPr lang="en-US" b="1" dirty="0">
              <a:solidFill>
                <a:srgbClr val="000000"/>
              </a:solidFill>
              <a:latin typeface="Calibri" panose="020F0502020204030204" pitchFamily="34" charset="0"/>
              <a:ea typeface="SimSun" panose="02010600030101010101" pitchFamily="2" charset="-122"/>
              <a:cs typeface="Calibri" panose="020F0502020204030204" pitchFamily="34" charset="0"/>
            </a:endParaRPr>
          </a:p>
          <a:p>
            <a:r>
              <a:rPr lang="en-US" b="1" dirty="0">
                <a:solidFill>
                  <a:srgbClr val="000000"/>
                </a:solidFill>
                <a:latin typeface="Calibri" panose="020F0502020204030204" pitchFamily="34" charset="0"/>
                <a:ea typeface="SimSun" panose="02010600030101010101" pitchFamily="2" charset="-122"/>
                <a:cs typeface="Calibri" panose="020F0502020204030204" pitchFamily="34" charset="0"/>
              </a:rPr>
              <a:t>P</a:t>
            </a:r>
            <a:r>
              <a:rPr lang="en-US" altLang="zh-CN" b="1" dirty="0">
                <a:solidFill>
                  <a:srgbClr val="000000"/>
                </a:solidFill>
                <a:latin typeface="Calibri" panose="020F0502020204030204" pitchFamily="34" charset="0"/>
                <a:ea typeface="SimSun" panose="02010600030101010101" pitchFamily="2" charset="-122"/>
                <a:cs typeface="Calibri" panose="020F0502020204030204" pitchFamily="34" charset="0"/>
              </a:rPr>
              <a:t>articipants</a:t>
            </a:r>
            <a:r>
              <a:rPr lang="zh-CN" altLang="en-US" b="1" dirty="0">
                <a:solidFill>
                  <a:srgbClr val="000000"/>
                </a:solidFill>
                <a:latin typeface="Calibri" panose="020F0502020204030204" pitchFamily="34" charset="0"/>
                <a:ea typeface="SimSun" panose="02010600030101010101" pitchFamily="2" charset="-122"/>
                <a:cs typeface="Calibri" panose="020F0502020204030204" pitchFamily="34" charset="0"/>
              </a:rPr>
              <a:t>：</a:t>
            </a:r>
            <a:r>
              <a:rPr lang="en-US" altLang="zh-CN" dirty="0">
                <a:solidFill>
                  <a:srgbClr val="000000"/>
                </a:solidFill>
                <a:latin typeface="Calibri" panose="020F0502020204030204" pitchFamily="34" charset="0"/>
                <a:ea typeface="SimSun" panose="02010600030101010101" pitchFamily="2" charset="-122"/>
                <a:cs typeface="Calibri" panose="020F0502020204030204" pitchFamily="34" charset="0"/>
              </a:rPr>
              <a:t>90 </a:t>
            </a:r>
            <a:r>
              <a:rPr lang="en-US" dirty="0">
                <a:solidFill>
                  <a:srgbClr val="000000"/>
                </a:solidFill>
                <a:latin typeface="Calibri" panose="020F0502020204030204" pitchFamily="34" charset="0"/>
                <a:ea typeface="SimSun" panose="02010600030101010101" pitchFamily="2" charset="-122"/>
                <a:cs typeface="Calibri" panose="020F0502020204030204" pitchFamily="34" charset="0"/>
              </a:rPr>
              <a:t>participants to achieve 80% power</a:t>
            </a:r>
            <a:endParaRPr lang="en-US" altLang="zh-CN" b="1" dirty="0">
              <a:solidFill>
                <a:srgbClr val="000000"/>
              </a:solidFill>
              <a:latin typeface="Calibri" panose="020F0502020204030204" pitchFamily="34" charset="0"/>
              <a:ea typeface="SimSun" panose="02010600030101010101" pitchFamily="2" charset="-122"/>
              <a:cs typeface="Calibri" panose="020F0502020204030204" pitchFamily="34" charset="0"/>
            </a:endParaRPr>
          </a:p>
          <a:p>
            <a:br>
              <a:rPr lang="en-US" dirty="0">
                <a:solidFill>
                  <a:srgbClr val="000000"/>
                </a:solidFill>
                <a:latin typeface="Calibri" panose="020F0502020204030204" pitchFamily="34" charset="0"/>
                <a:ea typeface="SimSun" panose="02010600030101010101" pitchFamily="2" charset="-122"/>
                <a:cs typeface="Calibri" panose="020F0502020204030204" pitchFamily="34" charset="0"/>
              </a:rPr>
            </a:br>
            <a:endParaRPr lang="en-US" sz="1800" dirty="0">
              <a:effectLst/>
              <a:latin typeface="Calibri" panose="020F0502020204030204" pitchFamily="34" charset="0"/>
              <a:ea typeface="SimSun" panose="02010600030101010101" pitchFamily="2" charset="-122"/>
              <a:cs typeface="Arial" panose="020B0604020202020204" pitchFamily="34" charset="0"/>
            </a:endParaRPr>
          </a:p>
        </p:txBody>
      </p:sp>
      <p:sp>
        <p:nvSpPr>
          <p:cNvPr id="3" name="Rectangle 2">
            <a:extLst>
              <a:ext uri="{FF2B5EF4-FFF2-40B4-BE49-F238E27FC236}">
                <a16:creationId xmlns:a16="http://schemas.microsoft.com/office/drawing/2014/main" id="{4802FB5D-E13C-52E3-DEB7-29A16CA6CBC5}"/>
              </a:ext>
            </a:extLst>
          </p:cNvPr>
          <p:cNvSpPr/>
          <p:nvPr/>
        </p:nvSpPr>
        <p:spPr>
          <a:xfrm>
            <a:off x="-662329" y="1032424"/>
            <a:ext cx="5137051" cy="707886"/>
          </a:xfrm>
          <a:prstGeom prst="rect">
            <a:avLst/>
          </a:prstGeom>
          <a:noFill/>
        </p:spPr>
        <p:txBody>
          <a:bodyPr wrap="square" lIns="91440" tIns="45720" rIns="91440" bIns="45720">
            <a:spAutoFit/>
          </a:bodyPr>
          <a:lstStyle/>
          <a:p>
            <a:pPr algn="ctr"/>
            <a:r>
              <a:rPr lang="en-US" sz="40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rPr>
              <a:t>Study 3: Exp 1</a:t>
            </a:r>
          </a:p>
        </p:txBody>
      </p:sp>
    </p:spTree>
    <p:extLst>
      <p:ext uri="{BB962C8B-B14F-4D97-AF65-F5344CB8AC3E}">
        <p14:creationId xmlns:p14="http://schemas.microsoft.com/office/powerpoint/2010/main" val="27620336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7310B5-F997-00BD-FF64-05E78FB4A07C}"/>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4557750D-3DC6-90D0-D472-0D975DB4E702}"/>
              </a:ext>
            </a:extLst>
          </p:cNvPr>
          <p:cNvSpPr/>
          <p:nvPr/>
        </p:nvSpPr>
        <p:spPr>
          <a:xfrm>
            <a:off x="-662329" y="1032424"/>
            <a:ext cx="5137051" cy="707886"/>
          </a:xfrm>
          <a:prstGeom prst="rect">
            <a:avLst/>
          </a:prstGeom>
          <a:noFill/>
        </p:spPr>
        <p:txBody>
          <a:bodyPr wrap="square" lIns="91440" tIns="45720" rIns="91440" bIns="45720">
            <a:spAutoFit/>
          </a:bodyPr>
          <a:lstStyle/>
          <a:p>
            <a:pPr algn="ctr"/>
            <a:r>
              <a:rPr lang="en-US" sz="40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rPr>
              <a:t>Study 3: Exp 1</a:t>
            </a:r>
          </a:p>
        </p:txBody>
      </p:sp>
      <p:sp>
        <p:nvSpPr>
          <p:cNvPr id="2" name="Rectangle 1">
            <a:extLst>
              <a:ext uri="{FF2B5EF4-FFF2-40B4-BE49-F238E27FC236}">
                <a16:creationId xmlns:a16="http://schemas.microsoft.com/office/drawing/2014/main" id="{D3774826-DE02-E527-234E-ADAF1643A079}"/>
              </a:ext>
            </a:extLst>
          </p:cNvPr>
          <p:cNvSpPr/>
          <p:nvPr/>
        </p:nvSpPr>
        <p:spPr>
          <a:xfrm>
            <a:off x="1904434" y="1820568"/>
            <a:ext cx="1541650" cy="83598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pic>
        <p:nvPicPr>
          <p:cNvPr id="3" name="Picture 2" descr="A red and black fish&#10;&#10;Description automatically generated">
            <a:extLst>
              <a:ext uri="{FF2B5EF4-FFF2-40B4-BE49-F238E27FC236}">
                <a16:creationId xmlns:a16="http://schemas.microsoft.com/office/drawing/2014/main" id="{DF7FB3CB-09CB-8399-00CD-DA3C19B21A2A}"/>
              </a:ext>
            </a:extLst>
          </p:cNvPr>
          <p:cNvPicPr>
            <a:picLocks noChangeAspect="1"/>
          </p:cNvPicPr>
          <p:nvPr/>
        </p:nvPicPr>
        <p:blipFill rotWithShape="1">
          <a:blip r:embed="rId2"/>
          <a:srcRect t="22346" r="10839" b="30635"/>
          <a:stretch/>
        </p:blipFill>
        <p:spPr>
          <a:xfrm>
            <a:off x="2342283" y="2040687"/>
            <a:ext cx="1013464" cy="506185"/>
          </a:xfrm>
          <a:prstGeom prst="rect">
            <a:avLst/>
          </a:prstGeom>
        </p:spPr>
      </p:pic>
      <p:sp>
        <p:nvSpPr>
          <p:cNvPr id="5" name="Rectangle 4">
            <a:extLst>
              <a:ext uri="{FF2B5EF4-FFF2-40B4-BE49-F238E27FC236}">
                <a16:creationId xmlns:a16="http://schemas.microsoft.com/office/drawing/2014/main" id="{497DA10D-A0D8-1A94-B2C5-46991B2F1716}"/>
              </a:ext>
            </a:extLst>
          </p:cNvPr>
          <p:cNvSpPr/>
          <p:nvPr/>
        </p:nvSpPr>
        <p:spPr>
          <a:xfrm>
            <a:off x="2940116" y="2578897"/>
            <a:ext cx="1541650" cy="83598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6" name="TextBox 5">
            <a:extLst>
              <a:ext uri="{FF2B5EF4-FFF2-40B4-BE49-F238E27FC236}">
                <a16:creationId xmlns:a16="http://schemas.microsoft.com/office/drawing/2014/main" id="{3134C376-FD4C-61D4-8C5A-17EE530A5429}"/>
              </a:ext>
            </a:extLst>
          </p:cNvPr>
          <p:cNvSpPr txBox="1"/>
          <p:nvPr/>
        </p:nvSpPr>
        <p:spPr>
          <a:xfrm>
            <a:off x="278892" y="1967400"/>
            <a:ext cx="1541650" cy="646331"/>
          </a:xfrm>
          <a:prstGeom prst="rect">
            <a:avLst/>
          </a:prstGeom>
          <a:noFill/>
        </p:spPr>
        <p:txBody>
          <a:bodyPr wrap="square" rtlCol="0">
            <a:spAutoFit/>
          </a:bodyPr>
          <a:lstStyle/>
          <a:p>
            <a:r>
              <a:rPr lang="en-US" sz="1800" dirty="0">
                <a:solidFill>
                  <a:srgbClr val="000000"/>
                </a:solidFill>
                <a:effectLst/>
                <a:latin typeface="Calibri" panose="020F0502020204030204" pitchFamily="34" charset="0"/>
                <a:ea typeface="SimSun" panose="02010600030101010101" pitchFamily="2" charset="-122"/>
                <a:cs typeface="Calibri" panose="020F0502020204030204" pitchFamily="34" charset="0"/>
              </a:rPr>
              <a:t>Agent</a:t>
            </a:r>
            <a:r>
              <a:rPr lang="en-US" dirty="0">
                <a:solidFill>
                  <a:srgbClr val="000000"/>
                </a:solidFill>
                <a:latin typeface="Calibri" panose="020F0502020204030204" pitchFamily="34" charset="0"/>
                <a:ea typeface="SimSun" panose="02010600030101010101" pitchFamily="2" charset="-122"/>
                <a:cs typeface="Calibri" panose="020F0502020204030204" pitchFamily="34" charset="0"/>
              </a:rPr>
              <a:t>/P</a:t>
            </a:r>
            <a:r>
              <a:rPr lang="en-US" altLang="zh-CN" dirty="0">
                <a:solidFill>
                  <a:srgbClr val="000000"/>
                </a:solidFill>
                <a:latin typeface="Calibri" panose="020F0502020204030204" pitchFamily="34" charset="0"/>
                <a:ea typeface="SimSun" panose="02010600030101010101" pitchFamily="2" charset="-122"/>
                <a:cs typeface="Calibri" panose="020F0502020204030204" pitchFamily="34" charset="0"/>
              </a:rPr>
              <a:t>atient Search</a:t>
            </a:r>
            <a:endParaRPr lang="en-US"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A2EDB477-0E35-7994-245E-18CDBD5CE3C2}"/>
              </a:ext>
            </a:extLst>
          </p:cNvPr>
          <p:cNvSpPr txBox="1"/>
          <p:nvPr/>
        </p:nvSpPr>
        <p:spPr>
          <a:xfrm>
            <a:off x="5806965" y="5332951"/>
            <a:ext cx="2028664" cy="369332"/>
          </a:xfrm>
          <a:prstGeom prst="rect">
            <a:avLst/>
          </a:prstGeom>
          <a:noFill/>
        </p:spPr>
        <p:txBody>
          <a:bodyPr wrap="square" rtlCol="0">
            <a:spAutoFit/>
          </a:bodyPr>
          <a:lstStyle/>
          <a:p>
            <a:r>
              <a:rPr lang="en-US" sz="1800" dirty="0">
                <a:solidFill>
                  <a:srgbClr val="000000"/>
                </a:solidFill>
                <a:effectLst/>
                <a:latin typeface="Calibri" panose="020F0502020204030204" pitchFamily="34" charset="0"/>
                <a:ea typeface="SimSun" panose="02010600030101010101" pitchFamily="2" charset="-122"/>
                <a:cs typeface="Calibri" panose="020F0502020204030204" pitchFamily="34" charset="0"/>
              </a:rPr>
              <a:t>500 </a:t>
            </a:r>
            <a:r>
              <a:rPr lang="en-US" sz="1800" dirty="0" err="1">
                <a:solidFill>
                  <a:srgbClr val="000000"/>
                </a:solidFill>
                <a:effectLst/>
                <a:latin typeface="Calibri" panose="020F0502020204030204" pitchFamily="34" charset="0"/>
                <a:ea typeface="SimSun" panose="02010600030101010101" pitchFamily="2" charset="-122"/>
                <a:cs typeface="Calibri" panose="020F0502020204030204" pitchFamily="34" charset="0"/>
              </a:rPr>
              <a:t>ms</a:t>
            </a:r>
            <a:endParaRPr lang="en-US" dirty="0">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AC05A034-F0A9-F0AC-ADBF-ABD876AB3FDA}"/>
              </a:ext>
            </a:extLst>
          </p:cNvPr>
          <p:cNvSpPr txBox="1"/>
          <p:nvPr/>
        </p:nvSpPr>
        <p:spPr>
          <a:xfrm>
            <a:off x="1470991" y="3663515"/>
            <a:ext cx="2544404" cy="646331"/>
          </a:xfrm>
          <a:prstGeom prst="rect">
            <a:avLst/>
          </a:prstGeom>
          <a:noFill/>
        </p:spPr>
        <p:txBody>
          <a:bodyPr wrap="square" rtlCol="0">
            <a:spAutoFit/>
          </a:bodyPr>
          <a:lstStyle/>
          <a:p>
            <a:r>
              <a:rPr lang="en-US" dirty="0">
                <a:solidFill>
                  <a:srgbClr val="000000"/>
                </a:solidFill>
                <a:latin typeface="Calibri" panose="020F0502020204030204" pitchFamily="34" charset="0"/>
                <a:ea typeface="SimSun" panose="02010600030101010101" pitchFamily="2" charset="-122"/>
                <a:cs typeface="Calibri" panose="020F0502020204030204" pitchFamily="34" charset="0"/>
              </a:rPr>
              <a:t>Second fish appear +K</a:t>
            </a:r>
            <a:r>
              <a:rPr lang="en-US" altLang="zh-CN" dirty="0">
                <a:solidFill>
                  <a:srgbClr val="000000"/>
                </a:solidFill>
                <a:latin typeface="Calibri" panose="020F0502020204030204" pitchFamily="34" charset="0"/>
                <a:ea typeface="SimSun" panose="02010600030101010101" pitchFamily="2" charset="-122"/>
                <a:cs typeface="Calibri" panose="020F0502020204030204" pitchFamily="34" charset="0"/>
              </a:rPr>
              <a:t>ey Response</a:t>
            </a:r>
            <a:endParaRPr lang="en-US" dirty="0">
              <a:latin typeface="Calibri" panose="020F0502020204030204" pitchFamily="34" charset="0"/>
              <a:cs typeface="Calibri" panose="020F0502020204030204" pitchFamily="34" charset="0"/>
            </a:endParaRPr>
          </a:p>
        </p:txBody>
      </p:sp>
      <p:pic>
        <p:nvPicPr>
          <p:cNvPr id="9" name="Picture 8" descr="A white fish on a black background&#10;&#10;Description automatically generated">
            <a:extLst>
              <a:ext uri="{FF2B5EF4-FFF2-40B4-BE49-F238E27FC236}">
                <a16:creationId xmlns:a16="http://schemas.microsoft.com/office/drawing/2014/main" id="{B4179F71-FA00-1783-739C-7BAEE5969F20}"/>
              </a:ext>
            </a:extLst>
          </p:cNvPr>
          <p:cNvPicPr>
            <a:picLocks noChangeAspect="1"/>
          </p:cNvPicPr>
          <p:nvPr/>
        </p:nvPicPr>
        <p:blipFill>
          <a:blip r:embed="rId3"/>
          <a:stretch>
            <a:fillRect/>
          </a:stretch>
        </p:blipFill>
        <p:spPr>
          <a:xfrm>
            <a:off x="3204209" y="2471541"/>
            <a:ext cx="1013463" cy="1013463"/>
          </a:xfrm>
          <a:prstGeom prst="rect">
            <a:avLst/>
          </a:prstGeom>
        </p:spPr>
      </p:pic>
      <p:sp>
        <p:nvSpPr>
          <p:cNvPr id="10" name="TextBox 9">
            <a:extLst>
              <a:ext uri="{FF2B5EF4-FFF2-40B4-BE49-F238E27FC236}">
                <a16:creationId xmlns:a16="http://schemas.microsoft.com/office/drawing/2014/main" id="{D25ABDB5-6D14-9A5F-46D8-92B36866DCD8}"/>
              </a:ext>
            </a:extLst>
          </p:cNvPr>
          <p:cNvSpPr txBox="1"/>
          <p:nvPr/>
        </p:nvSpPr>
        <p:spPr>
          <a:xfrm>
            <a:off x="826787" y="2925290"/>
            <a:ext cx="1921913" cy="369332"/>
          </a:xfrm>
          <a:prstGeom prst="rect">
            <a:avLst/>
          </a:prstGeom>
          <a:noFill/>
        </p:spPr>
        <p:txBody>
          <a:bodyPr wrap="square" rtlCol="0">
            <a:spAutoFit/>
          </a:bodyPr>
          <a:lstStyle/>
          <a:p>
            <a:r>
              <a:rPr lang="en-US" sz="1800" dirty="0">
                <a:solidFill>
                  <a:srgbClr val="000000"/>
                </a:solidFill>
                <a:effectLst/>
                <a:latin typeface="Calibri" panose="020F0502020204030204" pitchFamily="34" charset="0"/>
                <a:ea typeface="SimSun" panose="02010600030101010101" pitchFamily="2" charset="-122"/>
                <a:cs typeface="Calibri" panose="020F0502020204030204" pitchFamily="34" charset="0"/>
              </a:rPr>
              <a:t>0/50/150/500 </a:t>
            </a:r>
            <a:r>
              <a:rPr lang="en-US" sz="1800" dirty="0" err="1">
                <a:solidFill>
                  <a:srgbClr val="000000"/>
                </a:solidFill>
                <a:effectLst/>
                <a:latin typeface="Calibri" panose="020F0502020204030204" pitchFamily="34" charset="0"/>
                <a:ea typeface="SimSun" panose="02010600030101010101" pitchFamily="2" charset="-122"/>
                <a:cs typeface="Calibri" panose="020F0502020204030204" pitchFamily="34" charset="0"/>
              </a:rPr>
              <a:t>ms</a:t>
            </a:r>
            <a:endParaRPr lang="en-US" dirty="0">
              <a:latin typeface="Calibri" panose="020F0502020204030204" pitchFamily="34" charset="0"/>
              <a:cs typeface="Calibri" panose="020F0502020204030204" pitchFamily="34" charset="0"/>
            </a:endParaRPr>
          </a:p>
        </p:txBody>
      </p:sp>
      <p:sp>
        <p:nvSpPr>
          <p:cNvPr id="11" name="Rectangle 10">
            <a:extLst>
              <a:ext uri="{FF2B5EF4-FFF2-40B4-BE49-F238E27FC236}">
                <a16:creationId xmlns:a16="http://schemas.microsoft.com/office/drawing/2014/main" id="{77EB5813-DBDC-6ED0-B260-EDE1A0988463}"/>
              </a:ext>
            </a:extLst>
          </p:cNvPr>
          <p:cNvSpPr/>
          <p:nvPr/>
        </p:nvSpPr>
        <p:spPr>
          <a:xfrm>
            <a:off x="4115227" y="3280630"/>
            <a:ext cx="1541650" cy="83598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12" name="TextBox 11">
            <a:extLst>
              <a:ext uri="{FF2B5EF4-FFF2-40B4-BE49-F238E27FC236}">
                <a16:creationId xmlns:a16="http://schemas.microsoft.com/office/drawing/2014/main" id="{86C14245-3A41-837A-C15A-532372DA005E}"/>
              </a:ext>
            </a:extLst>
          </p:cNvPr>
          <p:cNvSpPr txBox="1"/>
          <p:nvPr/>
        </p:nvSpPr>
        <p:spPr>
          <a:xfrm>
            <a:off x="1904434" y="1860894"/>
            <a:ext cx="1153008" cy="276999"/>
          </a:xfrm>
          <a:prstGeom prst="rect">
            <a:avLst/>
          </a:prstGeom>
          <a:noFill/>
        </p:spPr>
        <p:txBody>
          <a:bodyPr wrap="none" rtlCol="0">
            <a:spAutoFit/>
          </a:bodyPr>
          <a:lstStyle/>
          <a:p>
            <a:r>
              <a:rPr lang="en-US" sz="1200" b="1" dirty="0">
                <a:solidFill>
                  <a:srgbClr val="000000"/>
                </a:solidFill>
                <a:latin typeface="Open Sans" panose="020B0606030504020204" pitchFamily="34" charset="0"/>
                <a:ea typeface="Open Sans" panose="020B0606030504020204" pitchFamily="34" charset="0"/>
                <a:cs typeface="Open Sans" panose="020B0606030504020204" pitchFamily="34" charset="0"/>
              </a:rPr>
              <a:t>Introduction</a:t>
            </a:r>
          </a:p>
        </p:txBody>
      </p:sp>
      <p:pic>
        <p:nvPicPr>
          <p:cNvPr id="13" name="Picture 12" descr="A white fish on a black background&#10;&#10;Description automatically generated">
            <a:extLst>
              <a:ext uri="{FF2B5EF4-FFF2-40B4-BE49-F238E27FC236}">
                <a16:creationId xmlns:a16="http://schemas.microsoft.com/office/drawing/2014/main" id="{DC16D498-37B4-8CE8-A909-80EB88238A3D}"/>
              </a:ext>
            </a:extLst>
          </p:cNvPr>
          <p:cNvPicPr>
            <a:picLocks noChangeAspect="1"/>
          </p:cNvPicPr>
          <p:nvPr/>
        </p:nvPicPr>
        <p:blipFill>
          <a:blip r:embed="rId3"/>
          <a:stretch>
            <a:fillRect/>
          </a:stretch>
        </p:blipFill>
        <p:spPr>
          <a:xfrm rot="20753669">
            <a:off x="4800056" y="3153552"/>
            <a:ext cx="1013463" cy="1013463"/>
          </a:xfrm>
          <a:prstGeom prst="rect">
            <a:avLst/>
          </a:prstGeom>
        </p:spPr>
      </p:pic>
      <p:pic>
        <p:nvPicPr>
          <p:cNvPr id="14" name="Picture 13" descr="A white fish on a black background&#10;&#10;Description automatically generated">
            <a:extLst>
              <a:ext uri="{FF2B5EF4-FFF2-40B4-BE49-F238E27FC236}">
                <a16:creationId xmlns:a16="http://schemas.microsoft.com/office/drawing/2014/main" id="{B947C119-66F6-9E16-9D9C-CF2BC49DA2CE}"/>
              </a:ext>
            </a:extLst>
          </p:cNvPr>
          <p:cNvPicPr>
            <a:picLocks noChangeAspect="1"/>
          </p:cNvPicPr>
          <p:nvPr/>
        </p:nvPicPr>
        <p:blipFill>
          <a:blip r:embed="rId3"/>
          <a:stretch>
            <a:fillRect/>
          </a:stretch>
        </p:blipFill>
        <p:spPr>
          <a:xfrm>
            <a:off x="4379321" y="3191891"/>
            <a:ext cx="1013463" cy="1013463"/>
          </a:xfrm>
          <a:prstGeom prst="rect">
            <a:avLst/>
          </a:prstGeom>
        </p:spPr>
      </p:pic>
      <p:pic>
        <p:nvPicPr>
          <p:cNvPr id="15" name="Picture 14" descr="A white fish in a black background&#10;&#10;Description automatically generated">
            <a:extLst>
              <a:ext uri="{FF2B5EF4-FFF2-40B4-BE49-F238E27FC236}">
                <a16:creationId xmlns:a16="http://schemas.microsoft.com/office/drawing/2014/main" id="{71A2AAD8-959B-3974-428E-05B93744B4CF}"/>
              </a:ext>
            </a:extLst>
          </p:cNvPr>
          <p:cNvPicPr>
            <a:picLocks noChangeAspect="1"/>
          </p:cNvPicPr>
          <p:nvPr/>
        </p:nvPicPr>
        <p:blipFill>
          <a:blip r:embed="rId4"/>
          <a:stretch>
            <a:fillRect/>
          </a:stretch>
        </p:blipFill>
        <p:spPr>
          <a:xfrm rot="20667727">
            <a:off x="4798528" y="3155733"/>
            <a:ext cx="1012377" cy="1012377"/>
          </a:xfrm>
          <a:prstGeom prst="rect">
            <a:avLst/>
          </a:prstGeom>
        </p:spPr>
      </p:pic>
      <p:sp>
        <p:nvSpPr>
          <p:cNvPr id="16" name="Rectangle 15">
            <a:extLst>
              <a:ext uri="{FF2B5EF4-FFF2-40B4-BE49-F238E27FC236}">
                <a16:creationId xmlns:a16="http://schemas.microsoft.com/office/drawing/2014/main" id="{A60D2FB7-F7B4-981D-96FC-A326D12A5EA3}"/>
              </a:ext>
            </a:extLst>
          </p:cNvPr>
          <p:cNvSpPr/>
          <p:nvPr/>
        </p:nvSpPr>
        <p:spPr>
          <a:xfrm>
            <a:off x="5311725" y="4004675"/>
            <a:ext cx="1836774" cy="101210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43FF3354-6FF7-1F32-11BB-C9A4D7BDA96B}"/>
              </a:ext>
            </a:extLst>
          </p:cNvPr>
          <p:cNvSpPr/>
          <p:nvPr/>
        </p:nvSpPr>
        <p:spPr>
          <a:xfrm>
            <a:off x="6821297" y="4889302"/>
            <a:ext cx="1836774" cy="101210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pic>
        <p:nvPicPr>
          <p:cNvPr id="18" name="Picture 17" descr="A black and white image of a nice line&#10;&#10;Description automatically generated">
            <a:extLst>
              <a:ext uri="{FF2B5EF4-FFF2-40B4-BE49-F238E27FC236}">
                <a16:creationId xmlns:a16="http://schemas.microsoft.com/office/drawing/2014/main" id="{D81635C7-3B46-E346-C89C-56F7C355B15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950094" y="4959045"/>
            <a:ext cx="1579180" cy="888289"/>
          </a:xfrm>
          <a:prstGeom prst="rect">
            <a:avLst/>
          </a:prstGeom>
        </p:spPr>
      </p:pic>
      <p:sp>
        <p:nvSpPr>
          <p:cNvPr id="19" name="TextBox 18">
            <a:extLst>
              <a:ext uri="{FF2B5EF4-FFF2-40B4-BE49-F238E27FC236}">
                <a16:creationId xmlns:a16="http://schemas.microsoft.com/office/drawing/2014/main" id="{41B47B05-8554-0262-E10A-72A24A9B6341}"/>
              </a:ext>
            </a:extLst>
          </p:cNvPr>
          <p:cNvSpPr txBox="1"/>
          <p:nvPr/>
        </p:nvSpPr>
        <p:spPr>
          <a:xfrm>
            <a:off x="4015394" y="4410587"/>
            <a:ext cx="1167533" cy="369332"/>
          </a:xfrm>
          <a:prstGeom prst="rect">
            <a:avLst/>
          </a:prstGeom>
          <a:noFill/>
        </p:spPr>
        <p:txBody>
          <a:bodyPr wrap="square" rtlCol="0">
            <a:spAutoFit/>
          </a:bodyPr>
          <a:lstStyle/>
          <a:p>
            <a:r>
              <a:rPr lang="en-US" dirty="0">
                <a:solidFill>
                  <a:srgbClr val="000000"/>
                </a:solidFill>
                <a:latin typeface="Calibri" panose="020F0502020204030204" pitchFamily="34" charset="0"/>
                <a:ea typeface="SimSun" panose="02010600030101010101" pitchFamily="2" charset="-122"/>
                <a:cs typeface="Calibri" panose="020F0502020204030204" pitchFamily="34" charset="0"/>
              </a:rPr>
              <a:t>Feedback</a:t>
            </a:r>
            <a:endParaRPr lang="en-US" dirty="0">
              <a:latin typeface="Calibri" panose="020F0502020204030204" pitchFamily="34" charset="0"/>
              <a:cs typeface="Calibri" panose="020F0502020204030204" pitchFamily="34" charset="0"/>
            </a:endParaRPr>
          </a:p>
        </p:txBody>
      </p:sp>
      <p:sp>
        <p:nvSpPr>
          <p:cNvPr id="20" name="TextBox 19">
            <a:extLst>
              <a:ext uri="{FF2B5EF4-FFF2-40B4-BE49-F238E27FC236}">
                <a16:creationId xmlns:a16="http://schemas.microsoft.com/office/drawing/2014/main" id="{397A3A7D-9B94-6EC0-67BA-D7B5CF4B6773}"/>
              </a:ext>
            </a:extLst>
          </p:cNvPr>
          <p:cNvSpPr txBox="1"/>
          <p:nvPr/>
        </p:nvSpPr>
        <p:spPr>
          <a:xfrm>
            <a:off x="5736867" y="4410587"/>
            <a:ext cx="986489" cy="276999"/>
          </a:xfrm>
          <a:prstGeom prst="rect">
            <a:avLst/>
          </a:prstGeom>
          <a:noFill/>
        </p:spPr>
        <p:txBody>
          <a:bodyPr wrap="none" rtlCol="0">
            <a:spAutoFit/>
          </a:bodyPr>
          <a:lstStyle/>
          <a:p>
            <a:r>
              <a:rPr lang="en-US" sz="1200" b="1" dirty="0">
                <a:solidFill>
                  <a:srgbClr val="000000"/>
                </a:solidFill>
                <a:latin typeface="Open Sans" panose="020B0606030504020204" pitchFamily="34" charset="0"/>
                <a:ea typeface="Open Sans" panose="020B0606030504020204" pitchFamily="34" charset="0"/>
                <a:cs typeface="Open Sans" panose="020B0606030504020204" pitchFamily="34" charset="0"/>
              </a:rPr>
              <a:t>True/False</a:t>
            </a:r>
          </a:p>
        </p:txBody>
      </p:sp>
      <p:cxnSp>
        <p:nvCxnSpPr>
          <p:cNvPr id="21" name="Straight Arrow Connector 20">
            <a:extLst>
              <a:ext uri="{FF2B5EF4-FFF2-40B4-BE49-F238E27FC236}">
                <a16:creationId xmlns:a16="http://schemas.microsoft.com/office/drawing/2014/main" id="{87BDD53B-2F69-45B5-636C-60EF428CE1D0}"/>
              </a:ext>
            </a:extLst>
          </p:cNvPr>
          <p:cNvCxnSpPr>
            <a:cxnSpLocks/>
          </p:cNvCxnSpPr>
          <p:nvPr/>
        </p:nvCxnSpPr>
        <p:spPr>
          <a:xfrm flipV="1">
            <a:off x="6950094" y="4116617"/>
            <a:ext cx="664776" cy="207811"/>
          </a:xfrm>
          <a:prstGeom prst="straightConnector1">
            <a:avLst/>
          </a:prstGeom>
          <a:ln w="19050">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22" name="TextBox 21">
            <a:extLst>
              <a:ext uri="{FF2B5EF4-FFF2-40B4-BE49-F238E27FC236}">
                <a16:creationId xmlns:a16="http://schemas.microsoft.com/office/drawing/2014/main" id="{6A2BAEE8-774C-CBAC-DD33-146AF7D434AF}"/>
              </a:ext>
            </a:extLst>
          </p:cNvPr>
          <p:cNvSpPr txBox="1"/>
          <p:nvPr/>
        </p:nvSpPr>
        <p:spPr>
          <a:xfrm>
            <a:off x="7557294" y="3743689"/>
            <a:ext cx="1428183" cy="461665"/>
          </a:xfrm>
          <a:prstGeom prst="rect">
            <a:avLst/>
          </a:prstGeom>
          <a:noFill/>
        </p:spPr>
        <p:txBody>
          <a:bodyPr wrap="square" rtlCol="0">
            <a:spAutoFit/>
          </a:bodyPr>
          <a:lstStyle/>
          <a:p>
            <a:r>
              <a:rPr lang="en-US" sz="1200" b="1" dirty="0">
                <a:solidFill>
                  <a:srgbClr val="FF0000"/>
                </a:solidFill>
                <a:latin typeface="Open Sans" panose="020B0606030504020204" pitchFamily="34" charset="0"/>
                <a:ea typeface="Open Sans" panose="020B0606030504020204" pitchFamily="34" charset="0"/>
                <a:cs typeface="Open Sans" panose="020B0606030504020204" pitchFamily="34" charset="0"/>
              </a:rPr>
              <a:t>Only for</a:t>
            </a:r>
          </a:p>
          <a:p>
            <a:r>
              <a:rPr lang="en-US" sz="1200" b="1" dirty="0">
                <a:solidFill>
                  <a:srgbClr val="FF0000"/>
                </a:solidFill>
                <a:latin typeface="Open Sans" panose="020B0606030504020204" pitchFamily="34" charset="0"/>
                <a:ea typeface="Open Sans" panose="020B0606030504020204" pitchFamily="34" charset="0"/>
                <a:cs typeface="Open Sans" panose="020B0606030504020204" pitchFamily="34" charset="0"/>
              </a:rPr>
              <a:t>Practice Trials</a:t>
            </a:r>
          </a:p>
        </p:txBody>
      </p:sp>
      <p:cxnSp>
        <p:nvCxnSpPr>
          <p:cNvPr id="23" name="Connector: Curved 22">
            <a:extLst>
              <a:ext uri="{FF2B5EF4-FFF2-40B4-BE49-F238E27FC236}">
                <a16:creationId xmlns:a16="http://schemas.microsoft.com/office/drawing/2014/main" id="{ED5443FC-4DCF-0BFA-A338-671088AF540C}"/>
              </a:ext>
            </a:extLst>
          </p:cNvPr>
          <p:cNvCxnSpPr>
            <a:cxnSpLocks/>
          </p:cNvCxnSpPr>
          <p:nvPr/>
        </p:nvCxnSpPr>
        <p:spPr>
          <a:xfrm rot="10800000">
            <a:off x="4700910" y="2816838"/>
            <a:ext cx="3761895" cy="1870748"/>
          </a:xfrm>
          <a:prstGeom prst="curvedConnector3">
            <a:avLst>
              <a:gd name="adj1" fmla="val -11241"/>
            </a:avLst>
          </a:prstGeom>
          <a:ln w="19050">
            <a:solidFill>
              <a:srgbClr val="000000"/>
            </a:solidFill>
            <a:headEnd type="none"/>
            <a:tailEnd type="triangle"/>
          </a:ln>
          <a:effectLst/>
        </p:spPr>
        <p:style>
          <a:lnRef idx="2">
            <a:schemeClr val="accent1"/>
          </a:lnRef>
          <a:fillRef idx="0">
            <a:schemeClr val="accent1"/>
          </a:fillRef>
          <a:effectRef idx="1">
            <a:schemeClr val="accent1"/>
          </a:effectRef>
          <a:fontRef idx="minor">
            <a:schemeClr val="tx1"/>
          </a:fontRef>
        </p:style>
      </p:cxnSp>
      <p:sp>
        <p:nvSpPr>
          <p:cNvPr id="24" name="Rectangle 23">
            <a:extLst>
              <a:ext uri="{FF2B5EF4-FFF2-40B4-BE49-F238E27FC236}">
                <a16:creationId xmlns:a16="http://schemas.microsoft.com/office/drawing/2014/main" id="{113137E9-42A7-E0E9-DA29-9AF0F66129AD}"/>
              </a:ext>
            </a:extLst>
          </p:cNvPr>
          <p:cNvSpPr/>
          <p:nvPr/>
        </p:nvSpPr>
        <p:spPr>
          <a:xfrm>
            <a:off x="7408553" y="2706781"/>
            <a:ext cx="1579715" cy="338554"/>
          </a:xfrm>
          <a:prstGeom prst="rect">
            <a:avLst/>
          </a:prstGeom>
          <a:noFill/>
        </p:spPr>
        <p:txBody>
          <a:bodyPr wrap="square" lIns="91440" tIns="45720" rIns="91440" bIns="45720">
            <a:spAutoFit/>
          </a:bodyPr>
          <a:lstStyle/>
          <a:p>
            <a:pPr algn="ctr"/>
            <a:r>
              <a:rPr lang="en-US" sz="1600" b="0" cap="none" spc="0" dirty="0">
                <a:ln w="0"/>
                <a:solidFill>
                  <a:schemeClr val="tx1"/>
                </a:solidFill>
                <a:effectLst>
                  <a:outerShdw blurRad="38100" dist="19050" dir="2700000" algn="tl" rotWithShape="0">
                    <a:schemeClr val="dk1">
                      <a:alpha val="40000"/>
                    </a:schemeClr>
                  </a:outerShdw>
                </a:effectLst>
              </a:rPr>
              <a:t>2 x 96 T</a:t>
            </a:r>
            <a:r>
              <a:rPr lang="en-US" altLang="zh-CN" sz="1600" b="0" cap="none" spc="0" dirty="0">
                <a:ln w="0"/>
                <a:solidFill>
                  <a:schemeClr val="tx1"/>
                </a:solidFill>
                <a:effectLst>
                  <a:outerShdw blurRad="38100" dist="19050" dir="2700000" algn="tl" rotWithShape="0">
                    <a:schemeClr val="dk1">
                      <a:alpha val="40000"/>
                    </a:schemeClr>
                  </a:outerShdw>
                </a:effectLst>
              </a:rPr>
              <a:t>rials</a:t>
            </a:r>
            <a:endParaRPr lang="en-US" sz="1600" b="0" cap="none" spc="0"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276636122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F87950-38F4-CD6B-BA30-4D49D68DC364}"/>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CB332A3F-02FB-862B-5115-F15C688DAD20}"/>
              </a:ext>
            </a:extLst>
          </p:cNvPr>
          <p:cNvSpPr/>
          <p:nvPr/>
        </p:nvSpPr>
        <p:spPr>
          <a:xfrm>
            <a:off x="1079385" y="107139"/>
            <a:ext cx="5137051" cy="707886"/>
          </a:xfrm>
          <a:prstGeom prst="rect">
            <a:avLst/>
          </a:prstGeom>
          <a:noFill/>
        </p:spPr>
        <p:txBody>
          <a:bodyPr wrap="square" lIns="91440" tIns="45720" rIns="91440" bIns="45720">
            <a:spAutoFit/>
          </a:bodyPr>
          <a:lstStyle/>
          <a:p>
            <a:pPr algn="ctr"/>
            <a:r>
              <a:rPr lang="en-US" sz="40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rPr>
              <a:t>Study 3: Exp 1</a:t>
            </a:r>
          </a:p>
        </p:txBody>
      </p:sp>
      <p:sp>
        <p:nvSpPr>
          <p:cNvPr id="37" name="TextBox 36">
            <a:extLst>
              <a:ext uri="{FF2B5EF4-FFF2-40B4-BE49-F238E27FC236}">
                <a16:creationId xmlns:a16="http://schemas.microsoft.com/office/drawing/2014/main" id="{48E50C2E-B91E-15AA-A429-5C28950A8D36}"/>
              </a:ext>
            </a:extLst>
          </p:cNvPr>
          <p:cNvSpPr txBox="1"/>
          <p:nvPr/>
        </p:nvSpPr>
        <p:spPr>
          <a:xfrm>
            <a:off x="238454" y="916489"/>
            <a:ext cx="8611947" cy="255454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000000"/>
                </a:solidFill>
                <a:effectLst/>
                <a:uLnTx/>
                <a:uFillTx/>
                <a:latin typeface="Calibri" panose="020F0502020204030204" pitchFamily="34" charset="0"/>
                <a:ea typeface="SimSun" panose="02010600030101010101" pitchFamily="2" charset="-122"/>
                <a:cs typeface="Calibri" panose="020F0502020204030204" pitchFamily="34" charset="0"/>
              </a:rPr>
              <a:t>Hypotheses:</a:t>
            </a:r>
            <a:br>
              <a:rPr kumimoji="0" lang="en-US" sz="2000" b="1" i="0" u="none" strike="noStrike" kern="1200" cap="none" spc="0" normalizeH="0" baseline="0" noProof="0" dirty="0">
                <a:ln>
                  <a:noFill/>
                </a:ln>
                <a:solidFill>
                  <a:srgbClr val="000000"/>
                </a:solidFill>
                <a:effectLst/>
                <a:uLnTx/>
                <a:uFillTx/>
                <a:latin typeface="Calibri" panose="020F0502020204030204" pitchFamily="34" charset="0"/>
                <a:ea typeface="SimSun" panose="02010600030101010101" pitchFamily="2" charset="-122"/>
                <a:cs typeface="Calibri" panose="020F0502020204030204" pitchFamily="34" charset="0"/>
              </a:rPr>
            </a:br>
            <a:br>
              <a:rPr lang="en-US" sz="2000" dirty="0">
                <a:solidFill>
                  <a:srgbClr val="000000"/>
                </a:solidFill>
                <a:latin typeface="Calibri" panose="020F0502020204030204" pitchFamily="34" charset="0"/>
                <a:ea typeface="SimSun" panose="02010600030101010101" pitchFamily="2" charset="-122"/>
                <a:cs typeface="Calibri" panose="020F0502020204030204" pitchFamily="34" charset="0"/>
              </a:rPr>
            </a:br>
            <a:r>
              <a:rPr lang="en-US" sz="2000" dirty="0">
                <a:effectLst/>
                <a:latin typeface="Calibri" panose="020F0502020204030204" pitchFamily="34" charset="0"/>
                <a:ea typeface="Times New Roman" panose="02020603050405020304" pitchFamily="18" charset="0"/>
                <a:cs typeface="Calibri" panose="020F0502020204030204" pitchFamily="34" charset="0"/>
              </a:rPr>
              <a:t>1. For trials without preview (i.e., the 0 </a:t>
            </a:r>
            <a:r>
              <a:rPr lang="en-US" sz="2000" dirty="0" err="1">
                <a:effectLst/>
                <a:latin typeface="Calibri" panose="020F0502020204030204" pitchFamily="34" charset="0"/>
                <a:ea typeface="Times New Roman" panose="02020603050405020304" pitchFamily="18" charset="0"/>
                <a:cs typeface="Calibri" panose="020F0502020204030204" pitchFamily="34" charset="0"/>
              </a:rPr>
              <a:t>ms</a:t>
            </a:r>
            <a:r>
              <a:rPr lang="en-US" sz="2000" dirty="0">
                <a:effectLst/>
                <a:latin typeface="Calibri" panose="020F0502020204030204" pitchFamily="34" charset="0"/>
                <a:ea typeface="Times New Roman" panose="02020603050405020304" pitchFamily="18" charset="0"/>
                <a:cs typeface="Calibri" panose="020F0502020204030204" pitchFamily="34" charset="0"/>
              </a:rPr>
              <a:t> preview phase conditions)</a:t>
            </a:r>
            <a:r>
              <a:rPr lang="en-US" sz="2000" dirty="0">
                <a:solidFill>
                  <a:srgbClr val="000000"/>
                </a:solidFill>
                <a:latin typeface="Calibri" panose="020F0502020204030204" pitchFamily="34" charset="0"/>
                <a:ea typeface="SimSun" panose="02010600030101010101" pitchFamily="2" charset="-122"/>
                <a:cs typeface="Calibri" panose="020F0502020204030204" pitchFamily="34" charset="0"/>
              </a:rPr>
              <a:t> :</a:t>
            </a:r>
            <a:br>
              <a:rPr lang="en-US" sz="2000" dirty="0">
                <a:solidFill>
                  <a:srgbClr val="000000"/>
                </a:solidFill>
                <a:latin typeface="Calibri" panose="020F0502020204030204" pitchFamily="34" charset="0"/>
                <a:ea typeface="SimSun" panose="02010600030101010101" pitchFamily="2" charset="-122"/>
                <a:cs typeface="Calibri" panose="020F0502020204030204" pitchFamily="34" charset="0"/>
              </a:rPr>
            </a:br>
            <a:r>
              <a:rPr lang="en-US" sz="2000" dirty="0">
                <a:solidFill>
                  <a:srgbClr val="000000"/>
                </a:solidFill>
                <a:latin typeface="Calibri" panose="020F0502020204030204" pitchFamily="34" charset="0"/>
                <a:ea typeface="SimSun" panose="02010600030101010101" pitchFamily="2" charset="-122"/>
                <a:cs typeface="Calibri" panose="020F0502020204030204" pitchFamily="34" charset="0"/>
              </a:rPr>
              <a:t>                                                  </a:t>
            </a:r>
            <a:br>
              <a:rPr lang="en-US" sz="2000" dirty="0">
                <a:solidFill>
                  <a:srgbClr val="000000"/>
                </a:solidFill>
                <a:latin typeface="Calibri" panose="020F0502020204030204" pitchFamily="34" charset="0"/>
                <a:ea typeface="SimSun" panose="02010600030101010101" pitchFamily="2" charset="-122"/>
                <a:cs typeface="Calibri" panose="020F0502020204030204" pitchFamily="34" charset="0"/>
              </a:rPr>
            </a:br>
            <a:r>
              <a:rPr lang="en-US" sz="2000" b="1" dirty="0">
                <a:solidFill>
                  <a:srgbClr val="000000"/>
                </a:solidFill>
                <a:latin typeface="Calibri" panose="020F0502020204030204" pitchFamily="34" charset="0"/>
                <a:ea typeface="SimSun" panose="02010600030101010101" pitchFamily="2" charset="-122"/>
                <a:cs typeface="Calibri" panose="020F0502020204030204" pitchFamily="34" charset="0"/>
              </a:rPr>
              <a:t>                                   RT </a:t>
            </a:r>
            <a:r>
              <a:rPr lang="en-US" sz="2000" b="1" baseline="-25000" dirty="0">
                <a:solidFill>
                  <a:srgbClr val="000000"/>
                </a:solidFill>
                <a:latin typeface="Calibri" panose="020F0502020204030204" pitchFamily="34" charset="0"/>
                <a:ea typeface="SimSun" panose="02010600030101010101" pitchFamily="2" charset="-122"/>
                <a:cs typeface="Calibri" panose="020F0502020204030204" pitchFamily="34" charset="0"/>
              </a:rPr>
              <a:t>agent search</a:t>
            </a:r>
            <a:r>
              <a:rPr lang="en-US" sz="2000" b="1" dirty="0">
                <a:solidFill>
                  <a:srgbClr val="000000"/>
                </a:solidFill>
                <a:latin typeface="Calibri" panose="020F0502020204030204" pitchFamily="34" charset="0"/>
                <a:ea typeface="SimSun" panose="02010600030101010101" pitchFamily="2" charset="-122"/>
                <a:cs typeface="Calibri" panose="020F0502020204030204" pitchFamily="34" charset="0"/>
              </a:rPr>
              <a:t>       &lt;          </a:t>
            </a:r>
            <a:r>
              <a:rPr kumimoji="0" lang="en-US" sz="2000" b="1" i="0" u="none" strike="noStrike" kern="1200" cap="none" spc="0" normalizeH="0" baseline="0" noProof="0" dirty="0">
                <a:ln>
                  <a:noFill/>
                </a:ln>
                <a:solidFill>
                  <a:srgbClr val="000000"/>
                </a:solidFill>
                <a:effectLst/>
                <a:uLnTx/>
                <a:uFillTx/>
                <a:latin typeface="Calibri" panose="020F0502020204030204" pitchFamily="34" charset="0"/>
                <a:ea typeface="SimSun" panose="02010600030101010101" pitchFamily="2" charset="-122"/>
                <a:cs typeface="Calibri" panose="020F0502020204030204" pitchFamily="34" charset="0"/>
              </a:rPr>
              <a:t>RT </a:t>
            </a:r>
            <a:r>
              <a:rPr kumimoji="0" lang="en-US" sz="2000" b="1" i="0" u="none" strike="noStrike" kern="1200" cap="none" spc="0" normalizeH="0" baseline="-25000" noProof="0" dirty="0">
                <a:ln>
                  <a:noFill/>
                </a:ln>
                <a:solidFill>
                  <a:srgbClr val="000000"/>
                </a:solidFill>
                <a:effectLst/>
                <a:uLnTx/>
                <a:uFillTx/>
                <a:latin typeface="Calibri" panose="020F0502020204030204" pitchFamily="34" charset="0"/>
                <a:ea typeface="SimSun" panose="02010600030101010101" pitchFamily="2" charset="-122"/>
                <a:cs typeface="Calibri" panose="020F0502020204030204" pitchFamily="34" charset="0"/>
              </a:rPr>
              <a:t>patient search</a:t>
            </a:r>
            <a:br>
              <a:rPr lang="en-US" sz="2000" b="1" dirty="0">
                <a:effectLst/>
                <a:latin typeface="Calibri" panose="020F0502020204030204" pitchFamily="34" charset="0"/>
                <a:ea typeface="Times New Roman" panose="02020603050405020304" pitchFamily="18" charset="0"/>
                <a:cs typeface="Calibri" panose="020F0502020204030204" pitchFamily="34" charset="0"/>
              </a:rPr>
            </a:br>
            <a:br>
              <a:rPr lang="en-US" sz="2000" b="1" dirty="0">
                <a:effectLst/>
                <a:latin typeface="Calibri" panose="020F0502020204030204" pitchFamily="34" charset="0"/>
                <a:ea typeface="Times New Roman" panose="02020603050405020304" pitchFamily="18" charset="0"/>
                <a:cs typeface="Calibri" panose="020F0502020204030204" pitchFamily="34" charset="0"/>
              </a:rPr>
            </a:br>
            <a:r>
              <a:rPr lang="en-US" sz="2000" dirty="0">
                <a:effectLst/>
                <a:latin typeface="Calibri" panose="020F0502020204030204" pitchFamily="34" charset="0"/>
                <a:ea typeface="Times New Roman" panose="02020603050405020304" pitchFamily="18" charset="0"/>
                <a:cs typeface="Calibri" panose="020F0502020204030204" pitchFamily="34" charset="0"/>
              </a:rPr>
              <a:t>2. </a:t>
            </a:r>
            <a:r>
              <a:rPr lang="en-US" sz="2000" b="1" dirty="0">
                <a:effectLst/>
                <a:latin typeface="Calibri" panose="020F0502020204030204" pitchFamily="34" charset="0"/>
                <a:ea typeface="Times New Roman" panose="02020603050405020304" pitchFamily="18" charset="0"/>
                <a:cs typeface="Calibri" panose="020F0502020204030204" pitchFamily="34" charset="0"/>
              </a:rPr>
              <a:t>Bottom-up</a:t>
            </a:r>
            <a:r>
              <a:rPr lang="en-US" sz="2000" dirty="0">
                <a:effectLst/>
                <a:latin typeface="Calibri" panose="020F0502020204030204" pitchFamily="34" charset="0"/>
                <a:ea typeface="Times New Roman" panose="02020603050405020304" pitchFamily="18" charset="0"/>
                <a:cs typeface="Calibri" panose="020F0502020204030204" pitchFamily="34" charset="0"/>
              </a:rPr>
              <a:t> (</a:t>
            </a:r>
            <a:r>
              <a:rPr lang="en-US" sz="2000" dirty="0">
                <a:solidFill>
                  <a:srgbClr val="FF0000"/>
                </a:solidFill>
                <a:effectLst/>
                <a:latin typeface="Calibri" panose="020F0502020204030204" pitchFamily="34" charset="0"/>
                <a:ea typeface="Times New Roman" panose="02020603050405020304" pitchFamily="18" charset="0"/>
                <a:cs typeface="Calibri" panose="020F0502020204030204" pitchFamily="34" charset="0"/>
              </a:rPr>
              <a:t>default event role</a:t>
            </a:r>
            <a:r>
              <a:rPr lang="en-US" sz="2000" dirty="0">
                <a:latin typeface="Calibri" panose="020F0502020204030204" pitchFamily="34" charset="0"/>
                <a:ea typeface="Times New Roman" panose="02020603050405020304" pitchFamily="18" charset="0"/>
                <a:cs typeface="Calibri" panose="020F0502020204030204" pitchFamily="34" charset="0"/>
              </a:rPr>
              <a:t>):</a:t>
            </a:r>
            <a:br>
              <a:rPr lang="en-US" sz="2000" dirty="0">
                <a:effectLst/>
                <a:latin typeface="Calibri" panose="020F0502020204030204" pitchFamily="34" charset="0"/>
                <a:ea typeface="Times New Roman" panose="02020603050405020304" pitchFamily="18" charset="0"/>
                <a:cs typeface="Calibri" panose="020F0502020204030204" pitchFamily="34" charset="0"/>
              </a:rPr>
            </a:br>
            <a:endParaRPr lang="en-US" sz="2000" dirty="0">
              <a:effectLst/>
              <a:latin typeface="Calibri" panose="020F0502020204030204" pitchFamily="34" charset="0"/>
              <a:ea typeface="SimSun" panose="02010600030101010101" pitchFamily="2" charset="-122"/>
              <a:cs typeface="Calibri" panose="020F0502020204030204" pitchFamily="34" charset="0"/>
            </a:endParaRPr>
          </a:p>
        </p:txBody>
      </p:sp>
      <p:sp>
        <p:nvSpPr>
          <p:cNvPr id="59" name="TextBox 58">
            <a:extLst>
              <a:ext uri="{FF2B5EF4-FFF2-40B4-BE49-F238E27FC236}">
                <a16:creationId xmlns:a16="http://schemas.microsoft.com/office/drawing/2014/main" id="{306DE4B3-CFA4-F6F3-C370-4838AEB464C4}"/>
              </a:ext>
            </a:extLst>
          </p:cNvPr>
          <p:cNvSpPr txBox="1"/>
          <p:nvPr/>
        </p:nvSpPr>
        <p:spPr>
          <a:xfrm>
            <a:off x="344735" y="3362712"/>
            <a:ext cx="4036624" cy="646331"/>
          </a:xfrm>
          <a:prstGeom prst="rect">
            <a:avLst/>
          </a:prstGeom>
          <a:noFill/>
        </p:spPr>
        <p:txBody>
          <a:bodyPr wrap="square" rtlCol="0">
            <a:spAutoFit/>
          </a:bodyPr>
          <a:lstStyle/>
          <a:p>
            <a:pPr algn="ctr"/>
            <a:r>
              <a:rPr lang="en-US" b="1" dirty="0">
                <a:solidFill>
                  <a:srgbClr val="000000"/>
                </a:solidFill>
                <a:latin typeface="Calibri" panose="020F0502020204030204" pitchFamily="34" charset="0"/>
                <a:ea typeface="SimSun" panose="02010600030101010101" pitchFamily="2" charset="-122"/>
                <a:cs typeface="Calibri" panose="020F0502020204030204" pitchFamily="34" charset="0"/>
              </a:rPr>
              <a:t>duration of the preview phase </a:t>
            </a:r>
            <a:br>
              <a:rPr lang="en-US" dirty="0">
                <a:solidFill>
                  <a:srgbClr val="000000"/>
                </a:solidFill>
                <a:latin typeface="Calibri" panose="020F0502020204030204" pitchFamily="34" charset="0"/>
                <a:ea typeface="SimSun" panose="02010600030101010101" pitchFamily="2" charset="-122"/>
                <a:cs typeface="Calibri" panose="020F0502020204030204" pitchFamily="34" charset="0"/>
              </a:rPr>
            </a:br>
            <a:r>
              <a:rPr lang="en-US" dirty="0">
                <a:solidFill>
                  <a:srgbClr val="000000"/>
                </a:solidFill>
                <a:latin typeface="Calibri" panose="020F0502020204030204" pitchFamily="34" charset="0"/>
                <a:ea typeface="SimSun" panose="02010600030101010101" pitchFamily="2" charset="-122"/>
                <a:cs typeface="Calibri" panose="020F0502020204030204" pitchFamily="34" charset="0"/>
              </a:rPr>
              <a:t>(0 </a:t>
            </a:r>
            <a:r>
              <a:rPr lang="en-US" dirty="0" err="1">
                <a:solidFill>
                  <a:srgbClr val="000000"/>
                </a:solidFill>
                <a:latin typeface="Calibri" panose="020F0502020204030204" pitchFamily="34" charset="0"/>
                <a:ea typeface="SimSun" panose="02010600030101010101" pitchFamily="2" charset="-122"/>
                <a:cs typeface="Calibri" panose="020F0502020204030204" pitchFamily="34" charset="0"/>
              </a:rPr>
              <a:t>ms</a:t>
            </a:r>
            <a:r>
              <a:rPr lang="en-US" dirty="0">
                <a:solidFill>
                  <a:srgbClr val="000000"/>
                </a:solidFill>
                <a:latin typeface="Calibri" panose="020F0502020204030204" pitchFamily="34" charset="0"/>
                <a:ea typeface="SimSun" panose="02010600030101010101" pitchFamily="2" charset="-122"/>
                <a:cs typeface="Calibri" panose="020F0502020204030204" pitchFamily="34" charset="0"/>
              </a:rPr>
              <a:t>, 50 </a:t>
            </a:r>
            <a:r>
              <a:rPr lang="en-US" dirty="0" err="1">
                <a:solidFill>
                  <a:srgbClr val="000000"/>
                </a:solidFill>
                <a:latin typeface="Calibri" panose="020F0502020204030204" pitchFamily="34" charset="0"/>
                <a:ea typeface="SimSun" panose="02010600030101010101" pitchFamily="2" charset="-122"/>
                <a:cs typeface="Calibri" panose="020F0502020204030204" pitchFamily="34" charset="0"/>
              </a:rPr>
              <a:t>ms</a:t>
            </a:r>
            <a:r>
              <a:rPr lang="en-US" dirty="0">
                <a:solidFill>
                  <a:srgbClr val="000000"/>
                </a:solidFill>
                <a:latin typeface="Calibri" panose="020F0502020204030204" pitchFamily="34" charset="0"/>
                <a:ea typeface="SimSun" panose="02010600030101010101" pitchFamily="2" charset="-122"/>
                <a:cs typeface="Calibri" panose="020F0502020204030204" pitchFamily="34" charset="0"/>
              </a:rPr>
              <a:t>, 150 </a:t>
            </a:r>
            <a:r>
              <a:rPr lang="en-US" dirty="0" err="1">
                <a:solidFill>
                  <a:srgbClr val="000000"/>
                </a:solidFill>
                <a:latin typeface="Calibri" panose="020F0502020204030204" pitchFamily="34" charset="0"/>
                <a:ea typeface="SimSun" panose="02010600030101010101" pitchFamily="2" charset="-122"/>
                <a:cs typeface="Calibri" panose="020F0502020204030204" pitchFamily="34" charset="0"/>
              </a:rPr>
              <a:t>ms</a:t>
            </a:r>
            <a:r>
              <a:rPr lang="en-US" dirty="0">
                <a:solidFill>
                  <a:srgbClr val="000000"/>
                </a:solidFill>
                <a:latin typeface="Calibri" panose="020F0502020204030204" pitchFamily="34" charset="0"/>
                <a:ea typeface="SimSun" panose="02010600030101010101" pitchFamily="2" charset="-122"/>
                <a:cs typeface="Calibri" panose="020F0502020204030204" pitchFamily="34" charset="0"/>
              </a:rPr>
              <a:t>, 500 </a:t>
            </a:r>
            <a:r>
              <a:rPr lang="en-US" dirty="0" err="1">
                <a:solidFill>
                  <a:srgbClr val="000000"/>
                </a:solidFill>
                <a:latin typeface="Calibri" panose="020F0502020204030204" pitchFamily="34" charset="0"/>
                <a:ea typeface="SimSun" panose="02010600030101010101" pitchFamily="2" charset="-122"/>
                <a:cs typeface="Calibri" panose="020F0502020204030204" pitchFamily="34" charset="0"/>
              </a:rPr>
              <a:t>ms</a:t>
            </a:r>
            <a:r>
              <a:rPr lang="en-US" dirty="0">
                <a:solidFill>
                  <a:srgbClr val="000000"/>
                </a:solidFill>
                <a:latin typeface="Calibri" panose="020F0502020204030204" pitchFamily="34" charset="0"/>
                <a:ea typeface="SimSun" panose="02010600030101010101" pitchFamily="2" charset="-122"/>
                <a:cs typeface="Calibri" panose="020F0502020204030204" pitchFamily="34" charset="0"/>
              </a:rPr>
              <a:t>)</a:t>
            </a:r>
          </a:p>
        </p:txBody>
      </p:sp>
      <p:sp>
        <p:nvSpPr>
          <p:cNvPr id="60" name="TextBox 59">
            <a:extLst>
              <a:ext uri="{FF2B5EF4-FFF2-40B4-BE49-F238E27FC236}">
                <a16:creationId xmlns:a16="http://schemas.microsoft.com/office/drawing/2014/main" id="{CB778FBE-7A83-451F-38D4-45F1E0A9B91E}"/>
              </a:ext>
            </a:extLst>
          </p:cNvPr>
          <p:cNvSpPr txBox="1"/>
          <p:nvPr/>
        </p:nvSpPr>
        <p:spPr>
          <a:xfrm>
            <a:off x="6002997" y="3345131"/>
            <a:ext cx="2981257" cy="646331"/>
          </a:xfrm>
          <a:prstGeom prst="rect">
            <a:avLst/>
          </a:prstGeom>
          <a:noFill/>
        </p:spPr>
        <p:txBody>
          <a:bodyPr wrap="square" rtlCol="0">
            <a:spAutoFit/>
          </a:bodyPr>
          <a:lstStyle/>
          <a:p>
            <a:pPr algn="ctr"/>
            <a:r>
              <a:rPr lang="en-US" b="1" dirty="0">
                <a:effectLst/>
                <a:latin typeface="Calibri" panose="020F0502020204030204" pitchFamily="34" charset="0"/>
                <a:ea typeface="Times New Roman" panose="02020603050405020304" pitchFamily="18" charset="0"/>
                <a:cs typeface="Calibri" panose="020F0502020204030204" pitchFamily="34" charset="0"/>
              </a:rPr>
              <a:t>preview object </a:t>
            </a:r>
            <a:br>
              <a:rPr lang="en-US" dirty="0">
                <a:effectLst/>
                <a:latin typeface="Calibri" panose="020F0502020204030204" pitchFamily="34" charset="0"/>
                <a:ea typeface="Times New Roman" panose="02020603050405020304" pitchFamily="18" charset="0"/>
                <a:cs typeface="Calibri" panose="020F0502020204030204" pitchFamily="34" charset="0"/>
              </a:rPr>
            </a:br>
            <a:r>
              <a:rPr lang="en-US" dirty="0">
                <a:effectLst/>
                <a:latin typeface="Calibri" panose="020F0502020204030204" pitchFamily="34" charset="0"/>
                <a:ea typeface="Times New Roman" panose="02020603050405020304" pitchFamily="18" charset="0"/>
                <a:cs typeface="Calibri" panose="020F0502020204030204" pitchFamily="34" charset="0"/>
              </a:rPr>
              <a:t>(agent, patient)</a:t>
            </a:r>
            <a:endParaRPr lang="en-US" dirty="0">
              <a:solidFill>
                <a:srgbClr val="000000"/>
              </a:solidFill>
              <a:latin typeface="Calibri" panose="020F0502020204030204" pitchFamily="34" charset="0"/>
              <a:ea typeface="SimSun" panose="02010600030101010101" pitchFamily="2" charset="-122"/>
              <a:cs typeface="Calibri" panose="020F0502020204030204" pitchFamily="34" charset="0"/>
            </a:endParaRPr>
          </a:p>
        </p:txBody>
      </p:sp>
      <p:sp>
        <p:nvSpPr>
          <p:cNvPr id="63" name="TextBox 62">
            <a:extLst>
              <a:ext uri="{FF2B5EF4-FFF2-40B4-BE49-F238E27FC236}">
                <a16:creationId xmlns:a16="http://schemas.microsoft.com/office/drawing/2014/main" id="{FDBB2615-E1DF-2042-85D7-B30E526C9A84}"/>
              </a:ext>
            </a:extLst>
          </p:cNvPr>
          <p:cNvSpPr txBox="1"/>
          <p:nvPr/>
        </p:nvSpPr>
        <p:spPr>
          <a:xfrm>
            <a:off x="4180335" y="3215738"/>
            <a:ext cx="2378306" cy="400110"/>
          </a:xfrm>
          <a:prstGeom prst="rect">
            <a:avLst/>
          </a:prstGeom>
          <a:noFill/>
        </p:spPr>
        <p:txBody>
          <a:bodyPr wrap="square" rtlCol="0">
            <a:spAutoFit/>
          </a:bodyPr>
          <a:lstStyle/>
          <a:p>
            <a:r>
              <a:rPr lang="en-US" sz="2000" b="1" dirty="0">
                <a:solidFill>
                  <a:srgbClr val="000000"/>
                </a:solidFill>
                <a:latin typeface="Calibri" panose="020F0502020204030204" pitchFamily="34" charset="0"/>
                <a:ea typeface="SimSun" panose="02010600030101010101" pitchFamily="2" charset="-122"/>
                <a:cs typeface="Calibri" panose="020F0502020204030204" pitchFamily="34" charset="0"/>
              </a:rPr>
              <a:t>2-way interaction</a:t>
            </a:r>
            <a:endParaRPr lang="en-US" sz="2000" b="1" dirty="0">
              <a:solidFill>
                <a:schemeClr val="tx2"/>
              </a:solidFill>
              <a:latin typeface="Open Sans" panose="020B0606030504020204" pitchFamily="34" charset="0"/>
              <a:ea typeface="Open Sans" panose="020B0606030504020204" pitchFamily="34" charset="0"/>
              <a:cs typeface="Open Sans" panose="020B0606030504020204" pitchFamily="34" charset="0"/>
            </a:endParaRPr>
          </a:p>
        </p:txBody>
      </p:sp>
      <p:cxnSp>
        <p:nvCxnSpPr>
          <p:cNvPr id="64" name="Straight Arrow Connector 63">
            <a:extLst>
              <a:ext uri="{FF2B5EF4-FFF2-40B4-BE49-F238E27FC236}">
                <a16:creationId xmlns:a16="http://schemas.microsoft.com/office/drawing/2014/main" id="{5FD2045C-5DF5-32B9-F65E-AB9556F443DD}"/>
              </a:ext>
            </a:extLst>
          </p:cNvPr>
          <p:cNvCxnSpPr>
            <a:cxnSpLocks/>
          </p:cNvCxnSpPr>
          <p:nvPr/>
        </p:nvCxnSpPr>
        <p:spPr>
          <a:xfrm>
            <a:off x="4036624" y="3671330"/>
            <a:ext cx="2453389" cy="2"/>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sp>
        <p:nvSpPr>
          <p:cNvPr id="2" name="TextBox 1">
            <a:extLst>
              <a:ext uri="{FF2B5EF4-FFF2-40B4-BE49-F238E27FC236}">
                <a16:creationId xmlns:a16="http://schemas.microsoft.com/office/drawing/2014/main" id="{EE174945-E52C-F417-FAE9-E7B8DE676B7A}"/>
              </a:ext>
            </a:extLst>
          </p:cNvPr>
          <p:cNvSpPr txBox="1"/>
          <p:nvPr/>
        </p:nvSpPr>
        <p:spPr>
          <a:xfrm>
            <a:off x="238453" y="3791541"/>
            <a:ext cx="8611947" cy="736355"/>
          </a:xfrm>
          <a:prstGeom prst="rect">
            <a:avLst/>
          </a:prstGeom>
          <a:noFill/>
        </p:spPr>
        <p:txBody>
          <a:bodyPr wrap="square" rtlCol="0">
            <a:spAutoFit/>
          </a:bodyPr>
          <a:lstStyle/>
          <a:p>
            <a:pPr>
              <a:lnSpc>
                <a:spcPct val="107000"/>
              </a:lnSpc>
              <a:spcAft>
                <a:spcPts val="800"/>
              </a:spcAft>
            </a:pPr>
            <a:br>
              <a:rPr lang="en-US" sz="2000" dirty="0">
                <a:solidFill>
                  <a:srgbClr val="000000"/>
                </a:solidFill>
                <a:latin typeface="Calibri" panose="020F0502020204030204" pitchFamily="34" charset="0"/>
                <a:ea typeface="SimSun" panose="02010600030101010101" pitchFamily="2" charset="-122"/>
                <a:cs typeface="Calibri" panose="020F0502020204030204" pitchFamily="34" charset="0"/>
              </a:rPr>
            </a:br>
            <a:r>
              <a:rPr lang="en-US" sz="2000" dirty="0">
                <a:effectLst/>
                <a:latin typeface="Calibri" panose="020F0502020204030204" pitchFamily="34" charset="0"/>
                <a:ea typeface="Times New Roman" panose="02020603050405020304" pitchFamily="18" charset="0"/>
                <a:cs typeface="Calibri" panose="020F0502020204030204" pitchFamily="34" charset="0"/>
              </a:rPr>
              <a:t>3. </a:t>
            </a:r>
            <a:r>
              <a:rPr lang="en-US" sz="2000" b="1" dirty="0">
                <a:latin typeface="Calibri" panose="020F0502020204030204" pitchFamily="34" charset="0"/>
                <a:ea typeface="Times New Roman" panose="02020603050405020304" pitchFamily="18" charset="0"/>
                <a:cs typeface="Calibri" panose="020F0502020204030204" pitchFamily="34" charset="0"/>
              </a:rPr>
              <a:t>T</a:t>
            </a:r>
            <a:r>
              <a:rPr lang="en-US" sz="2000" b="1" dirty="0">
                <a:effectLst/>
                <a:latin typeface="Calibri" panose="020F0502020204030204" pitchFamily="34" charset="0"/>
                <a:ea typeface="Times New Roman" panose="02020603050405020304" pitchFamily="18" charset="0"/>
                <a:cs typeface="Calibri" panose="020F0502020204030204" pitchFamily="34" charset="0"/>
              </a:rPr>
              <a:t>op-down</a:t>
            </a:r>
            <a:r>
              <a:rPr lang="en-US" sz="2000" dirty="0">
                <a:effectLst/>
                <a:latin typeface="Calibri" panose="020F0502020204030204" pitchFamily="34" charset="0"/>
                <a:ea typeface="Times New Roman" panose="02020603050405020304" pitchFamily="18" charset="0"/>
                <a:cs typeface="Calibri" panose="020F0502020204030204" pitchFamily="34" charset="0"/>
              </a:rPr>
              <a:t> (</a:t>
            </a:r>
            <a:r>
              <a:rPr lang="en-US" sz="2000" dirty="0">
                <a:solidFill>
                  <a:srgbClr val="FF0000"/>
                </a:solidFill>
                <a:effectLst/>
                <a:latin typeface="Calibri" panose="020F0502020204030204" pitchFamily="34" charset="0"/>
                <a:ea typeface="Times New Roman" panose="02020603050405020304" pitchFamily="18" charset="0"/>
                <a:cs typeface="Calibri" panose="020F0502020204030204" pitchFamily="34" charset="0"/>
              </a:rPr>
              <a:t>task-dependent</a:t>
            </a:r>
            <a:r>
              <a:rPr lang="en-US" sz="2000" dirty="0">
                <a:effectLst/>
                <a:latin typeface="Calibri" panose="020F0502020204030204" pitchFamily="34" charset="0"/>
                <a:ea typeface="Times New Roman" panose="02020603050405020304" pitchFamily="18" charset="0"/>
                <a:cs typeface="Calibri" panose="020F0502020204030204" pitchFamily="34" charset="0"/>
              </a:rPr>
              <a:t>) </a:t>
            </a:r>
            <a:r>
              <a:rPr lang="en-US" sz="2000" dirty="0">
                <a:latin typeface="Calibri" panose="020F0502020204030204" pitchFamily="34" charset="0"/>
                <a:ea typeface="Times New Roman" panose="02020603050405020304" pitchFamily="18" charset="0"/>
                <a:cs typeface="Calibri" panose="020F0502020204030204" pitchFamily="34" charset="0"/>
              </a:rPr>
              <a:t>:</a:t>
            </a:r>
            <a:endParaRPr lang="en-US" sz="2000" dirty="0">
              <a:effectLst/>
              <a:latin typeface="Calibri" panose="020F0502020204030204" pitchFamily="34" charset="0"/>
              <a:ea typeface="SimSun" panose="02010600030101010101" pitchFamily="2" charset="-122"/>
              <a:cs typeface="Calibri" panose="020F0502020204030204" pitchFamily="34" charset="0"/>
            </a:endParaRPr>
          </a:p>
        </p:txBody>
      </p:sp>
      <p:sp>
        <p:nvSpPr>
          <p:cNvPr id="3" name="TextBox 2">
            <a:extLst>
              <a:ext uri="{FF2B5EF4-FFF2-40B4-BE49-F238E27FC236}">
                <a16:creationId xmlns:a16="http://schemas.microsoft.com/office/drawing/2014/main" id="{3342FD87-1CB4-CEAE-CED8-D3D97F922573}"/>
              </a:ext>
            </a:extLst>
          </p:cNvPr>
          <p:cNvSpPr txBox="1"/>
          <p:nvPr/>
        </p:nvSpPr>
        <p:spPr>
          <a:xfrm>
            <a:off x="0" y="5416340"/>
            <a:ext cx="3565900" cy="707886"/>
          </a:xfrm>
          <a:prstGeom prst="rect">
            <a:avLst/>
          </a:prstGeom>
          <a:noFill/>
        </p:spPr>
        <p:txBody>
          <a:bodyPr wrap="square" rtlCol="0">
            <a:spAutoFit/>
          </a:bodyPr>
          <a:lstStyle/>
          <a:p>
            <a:pPr algn="ctr"/>
            <a:r>
              <a:rPr lang="en-US" sz="2000" b="1" dirty="0">
                <a:solidFill>
                  <a:srgbClr val="000000"/>
                </a:solidFill>
                <a:latin typeface="Calibri" panose="020F0502020204030204" pitchFamily="34" charset="0"/>
                <a:ea typeface="SimSun" panose="02010600030101010101" pitchFamily="2" charset="-122"/>
                <a:cs typeface="Calibri" panose="020F0502020204030204" pitchFamily="34" charset="0"/>
              </a:rPr>
              <a:t>duration of the preview phase </a:t>
            </a:r>
            <a:br>
              <a:rPr lang="en-US" sz="2000" dirty="0">
                <a:solidFill>
                  <a:srgbClr val="000000"/>
                </a:solidFill>
                <a:latin typeface="Calibri" panose="020F0502020204030204" pitchFamily="34" charset="0"/>
                <a:ea typeface="SimSun" panose="02010600030101010101" pitchFamily="2" charset="-122"/>
                <a:cs typeface="Calibri" panose="020F0502020204030204" pitchFamily="34" charset="0"/>
              </a:rPr>
            </a:br>
            <a:r>
              <a:rPr lang="en-US" sz="2000" dirty="0">
                <a:solidFill>
                  <a:srgbClr val="000000"/>
                </a:solidFill>
                <a:latin typeface="Calibri" panose="020F0502020204030204" pitchFamily="34" charset="0"/>
                <a:ea typeface="SimSun" panose="02010600030101010101" pitchFamily="2" charset="-122"/>
                <a:cs typeface="Calibri" panose="020F0502020204030204" pitchFamily="34" charset="0"/>
              </a:rPr>
              <a:t>(0 </a:t>
            </a:r>
            <a:r>
              <a:rPr lang="en-US" sz="2000" dirty="0" err="1">
                <a:solidFill>
                  <a:srgbClr val="000000"/>
                </a:solidFill>
                <a:latin typeface="Calibri" panose="020F0502020204030204" pitchFamily="34" charset="0"/>
                <a:ea typeface="SimSun" panose="02010600030101010101" pitchFamily="2" charset="-122"/>
                <a:cs typeface="Calibri" panose="020F0502020204030204" pitchFamily="34" charset="0"/>
              </a:rPr>
              <a:t>ms</a:t>
            </a:r>
            <a:r>
              <a:rPr lang="en-US" sz="2000" dirty="0">
                <a:solidFill>
                  <a:srgbClr val="000000"/>
                </a:solidFill>
                <a:latin typeface="Calibri" panose="020F0502020204030204" pitchFamily="34" charset="0"/>
                <a:ea typeface="SimSun" panose="02010600030101010101" pitchFamily="2" charset="-122"/>
                <a:cs typeface="Calibri" panose="020F0502020204030204" pitchFamily="34" charset="0"/>
              </a:rPr>
              <a:t>, 50 </a:t>
            </a:r>
            <a:r>
              <a:rPr lang="en-US" sz="2000" dirty="0" err="1">
                <a:solidFill>
                  <a:srgbClr val="000000"/>
                </a:solidFill>
                <a:latin typeface="Calibri" panose="020F0502020204030204" pitchFamily="34" charset="0"/>
                <a:ea typeface="SimSun" panose="02010600030101010101" pitchFamily="2" charset="-122"/>
                <a:cs typeface="Calibri" panose="020F0502020204030204" pitchFamily="34" charset="0"/>
              </a:rPr>
              <a:t>ms</a:t>
            </a:r>
            <a:r>
              <a:rPr lang="en-US" sz="2000" dirty="0">
                <a:solidFill>
                  <a:srgbClr val="000000"/>
                </a:solidFill>
                <a:latin typeface="Calibri" panose="020F0502020204030204" pitchFamily="34" charset="0"/>
                <a:ea typeface="SimSun" panose="02010600030101010101" pitchFamily="2" charset="-122"/>
                <a:cs typeface="Calibri" panose="020F0502020204030204" pitchFamily="34" charset="0"/>
              </a:rPr>
              <a:t>, 150 </a:t>
            </a:r>
            <a:r>
              <a:rPr lang="en-US" sz="2000" dirty="0" err="1">
                <a:solidFill>
                  <a:srgbClr val="000000"/>
                </a:solidFill>
                <a:latin typeface="Calibri" panose="020F0502020204030204" pitchFamily="34" charset="0"/>
                <a:ea typeface="SimSun" panose="02010600030101010101" pitchFamily="2" charset="-122"/>
                <a:cs typeface="Calibri" panose="020F0502020204030204" pitchFamily="34" charset="0"/>
              </a:rPr>
              <a:t>ms</a:t>
            </a:r>
            <a:r>
              <a:rPr lang="en-US" sz="2000" dirty="0">
                <a:solidFill>
                  <a:srgbClr val="000000"/>
                </a:solidFill>
                <a:latin typeface="Calibri" panose="020F0502020204030204" pitchFamily="34" charset="0"/>
                <a:ea typeface="SimSun" panose="02010600030101010101" pitchFamily="2" charset="-122"/>
                <a:cs typeface="Calibri" panose="020F0502020204030204" pitchFamily="34" charset="0"/>
              </a:rPr>
              <a:t>, 500 </a:t>
            </a:r>
            <a:r>
              <a:rPr lang="en-US" sz="2000" dirty="0" err="1">
                <a:solidFill>
                  <a:srgbClr val="000000"/>
                </a:solidFill>
                <a:latin typeface="Calibri" panose="020F0502020204030204" pitchFamily="34" charset="0"/>
                <a:ea typeface="SimSun" panose="02010600030101010101" pitchFamily="2" charset="-122"/>
                <a:cs typeface="Calibri" panose="020F0502020204030204" pitchFamily="34" charset="0"/>
              </a:rPr>
              <a:t>ms</a:t>
            </a:r>
            <a:r>
              <a:rPr lang="en-US" sz="2000" dirty="0">
                <a:solidFill>
                  <a:srgbClr val="000000"/>
                </a:solidFill>
                <a:latin typeface="Calibri" panose="020F0502020204030204" pitchFamily="34" charset="0"/>
                <a:ea typeface="SimSun" panose="02010600030101010101" pitchFamily="2" charset="-122"/>
                <a:cs typeface="Calibri" panose="020F0502020204030204" pitchFamily="34" charset="0"/>
              </a:rPr>
              <a:t>)</a:t>
            </a:r>
          </a:p>
        </p:txBody>
      </p:sp>
      <p:sp>
        <p:nvSpPr>
          <p:cNvPr id="5" name="TextBox 4">
            <a:extLst>
              <a:ext uri="{FF2B5EF4-FFF2-40B4-BE49-F238E27FC236}">
                <a16:creationId xmlns:a16="http://schemas.microsoft.com/office/drawing/2014/main" id="{83C330CC-156B-9E69-2983-0BC9C9BB826E}"/>
              </a:ext>
            </a:extLst>
          </p:cNvPr>
          <p:cNvSpPr txBox="1"/>
          <p:nvPr/>
        </p:nvSpPr>
        <p:spPr>
          <a:xfrm>
            <a:off x="3238035" y="5416340"/>
            <a:ext cx="2612781" cy="707886"/>
          </a:xfrm>
          <a:prstGeom prst="rect">
            <a:avLst/>
          </a:prstGeom>
          <a:noFill/>
        </p:spPr>
        <p:txBody>
          <a:bodyPr wrap="square" rtlCol="0">
            <a:spAutoFit/>
          </a:bodyPr>
          <a:lstStyle/>
          <a:p>
            <a:pPr algn="ctr"/>
            <a:r>
              <a:rPr lang="en-US" sz="2000" b="1" dirty="0">
                <a:effectLst/>
                <a:latin typeface="Calibri" panose="020F0502020204030204" pitchFamily="34" charset="0"/>
                <a:ea typeface="Times New Roman" panose="02020603050405020304" pitchFamily="18" charset="0"/>
                <a:cs typeface="Calibri" panose="020F0502020204030204" pitchFamily="34" charset="0"/>
              </a:rPr>
              <a:t>preview object </a:t>
            </a:r>
            <a:br>
              <a:rPr lang="en-US" sz="2000" dirty="0">
                <a:effectLst/>
                <a:latin typeface="Calibri" panose="020F0502020204030204" pitchFamily="34" charset="0"/>
                <a:ea typeface="Times New Roman" panose="02020603050405020304" pitchFamily="18" charset="0"/>
                <a:cs typeface="Calibri" panose="020F0502020204030204" pitchFamily="34" charset="0"/>
              </a:rPr>
            </a:br>
            <a:r>
              <a:rPr lang="en-US" sz="2000" dirty="0">
                <a:effectLst/>
                <a:latin typeface="Calibri" panose="020F0502020204030204" pitchFamily="34" charset="0"/>
                <a:ea typeface="Times New Roman" panose="02020603050405020304" pitchFamily="18" charset="0"/>
                <a:cs typeface="Calibri" panose="020F0502020204030204" pitchFamily="34" charset="0"/>
              </a:rPr>
              <a:t>(agent, patient)</a:t>
            </a:r>
            <a:endParaRPr lang="en-US" sz="2000" dirty="0">
              <a:solidFill>
                <a:srgbClr val="000000"/>
              </a:solidFill>
              <a:latin typeface="Calibri" panose="020F0502020204030204" pitchFamily="34" charset="0"/>
              <a:ea typeface="SimSun" panose="02010600030101010101" pitchFamily="2" charset="-122"/>
              <a:cs typeface="Calibri" panose="020F0502020204030204" pitchFamily="34" charset="0"/>
            </a:endParaRPr>
          </a:p>
        </p:txBody>
      </p:sp>
      <p:sp>
        <p:nvSpPr>
          <p:cNvPr id="6" name="TextBox 5">
            <a:extLst>
              <a:ext uri="{FF2B5EF4-FFF2-40B4-BE49-F238E27FC236}">
                <a16:creationId xmlns:a16="http://schemas.microsoft.com/office/drawing/2014/main" id="{C13FA39D-AF24-7250-985B-3585158623D1}"/>
              </a:ext>
            </a:extLst>
          </p:cNvPr>
          <p:cNvSpPr txBox="1"/>
          <p:nvPr/>
        </p:nvSpPr>
        <p:spPr>
          <a:xfrm>
            <a:off x="3053859" y="4476829"/>
            <a:ext cx="2612781" cy="400110"/>
          </a:xfrm>
          <a:prstGeom prst="rect">
            <a:avLst/>
          </a:prstGeom>
          <a:noFill/>
        </p:spPr>
        <p:txBody>
          <a:bodyPr wrap="square" rtlCol="0">
            <a:spAutoFit/>
          </a:bodyPr>
          <a:lstStyle/>
          <a:p>
            <a:r>
              <a:rPr lang="en-US" sz="2000" b="1" dirty="0">
                <a:solidFill>
                  <a:srgbClr val="000000"/>
                </a:solidFill>
                <a:latin typeface="Calibri" panose="020F0502020204030204" pitchFamily="34" charset="0"/>
                <a:ea typeface="SimSun" panose="02010600030101010101" pitchFamily="2" charset="-122"/>
                <a:cs typeface="Calibri" panose="020F0502020204030204" pitchFamily="34" charset="0"/>
              </a:rPr>
              <a:t>3-way interaction</a:t>
            </a:r>
            <a:endParaRPr lang="en-US" sz="2000" b="1" dirty="0">
              <a:solidFill>
                <a:schemeClr val="tx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7" name="TextBox 6">
            <a:extLst>
              <a:ext uri="{FF2B5EF4-FFF2-40B4-BE49-F238E27FC236}">
                <a16:creationId xmlns:a16="http://schemas.microsoft.com/office/drawing/2014/main" id="{2417EBE9-055F-9864-FA74-B2A916DBA49F}"/>
              </a:ext>
            </a:extLst>
          </p:cNvPr>
          <p:cNvSpPr txBox="1"/>
          <p:nvPr/>
        </p:nvSpPr>
        <p:spPr>
          <a:xfrm>
            <a:off x="5350408" y="5366336"/>
            <a:ext cx="3738443" cy="707886"/>
          </a:xfrm>
          <a:prstGeom prst="rect">
            <a:avLst/>
          </a:prstGeom>
          <a:noFill/>
        </p:spPr>
        <p:txBody>
          <a:bodyPr wrap="square" rtlCol="0">
            <a:spAutoFit/>
          </a:bodyPr>
          <a:lstStyle/>
          <a:p>
            <a:pPr algn="ctr"/>
            <a:r>
              <a:rPr lang="en-US" sz="2000" b="1" dirty="0">
                <a:effectLst/>
                <a:latin typeface="Calibri" panose="020F0502020204030204" pitchFamily="34" charset="0"/>
                <a:ea typeface="Times New Roman" panose="02020603050405020304" pitchFamily="18" charset="0"/>
                <a:cs typeface="Calibri" panose="020F0502020204030204" pitchFamily="34" charset="0"/>
              </a:rPr>
              <a:t>search task </a:t>
            </a:r>
            <a:br>
              <a:rPr lang="en-US" sz="2000" dirty="0">
                <a:effectLst/>
                <a:latin typeface="Calibri" panose="020F0502020204030204" pitchFamily="34" charset="0"/>
                <a:ea typeface="Times New Roman" panose="02020603050405020304" pitchFamily="18" charset="0"/>
                <a:cs typeface="Calibri" panose="020F0502020204030204" pitchFamily="34" charset="0"/>
              </a:rPr>
            </a:br>
            <a:r>
              <a:rPr lang="en-US" sz="2000" dirty="0">
                <a:effectLst/>
                <a:latin typeface="Calibri" panose="020F0502020204030204" pitchFamily="34" charset="0"/>
                <a:ea typeface="Times New Roman" panose="02020603050405020304" pitchFamily="18" charset="0"/>
                <a:cs typeface="Calibri" panose="020F0502020204030204" pitchFamily="34" charset="0"/>
              </a:rPr>
              <a:t>(agent search, patient search)</a:t>
            </a:r>
            <a:endParaRPr lang="en-US" sz="2000" dirty="0">
              <a:solidFill>
                <a:srgbClr val="000000"/>
              </a:solidFill>
              <a:latin typeface="Calibri" panose="020F0502020204030204" pitchFamily="34" charset="0"/>
              <a:ea typeface="SimSun" panose="02010600030101010101" pitchFamily="2" charset="-122"/>
              <a:cs typeface="Calibri" panose="020F0502020204030204" pitchFamily="34" charset="0"/>
            </a:endParaRPr>
          </a:p>
        </p:txBody>
      </p:sp>
      <p:cxnSp>
        <p:nvCxnSpPr>
          <p:cNvPr id="8" name="Straight Arrow Connector 7">
            <a:extLst>
              <a:ext uri="{FF2B5EF4-FFF2-40B4-BE49-F238E27FC236}">
                <a16:creationId xmlns:a16="http://schemas.microsoft.com/office/drawing/2014/main" id="{D2329725-5FAE-8596-7D89-8AAD271CED01}"/>
              </a:ext>
            </a:extLst>
          </p:cNvPr>
          <p:cNvCxnSpPr>
            <a:cxnSpLocks/>
            <a:stCxn id="3" idx="0"/>
            <a:endCxn id="6" idx="2"/>
          </p:cNvCxnSpPr>
          <p:nvPr/>
        </p:nvCxnSpPr>
        <p:spPr>
          <a:xfrm flipV="1">
            <a:off x="1782950" y="4876939"/>
            <a:ext cx="2577300" cy="539401"/>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9" name="Straight Arrow Connector 8">
            <a:extLst>
              <a:ext uri="{FF2B5EF4-FFF2-40B4-BE49-F238E27FC236}">
                <a16:creationId xmlns:a16="http://schemas.microsoft.com/office/drawing/2014/main" id="{7424B5F8-42B6-F08F-EE05-566B5A862FC4}"/>
              </a:ext>
            </a:extLst>
          </p:cNvPr>
          <p:cNvCxnSpPr>
            <a:cxnSpLocks/>
            <a:stCxn id="7" idx="0"/>
            <a:endCxn id="6" idx="2"/>
          </p:cNvCxnSpPr>
          <p:nvPr/>
        </p:nvCxnSpPr>
        <p:spPr>
          <a:xfrm flipH="1" flipV="1">
            <a:off x="4360250" y="4876939"/>
            <a:ext cx="2859380" cy="489397"/>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10" name="Straight Arrow Connector 9">
            <a:extLst>
              <a:ext uri="{FF2B5EF4-FFF2-40B4-BE49-F238E27FC236}">
                <a16:creationId xmlns:a16="http://schemas.microsoft.com/office/drawing/2014/main" id="{99A70082-5F45-F1FF-D603-0ABE6A72961E}"/>
              </a:ext>
            </a:extLst>
          </p:cNvPr>
          <p:cNvCxnSpPr>
            <a:cxnSpLocks/>
            <a:stCxn id="5" idx="0"/>
            <a:endCxn id="6" idx="2"/>
          </p:cNvCxnSpPr>
          <p:nvPr/>
        </p:nvCxnSpPr>
        <p:spPr>
          <a:xfrm flipH="1" flipV="1">
            <a:off x="4360250" y="4876939"/>
            <a:ext cx="184176" cy="539401"/>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96678932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7DB7AF-7A26-D6DC-7FE0-8381B85E6F32}"/>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CC47CABC-5B08-5C33-72E2-23D5683FC1E9}"/>
              </a:ext>
            </a:extLst>
          </p:cNvPr>
          <p:cNvSpPr/>
          <p:nvPr/>
        </p:nvSpPr>
        <p:spPr>
          <a:xfrm>
            <a:off x="0" y="881981"/>
            <a:ext cx="2457421" cy="707886"/>
          </a:xfrm>
          <a:prstGeom prst="rect">
            <a:avLst/>
          </a:prstGeom>
          <a:noFill/>
        </p:spPr>
        <p:txBody>
          <a:bodyPr wrap="square" lIns="91440" tIns="45720" rIns="91440" bIns="45720">
            <a:spAutoFit/>
          </a:bodyPr>
          <a:lstStyle/>
          <a:p>
            <a:pPr algn="ctr"/>
            <a:r>
              <a:rPr lang="en-US" sz="40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rPr>
              <a:t>R</a:t>
            </a:r>
            <a:r>
              <a:rPr lang="en-US" altLang="zh-CN" sz="40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rPr>
              <a:t>esults</a:t>
            </a:r>
            <a:endParaRPr lang="en-US" sz="40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pic>
        <p:nvPicPr>
          <p:cNvPr id="11" name="Picture 10">
            <a:extLst>
              <a:ext uri="{FF2B5EF4-FFF2-40B4-BE49-F238E27FC236}">
                <a16:creationId xmlns:a16="http://schemas.microsoft.com/office/drawing/2014/main" id="{853DCE4B-87FA-B8FE-0534-FE3E0E25A57C}"/>
              </a:ext>
            </a:extLst>
          </p:cNvPr>
          <p:cNvPicPr>
            <a:picLocks noChangeAspect="1"/>
          </p:cNvPicPr>
          <p:nvPr/>
        </p:nvPicPr>
        <p:blipFill>
          <a:blip r:embed="rId3">
            <a:extLst>
              <a:ext uri="{28A0092B-C50C-407E-A947-70E740481C1C}">
                <a14:useLocalDpi xmlns:a14="http://schemas.microsoft.com/office/drawing/2010/main" val="0"/>
              </a:ext>
            </a:extLst>
          </a:blip>
          <a:srcRect t="12632" b="4217"/>
          <a:stretch/>
        </p:blipFill>
        <p:spPr>
          <a:xfrm>
            <a:off x="1003880" y="2295127"/>
            <a:ext cx="2685238" cy="1894937"/>
          </a:xfrm>
          <a:prstGeom prst="rect">
            <a:avLst/>
          </a:prstGeom>
        </p:spPr>
      </p:pic>
      <p:sp>
        <p:nvSpPr>
          <p:cNvPr id="14" name="矩形 15">
            <a:extLst>
              <a:ext uri="{FF2B5EF4-FFF2-40B4-BE49-F238E27FC236}">
                <a16:creationId xmlns:a16="http://schemas.microsoft.com/office/drawing/2014/main" id="{568B99CD-ED3F-D54F-4C16-929A9285FE7C}"/>
              </a:ext>
            </a:extLst>
          </p:cNvPr>
          <p:cNvSpPr>
            <a:spLocks noChangeArrowheads="1"/>
          </p:cNvSpPr>
          <p:nvPr/>
        </p:nvSpPr>
        <p:spPr bwMode="auto">
          <a:xfrm>
            <a:off x="402554" y="4346624"/>
            <a:ext cx="8513063"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911225">
              <a:defRPr>
                <a:solidFill>
                  <a:schemeClr val="tx1"/>
                </a:solidFill>
                <a:latin typeface="Calibri" panose="020F0502020204030204" pitchFamily="34" charset="0"/>
                <a:ea typeface="宋体" panose="02010600030101010101" pitchFamily="2" charset="-122"/>
              </a:defRPr>
            </a:lvl1pPr>
            <a:lvl2pPr marL="742950" indent="-285750" defTabSz="911225">
              <a:defRPr>
                <a:solidFill>
                  <a:schemeClr val="tx1"/>
                </a:solidFill>
                <a:latin typeface="Calibri" panose="020F0502020204030204" pitchFamily="34" charset="0"/>
                <a:ea typeface="宋体" panose="02010600030101010101" pitchFamily="2" charset="-122"/>
              </a:defRPr>
            </a:lvl2pPr>
            <a:lvl3pPr marL="1143000" indent="-228600" defTabSz="911225">
              <a:defRPr>
                <a:solidFill>
                  <a:schemeClr val="tx1"/>
                </a:solidFill>
                <a:latin typeface="Calibri" panose="020F0502020204030204" pitchFamily="34" charset="0"/>
                <a:ea typeface="宋体" panose="02010600030101010101" pitchFamily="2" charset="-122"/>
              </a:defRPr>
            </a:lvl3pPr>
            <a:lvl4pPr marL="1600200" indent="-228600" defTabSz="911225">
              <a:defRPr>
                <a:solidFill>
                  <a:schemeClr val="tx1"/>
                </a:solidFill>
                <a:latin typeface="Calibri" panose="020F0502020204030204" pitchFamily="34" charset="0"/>
                <a:ea typeface="宋体" panose="02010600030101010101" pitchFamily="2" charset="-122"/>
              </a:defRPr>
            </a:lvl4pPr>
            <a:lvl5pPr marL="2057400" indent="-228600" defTabSz="911225">
              <a:defRPr>
                <a:solidFill>
                  <a:schemeClr val="tx1"/>
                </a:solidFill>
                <a:latin typeface="Calibri" panose="020F0502020204030204" pitchFamily="34" charset="0"/>
                <a:ea typeface="宋体" panose="02010600030101010101" pitchFamily="2" charset="-122"/>
              </a:defRPr>
            </a:lvl5pPr>
            <a:lvl6pPr marL="25146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r>
              <a:rPr lang="en-US" dirty="0">
                <a:solidFill>
                  <a:srgbClr val="000000"/>
                </a:solidFill>
                <a:ea typeface="SimSun" panose="02010600030101010101" pitchFamily="2" charset="-122"/>
                <a:cs typeface="Calibri" panose="020F0502020204030204" pitchFamily="34" charset="0"/>
              </a:rPr>
              <a:t>To investigate hypotheses 2 and 3, we ran a repeated-measures 4 (duration of the preview phase: 0 </a:t>
            </a:r>
            <a:r>
              <a:rPr lang="en-US" dirty="0" err="1">
                <a:solidFill>
                  <a:srgbClr val="000000"/>
                </a:solidFill>
                <a:ea typeface="SimSun" panose="02010600030101010101" pitchFamily="2" charset="-122"/>
                <a:cs typeface="Calibri" panose="020F0502020204030204" pitchFamily="34" charset="0"/>
              </a:rPr>
              <a:t>ms</a:t>
            </a:r>
            <a:r>
              <a:rPr lang="en-US" dirty="0">
                <a:solidFill>
                  <a:srgbClr val="000000"/>
                </a:solidFill>
                <a:ea typeface="SimSun" panose="02010600030101010101" pitchFamily="2" charset="-122"/>
                <a:cs typeface="Calibri" panose="020F0502020204030204" pitchFamily="34" charset="0"/>
              </a:rPr>
              <a:t>, 50 </a:t>
            </a:r>
            <a:r>
              <a:rPr lang="en-US" dirty="0" err="1">
                <a:solidFill>
                  <a:srgbClr val="000000"/>
                </a:solidFill>
                <a:ea typeface="SimSun" panose="02010600030101010101" pitchFamily="2" charset="-122"/>
                <a:cs typeface="Calibri" panose="020F0502020204030204" pitchFamily="34" charset="0"/>
              </a:rPr>
              <a:t>ms</a:t>
            </a:r>
            <a:r>
              <a:rPr lang="en-US" dirty="0">
                <a:solidFill>
                  <a:srgbClr val="000000"/>
                </a:solidFill>
                <a:ea typeface="SimSun" panose="02010600030101010101" pitchFamily="2" charset="-122"/>
                <a:cs typeface="Calibri" panose="020F0502020204030204" pitchFamily="34" charset="0"/>
              </a:rPr>
              <a:t>, 150 </a:t>
            </a:r>
            <a:r>
              <a:rPr lang="en-US" dirty="0" err="1">
                <a:solidFill>
                  <a:srgbClr val="000000"/>
                </a:solidFill>
                <a:ea typeface="SimSun" panose="02010600030101010101" pitchFamily="2" charset="-122"/>
                <a:cs typeface="Calibri" panose="020F0502020204030204" pitchFamily="34" charset="0"/>
              </a:rPr>
              <a:t>ms</a:t>
            </a:r>
            <a:r>
              <a:rPr lang="en-US" dirty="0">
                <a:solidFill>
                  <a:srgbClr val="000000"/>
                </a:solidFill>
                <a:ea typeface="SimSun" panose="02010600030101010101" pitchFamily="2" charset="-122"/>
                <a:cs typeface="Calibri" panose="020F0502020204030204" pitchFamily="34" charset="0"/>
              </a:rPr>
              <a:t>, 500 </a:t>
            </a:r>
            <a:r>
              <a:rPr lang="en-US" dirty="0" err="1">
                <a:solidFill>
                  <a:srgbClr val="000000"/>
                </a:solidFill>
                <a:ea typeface="SimSun" panose="02010600030101010101" pitchFamily="2" charset="-122"/>
                <a:cs typeface="Calibri" panose="020F0502020204030204" pitchFamily="34" charset="0"/>
              </a:rPr>
              <a:t>ms</a:t>
            </a:r>
            <a:r>
              <a:rPr lang="en-US" dirty="0">
                <a:solidFill>
                  <a:srgbClr val="000000"/>
                </a:solidFill>
                <a:ea typeface="SimSun" panose="02010600030101010101" pitchFamily="2" charset="-122"/>
                <a:cs typeface="Calibri" panose="020F0502020204030204" pitchFamily="34" charset="0"/>
              </a:rPr>
              <a:t>) x 2 (preview object: agent, patient) x 2 (search task: agent search, patient search)  ANOVA with the dependent measure response time. </a:t>
            </a:r>
          </a:p>
        </p:txBody>
      </p:sp>
      <p:graphicFrame>
        <p:nvGraphicFramePr>
          <p:cNvPr id="5" name="Table 4">
            <a:extLst>
              <a:ext uri="{FF2B5EF4-FFF2-40B4-BE49-F238E27FC236}">
                <a16:creationId xmlns:a16="http://schemas.microsoft.com/office/drawing/2014/main" id="{51D1DB1C-573F-24CE-8653-C9D52A0B2FF3}"/>
              </a:ext>
            </a:extLst>
          </p:cNvPr>
          <p:cNvGraphicFramePr>
            <a:graphicFrameLocks noGrp="1"/>
          </p:cNvGraphicFramePr>
          <p:nvPr/>
        </p:nvGraphicFramePr>
        <p:xfrm>
          <a:off x="4451803" y="2476049"/>
          <a:ext cx="3121809" cy="1294428"/>
        </p:xfrm>
        <a:graphic>
          <a:graphicData uri="http://schemas.openxmlformats.org/drawingml/2006/table">
            <a:tbl>
              <a:tblPr firstRow="1" bandRow="1">
                <a:tableStyleId>{72833802-FEF1-4C79-8D5D-14CF1EAF98D9}</a:tableStyleId>
              </a:tblPr>
              <a:tblGrid>
                <a:gridCol w="1040603">
                  <a:extLst>
                    <a:ext uri="{9D8B030D-6E8A-4147-A177-3AD203B41FA5}">
                      <a16:colId xmlns:a16="http://schemas.microsoft.com/office/drawing/2014/main" val="1009955955"/>
                    </a:ext>
                  </a:extLst>
                </a:gridCol>
                <a:gridCol w="1040603">
                  <a:extLst>
                    <a:ext uri="{9D8B030D-6E8A-4147-A177-3AD203B41FA5}">
                      <a16:colId xmlns:a16="http://schemas.microsoft.com/office/drawing/2014/main" val="1410870798"/>
                    </a:ext>
                  </a:extLst>
                </a:gridCol>
                <a:gridCol w="1040603">
                  <a:extLst>
                    <a:ext uri="{9D8B030D-6E8A-4147-A177-3AD203B41FA5}">
                      <a16:colId xmlns:a16="http://schemas.microsoft.com/office/drawing/2014/main" val="1469460153"/>
                    </a:ext>
                  </a:extLst>
                </a:gridCol>
              </a:tblGrid>
              <a:tr h="410464">
                <a:tc>
                  <a:txBody>
                    <a:bodyPr/>
                    <a:lstStyle/>
                    <a:p>
                      <a:pPr algn="ctr"/>
                      <a:r>
                        <a:rPr lang="en-US" sz="1100" b="1" dirty="0">
                          <a:effectLst/>
                        </a:rPr>
                        <a:t>Search </a:t>
                      </a:r>
                      <a:endParaRPr lang="en-US" sz="1100" b="1" dirty="0"/>
                    </a:p>
                  </a:txBody>
                  <a:tcPr/>
                </a:tc>
                <a:tc>
                  <a:txBody>
                    <a:bodyPr/>
                    <a:lstStyle/>
                    <a:p>
                      <a:pPr algn="ctr"/>
                      <a:r>
                        <a:rPr lang="en-US" sz="1100" b="1" dirty="0" err="1">
                          <a:effectLst/>
                        </a:rPr>
                        <a:t>RT</a:t>
                      </a:r>
                      <a:r>
                        <a:rPr lang="en-US" sz="1100" b="1" u="none" dirty="0" err="1">
                          <a:effectLst>
                            <a:outerShdw blurRad="38100" dist="38100" dir="2700000" algn="tl">
                              <a:srgbClr val="000000">
                                <a:alpha val="43137"/>
                              </a:srgbClr>
                            </a:outerShdw>
                          </a:effectLst>
                        </a:rPr>
                        <a:t>Mean</a:t>
                      </a:r>
                      <a:r>
                        <a:rPr lang="en-US" sz="1100" b="1" dirty="0">
                          <a:effectLst/>
                        </a:rPr>
                        <a:t> </a:t>
                      </a:r>
                      <a:endParaRPr lang="en-US" sz="1100" b="1"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1" dirty="0">
                          <a:effectLst/>
                        </a:rPr>
                        <a:t>RT</a:t>
                      </a:r>
                      <a:r>
                        <a:rPr lang="en-US" sz="800" b="1" u="none" dirty="0">
                          <a:effectLst>
                            <a:outerShdw blurRad="38100" dist="38100" dir="2700000" algn="tl">
                              <a:srgbClr val="000000">
                                <a:alpha val="43137"/>
                              </a:srgbClr>
                            </a:outerShdw>
                          </a:effectLst>
                        </a:rPr>
                        <a:t>SD</a:t>
                      </a:r>
                      <a:r>
                        <a:rPr lang="en-US" sz="1100" b="1" dirty="0">
                          <a:effectLst/>
                        </a:rPr>
                        <a:t> </a:t>
                      </a:r>
                      <a:endParaRPr lang="en-US" sz="1100" b="1" dirty="0"/>
                    </a:p>
                  </a:txBody>
                  <a:tcPr/>
                </a:tc>
                <a:extLst>
                  <a:ext uri="{0D108BD9-81ED-4DB2-BD59-A6C34878D82A}">
                    <a16:rowId xmlns:a16="http://schemas.microsoft.com/office/drawing/2014/main" val="2569407630"/>
                  </a:ext>
                </a:extLst>
              </a:tr>
              <a:tr h="441982">
                <a:tc>
                  <a:txBody>
                    <a:bodyPr/>
                    <a:lstStyle/>
                    <a:p>
                      <a:pPr algn="ctr"/>
                      <a:r>
                        <a:rPr lang="en-US" sz="1100" b="1" dirty="0">
                          <a:effectLst/>
                        </a:rPr>
                        <a:t>Agent search</a:t>
                      </a:r>
                      <a:endParaRPr lang="en-US" sz="1100" b="1" dirty="0"/>
                    </a:p>
                  </a:txBody>
                  <a:tcPr/>
                </a:tc>
                <a:tc>
                  <a:txBody>
                    <a:bodyPr/>
                    <a:lstStyle/>
                    <a:p>
                      <a:pPr algn="ctr"/>
                      <a:r>
                        <a:rPr lang="en-US" sz="1100" b="1" dirty="0">
                          <a:effectLst/>
                        </a:rPr>
                        <a:t>587</a:t>
                      </a:r>
                      <a:endParaRPr lang="en-US" sz="1100" b="1" dirty="0"/>
                    </a:p>
                  </a:txBody>
                  <a:tcPr/>
                </a:tc>
                <a:tc>
                  <a:txBody>
                    <a:bodyPr/>
                    <a:lstStyle/>
                    <a:p>
                      <a:pPr algn="ctr"/>
                      <a:r>
                        <a:rPr lang="en-US" sz="1100" b="1" dirty="0">
                          <a:effectLst/>
                        </a:rPr>
                        <a:t>163</a:t>
                      </a:r>
                      <a:endParaRPr lang="en-US" sz="1100" b="1" dirty="0"/>
                    </a:p>
                  </a:txBody>
                  <a:tcPr/>
                </a:tc>
                <a:extLst>
                  <a:ext uri="{0D108BD9-81ED-4DB2-BD59-A6C34878D82A}">
                    <a16:rowId xmlns:a16="http://schemas.microsoft.com/office/drawing/2014/main" val="3343231561"/>
                  </a:ext>
                </a:extLst>
              </a:tr>
              <a:tr h="441982">
                <a:tc>
                  <a:txBody>
                    <a:bodyPr/>
                    <a:lstStyle/>
                    <a:p>
                      <a:pPr algn="ctr"/>
                      <a:r>
                        <a:rPr lang="en-US" sz="1100" b="1" dirty="0">
                          <a:effectLst/>
                        </a:rPr>
                        <a:t>Patient search</a:t>
                      </a:r>
                      <a:endParaRPr lang="en-US" sz="1100" b="1" dirty="0"/>
                    </a:p>
                  </a:txBody>
                  <a:tcPr/>
                </a:tc>
                <a:tc>
                  <a:txBody>
                    <a:bodyPr/>
                    <a:lstStyle/>
                    <a:p>
                      <a:pPr algn="ctr"/>
                      <a:r>
                        <a:rPr lang="en-US" sz="1100" b="1" dirty="0">
                          <a:effectLst/>
                        </a:rPr>
                        <a:t>571</a:t>
                      </a:r>
                      <a:endParaRPr lang="en-US" sz="1100" b="1" dirty="0"/>
                    </a:p>
                  </a:txBody>
                  <a:tcPr/>
                </a:tc>
                <a:tc>
                  <a:txBody>
                    <a:bodyPr/>
                    <a:lstStyle/>
                    <a:p>
                      <a:pPr algn="ctr"/>
                      <a:r>
                        <a:rPr lang="en-US" sz="1100" b="1" dirty="0">
                          <a:effectLst/>
                        </a:rPr>
                        <a:t>134</a:t>
                      </a:r>
                      <a:endParaRPr lang="en-US" sz="1100" b="1" dirty="0"/>
                    </a:p>
                  </a:txBody>
                  <a:tcPr/>
                </a:tc>
                <a:extLst>
                  <a:ext uri="{0D108BD9-81ED-4DB2-BD59-A6C34878D82A}">
                    <a16:rowId xmlns:a16="http://schemas.microsoft.com/office/drawing/2014/main" val="2443910506"/>
                  </a:ext>
                </a:extLst>
              </a:tr>
            </a:tbl>
          </a:graphicData>
        </a:graphic>
      </p:graphicFrame>
      <p:sp>
        <p:nvSpPr>
          <p:cNvPr id="2" name="TextBox 1">
            <a:extLst>
              <a:ext uri="{FF2B5EF4-FFF2-40B4-BE49-F238E27FC236}">
                <a16:creationId xmlns:a16="http://schemas.microsoft.com/office/drawing/2014/main" id="{DAB076A7-D684-86B8-9471-F06064B43EE6}"/>
              </a:ext>
            </a:extLst>
          </p:cNvPr>
          <p:cNvSpPr txBox="1"/>
          <p:nvPr/>
        </p:nvSpPr>
        <p:spPr>
          <a:xfrm>
            <a:off x="402554" y="1428139"/>
            <a:ext cx="8513064" cy="923330"/>
          </a:xfrm>
          <a:prstGeom prst="rect">
            <a:avLst/>
          </a:prstGeom>
          <a:noFill/>
        </p:spPr>
        <p:txBody>
          <a:bodyPr wrap="square">
            <a:spAutoFit/>
          </a:bodyPr>
          <a:lstStyle/>
          <a:p>
            <a:r>
              <a:rPr lang="en-US" dirty="0">
                <a:solidFill>
                  <a:srgbClr val="000000"/>
                </a:solidFill>
                <a:latin typeface="Calibri" panose="020F0502020204030204" pitchFamily="34" charset="0"/>
                <a:ea typeface="SimSun" panose="02010600030101010101" pitchFamily="2" charset="-122"/>
                <a:cs typeface="Calibri" panose="020F0502020204030204" pitchFamily="34" charset="0"/>
              </a:rPr>
              <a:t>To investigate hypothesis 1, we ran a paired t-test with the dependent variable reaction time and the independent variable search task (agent search, patient search) for trials without preview.</a:t>
            </a:r>
          </a:p>
        </p:txBody>
      </p:sp>
      <p:sp>
        <p:nvSpPr>
          <p:cNvPr id="3" name="Rectangle 2">
            <a:extLst>
              <a:ext uri="{FF2B5EF4-FFF2-40B4-BE49-F238E27FC236}">
                <a16:creationId xmlns:a16="http://schemas.microsoft.com/office/drawing/2014/main" id="{D99ACF7F-1E1C-7C65-DDE4-F3B13AE6919C}"/>
              </a:ext>
            </a:extLst>
          </p:cNvPr>
          <p:cNvSpPr/>
          <p:nvPr/>
        </p:nvSpPr>
        <p:spPr>
          <a:xfrm>
            <a:off x="2009670" y="5199256"/>
            <a:ext cx="4188967" cy="400110"/>
          </a:xfrm>
          <a:prstGeom prst="rect">
            <a:avLst/>
          </a:prstGeom>
          <a:noFill/>
        </p:spPr>
        <p:txBody>
          <a:bodyPr wrap="none" lIns="91440" tIns="45720" rIns="91440" bIns="45720">
            <a:spAutoFit/>
          </a:bodyPr>
          <a:lstStyle/>
          <a:p>
            <a:pPr algn="ctr"/>
            <a:r>
              <a:rPr lang="en-US" sz="2000" b="1" dirty="0" err="1">
                <a:ln w="12700">
                  <a:solidFill>
                    <a:schemeClr val="tx2">
                      <a:lumMod val="75000"/>
                    </a:schemeClr>
                  </a:solidFill>
                  <a:prstDash val="solid"/>
                </a:ln>
                <a:solidFill>
                  <a:schemeClr val="tx2">
                    <a:lumMod val="40000"/>
                    <a:lumOff val="60000"/>
                  </a:schemeClr>
                </a:solidFill>
                <a:effectLst>
                  <a:outerShdw dist="38100" dir="2640000" algn="bl" rotWithShape="0">
                    <a:schemeClr val="tx2">
                      <a:lumMod val="75000"/>
                    </a:schemeClr>
                  </a:outerShdw>
                </a:effectLst>
              </a:rPr>
              <a:t>Cofunding</a:t>
            </a:r>
            <a:r>
              <a:rPr lang="en-US" sz="2000" b="1" dirty="0">
                <a:ln w="12700">
                  <a:solidFill>
                    <a:schemeClr val="tx2">
                      <a:lumMod val="75000"/>
                    </a:schemeClr>
                  </a:solidFill>
                  <a:prstDash val="solid"/>
                </a:ln>
                <a:solidFill>
                  <a:schemeClr val="tx2">
                    <a:lumMod val="40000"/>
                    <a:lumOff val="60000"/>
                  </a:schemeClr>
                </a:solidFill>
                <a:effectLst>
                  <a:outerShdw dist="38100" dir="2640000" algn="bl" rotWithShape="0">
                    <a:schemeClr val="tx2">
                      <a:lumMod val="75000"/>
                    </a:schemeClr>
                  </a:outerShdw>
                </a:effectLst>
              </a:rPr>
              <a:t> Factor: Pop-up action</a:t>
            </a:r>
          </a:p>
        </p:txBody>
      </p:sp>
      <p:sp>
        <p:nvSpPr>
          <p:cNvPr id="6" name="Arrow: Right 5">
            <a:extLst>
              <a:ext uri="{FF2B5EF4-FFF2-40B4-BE49-F238E27FC236}">
                <a16:creationId xmlns:a16="http://schemas.microsoft.com/office/drawing/2014/main" id="{6ECE04C3-EAAC-EDED-E58C-5331D788E29E}"/>
              </a:ext>
            </a:extLst>
          </p:cNvPr>
          <p:cNvSpPr/>
          <p:nvPr/>
        </p:nvSpPr>
        <p:spPr>
          <a:xfrm>
            <a:off x="408823" y="5699104"/>
            <a:ext cx="516197" cy="27739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C10CC4A4-A378-0F2D-ABEB-FC4C7304C457}"/>
              </a:ext>
            </a:extLst>
          </p:cNvPr>
          <p:cNvSpPr txBox="1"/>
          <p:nvPr/>
        </p:nvSpPr>
        <p:spPr>
          <a:xfrm>
            <a:off x="1003880" y="5645425"/>
            <a:ext cx="4158342" cy="369332"/>
          </a:xfrm>
          <a:prstGeom prst="rect">
            <a:avLst/>
          </a:prstGeom>
          <a:noFill/>
        </p:spPr>
        <p:txBody>
          <a:bodyPr wrap="square">
            <a:spAutoFit/>
          </a:bodyPr>
          <a:lstStyle/>
          <a:p>
            <a:r>
              <a:rPr lang="en-US" altLang="zh-CN" dirty="0">
                <a:solidFill>
                  <a:srgbClr val="000000"/>
                </a:solidFill>
                <a:latin typeface="Calibri" panose="020F0502020204030204" pitchFamily="34" charset="0"/>
                <a:ea typeface="SimSun" panose="02010600030101010101" pitchFamily="2" charset="-122"/>
                <a:cs typeface="Calibri" panose="020F0502020204030204" pitchFamily="34" charset="0"/>
              </a:rPr>
              <a:t>Thus, difficult to interpret the data.</a:t>
            </a:r>
            <a:endParaRPr lang="en-US" dirty="0">
              <a:solidFill>
                <a:srgbClr val="000000"/>
              </a:solidFill>
              <a:latin typeface="Calibri" panose="020F0502020204030204" pitchFamily="34" charset="0"/>
              <a:ea typeface="SimSun" panose="02010600030101010101" pitchFamily="2" charset="-122"/>
              <a:cs typeface="Calibri" panose="020F0502020204030204" pitchFamily="34" charset="0"/>
            </a:endParaRPr>
          </a:p>
        </p:txBody>
      </p:sp>
      <p:sp>
        <p:nvSpPr>
          <p:cNvPr id="8" name="Arrow: Right 7">
            <a:extLst>
              <a:ext uri="{FF2B5EF4-FFF2-40B4-BE49-F238E27FC236}">
                <a16:creationId xmlns:a16="http://schemas.microsoft.com/office/drawing/2014/main" id="{187BC33E-E8E1-5A9C-086D-7004AAEB141E}"/>
              </a:ext>
            </a:extLst>
          </p:cNvPr>
          <p:cNvSpPr/>
          <p:nvPr/>
        </p:nvSpPr>
        <p:spPr>
          <a:xfrm>
            <a:off x="408823" y="6191182"/>
            <a:ext cx="516197" cy="27739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4F141095-FE6D-7C45-AD6F-B2091013F905}"/>
              </a:ext>
            </a:extLst>
          </p:cNvPr>
          <p:cNvSpPr txBox="1"/>
          <p:nvPr/>
        </p:nvSpPr>
        <p:spPr>
          <a:xfrm>
            <a:off x="1003880" y="6138943"/>
            <a:ext cx="7405466" cy="646331"/>
          </a:xfrm>
          <a:prstGeom prst="rect">
            <a:avLst/>
          </a:prstGeom>
          <a:noFill/>
        </p:spPr>
        <p:txBody>
          <a:bodyPr wrap="square">
            <a:spAutoFit/>
          </a:bodyPr>
          <a:lstStyle/>
          <a:p>
            <a:r>
              <a:rPr lang="en-US" altLang="zh-CN" dirty="0">
                <a:solidFill>
                  <a:srgbClr val="000000"/>
                </a:solidFill>
                <a:latin typeface="Calibri" panose="020F0502020204030204" pitchFamily="34" charset="0"/>
                <a:ea typeface="SimSun" panose="02010600030101010101" pitchFamily="2" charset="-122"/>
                <a:cs typeface="Calibri" panose="020F0502020204030204" pitchFamily="34" charset="0"/>
              </a:rPr>
              <a:t>Focus on why the agent advantage effect could be replicated, is it because of the change of materials, or because the experiment is too complicated</a:t>
            </a:r>
            <a:endParaRPr lang="en-US" dirty="0">
              <a:solidFill>
                <a:srgbClr val="000000"/>
              </a:solidFill>
              <a:latin typeface="Calibri" panose="020F0502020204030204" pitchFamily="34" charset="0"/>
              <a:ea typeface="SimSun" panose="02010600030101010101" pitchFamily="2" charset="-122"/>
              <a:cs typeface="Calibri" panose="020F0502020204030204" pitchFamily="34" charset="0"/>
            </a:endParaRPr>
          </a:p>
        </p:txBody>
      </p:sp>
      <p:sp>
        <p:nvSpPr>
          <p:cNvPr id="10" name="矩形 15">
            <a:extLst>
              <a:ext uri="{FF2B5EF4-FFF2-40B4-BE49-F238E27FC236}">
                <a16:creationId xmlns:a16="http://schemas.microsoft.com/office/drawing/2014/main" id="{269F3353-66B6-244E-262D-DDEE829513AD}"/>
              </a:ext>
            </a:extLst>
          </p:cNvPr>
          <p:cNvSpPr>
            <a:spLocks noChangeArrowheads="1"/>
          </p:cNvSpPr>
          <p:nvPr/>
        </p:nvSpPr>
        <p:spPr bwMode="auto">
          <a:xfrm>
            <a:off x="1674198" y="4144632"/>
            <a:ext cx="2897802"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911225">
              <a:defRPr>
                <a:solidFill>
                  <a:schemeClr val="tx1"/>
                </a:solidFill>
                <a:latin typeface="Calibri" panose="020F0502020204030204" pitchFamily="34" charset="0"/>
                <a:ea typeface="宋体" panose="02010600030101010101" pitchFamily="2" charset="-122"/>
              </a:defRPr>
            </a:lvl1pPr>
            <a:lvl2pPr marL="742950" indent="-285750" defTabSz="911225">
              <a:defRPr>
                <a:solidFill>
                  <a:schemeClr val="tx1"/>
                </a:solidFill>
                <a:latin typeface="Calibri" panose="020F0502020204030204" pitchFamily="34" charset="0"/>
                <a:ea typeface="宋体" panose="02010600030101010101" pitchFamily="2" charset="-122"/>
              </a:defRPr>
            </a:lvl2pPr>
            <a:lvl3pPr marL="1143000" indent="-228600" defTabSz="911225">
              <a:defRPr>
                <a:solidFill>
                  <a:schemeClr val="tx1"/>
                </a:solidFill>
                <a:latin typeface="Calibri" panose="020F0502020204030204" pitchFamily="34" charset="0"/>
                <a:ea typeface="宋体" panose="02010600030101010101" pitchFamily="2" charset="-122"/>
              </a:defRPr>
            </a:lvl3pPr>
            <a:lvl4pPr marL="1600200" indent="-228600" defTabSz="911225">
              <a:defRPr>
                <a:solidFill>
                  <a:schemeClr val="tx1"/>
                </a:solidFill>
                <a:latin typeface="Calibri" panose="020F0502020204030204" pitchFamily="34" charset="0"/>
                <a:ea typeface="宋体" panose="02010600030101010101" pitchFamily="2" charset="-122"/>
              </a:defRPr>
            </a:lvl4pPr>
            <a:lvl5pPr marL="2057400" indent="-228600" defTabSz="911225">
              <a:defRPr>
                <a:solidFill>
                  <a:schemeClr val="tx1"/>
                </a:solidFill>
                <a:latin typeface="Calibri" panose="020F0502020204030204" pitchFamily="34" charset="0"/>
                <a:ea typeface="宋体" panose="02010600030101010101" pitchFamily="2" charset="-122"/>
              </a:defRPr>
            </a:lvl5pPr>
            <a:lvl6pPr marL="25146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l"/>
            <a:r>
              <a:rPr lang="en-US" altLang="zh-CN" sz="1400" b="1" i="1" dirty="0">
                <a:effectLst>
                  <a:innerShdw blurRad="63500" dist="50800">
                    <a:prstClr val="black">
                      <a:alpha val="50000"/>
                    </a:prstClr>
                  </a:innerShdw>
                </a:effectLst>
                <a:latin typeface="open sans" panose="020B0606030504020204" pitchFamily="34" charset="0"/>
              </a:rPr>
              <a:t>t</a:t>
            </a:r>
            <a:r>
              <a:rPr lang="en-US" altLang="zh-CN" sz="1400" b="1" dirty="0">
                <a:effectLst>
                  <a:innerShdw blurRad="63500" dist="50800">
                    <a:prstClr val="black">
                      <a:alpha val="50000"/>
                    </a:prstClr>
                  </a:innerShdw>
                </a:effectLst>
                <a:latin typeface="open sans" panose="020B0606030504020204" pitchFamily="34" charset="0"/>
              </a:rPr>
              <a:t>(93) = 1.33</a:t>
            </a:r>
            <a:r>
              <a:rPr lang="en-US" altLang="zh-CN" sz="1400" b="1" dirty="0">
                <a:solidFill>
                  <a:srgbClr val="FF0000"/>
                </a:solidFill>
                <a:effectLst>
                  <a:innerShdw blurRad="63500" dist="50800">
                    <a:prstClr val="black">
                      <a:alpha val="50000"/>
                    </a:prstClr>
                  </a:innerShdw>
                </a:effectLst>
                <a:latin typeface="open sans" panose="020B0606030504020204" pitchFamily="34" charset="0"/>
              </a:rPr>
              <a:t>, </a:t>
            </a:r>
            <a:r>
              <a:rPr lang="en-US" altLang="zh-CN" sz="1400" b="1" i="1" dirty="0">
                <a:solidFill>
                  <a:srgbClr val="FF0000"/>
                </a:solidFill>
                <a:effectLst>
                  <a:innerShdw blurRad="63500" dist="50800">
                    <a:prstClr val="black">
                      <a:alpha val="50000"/>
                    </a:prstClr>
                  </a:innerShdw>
                </a:effectLst>
                <a:latin typeface="open sans" panose="020B0606030504020204" pitchFamily="34" charset="0"/>
              </a:rPr>
              <a:t>p</a:t>
            </a:r>
            <a:r>
              <a:rPr lang="en-US" altLang="zh-CN" sz="1400" b="1" dirty="0">
                <a:solidFill>
                  <a:srgbClr val="FF0000"/>
                </a:solidFill>
                <a:effectLst>
                  <a:innerShdw blurRad="63500" dist="50800">
                    <a:prstClr val="black">
                      <a:alpha val="50000"/>
                    </a:prstClr>
                  </a:innerShdw>
                </a:effectLst>
                <a:latin typeface="open sans" panose="020B0606030504020204" pitchFamily="34" charset="0"/>
              </a:rPr>
              <a:t> = .186</a:t>
            </a:r>
          </a:p>
        </p:txBody>
      </p:sp>
    </p:spTree>
    <p:extLst>
      <p:ext uri="{BB962C8B-B14F-4D97-AF65-F5344CB8AC3E}">
        <p14:creationId xmlns:p14="http://schemas.microsoft.com/office/powerpoint/2010/main" val="161875611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5D5916-5063-3835-4850-FFA28DBD21F8}"/>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5CFF9F5C-7A60-FCC8-7E08-3EB7B3C72B90}"/>
              </a:ext>
            </a:extLst>
          </p:cNvPr>
          <p:cNvSpPr/>
          <p:nvPr/>
        </p:nvSpPr>
        <p:spPr>
          <a:xfrm>
            <a:off x="0" y="881981"/>
            <a:ext cx="2457421" cy="707886"/>
          </a:xfrm>
          <a:prstGeom prst="rect">
            <a:avLst/>
          </a:prstGeom>
          <a:noFill/>
        </p:spPr>
        <p:txBody>
          <a:bodyPr wrap="square" lIns="91440" tIns="45720" rIns="91440" bIns="45720">
            <a:spAutoFit/>
          </a:bodyPr>
          <a:lstStyle/>
          <a:p>
            <a:pPr algn="ctr"/>
            <a:r>
              <a:rPr lang="en-US" sz="40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rPr>
              <a:t>R</a:t>
            </a:r>
            <a:r>
              <a:rPr lang="en-US" altLang="zh-CN" sz="40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rPr>
              <a:t>esults</a:t>
            </a:r>
            <a:endParaRPr lang="en-US" sz="40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9EED4337-68D9-8448-3B9C-77112D1A5716}"/>
              </a:ext>
            </a:extLst>
          </p:cNvPr>
          <p:cNvSpPr txBox="1"/>
          <p:nvPr/>
        </p:nvSpPr>
        <p:spPr>
          <a:xfrm>
            <a:off x="402554" y="1589867"/>
            <a:ext cx="8513064" cy="923330"/>
          </a:xfrm>
          <a:prstGeom prst="rect">
            <a:avLst/>
          </a:prstGeom>
          <a:noFill/>
        </p:spPr>
        <p:txBody>
          <a:bodyPr wrap="square">
            <a:spAutoFit/>
          </a:bodyPr>
          <a:lstStyle/>
          <a:p>
            <a:r>
              <a:rPr lang="en-US" dirty="0">
                <a:solidFill>
                  <a:srgbClr val="000000"/>
                </a:solidFill>
                <a:latin typeface="Calibri" panose="020F0502020204030204" pitchFamily="34" charset="0"/>
                <a:ea typeface="SimSun" panose="02010600030101010101" pitchFamily="2" charset="-122"/>
                <a:cs typeface="Calibri" panose="020F0502020204030204" pitchFamily="34" charset="0"/>
              </a:rPr>
              <a:t>To investigate hypothesis 1, we ran a paired t-test with the dependent variable reaction time and the independent variable search task (agent search, patient search) for trials without preview.</a:t>
            </a:r>
          </a:p>
        </p:txBody>
      </p:sp>
      <p:pic>
        <p:nvPicPr>
          <p:cNvPr id="11" name="Picture 10">
            <a:extLst>
              <a:ext uri="{FF2B5EF4-FFF2-40B4-BE49-F238E27FC236}">
                <a16:creationId xmlns:a16="http://schemas.microsoft.com/office/drawing/2014/main" id="{54E26562-FAB0-FDBF-94B3-FB5447FE1641}"/>
              </a:ext>
            </a:extLst>
          </p:cNvPr>
          <p:cNvPicPr>
            <a:picLocks noChangeAspect="1"/>
          </p:cNvPicPr>
          <p:nvPr/>
        </p:nvPicPr>
        <p:blipFill>
          <a:blip r:embed="rId3">
            <a:extLst>
              <a:ext uri="{28A0092B-C50C-407E-A947-70E740481C1C}">
                <a14:useLocalDpi xmlns:a14="http://schemas.microsoft.com/office/drawing/2010/main" val="0"/>
              </a:ext>
            </a:extLst>
          </a:blip>
          <a:srcRect t="12632" b="4217"/>
          <a:stretch/>
        </p:blipFill>
        <p:spPr>
          <a:xfrm>
            <a:off x="789275" y="2694366"/>
            <a:ext cx="3869811" cy="2730874"/>
          </a:xfrm>
          <a:prstGeom prst="rect">
            <a:avLst/>
          </a:prstGeom>
        </p:spPr>
      </p:pic>
      <p:sp>
        <p:nvSpPr>
          <p:cNvPr id="14" name="矩形 15">
            <a:extLst>
              <a:ext uri="{FF2B5EF4-FFF2-40B4-BE49-F238E27FC236}">
                <a16:creationId xmlns:a16="http://schemas.microsoft.com/office/drawing/2014/main" id="{2CFB6E2A-2103-E79F-4F76-AE9A984FA23F}"/>
              </a:ext>
            </a:extLst>
          </p:cNvPr>
          <p:cNvSpPr>
            <a:spLocks noChangeArrowheads="1"/>
          </p:cNvSpPr>
          <p:nvPr/>
        </p:nvSpPr>
        <p:spPr bwMode="auto">
          <a:xfrm>
            <a:off x="1609984" y="5425240"/>
            <a:ext cx="289780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911225">
              <a:defRPr>
                <a:solidFill>
                  <a:schemeClr val="tx1"/>
                </a:solidFill>
                <a:latin typeface="Calibri" panose="020F0502020204030204" pitchFamily="34" charset="0"/>
                <a:ea typeface="宋体" panose="02010600030101010101" pitchFamily="2" charset="-122"/>
              </a:defRPr>
            </a:lvl1pPr>
            <a:lvl2pPr marL="742950" indent="-285750" defTabSz="911225">
              <a:defRPr>
                <a:solidFill>
                  <a:schemeClr val="tx1"/>
                </a:solidFill>
                <a:latin typeface="Calibri" panose="020F0502020204030204" pitchFamily="34" charset="0"/>
                <a:ea typeface="宋体" panose="02010600030101010101" pitchFamily="2" charset="-122"/>
              </a:defRPr>
            </a:lvl2pPr>
            <a:lvl3pPr marL="1143000" indent="-228600" defTabSz="911225">
              <a:defRPr>
                <a:solidFill>
                  <a:schemeClr val="tx1"/>
                </a:solidFill>
                <a:latin typeface="Calibri" panose="020F0502020204030204" pitchFamily="34" charset="0"/>
                <a:ea typeface="宋体" panose="02010600030101010101" pitchFamily="2" charset="-122"/>
              </a:defRPr>
            </a:lvl3pPr>
            <a:lvl4pPr marL="1600200" indent="-228600" defTabSz="911225">
              <a:defRPr>
                <a:solidFill>
                  <a:schemeClr val="tx1"/>
                </a:solidFill>
                <a:latin typeface="Calibri" panose="020F0502020204030204" pitchFamily="34" charset="0"/>
                <a:ea typeface="宋体" panose="02010600030101010101" pitchFamily="2" charset="-122"/>
              </a:defRPr>
            </a:lvl4pPr>
            <a:lvl5pPr marL="2057400" indent="-228600" defTabSz="911225">
              <a:defRPr>
                <a:solidFill>
                  <a:schemeClr val="tx1"/>
                </a:solidFill>
                <a:latin typeface="Calibri" panose="020F0502020204030204" pitchFamily="34" charset="0"/>
                <a:ea typeface="宋体" panose="02010600030101010101" pitchFamily="2" charset="-122"/>
              </a:defRPr>
            </a:lvl5pPr>
            <a:lvl6pPr marL="25146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l"/>
            <a:r>
              <a:rPr lang="en-US" altLang="zh-CN" b="1" i="1" dirty="0">
                <a:effectLst>
                  <a:innerShdw blurRad="63500" dist="50800">
                    <a:prstClr val="black">
                      <a:alpha val="50000"/>
                    </a:prstClr>
                  </a:innerShdw>
                </a:effectLst>
                <a:latin typeface="open sans" panose="020B0606030504020204" pitchFamily="34" charset="0"/>
              </a:rPr>
              <a:t>t</a:t>
            </a:r>
            <a:r>
              <a:rPr lang="en-US" altLang="zh-CN" b="1" dirty="0">
                <a:effectLst>
                  <a:innerShdw blurRad="63500" dist="50800">
                    <a:prstClr val="black">
                      <a:alpha val="50000"/>
                    </a:prstClr>
                  </a:innerShdw>
                </a:effectLst>
                <a:latin typeface="open sans" panose="020B0606030504020204" pitchFamily="34" charset="0"/>
              </a:rPr>
              <a:t>(93) = 1.33</a:t>
            </a:r>
            <a:r>
              <a:rPr lang="en-US" altLang="zh-CN" b="1" dirty="0">
                <a:solidFill>
                  <a:srgbClr val="FF0000"/>
                </a:solidFill>
                <a:effectLst>
                  <a:innerShdw blurRad="63500" dist="50800">
                    <a:prstClr val="black">
                      <a:alpha val="50000"/>
                    </a:prstClr>
                  </a:innerShdw>
                </a:effectLst>
                <a:latin typeface="open sans" panose="020B0606030504020204" pitchFamily="34" charset="0"/>
              </a:rPr>
              <a:t>, </a:t>
            </a:r>
            <a:r>
              <a:rPr lang="en-US" altLang="zh-CN" b="1" i="1" dirty="0">
                <a:solidFill>
                  <a:srgbClr val="FF0000"/>
                </a:solidFill>
                <a:effectLst>
                  <a:innerShdw blurRad="63500" dist="50800">
                    <a:prstClr val="black">
                      <a:alpha val="50000"/>
                    </a:prstClr>
                  </a:innerShdw>
                </a:effectLst>
                <a:latin typeface="open sans" panose="020B0606030504020204" pitchFamily="34" charset="0"/>
              </a:rPr>
              <a:t>p</a:t>
            </a:r>
            <a:r>
              <a:rPr lang="en-US" altLang="zh-CN" b="1" dirty="0">
                <a:solidFill>
                  <a:srgbClr val="FF0000"/>
                </a:solidFill>
                <a:effectLst>
                  <a:innerShdw blurRad="63500" dist="50800">
                    <a:prstClr val="black">
                      <a:alpha val="50000"/>
                    </a:prstClr>
                  </a:innerShdw>
                </a:effectLst>
                <a:latin typeface="open sans" panose="020B0606030504020204" pitchFamily="34" charset="0"/>
              </a:rPr>
              <a:t> = .186</a:t>
            </a:r>
          </a:p>
        </p:txBody>
      </p:sp>
      <p:graphicFrame>
        <p:nvGraphicFramePr>
          <p:cNvPr id="5" name="Table 4">
            <a:extLst>
              <a:ext uri="{FF2B5EF4-FFF2-40B4-BE49-F238E27FC236}">
                <a16:creationId xmlns:a16="http://schemas.microsoft.com/office/drawing/2014/main" id="{B69BCC25-5B4A-28F9-DA84-6F92BB68E04D}"/>
              </a:ext>
            </a:extLst>
          </p:cNvPr>
          <p:cNvGraphicFramePr>
            <a:graphicFrameLocks noGrp="1"/>
          </p:cNvGraphicFramePr>
          <p:nvPr/>
        </p:nvGraphicFramePr>
        <p:xfrm>
          <a:off x="4762559" y="2884714"/>
          <a:ext cx="4065756" cy="1664501"/>
        </p:xfrm>
        <a:graphic>
          <a:graphicData uri="http://schemas.openxmlformats.org/drawingml/2006/table">
            <a:tbl>
              <a:tblPr firstRow="1" bandRow="1">
                <a:tableStyleId>{72833802-FEF1-4C79-8D5D-14CF1EAF98D9}</a:tableStyleId>
              </a:tblPr>
              <a:tblGrid>
                <a:gridCol w="1355252">
                  <a:extLst>
                    <a:ext uri="{9D8B030D-6E8A-4147-A177-3AD203B41FA5}">
                      <a16:colId xmlns:a16="http://schemas.microsoft.com/office/drawing/2014/main" val="1009955955"/>
                    </a:ext>
                  </a:extLst>
                </a:gridCol>
                <a:gridCol w="1355252">
                  <a:extLst>
                    <a:ext uri="{9D8B030D-6E8A-4147-A177-3AD203B41FA5}">
                      <a16:colId xmlns:a16="http://schemas.microsoft.com/office/drawing/2014/main" val="1410870798"/>
                    </a:ext>
                  </a:extLst>
                </a:gridCol>
                <a:gridCol w="1355252">
                  <a:extLst>
                    <a:ext uri="{9D8B030D-6E8A-4147-A177-3AD203B41FA5}">
                      <a16:colId xmlns:a16="http://schemas.microsoft.com/office/drawing/2014/main" val="1469460153"/>
                    </a:ext>
                  </a:extLst>
                </a:gridCol>
              </a:tblGrid>
              <a:tr h="384341">
                <a:tc>
                  <a:txBody>
                    <a:bodyPr/>
                    <a:lstStyle/>
                    <a:p>
                      <a:pPr algn="ctr"/>
                      <a:r>
                        <a:rPr lang="en-US" dirty="0">
                          <a:effectLst/>
                        </a:rPr>
                        <a:t>Search </a:t>
                      </a:r>
                      <a:endParaRPr lang="en-US" dirty="0"/>
                    </a:p>
                  </a:txBody>
                  <a:tcPr/>
                </a:tc>
                <a:tc>
                  <a:txBody>
                    <a:bodyPr/>
                    <a:lstStyle/>
                    <a:p>
                      <a:pPr algn="ctr"/>
                      <a:r>
                        <a:rPr lang="en-US" dirty="0" err="1">
                          <a:effectLst/>
                        </a:rPr>
                        <a:t>RT</a:t>
                      </a:r>
                      <a:r>
                        <a:rPr lang="en-US" sz="1200" u="none" dirty="0" err="1">
                          <a:effectLst>
                            <a:outerShdw blurRad="38100" dist="38100" dir="2700000" algn="tl">
                              <a:srgbClr val="000000">
                                <a:alpha val="43137"/>
                              </a:srgbClr>
                            </a:outerShdw>
                          </a:effectLst>
                        </a:rPr>
                        <a:t>Mean</a:t>
                      </a:r>
                      <a:r>
                        <a:rPr lang="en-US" dirty="0">
                          <a:effectLst/>
                        </a:rPr>
                        <a:t> </a:t>
                      </a:r>
                      <a:endParaRPr 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effectLst/>
                        </a:rPr>
                        <a:t>RT</a:t>
                      </a:r>
                      <a:r>
                        <a:rPr lang="en-US" sz="1200" u="none" dirty="0">
                          <a:effectLst>
                            <a:outerShdw blurRad="38100" dist="38100" dir="2700000" algn="tl">
                              <a:srgbClr val="000000">
                                <a:alpha val="43137"/>
                              </a:srgbClr>
                            </a:outerShdw>
                          </a:effectLst>
                        </a:rPr>
                        <a:t>SD</a:t>
                      </a:r>
                      <a:r>
                        <a:rPr lang="en-US" dirty="0">
                          <a:effectLst/>
                        </a:rPr>
                        <a:t> </a:t>
                      </a:r>
                      <a:endParaRPr lang="en-US" dirty="0"/>
                    </a:p>
                  </a:txBody>
                  <a:tcPr/>
                </a:tc>
                <a:extLst>
                  <a:ext uri="{0D108BD9-81ED-4DB2-BD59-A6C34878D82A}">
                    <a16:rowId xmlns:a16="http://schemas.microsoft.com/office/drawing/2014/main" val="2569407630"/>
                  </a:ext>
                </a:extLst>
              </a:tr>
              <a:tr h="629701">
                <a:tc>
                  <a:txBody>
                    <a:bodyPr/>
                    <a:lstStyle/>
                    <a:p>
                      <a:pPr algn="ctr"/>
                      <a:r>
                        <a:rPr lang="en-US" dirty="0">
                          <a:effectLst/>
                        </a:rPr>
                        <a:t>Agent search</a:t>
                      </a:r>
                      <a:endParaRPr lang="en-US" dirty="0"/>
                    </a:p>
                  </a:txBody>
                  <a:tcPr/>
                </a:tc>
                <a:tc>
                  <a:txBody>
                    <a:bodyPr/>
                    <a:lstStyle/>
                    <a:p>
                      <a:pPr algn="ctr"/>
                      <a:r>
                        <a:rPr lang="en-US" dirty="0">
                          <a:effectLst/>
                        </a:rPr>
                        <a:t>587</a:t>
                      </a:r>
                      <a:endParaRPr lang="en-US" dirty="0"/>
                    </a:p>
                  </a:txBody>
                  <a:tcPr/>
                </a:tc>
                <a:tc>
                  <a:txBody>
                    <a:bodyPr/>
                    <a:lstStyle/>
                    <a:p>
                      <a:pPr algn="ctr"/>
                      <a:r>
                        <a:rPr lang="en-US" dirty="0">
                          <a:effectLst/>
                        </a:rPr>
                        <a:t>163</a:t>
                      </a:r>
                      <a:endParaRPr lang="en-US" dirty="0"/>
                    </a:p>
                  </a:txBody>
                  <a:tcPr/>
                </a:tc>
                <a:extLst>
                  <a:ext uri="{0D108BD9-81ED-4DB2-BD59-A6C34878D82A}">
                    <a16:rowId xmlns:a16="http://schemas.microsoft.com/office/drawing/2014/main" val="3343231561"/>
                  </a:ext>
                </a:extLst>
              </a:tr>
              <a:tr h="629701">
                <a:tc>
                  <a:txBody>
                    <a:bodyPr/>
                    <a:lstStyle/>
                    <a:p>
                      <a:pPr algn="ctr"/>
                      <a:r>
                        <a:rPr lang="en-US" dirty="0">
                          <a:effectLst/>
                        </a:rPr>
                        <a:t>Patient search</a:t>
                      </a:r>
                      <a:endParaRPr lang="en-US" dirty="0"/>
                    </a:p>
                  </a:txBody>
                  <a:tcPr/>
                </a:tc>
                <a:tc>
                  <a:txBody>
                    <a:bodyPr/>
                    <a:lstStyle/>
                    <a:p>
                      <a:pPr algn="ctr"/>
                      <a:r>
                        <a:rPr lang="en-US" dirty="0">
                          <a:effectLst/>
                        </a:rPr>
                        <a:t>571</a:t>
                      </a:r>
                      <a:endParaRPr lang="en-US" dirty="0"/>
                    </a:p>
                  </a:txBody>
                  <a:tcPr/>
                </a:tc>
                <a:tc>
                  <a:txBody>
                    <a:bodyPr/>
                    <a:lstStyle/>
                    <a:p>
                      <a:pPr algn="ctr"/>
                      <a:r>
                        <a:rPr lang="en-US" dirty="0">
                          <a:effectLst/>
                        </a:rPr>
                        <a:t>134</a:t>
                      </a:r>
                      <a:endParaRPr lang="en-US" dirty="0"/>
                    </a:p>
                  </a:txBody>
                  <a:tcPr/>
                </a:tc>
                <a:extLst>
                  <a:ext uri="{0D108BD9-81ED-4DB2-BD59-A6C34878D82A}">
                    <a16:rowId xmlns:a16="http://schemas.microsoft.com/office/drawing/2014/main" val="2443910506"/>
                  </a:ext>
                </a:extLst>
              </a:tr>
            </a:tbl>
          </a:graphicData>
        </a:graphic>
      </p:graphicFrame>
      <p:sp>
        <p:nvSpPr>
          <p:cNvPr id="7" name="Rectangle 6">
            <a:extLst>
              <a:ext uri="{FF2B5EF4-FFF2-40B4-BE49-F238E27FC236}">
                <a16:creationId xmlns:a16="http://schemas.microsoft.com/office/drawing/2014/main" id="{36C92C3A-15EC-3A66-4246-AFBA4FB23C84}"/>
              </a:ext>
            </a:extLst>
          </p:cNvPr>
          <p:cNvSpPr/>
          <p:nvPr/>
        </p:nvSpPr>
        <p:spPr>
          <a:xfrm>
            <a:off x="4594464" y="4719976"/>
            <a:ext cx="4233851" cy="1323439"/>
          </a:xfrm>
          <a:prstGeom prst="rect">
            <a:avLst/>
          </a:prstGeom>
          <a:noFill/>
        </p:spPr>
        <p:txBody>
          <a:bodyPr wrap="none" lIns="91440" tIns="45720" rIns="91440" bIns="45720">
            <a:spAutoFit/>
          </a:bodyPr>
          <a:lstStyle/>
          <a:p>
            <a:pPr algn="ctr"/>
            <a:r>
              <a:rPr lang="en-US" sz="4000" b="1"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rPr>
              <a:t>N</a:t>
            </a:r>
            <a:r>
              <a:rPr lang="en-US" altLang="zh-CN" sz="4000" b="1"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rPr>
              <a:t>o Agent </a:t>
            </a:r>
            <a:br>
              <a:rPr lang="en-US" altLang="zh-CN" sz="4000" b="1"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rPr>
            </a:br>
            <a:r>
              <a:rPr lang="en-US" altLang="zh-CN" sz="4000" b="1"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rPr>
              <a:t>advantage effect</a:t>
            </a:r>
            <a:endParaRPr lang="en-US" sz="4000" b="1"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endParaRPr>
          </a:p>
        </p:txBody>
      </p:sp>
      <p:sp>
        <p:nvSpPr>
          <p:cNvPr id="8" name="Rectangle 7">
            <a:extLst>
              <a:ext uri="{FF2B5EF4-FFF2-40B4-BE49-F238E27FC236}">
                <a16:creationId xmlns:a16="http://schemas.microsoft.com/office/drawing/2014/main" id="{7AA3D4DE-F543-0F1B-D6F4-BE56683A33F2}"/>
              </a:ext>
            </a:extLst>
          </p:cNvPr>
          <p:cNvSpPr/>
          <p:nvPr/>
        </p:nvSpPr>
        <p:spPr>
          <a:xfrm>
            <a:off x="6005798" y="5903777"/>
            <a:ext cx="1579278" cy="707886"/>
          </a:xfrm>
          <a:prstGeom prst="rect">
            <a:avLst/>
          </a:prstGeom>
          <a:noFill/>
        </p:spPr>
        <p:txBody>
          <a:bodyPr wrap="none" lIns="91440" tIns="45720" rIns="91440" bIns="45720">
            <a:spAutoFit/>
          </a:bodyPr>
          <a:lstStyle/>
          <a:p>
            <a:pPr algn="ctr"/>
            <a:r>
              <a:rPr lang="en-US" sz="4000" b="1"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rPr>
              <a:t>W</a:t>
            </a:r>
            <a:r>
              <a:rPr lang="en-US" altLang="zh-CN" sz="4000" b="1"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rPr>
              <a:t>hy?</a:t>
            </a:r>
            <a:endParaRPr lang="en-US" sz="4000" b="1"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endParaRPr>
          </a:p>
        </p:txBody>
      </p:sp>
    </p:spTree>
    <p:extLst>
      <p:ext uri="{BB962C8B-B14F-4D97-AF65-F5344CB8AC3E}">
        <p14:creationId xmlns:p14="http://schemas.microsoft.com/office/powerpoint/2010/main" val="67337316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DB34AD-D39A-E857-5B31-978214009B1B}"/>
            </a:ext>
          </a:extLst>
        </p:cNvPr>
        <p:cNvGrpSpPr/>
        <p:nvPr/>
      </p:nvGrpSpPr>
      <p:grpSpPr>
        <a:xfrm>
          <a:off x="0" y="0"/>
          <a:ext cx="0" cy="0"/>
          <a:chOff x="0" y="0"/>
          <a:chExt cx="0" cy="0"/>
        </a:xfrm>
      </p:grpSpPr>
      <p:pic>
        <p:nvPicPr>
          <p:cNvPr id="11" name="Picture 10">
            <a:extLst>
              <a:ext uri="{FF2B5EF4-FFF2-40B4-BE49-F238E27FC236}">
                <a16:creationId xmlns:a16="http://schemas.microsoft.com/office/drawing/2014/main" id="{46816D3E-EE97-984E-7E96-EAAE10324D72}"/>
              </a:ext>
            </a:extLst>
          </p:cNvPr>
          <p:cNvPicPr>
            <a:picLocks noChangeAspect="1"/>
          </p:cNvPicPr>
          <p:nvPr/>
        </p:nvPicPr>
        <p:blipFill>
          <a:blip r:embed="rId3">
            <a:extLst>
              <a:ext uri="{28A0092B-C50C-407E-A947-70E740481C1C}">
                <a14:useLocalDpi xmlns:a14="http://schemas.microsoft.com/office/drawing/2010/main" val="0"/>
              </a:ext>
            </a:extLst>
          </a:blip>
          <a:srcRect t="12632" b="4217"/>
          <a:stretch/>
        </p:blipFill>
        <p:spPr>
          <a:xfrm>
            <a:off x="321189" y="1897107"/>
            <a:ext cx="4079884" cy="2879120"/>
          </a:xfrm>
          <a:prstGeom prst="rect">
            <a:avLst/>
          </a:prstGeom>
        </p:spPr>
      </p:pic>
      <p:sp>
        <p:nvSpPr>
          <p:cNvPr id="14" name="矩形 15">
            <a:extLst>
              <a:ext uri="{FF2B5EF4-FFF2-40B4-BE49-F238E27FC236}">
                <a16:creationId xmlns:a16="http://schemas.microsoft.com/office/drawing/2014/main" id="{5BE75BBA-2E86-8029-4494-224D0AF61818}"/>
              </a:ext>
            </a:extLst>
          </p:cNvPr>
          <p:cNvSpPr>
            <a:spLocks noChangeArrowheads="1"/>
          </p:cNvSpPr>
          <p:nvPr/>
        </p:nvSpPr>
        <p:spPr bwMode="auto">
          <a:xfrm>
            <a:off x="1109241" y="4944967"/>
            <a:ext cx="289780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911225">
              <a:defRPr>
                <a:solidFill>
                  <a:schemeClr val="tx1"/>
                </a:solidFill>
                <a:latin typeface="Calibri" panose="020F0502020204030204" pitchFamily="34" charset="0"/>
                <a:ea typeface="宋体" panose="02010600030101010101" pitchFamily="2" charset="-122"/>
              </a:defRPr>
            </a:lvl1pPr>
            <a:lvl2pPr marL="742950" indent="-285750" defTabSz="911225">
              <a:defRPr>
                <a:solidFill>
                  <a:schemeClr val="tx1"/>
                </a:solidFill>
                <a:latin typeface="Calibri" panose="020F0502020204030204" pitchFamily="34" charset="0"/>
                <a:ea typeface="宋体" panose="02010600030101010101" pitchFamily="2" charset="-122"/>
              </a:defRPr>
            </a:lvl2pPr>
            <a:lvl3pPr marL="1143000" indent="-228600" defTabSz="911225">
              <a:defRPr>
                <a:solidFill>
                  <a:schemeClr val="tx1"/>
                </a:solidFill>
                <a:latin typeface="Calibri" panose="020F0502020204030204" pitchFamily="34" charset="0"/>
                <a:ea typeface="宋体" panose="02010600030101010101" pitchFamily="2" charset="-122"/>
              </a:defRPr>
            </a:lvl3pPr>
            <a:lvl4pPr marL="1600200" indent="-228600" defTabSz="911225">
              <a:defRPr>
                <a:solidFill>
                  <a:schemeClr val="tx1"/>
                </a:solidFill>
                <a:latin typeface="Calibri" panose="020F0502020204030204" pitchFamily="34" charset="0"/>
                <a:ea typeface="宋体" panose="02010600030101010101" pitchFamily="2" charset="-122"/>
              </a:defRPr>
            </a:lvl4pPr>
            <a:lvl5pPr marL="2057400" indent="-228600" defTabSz="911225">
              <a:defRPr>
                <a:solidFill>
                  <a:schemeClr val="tx1"/>
                </a:solidFill>
                <a:latin typeface="Calibri" panose="020F0502020204030204" pitchFamily="34" charset="0"/>
                <a:ea typeface="宋体" panose="02010600030101010101" pitchFamily="2" charset="-122"/>
              </a:defRPr>
            </a:lvl5pPr>
            <a:lvl6pPr marL="25146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l"/>
            <a:r>
              <a:rPr lang="en-US" altLang="zh-CN" b="1" i="1" dirty="0">
                <a:effectLst>
                  <a:innerShdw blurRad="63500" dist="50800">
                    <a:prstClr val="black">
                      <a:alpha val="50000"/>
                    </a:prstClr>
                  </a:innerShdw>
                </a:effectLst>
                <a:latin typeface="open sans" panose="020B0606030504020204" pitchFamily="34" charset="0"/>
              </a:rPr>
              <a:t>t</a:t>
            </a:r>
            <a:r>
              <a:rPr lang="en-US" altLang="zh-CN" b="1" dirty="0">
                <a:effectLst>
                  <a:innerShdw blurRad="63500" dist="50800">
                    <a:prstClr val="black">
                      <a:alpha val="50000"/>
                    </a:prstClr>
                  </a:innerShdw>
                </a:effectLst>
                <a:latin typeface="open sans" panose="020B0606030504020204" pitchFamily="34" charset="0"/>
              </a:rPr>
              <a:t>(93) = 1.33</a:t>
            </a:r>
            <a:r>
              <a:rPr lang="en-US" altLang="zh-CN" b="1" dirty="0">
                <a:solidFill>
                  <a:srgbClr val="FF0000"/>
                </a:solidFill>
                <a:effectLst>
                  <a:innerShdw blurRad="63500" dist="50800">
                    <a:prstClr val="black">
                      <a:alpha val="50000"/>
                    </a:prstClr>
                  </a:innerShdw>
                </a:effectLst>
                <a:latin typeface="open sans" panose="020B0606030504020204" pitchFamily="34" charset="0"/>
              </a:rPr>
              <a:t>, </a:t>
            </a:r>
            <a:r>
              <a:rPr lang="en-US" altLang="zh-CN" b="1" i="1" dirty="0">
                <a:solidFill>
                  <a:srgbClr val="FF0000"/>
                </a:solidFill>
                <a:effectLst>
                  <a:innerShdw blurRad="63500" dist="50800">
                    <a:prstClr val="black">
                      <a:alpha val="50000"/>
                    </a:prstClr>
                  </a:innerShdw>
                </a:effectLst>
                <a:latin typeface="open sans" panose="020B0606030504020204" pitchFamily="34" charset="0"/>
              </a:rPr>
              <a:t>p</a:t>
            </a:r>
            <a:r>
              <a:rPr lang="en-US" altLang="zh-CN" b="1" dirty="0">
                <a:solidFill>
                  <a:srgbClr val="FF0000"/>
                </a:solidFill>
                <a:effectLst>
                  <a:innerShdw blurRad="63500" dist="50800">
                    <a:prstClr val="black">
                      <a:alpha val="50000"/>
                    </a:prstClr>
                  </a:innerShdw>
                </a:effectLst>
                <a:latin typeface="open sans" panose="020B0606030504020204" pitchFamily="34" charset="0"/>
              </a:rPr>
              <a:t> = .186</a:t>
            </a:r>
          </a:p>
        </p:txBody>
      </p:sp>
      <p:sp>
        <p:nvSpPr>
          <p:cNvPr id="2" name="TextBox 1">
            <a:extLst>
              <a:ext uri="{FF2B5EF4-FFF2-40B4-BE49-F238E27FC236}">
                <a16:creationId xmlns:a16="http://schemas.microsoft.com/office/drawing/2014/main" id="{7EB50638-5020-240E-FB36-88D3688A0408}"/>
              </a:ext>
            </a:extLst>
          </p:cNvPr>
          <p:cNvSpPr txBox="1"/>
          <p:nvPr/>
        </p:nvSpPr>
        <p:spPr>
          <a:xfrm>
            <a:off x="4107159" y="1115521"/>
            <a:ext cx="4158342" cy="1015663"/>
          </a:xfrm>
          <a:prstGeom prst="rect">
            <a:avLst/>
          </a:prstGeom>
          <a:noFill/>
        </p:spPr>
        <p:txBody>
          <a:bodyPr wrap="square">
            <a:spAutoFit/>
          </a:bodyPr>
          <a:lstStyle/>
          <a:p>
            <a:r>
              <a:rPr lang="en-US" sz="2400" dirty="0">
                <a:solidFill>
                  <a:srgbClr val="000000"/>
                </a:solidFill>
                <a:latin typeface="Calibri" panose="020F0502020204030204" pitchFamily="34" charset="0"/>
                <a:ea typeface="SimSun" panose="02010600030101010101" pitchFamily="2" charset="-122"/>
                <a:cs typeface="Calibri" panose="020F0502020204030204" pitchFamily="34" charset="0"/>
              </a:rPr>
              <a:t>P</a:t>
            </a:r>
            <a:r>
              <a:rPr lang="en-US" altLang="zh-CN" sz="2400" dirty="0">
                <a:solidFill>
                  <a:srgbClr val="000000"/>
                </a:solidFill>
                <a:latin typeface="Calibri" panose="020F0502020204030204" pitchFamily="34" charset="0"/>
                <a:ea typeface="SimSun" panose="02010600030101010101" pitchFamily="2" charset="-122"/>
                <a:cs typeface="Calibri" panose="020F0502020204030204" pitchFamily="34" charset="0"/>
              </a:rPr>
              <a:t>otential Reasons:</a:t>
            </a:r>
            <a:br>
              <a:rPr lang="en-US" altLang="zh-CN" sz="2400" dirty="0">
                <a:solidFill>
                  <a:srgbClr val="000000"/>
                </a:solidFill>
                <a:latin typeface="Calibri" panose="020F0502020204030204" pitchFamily="34" charset="0"/>
                <a:ea typeface="SimSun" panose="02010600030101010101" pitchFamily="2" charset="-122"/>
                <a:cs typeface="Calibri" panose="020F0502020204030204" pitchFamily="34" charset="0"/>
              </a:rPr>
            </a:br>
            <a:br>
              <a:rPr lang="en-US" altLang="zh-CN" dirty="0">
                <a:solidFill>
                  <a:srgbClr val="000000"/>
                </a:solidFill>
                <a:latin typeface="Calibri" panose="020F0502020204030204" pitchFamily="34" charset="0"/>
                <a:ea typeface="SimSun" panose="02010600030101010101" pitchFamily="2" charset="-122"/>
                <a:cs typeface="Calibri" panose="020F0502020204030204" pitchFamily="34" charset="0"/>
              </a:rPr>
            </a:br>
            <a:r>
              <a:rPr lang="en-US" altLang="zh-CN" dirty="0">
                <a:solidFill>
                  <a:srgbClr val="000000"/>
                </a:solidFill>
                <a:latin typeface="Calibri" panose="020F0502020204030204" pitchFamily="34" charset="0"/>
                <a:ea typeface="SimSun" panose="02010600030101010101" pitchFamily="2" charset="-122"/>
                <a:cs typeface="Calibri" panose="020F0502020204030204" pitchFamily="34" charset="0"/>
              </a:rPr>
              <a:t>1. Change of experiment materials</a:t>
            </a:r>
            <a:endParaRPr lang="en-US" dirty="0">
              <a:solidFill>
                <a:srgbClr val="000000"/>
              </a:solidFill>
              <a:latin typeface="Calibri" panose="020F0502020204030204" pitchFamily="34" charset="0"/>
              <a:ea typeface="SimSun" panose="02010600030101010101" pitchFamily="2" charset="-122"/>
              <a:cs typeface="Calibri" panose="020F0502020204030204" pitchFamily="34" charset="0"/>
            </a:endParaRPr>
          </a:p>
        </p:txBody>
      </p:sp>
      <p:pic>
        <p:nvPicPr>
          <p:cNvPr id="9" name="Picture 8" descr="A black and white drawing of two fish&#10;&#10;Description automatically generated">
            <a:extLst>
              <a:ext uri="{FF2B5EF4-FFF2-40B4-BE49-F238E27FC236}">
                <a16:creationId xmlns:a16="http://schemas.microsoft.com/office/drawing/2014/main" id="{3417DFC3-0CD5-FCEA-D4E9-914454A1B2B8}"/>
              </a:ext>
            </a:extLst>
          </p:cNvPr>
          <p:cNvPicPr>
            <a:picLocks noChangeAspect="1"/>
          </p:cNvPicPr>
          <p:nvPr/>
        </p:nvPicPr>
        <p:blipFill>
          <a:blip r:embed="rId4"/>
          <a:srcRect l="23886" r="18792"/>
          <a:stretch/>
        </p:blipFill>
        <p:spPr>
          <a:xfrm>
            <a:off x="4107159" y="2244774"/>
            <a:ext cx="1481990" cy="1454290"/>
          </a:xfrm>
          <a:prstGeom prst="rect">
            <a:avLst/>
          </a:prstGeom>
        </p:spPr>
      </p:pic>
      <p:pic>
        <p:nvPicPr>
          <p:cNvPr id="12" name="Picture 11">
            <a:extLst>
              <a:ext uri="{FF2B5EF4-FFF2-40B4-BE49-F238E27FC236}">
                <a16:creationId xmlns:a16="http://schemas.microsoft.com/office/drawing/2014/main" id="{7C833786-AC25-61EF-C38D-1C3840252A32}"/>
              </a:ext>
            </a:extLst>
          </p:cNvPr>
          <p:cNvPicPr>
            <a:picLocks noChangeAspect="1"/>
          </p:cNvPicPr>
          <p:nvPr/>
        </p:nvPicPr>
        <p:blipFill>
          <a:blip r:embed="rId5"/>
          <a:srcRect l="15006" t="27410" r="18185" b="20912"/>
          <a:stretch/>
        </p:blipFill>
        <p:spPr>
          <a:xfrm>
            <a:off x="6604590" y="2244774"/>
            <a:ext cx="1924307" cy="1439494"/>
          </a:xfrm>
          <a:prstGeom prst="rect">
            <a:avLst/>
          </a:prstGeom>
        </p:spPr>
      </p:pic>
      <p:sp>
        <p:nvSpPr>
          <p:cNvPr id="16" name="Arrow: Right 15">
            <a:extLst>
              <a:ext uri="{FF2B5EF4-FFF2-40B4-BE49-F238E27FC236}">
                <a16:creationId xmlns:a16="http://schemas.microsoft.com/office/drawing/2014/main" id="{FA0374A6-8277-1301-16B2-3E890F9D441B}"/>
              </a:ext>
            </a:extLst>
          </p:cNvPr>
          <p:cNvSpPr/>
          <p:nvPr/>
        </p:nvSpPr>
        <p:spPr>
          <a:xfrm>
            <a:off x="5941171" y="2754867"/>
            <a:ext cx="516197" cy="27739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8F5F2FDD-8440-75C5-AD75-CD7DA67151FC}"/>
              </a:ext>
            </a:extLst>
          </p:cNvPr>
          <p:cNvSpPr txBox="1"/>
          <p:nvPr/>
        </p:nvSpPr>
        <p:spPr>
          <a:xfrm>
            <a:off x="4717276" y="3744638"/>
            <a:ext cx="3480184" cy="1477328"/>
          </a:xfrm>
          <a:prstGeom prst="rect">
            <a:avLst/>
          </a:prstGeom>
          <a:noFill/>
        </p:spPr>
        <p:txBody>
          <a:bodyPr wrap="square">
            <a:spAutoFit/>
          </a:bodyPr>
          <a:lstStyle/>
          <a:p>
            <a:pPr marL="285750" indent="-285750">
              <a:buFont typeface="Arial" panose="020B0604020202020204" pitchFamily="34" charset="0"/>
              <a:buChar char="•"/>
            </a:pPr>
            <a:r>
              <a:rPr lang="en-US" altLang="zh-CN" dirty="0">
                <a:solidFill>
                  <a:srgbClr val="000000"/>
                </a:solidFill>
                <a:latin typeface="Calibri" panose="020F0502020204030204" pitchFamily="34" charset="0"/>
                <a:ea typeface="SimSun" panose="02010600030101010101" pitchFamily="2" charset="-122"/>
                <a:cs typeface="Calibri" panose="020F0502020204030204" pitchFamily="34" charset="0"/>
              </a:rPr>
              <a:t>The change of tail?</a:t>
            </a:r>
            <a:br>
              <a:rPr lang="en-US" altLang="zh-CN" dirty="0">
                <a:solidFill>
                  <a:srgbClr val="000000"/>
                </a:solidFill>
                <a:latin typeface="Calibri" panose="020F0502020204030204" pitchFamily="34" charset="0"/>
                <a:ea typeface="SimSun" panose="02010600030101010101" pitchFamily="2" charset="-122"/>
                <a:cs typeface="Calibri" panose="020F0502020204030204" pitchFamily="34" charset="0"/>
              </a:rPr>
            </a:br>
            <a:endParaRPr lang="en-US" altLang="zh-CN" dirty="0">
              <a:solidFill>
                <a:srgbClr val="000000"/>
              </a:solidFill>
              <a:latin typeface="Calibri" panose="020F0502020204030204" pitchFamily="34" charset="0"/>
              <a:ea typeface="SimSun" panose="02010600030101010101" pitchFamily="2" charset="-122"/>
              <a:cs typeface="Calibri" panose="020F0502020204030204" pitchFamily="34" charset="0"/>
            </a:endParaRPr>
          </a:p>
          <a:p>
            <a:pPr marL="285750" indent="-285750">
              <a:buFont typeface="Arial" panose="020B0604020202020204" pitchFamily="34" charset="0"/>
              <a:buChar char="•"/>
            </a:pPr>
            <a:r>
              <a:rPr lang="en-US" altLang="zh-CN" dirty="0">
                <a:solidFill>
                  <a:srgbClr val="000000"/>
                </a:solidFill>
                <a:latin typeface="Calibri" panose="020F0502020204030204" pitchFamily="34" charset="0"/>
                <a:ea typeface="SimSun" panose="02010600030101010101" pitchFamily="2" charset="-122"/>
                <a:cs typeface="Calibri" panose="020F0502020204030204" pitchFamily="34" charset="0"/>
              </a:rPr>
              <a:t>The disappearance of eyes?</a:t>
            </a:r>
            <a:br>
              <a:rPr lang="en-US" altLang="zh-CN" dirty="0">
                <a:solidFill>
                  <a:srgbClr val="000000"/>
                </a:solidFill>
                <a:latin typeface="Calibri" panose="020F0502020204030204" pitchFamily="34" charset="0"/>
                <a:ea typeface="SimSun" panose="02010600030101010101" pitchFamily="2" charset="-122"/>
                <a:cs typeface="Calibri" panose="020F0502020204030204" pitchFamily="34" charset="0"/>
              </a:rPr>
            </a:br>
            <a:endParaRPr lang="en-US" altLang="zh-CN" dirty="0">
              <a:solidFill>
                <a:srgbClr val="000000"/>
              </a:solidFill>
              <a:latin typeface="Calibri" panose="020F0502020204030204" pitchFamily="34" charset="0"/>
              <a:ea typeface="SimSun" panose="02010600030101010101" pitchFamily="2" charset="-122"/>
              <a:cs typeface="Calibri" panose="020F0502020204030204" pitchFamily="34" charset="0"/>
            </a:endParaRPr>
          </a:p>
          <a:p>
            <a:pPr marL="285750" indent="-285750">
              <a:buFont typeface="Arial" panose="020B0604020202020204" pitchFamily="34" charset="0"/>
              <a:buChar char="•"/>
            </a:pPr>
            <a:r>
              <a:rPr lang="en-US" altLang="zh-CN" dirty="0">
                <a:solidFill>
                  <a:srgbClr val="000000"/>
                </a:solidFill>
                <a:latin typeface="Calibri" panose="020F0502020204030204" pitchFamily="34" charset="0"/>
                <a:ea typeface="SimSun" panose="02010600030101010101" pitchFamily="2" charset="-122"/>
                <a:cs typeface="Calibri" panose="020F0502020204030204" pitchFamily="34" charset="0"/>
              </a:rPr>
              <a:t>The new fish is too abstract?</a:t>
            </a:r>
            <a:endParaRPr lang="en-US" dirty="0">
              <a:solidFill>
                <a:srgbClr val="000000"/>
              </a:solidFill>
              <a:latin typeface="Calibri" panose="020F0502020204030204" pitchFamily="34" charset="0"/>
              <a:ea typeface="SimSun" panose="02010600030101010101" pitchFamily="2" charset="-122"/>
              <a:cs typeface="Calibri" panose="020F0502020204030204" pitchFamily="34" charset="0"/>
            </a:endParaRPr>
          </a:p>
        </p:txBody>
      </p:sp>
      <p:sp>
        <p:nvSpPr>
          <p:cNvPr id="30" name="Rectangle 29">
            <a:extLst>
              <a:ext uri="{FF2B5EF4-FFF2-40B4-BE49-F238E27FC236}">
                <a16:creationId xmlns:a16="http://schemas.microsoft.com/office/drawing/2014/main" id="{B64438BB-93E8-DEA4-31A0-9F831D6A7FD2}"/>
              </a:ext>
            </a:extLst>
          </p:cNvPr>
          <p:cNvSpPr/>
          <p:nvPr/>
        </p:nvSpPr>
        <p:spPr>
          <a:xfrm>
            <a:off x="321189" y="915466"/>
            <a:ext cx="2457421" cy="707886"/>
          </a:xfrm>
          <a:prstGeom prst="rect">
            <a:avLst/>
          </a:prstGeom>
          <a:noFill/>
        </p:spPr>
        <p:txBody>
          <a:bodyPr wrap="square" lIns="91440" tIns="45720" rIns="91440" bIns="45720">
            <a:spAutoFit/>
          </a:bodyPr>
          <a:lstStyle/>
          <a:p>
            <a:pPr algn="ctr"/>
            <a:r>
              <a:rPr lang="en-US" sz="40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rPr>
              <a:t>Discussion</a:t>
            </a:r>
          </a:p>
        </p:txBody>
      </p:sp>
    </p:spTree>
    <p:extLst>
      <p:ext uri="{BB962C8B-B14F-4D97-AF65-F5344CB8AC3E}">
        <p14:creationId xmlns:p14="http://schemas.microsoft.com/office/powerpoint/2010/main" val="308743239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D831E1-8BC0-008E-02B9-780A5C4EBD9A}"/>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DEA19073-6B9A-0482-4129-44947DAE51EB}"/>
              </a:ext>
            </a:extLst>
          </p:cNvPr>
          <p:cNvSpPr/>
          <p:nvPr/>
        </p:nvSpPr>
        <p:spPr>
          <a:xfrm>
            <a:off x="321189" y="915466"/>
            <a:ext cx="2457421" cy="707886"/>
          </a:xfrm>
          <a:prstGeom prst="rect">
            <a:avLst/>
          </a:prstGeom>
          <a:noFill/>
        </p:spPr>
        <p:txBody>
          <a:bodyPr wrap="square" lIns="91440" tIns="45720" rIns="91440" bIns="45720">
            <a:spAutoFit/>
          </a:bodyPr>
          <a:lstStyle/>
          <a:p>
            <a:pPr algn="ctr"/>
            <a:r>
              <a:rPr lang="en-US" sz="40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rPr>
              <a:t>Discussion</a:t>
            </a:r>
          </a:p>
        </p:txBody>
      </p:sp>
      <p:pic>
        <p:nvPicPr>
          <p:cNvPr id="11" name="Picture 10">
            <a:extLst>
              <a:ext uri="{FF2B5EF4-FFF2-40B4-BE49-F238E27FC236}">
                <a16:creationId xmlns:a16="http://schemas.microsoft.com/office/drawing/2014/main" id="{E11BA3CE-622C-0B68-0DB6-8A52E55333A6}"/>
              </a:ext>
            </a:extLst>
          </p:cNvPr>
          <p:cNvPicPr>
            <a:picLocks noChangeAspect="1"/>
          </p:cNvPicPr>
          <p:nvPr/>
        </p:nvPicPr>
        <p:blipFill>
          <a:blip r:embed="rId3">
            <a:extLst>
              <a:ext uri="{28A0092B-C50C-407E-A947-70E740481C1C}">
                <a14:useLocalDpi xmlns:a14="http://schemas.microsoft.com/office/drawing/2010/main" val="0"/>
              </a:ext>
            </a:extLst>
          </a:blip>
          <a:srcRect t="12632" b="4217"/>
          <a:stretch/>
        </p:blipFill>
        <p:spPr>
          <a:xfrm>
            <a:off x="321189" y="1897107"/>
            <a:ext cx="4079884" cy="2879120"/>
          </a:xfrm>
          <a:prstGeom prst="rect">
            <a:avLst/>
          </a:prstGeom>
        </p:spPr>
      </p:pic>
      <p:sp>
        <p:nvSpPr>
          <p:cNvPr id="14" name="矩形 15">
            <a:extLst>
              <a:ext uri="{FF2B5EF4-FFF2-40B4-BE49-F238E27FC236}">
                <a16:creationId xmlns:a16="http://schemas.microsoft.com/office/drawing/2014/main" id="{776B791A-6FE9-4295-85D4-7E62E8F2901A}"/>
              </a:ext>
            </a:extLst>
          </p:cNvPr>
          <p:cNvSpPr>
            <a:spLocks noChangeArrowheads="1"/>
          </p:cNvSpPr>
          <p:nvPr/>
        </p:nvSpPr>
        <p:spPr bwMode="auto">
          <a:xfrm>
            <a:off x="1109241" y="4944967"/>
            <a:ext cx="289780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911225">
              <a:defRPr>
                <a:solidFill>
                  <a:schemeClr val="tx1"/>
                </a:solidFill>
                <a:latin typeface="Calibri" panose="020F0502020204030204" pitchFamily="34" charset="0"/>
                <a:ea typeface="宋体" panose="02010600030101010101" pitchFamily="2" charset="-122"/>
              </a:defRPr>
            </a:lvl1pPr>
            <a:lvl2pPr marL="742950" indent="-285750" defTabSz="911225">
              <a:defRPr>
                <a:solidFill>
                  <a:schemeClr val="tx1"/>
                </a:solidFill>
                <a:latin typeface="Calibri" panose="020F0502020204030204" pitchFamily="34" charset="0"/>
                <a:ea typeface="宋体" panose="02010600030101010101" pitchFamily="2" charset="-122"/>
              </a:defRPr>
            </a:lvl2pPr>
            <a:lvl3pPr marL="1143000" indent="-228600" defTabSz="911225">
              <a:defRPr>
                <a:solidFill>
                  <a:schemeClr val="tx1"/>
                </a:solidFill>
                <a:latin typeface="Calibri" panose="020F0502020204030204" pitchFamily="34" charset="0"/>
                <a:ea typeface="宋体" panose="02010600030101010101" pitchFamily="2" charset="-122"/>
              </a:defRPr>
            </a:lvl3pPr>
            <a:lvl4pPr marL="1600200" indent="-228600" defTabSz="911225">
              <a:defRPr>
                <a:solidFill>
                  <a:schemeClr val="tx1"/>
                </a:solidFill>
                <a:latin typeface="Calibri" panose="020F0502020204030204" pitchFamily="34" charset="0"/>
                <a:ea typeface="宋体" panose="02010600030101010101" pitchFamily="2" charset="-122"/>
              </a:defRPr>
            </a:lvl4pPr>
            <a:lvl5pPr marL="2057400" indent="-228600" defTabSz="911225">
              <a:defRPr>
                <a:solidFill>
                  <a:schemeClr val="tx1"/>
                </a:solidFill>
                <a:latin typeface="Calibri" panose="020F0502020204030204" pitchFamily="34" charset="0"/>
                <a:ea typeface="宋体" panose="02010600030101010101" pitchFamily="2" charset="-122"/>
              </a:defRPr>
            </a:lvl5pPr>
            <a:lvl6pPr marL="25146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l"/>
            <a:r>
              <a:rPr lang="en-US" altLang="zh-CN" b="1" i="1" dirty="0">
                <a:effectLst>
                  <a:innerShdw blurRad="63500" dist="50800">
                    <a:prstClr val="black">
                      <a:alpha val="50000"/>
                    </a:prstClr>
                  </a:innerShdw>
                </a:effectLst>
                <a:latin typeface="open sans" panose="020B0606030504020204" pitchFamily="34" charset="0"/>
              </a:rPr>
              <a:t>t</a:t>
            </a:r>
            <a:r>
              <a:rPr lang="en-US" altLang="zh-CN" b="1" dirty="0">
                <a:effectLst>
                  <a:innerShdw blurRad="63500" dist="50800">
                    <a:prstClr val="black">
                      <a:alpha val="50000"/>
                    </a:prstClr>
                  </a:innerShdw>
                </a:effectLst>
                <a:latin typeface="open sans" panose="020B0606030504020204" pitchFamily="34" charset="0"/>
              </a:rPr>
              <a:t>(93) = 1.33</a:t>
            </a:r>
            <a:r>
              <a:rPr lang="en-US" altLang="zh-CN" b="1" dirty="0">
                <a:solidFill>
                  <a:srgbClr val="FF0000"/>
                </a:solidFill>
                <a:effectLst>
                  <a:innerShdw blurRad="63500" dist="50800">
                    <a:prstClr val="black">
                      <a:alpha val="50000"/>
                    </a:prstClr>
                  </a:innerShdw>
                </a:effectLst>
                <a:latin typeface="open sans" panose="020B0606030504020204" pitchFamily="34" charset="0"/>
              </a:rPr>
              <a:t>, </a:t>
            </a:r>
            <a:r>
              <a:rPr lang="en-US" altLang="zh-CN" b="1" i="1" dirty="0">
                <a:solidFill>
                  <a:srgbClr val="FF0000"/>
                </a:solidFill>
                <a:effectLst>
                  <a:innerShdw blurRad="63500" dist="50800">
                    <a:prstClr val="black">
                      <a:alpha val="50000"/>
                    </a:prstClr>
                  </a:innerShdw>
                </a:effectLst>
                <a:latin typeface="open sans" panose="020B0606030504020204" pitchFamily="34" charset="0"/>
              </a:rPr>
              <a:t>p</a:t>
            </a:r>
            <a:r>
              <a:rPr lang="en-US" altLang="zh-CN" b="1" dirty="0">
                <a:solidFill>
                  <a:srgbClr val="FF0000"/>
                </a:solidFill>
                <a:effectLst>
                  <a:innerShdw blurRad="63500" dist="50800">
                    <a:prstClr val="black">
                      <a:alpha val="50000"/>
                    </a:prstClr>
                  </a:innerShdw>
                </a:effectLst>
                <a:latin typeface="open sans" panose="020B0606030504020204" pitchFamily="34" charset="0"/>
              </a:rPr>
              <a:t> = .186</a:t>
            </a:r>
          </a:p>
        </p:txBody>
      </p:sp>
      <p:sp>
        <p:nvSpPr>
          <p:cNvPr id="2" name="TextBox 1">
            <a:extLst>
              <a:ext uri="{FF2B5EF4-FFF2-40B4-BE49-F238E27FC236}">
                <a16:creationId xmlns:a16="http://schemas.microsoft.com/office/drawing/2014/main" id="{F5892E2F-E313-9113-A261-2BF84AB0FB0C}"/>
              </a:ext>
            </a:extLst>
          </p:cNvPr>
          <p:cNvSpPr txBox="1"/>
          <p:nvPr/>
        </p:nvSpPr>
        <p:spPr>
          <a:xfrm>
            <a:off x="4107159" y="1115521"/>
            <a:ext cx="4158342" cy="1015663"/>
          </a:xfrm>
          <a:prstGeom prst="rect">
            <a:avLst/>
          </a:prstGeom>
          <a:noFill/>
        </p:spPr>
        <p:txBody>
          <a:bodyPr wrap="square">
            <a:spAutoFit/>
          </a:bodyPr>
          <a:lstStyle/>
          <a:p>
            <a:r>
              <a:rPr lang="en-US" sz="2400" dirty="0">
                <a:solidFill>
                  <a:srgbClr val="000000"/>
                </a:solidFill>
                <a:latin typeface="Calibri" panose="020F0502020204030204" pitchFamily="34" charset="0"/>
                <a:ea typeface="SimSun" panose="02010600030101010101" pitchFamily="2" charset="-122"/>
                <a:cs typeface="Calibri" panose="020F0502020204030204" pitchFamily="34" charset="0"/>
              </a:rPr>
              <a:t>P</a:t>
            </a:r>
            <a:r>
              <a:rPr lang="en-US" altLang="zh-CN" sz="2400" dirty="0">
                <a:solidFill>
                  <a:srgbClr val="000000"/>
                </a:solidFill>
                <a:latin typeface="Calibri" panose="020F0502020204030204" pitchFamily="34" charset="0"/>
                <a:ea typeface="SimSun" panose="02010600030101010101" pitchFamily="2" charset="-122"/>
                <a:cs typeface="Calibri" panose="020F0502020204030204" pitchFamily="34" charset="0"/>
              </a:rPr>
              <a:t>otential Reasons:</a:t>
            </a:r>
            <a:br>
              <a:rPr lang="en-US" altLang="zh-CN" sz="2400" dirty="0">
                <a:solidFill>
                  <a:srgbClr val="000000"/>
                </a:solidFill>
                <a:latin typeface="Calibri" panose="020F0502020204030204" pitchFamily="34" charset="0"/>
                <a:ea typeface="SimSun" panose="02010600030101010101" pitchFamily="2" charset="-122"/>
                <a:cs typeface="Calibri" panose="020F0502020204030204" pitchFamily="34" charset="0"/>
              </a:rPr>
            </a:br>
            <a:br>
              <a:rPr lang="en-US" altLang="zh-CN" dirty="0">
                <a:solidFill>
                  <a:srgbClr val="000000"/>
                </a:solidFill>
                <a:latin typeface="Calibri" panose="020F0502020204030204" pitchFamily="34" charset="0"/>
                <a:ea typeface="SimSun" panose="02010600030101010101" pitchFamily="2" charset="-122"/>
                <a:cs typeface="Calibri" panose="020F0502020204030204" pitchFamily="34" charset="0"/>
              </a:rPr>
            </a:br>
            <a:r>
              <a:rPr lang="en-US" altLang="zh-CN" dirty="0">
                <a:solidFill>
                  <a:srgbClr val="000000"/>
                </a:solidFill>
                <a:latin typeface="Calibri" panose="020F0502020204030204" pitchFamily="34" charset="0"/>
                <a:ea typeface="SimSun" panose="02010600030101010101" pitchFamily="2" charset="-122"/>
                <a:cs typeface="Calibri" panose="020F0502020204030204" pitchFamily="34" charset="0"/>
              </a:rPr>
              <a:t>1. Change of experiment materials</a:t>
            </a:r>
            <a:endParaRPr lang="en-US" dirty="0">
              <a:solidFill>
                <a:srgbClr val="000000"/>
              </a:solidFill>
              <a:latin typeface="Calibri" panose="020F0502020204030204" pitchFamily="34" charset="0"/>
              <a:ea typeface="SimSun" panose="02010600030101010101" pitchFamily="2" charset="-122"/>
              <a:cs typeface="Calibri" panose="020F0502020204030204" pitchFamily="34" charset="0"/>
            </a:endParaRPr>
          </a:p>
        </p:txBody>
      </p:sp>
      <p:pic>
        <p:nvPicPr>
          <p:cNvPr id="9" name="Picture 8" descr="A black and white drawing of two fish&#10;&#10;Description automatically generated">
            <a:extLst>
              <a:ext uri="{FF2B5EF4-FFF2-40B4-BE49-F238E27FC236}">
                <a16:creationId xmlns:a16="http://schemas.microsoft.com/office/drawing/2014/main" id="{A61B2D3C-8DD0-2A44-E0B3-BE33CD847133}"/>
              </a:ext>
            </a:extLst>
          </p:cNvPr>
          <p:cNvPicPr>
            <a:picLocks noChangeAspect="1"/>
          </p:cNvPicPr>
          <p:nvPr/>
        </p:nvPicPr>
        <p:blipFill>
          <a:blip r:embed="rId4"/>
          <a:srcRect l="23886" r="18792"/>
          <a:stretch/>
        </p:blipFill>
        <p:spPr>
          <a:xfrm>
            <a:off x="4107159" y="2244774"/>
            <a:ext cx="1481990" cy="1454290"/>
          </a:xfrm>
          <a:prstGeom prst="rect">
            <a:avLst/>
          </a:prstGeom>
        </p:spPr>
      </p:pic>
      <p:pic>
        <p:nvPicPr>
          <p:cNvPr id="12" name="Picture 11">
            <a:extLst>
              <a:ext uri="{FF2B5EF4-FFF2-40B4-BE49-F238E27FC236}">
                <a16:creationId xmlns:a16="http://schemas.microsoft.com/office/drawing/2014/main" id="{78B7FC0E-D2C7-41DE-7067-B18FED0BDA6F}"/>
              </a:ext>
            </a:extLst>
          </p:cNvPr>
          <p:cNvPicPr>
            <a:picLocks noChangeAspect="1"/>
          </p:cNvPicPr>
          <p:nvPr/>
        </p:nvPicPr>
        <p:blipFill>
          <a:blip r:embed="rId5"/>
          <a:srcRect l="15006" t="27410" r="18185" b="20912"/>
          <a:stretch/>
        </p:blipFill>
        <p:spPr>
          <a:xfrm>
            <a:off x="6604590" y="2244774"/>
            <a:ext cx="1924307" cy="1439494"/>
          </a:xfrm>
          <a:prstGeom prst="rect">
            <a:avLst/>
          </a:prstGeom>
        </p:spPr>
      </p:pic>
      <p:sp>
        <p:nvSpPr>
          <p:cNvPr id="16" name="Arrow: Right 15">
            <a:extLst>
              <a:ext uri="{FF2B5EF4-FFF2-40B4-BE49-F238E27FC236}">
                <a16:creationId xmlns:a16="http://schemas.microsoft.com/office/drawing/2014/main" id="{91744287-450B-9749-3309-28D4EC0C0122}"/>
              </a:ext>
            </a:extLst>
          </p:cNvPr>
          <p:cNvSpPr/>
          <p:nvPr/>
        </p:nvSpPr>
        <p:spPr>
          <a:xfrm>
            <a:off x="5941171" y="2754867"/>
            <a:ext cx="516197" cy="27739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B83C2DF8-0BE1-21A9-BBD3-6DC71DAD4F54}"/>
              </a:ext>
            </a:extLst>
          </p:cNvPr>
          <p:cNvSpPr txBox="1"/>
          <p:nvPr/>
        </p:nvSpPr>
        <p:spPr>
          <a:xfrm>
            <a:off x="4107159" y="3636972"/>
            <a:ext cx="4158342" cy="369332"/>
          </a:xfrm>
          <a:prstGeom prst="rect">
            <a:avLst/>
          </a:prstGeom>
          <a:noFill/>
        </p:spPr>
        <p:txBody>
          <a:bodyPr wrap="square">
            <a:spAutoFit/>
          </a:bodyPr>
          <a:lstStyle/>
          <a:p>
            <a:r>
              <a:rPr lang="en-US" altLang="zh-CN" dirty="0">
                <a:solidFill>
                  <a:srgbClr val="000000"/>
                </a:solidFill>
                <a:latin typeface="Calibri" panose="020F0502020204030204" pitchFamily="34" charset="0"/>
                <a:ea typeface="SimSun" panose="02010600030101010101" pitchFamily="2" charset="-122"/>
                <a:cs typeface="Calibri" panose="020F0502020204030204" pitchFamily="34" charset="0"/>
              </a:rPr>
              <a:t>2. The experiment is too complicated</a:t>
            </a:r>
            <a:endParaRPr lang="en-US" dirty="0">
              <a:solidFill>
                <a:srgbClr val="000000"/>
              </a:solidFill>
              <a:latin typeface="Calibri" panose="020F0502020204030204" pitchFamily="34" charset="0"/>
              <a:ea typeface="SimSun" panose="02010600030101010101" pitchFamily="2" charset="-122"/>
              <a:cs typeface="Calibri" panose="020F0502020204030204" pitchFamily="34" charset="0"/>
            </a:endParaRPr>
          </a:p>
        </p:txBody>
      </p:sp>
      <p:pic>
        <p:nvPicPr>
          <p:cNvPr id="19" name="Picture 18" descr="A black and white drawing of two fish&#10;&#10;Description automatically generated">
            <a:extLst>
              <a:ext uri="{FF2B5EF4-FFF2-40B4-BE49-F238E27FC236}">
                <a16:creationId xmlns:a16="http://schemas.microsoft.com/office/drawing/2014/main" id="{AD8BF781-B141-D7C9-7C0F-766DAE26F91C}"/>
              </a:ext>
            </a:extLst>
          </p:cNvPr>
          <p:cNvPicPr>
            <a:picLocks noChangeAspect="1"/>
          </p:cNvPicPr>
          <p:nvPr/>
        </p:nvPicPr>
        <p:blipFill>
          <a:blip r:embed="rId4"/>
          <a:srcRect l="23886" r="18792"/>
          <a:stretch/>
        </p:blipFill>
        <p:spPr>
          <a:xfrm>
            <a:off x="4139814" y="4106231"/>
            <a:ext cx="1481990" cy="1454290"/>
          </a:xfrm>
          <a:prstGeom prst="rect">
            <a:avLst/>
          </a:prstGeom>
        </p:spPr>
      </p:pic>
      <p:sp>
        <p:nvSpPr>
          <p:cNvPr id="20" name="TextBox 19">
            <a:extLst>
              <a:ext uri="{FF2B5EF4-FFF2-40B4-BE49-F238E27FC236}">
                <a16:creationId xmlns:a16="http://schemas.microsoft.com/office/drawing/2014/main" id="{00073056-C912-AB0D-014A-B8E10D5244AB}"/>
              </a:ext>
            </a:extLst>
          </p:cNvPr>
          <p:cNvSpPr txBox="1"/>
          <p:nvPr/>
        </p:nvSpPr>
        <p:spPr>
          <a:xfrm>
            <a:off x="4139814" y="5560521"/>
            <a:ext cx="1684043" cy="369332"/>
          </a:xfrm>
          <a:prstGeom prst="rect">
            <a:avLst/>
          </a:prstGeom>
          <a:noFill/>
        </p:spPr>
        <p:txBody>
          <a:bodyPr wrap="square">
            <a:spAutoFit/>
          </a:bodyPr>
          <a:lstStyle/>
          <a:p>
            <a:r>
              <a:rPr lang="en-US" altLang="zh-CN" dirty="0">
                <a:solidFill>
                  <a:srgbClr val="000000"/>
                </a:solidFill>
                <a:latin typeface="Calibri" panose="020F0502020204030204" pitchFamily="34" charset="0"/>
                <a:ea typeface="SimSun" panose="02010600030101010101" pitchFamily="2" charset="-122"/>
                <a:cs typeface="Calibri" panose="020F0502020204030204" pitchFamily="34" charset="0"/>
              </a:rPr>
              <a:t>One Still Picture</a:t>
            </a:r>
            <a:endParaRPr lang="en-US" dirty="0">
              <a:solidFill>
                <a:srgbClr val="000000"/>
              </a:solidFill>
              <a:latin typeface="Calibri" panose="020F0502020204030204" pitchFamily="34" charset="0"/>
              <a:ea typeface="SimSun" panose="02010600030101010101" pitchFamily="2" charset="-122"/>
              <a:cs typeface="Calibri" panose="020F0502020204030204" pitchFamily="34" charset="0"/>
            </a:endParaRPr>
          </a:p>
        </p:txBody>
      </p:sp>
      <p:sp>
        <p:nvSpPr>
          <p:cNvPr id="21" name="Arrow: Right 20">
            <a:extLst>
              <a:ext uri="{FF2B5EF4-FFF2-40B4-BE49-F238E27FC236}">
                <a16:creationId xmlns:a16="http://schemas.microsoft.com/office/drawing/2014/main" id="{DC7D9F26-5B55-1EFC-C9DA-23A05F2EB6B1}"/>
              </a:ext>
            </a:extLst>
          </p:cNvPr>
          <p:cNvSpPr/>
          <p:nvPr/>
        </p:nvSpPr>
        <p:spPr>
          <a:xfrm>
            <a:off x="5943880" y="4672432"/>
            <a:ext cx="516197" cy="27739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 name="Picture 21" descr="A white fish on a black background&#10;&#10;Description automatically generated">
            <a:extLst>
              <a:ext uri="{FF2B5EF4-FFF2-40B4-BE49-F238E27FC236}">
                <a16:creationId xmlns:a16="http://schemas.microsoft.com/office/drawing/2014/main" id="{04D06135-5D4A-D487-3BF2-9319A5B20ABD}"/>
              </a:ext>
            </a:extLst>
          </p:cNvPr>
          <p:cNvPicPr>
            <a:picLocks noChangeAspect="1"/>
          </p:cNvPicPr>
          <p:nvPr/>
        </p:nvPicPr>
        <p:blipFill>
          <a:blip r:embed="rId6"/>
          <a:stretch>
            <a:fillRect/>
          </a:stretch>
        </p:blipFill>
        <p:spPr>
          <a:xfrm>
            <a:off x="6395840" y="4304395"/>
            <a:ext cx="1013463" cy="1013463"/>
          </a:xfrm>
          <a:prstGeom prst="rect">
            <a:avLst/>
          </a:prstGeom>
        </p:spPr>
      </p:pic>
      <p:pic>
        <p:nvPicPr>
          <p:cNvPr id="23" name="Picture 22">
            <a:extLst>
              <a:ext uri="{FF2B5EF4-FFF2-40B4-BE49-F238E27FC236}">
                <a16:creationId xmlns:a16="http://schemas.microsoft.com/office/drawing/2014/main" id="{9E16C113-29C7-87CE-FAEA-DB10BD4C2AA8}"/>
              </a:ext>
            </a:extLst>
          </p:cNvPr>
          <p:cNvPicPr>
            <a:picLocks noChangeAspect="1"/>
          </p:cNvPicPr>
          <p:nvPr/>
        </p:nvPicPr>
        <p:blipFill>
          <a:blip r:embed="rId5"/>
          <a:srcRect l="15006" t="27410" r="18185" b="20912"/>
          <a:stretch/>
        </p:blipFill>
        <p:spPr>
          <a:xfrm>
            <a:off x="7999102" y="4430583"/>
            <a:ext cx="1035582" cy="774676"/>
          </a:xfrm>
          <a:prstGeom prst="rect">
            <a:avLst/>
          </a:prstGeom>
        </p:spPr>
      </p:pic>
      <p:sp>
        <p:nvSpPr>
          <p:cNvPr id="24" name="TextBox 23">
            <a:extLst>
              <a:ext uri="{FF2B5EF4-FFF2-40B4-BE49-F238E27FC236}">
                <a16:creationId xmlns:a16="http://schemas.microsoft.com/office/drawing/2014/main" id="{8BE644E5-4036-0888-163E-063C0EF72BAD}"/>
              </a:ext>
            </a:extLst>
          </p:cNvPr>
          <p:cNvSpPr txBox="1"/>
          <p:nvPr/>
        </p:nvSpPr>
        <p:spPr>
          <a:xfrm>
            <a:off x="6724721" y="5560521"/>
            <a:ext cx="1684043" cy="646331"/>
          </a:xfrm>
          <a:prstGeom prst="rect">
            <a:avLst/>
          </a:prstGeom>
          <a:noFill/>
        </p:spPr>
        <p:txBody>
          <a:bodyPr wrap="square">
            <a:spAutoFit/>
          </a:bodyPr>
          <a:lstStyle/>
          <a:p>
            <a:r>
              <a:rPr lang="en-US" altLang="zh-CN" dirty="0">
                <a:solidFill>
                  <a:srgbClr val="000000"/>
                </a:solidFill>
                <a:latin typeface="Calibri" panose="020F0502020204030204" pitchFamily="34" charset="0"/>
                <a:ea typeface="SimSun" panose="02010600030101010101" pitchFamily="2" charset="-122"/>
                <a:cs typeface="Calibri" panose="020F0502020204030204" pitchFamily="34" charset="0"/>
              </a:rPr>
              <a:t>Two Pictures, </a:t>
            </a:r>
            <a:br>
              <a:rPr lang="en-US" altLang="zh-CN" dirty="0">
                <a:solidFill>
                  <a:srgbClr val="000000"/>
                </a:solidFill>
                <a:latin typeface="Calibri" panose="020F0502020204030204" pitchFamily="34" charset="0"/>
                <a:ea typeface="SimSun" panose="02010600030101010101" pitchFamily="2" charset="-122"/>
                <a:cs typeface="Calibri" panose="020F0502020204030204" pitchFamily="34" charset="0"/>
              </a:rPr>
            </a:br>
            <a:r>
              <a:rPr lang="en-US" altLang="zh-CN" dirty="0">
                <a:solidFill>
                  <a:srgbClr val="000000"/>
                </a:solidFill>
                <a:latin typeface="Calibri" panose="020F0502020204030204" pitchFamily="34" charset="0"/>
                <a:ea typeface="SimSun" panose="02010600030101010101" pitchFamily="2" charset="-122"/>
                <a:cs typeface="Calibri" panose="020F0502020204030204" pitchFamily="34" charset="0"/>
              </a:rPr>
              <a:t>Dynamic</a:t>
            </a:r>
            <a:endParaRPr lang="en-US" dirty="0">
              <a:solidFill>
                <a:srgbClr val="000000"/>
              </a:solidFill>
              <a:latin typeface="Calibri" panose="020F0502020204030204" pitchFamily="34" charset="0"/>
              <a:ea typeface="SimSun" panose="02010600030101010101" pitchFamily="2" charset="-122"/>
              <a:cs typeface="Calibri" panose="020F0502020204030204" pitchFamily="34" charset="0"/>
            </a:endParaRPr>
          </a:p>
        </p:txBody>
      </p:sp>
      <p:sp>
        <p:nvSpPr>
          <p:cNvPr id="25" name="TextBox 24">
            <a:extLst>
              <a:ext uri="{FF2B5EF4-FFF2-40B4-BE49-F238E27FC236}">
                <a16:creationId xmlns:a16="http://schemas.microsoft.com/office/drawing/2014/main" id="{871F8CFC-0FFA-0075-3163-544C975DD73F}"/>
              </a:ext>
            </a:extLst>
          </p:cNvPr>
          <p:cNvSpPr txBox="1"/>
          <p:nvPr/>
        </p:nvSpPr>
        <p:spPr>
          <a:xfrm>
            <a:off x="7264867" y="4007160"/>
            <a:ext cx="734235" cy="369332"/>
          </a:xfrm>
          <a:prstGeom prst="rect">
            <a:avLst/>
          </a:prstGeom>
          <a:noFill/>
        </p:spPr>
        <p:txBody>
          <a:bodyPr wrap="square">
            <a:spAutoFit/>
          </a:bodyPr>
          <a:lstStyle/>
          <a:p>
            <a:r>
              <a:rPr lang="en-US" altLang="zh-CN" dirty="0">
                <a:solidFill>
                  <a:srgbClr val="000000"/>
                </a:solidFill>
                <a:latin typeface="Calibri" panose="020F0502020204030204" pitchFamily="34" charset="0"/>
                <a:ea typeface="SimSun" panose="02010600030101010101" pitchFamily="2" charset="-122"/>
                <a:cs typeface="Calibri" panose="020F0502020204030204" pitchFamily="34" charset="0"/>
              </a:rPr>
              <a:t>0 </a:t>
            </a:r>
            <a:r>
              <a:rPr lang="en-US" altLang="zh-CN" dirty="0" err="1">
                <a:solidFill>
                  <a:srgbClr val="000000"/>
                </a:solidFill>
                <a:latin typeface="Calibri" panose="020F0502020204030204" pitchFamily="34" charset="0"/>
                <a:ea typeface="SimSun" panose="02010600030101010101" pitchFamily="2" charset="-122"/>
                <a:cs typeface="Calibri" panose="020F0502020204030204" pitchFamily="34" charset="0"/>
              </a:rPr>
              <a:t>ms</a:t>
            </a:r>
            <a:endParaRPr lang="en-US" dirty="0">
              <a:solidFill>
                <a:srgbClr val="000000"/>
              </a:solidFill>
              <a:latin typeface="Calibri" panose="020F0502020204030204" pitchFamily="34" charset="0"/>
              <a:ea typeface="SimSun" panose="02010600030101010101" pitchFamily="2" charset="-122"/>
              <a:cs typeface="Calibri" panose="020F0502020204030204" pitchFamily="34" charset="0"/>
            </a:endParaRPr>
          </a:p>
        </p:txBody>
      </p:sp>
      <p:sp>
        <p:nvSpPr>
          <p:cNvPr id="26" name="TextBox 25">
            <a:extLst>
              <a:ext uri="{FF2B5EF4-FFF2-40B4-BE49-F238E27FC236}">
                <a16:creationId xmlns:a16="http://schemas.microsoft.com/office/drawing/2014/main" id="{316B2F81-3060-17DC-A2E6-ECBA679BB731}"/>
              </a:ext>
            </a:extLst>
          </p:cNvPr>
          <p:cNvSpPr txBox="1"/>
          <p:nvPr/>
        </p:nvSpPr>
        <p:spPr>
          <a:xfrm>
            <a:off x="7208450" y="4353845"/>
            <a:ext cx="859774" cy="369332"/>
          </a:xfrm>
          <a:prstGeom prst="rect">
            <a:avLst/>
          </a:prstGeom>
          <a:noFill/>
        </p:spPr>
        <p:txBody>
          <a:bodyPr wrap="square">
            <a:spAutoFit/>
          </a:bodyPr>
          <a:lstStyle/>
          <a:p>
            <a:r>
              <a:rPr lang="en-US" altLang="zh-CN" dirty="0">
                <a:solidFill>
                  <a:srgbClr val="000000"/>
                </a:solidFill>
                <a:latin typeface="Calibri" panose="020F0502020204030204" pitchFamily="34" charset="0"/>
                <a:ea typeface="SimSun" panose="02010600030101010101" pitchFamily="2" charset="-122"/>
                <a:cs typeface="Calibri" panose="020F0502020204030204" pitchFamily="34" charset="0"/>
              </a:rPr>
              <a:t>50 </a:t>
            </a:r>
            <a:r>
              <a:rPr lang="en-US" altLang="zh-CN" dirty="0" err="1">
                <a:solidFill>
                  <a:srgbClr val="000000"/>
                </a:solidFill>
                <a:latin typeface="Calibri" panose="020F0502020204030204" pitchFamily="34" charset="0"/>
                <a:ea typeface="SimSun" panose="02010600030101010101" pitchFamily="2" charset="-122"/>
                <a:cs typeface="Calibri" panose="020F0502020204030204" pitchFamily="34" charset="0"/>
              </a:rPr>
              <a:t>ms</a:t>
            </a:r>
            <a:endParaRPr lang="en-US" dirty="0">
              <a:solidFill>
                <a:srgbClr val="000000"/>
              </a:solidFill>
              <a:latin typeface="Calibri" panose="020F0502020204030204" pitchFamily="34" charset="0"/>
              <a:ea typeface="SimSun" panose="02010600030101010101" pitchFamily="2" charset="-122"/>
              <a:cs typeface="Calibri" panose="020F0502020204030204" pitchFamily="34" charset="0"/>
            </a:endParaRPr>
          </a:p>
        </p:txBody>
      </p:sp>
      <p:sp>
        <p:nvSpPr>
          <p:cNvPr id="27" name="TextBox 26">
            <a:extLst>
              <a:ext uri="{FF2B5EF4-FFF2-40B4-BE49-F238E27FC236}">
                <a16:creationId xmlns:a16="http://schemas.microsoft.com/office/drawing/2014/main" id="{E9EFC819-E813-89AF-D085-64AF4D459716}"/>
              </a:ext>
            </a:extLst>
          </p:cNvPr>
          <p:cNvSpPr txBox="1"/>
          <p:nvPr/>
        </p:nvSpPr>
        <p:spPr>
          <a:xfrm>
            <a:off x="7207957" y="4768149"/>
            <a:ext cx="859774" cy="369332"/>
          </a:xfrm>
          <a:prstGeom prst="rect">
            <a:avLst/>
          </a:prstGeom>
          <a:noFill/>
        </p:spPr>
        <p:txBody>
          <a:bodyPr wrap="square">
            <a:spAutoFit/>
          </a:bodyPr>
          <a:lstStyle/>
          <a:p>
            <a:r>
              <a:rPr lang="en-US" altLang="zh-CN" dirty="0">
                <a:solidFill>
                  <a:srgbClr val="000000"/>
                </a:solidFill>
                <a:latin typeface="Calibri" panose="020F0502020204030204" pitchFamily="34" charset="0"/>
                <a:ea typeface="SimSun" panose="02010600030101010101" pitchFamily="2" charset="-122"/>
                <a:cs typeface="Calibri" panose="020F0502020204030204" pitchFamily="34" charset="0"/>
              </a:rPr>
              <a:t>150 </a:t>
            </a:r>
            <a:r>
              <a:rPr lang="en-US" altLang="zh-CN" dirty="0" err="1">
                <a:solidFill>
                  <a:srgbClr val="000000"/>
                </a:solidFill>
                <a:latin typeface="Calibri" panose="020F0502020204030204" pitchFamily="34" charset="0"/>
                <a:ea typeface="SimSun" panose="02010600030101010101" pitchFamily="2" charset="-122"/>
                <a:cs typeface="Calibri" panose="020F0502020204030204" pitchFamily="34" charset="0"/>
              </a:rPr>
              <a:t>ms</a:t>
            </a:r>
            <a:endParaRPr lang="en-US" dirty="0">
              <a:solidFill>
                <a:srgbClr val="000000"/>
              </a:solidFill>
              <a:latin typeface="Calibri" panose="020F0502020204030204" pitchFamily="34" charset="0"/>
              <a:ea typeface="SimSun" panose="02010600030101010101" pitchFamily="2" charset="-122"/>
              <a:cs typeface="Calibri" panose="020F0502020204030204" pitchFamily="34" charset="0"/>
            </a:endParaRPr>
          </a:p>
        </p:txBody>
      </p:sp>
      <p:sp>
        <p:nvSpPr>
          <p:cNvPr id="28" name="TextBox 27">
            <a:extLst>
              <a:ext uri="{FF2B5EF4-FFF2-40B4-BE49-F238E27FC236}">
                <a16:creationId xmlns:a16="http://schemas.microsoft.com/office/drawing/2014/main" id="{9EA4FBDD-BD9F-DA7F-1D39-90B41FE6BD58}"/>
              </a:ext>
            </a:extLst>
          </p:cNvPr>
          <p:cNvSpPr txBox="1"/>
          <p:nvPr/>
        </p:nvSpPr>
        <p:spPr>
          <a:xfrm>
            <a:off x="7198422" y="5191189"/>
            <a:ext cx="975382" cy="369332"/>
          </a:xfrm>
          <a:prstGeom prst="rect">
            <a:avLst/>
          </a:prstGeom>
          <a:noFill/>
        </p:spPr>
        <p:txBody>
          <a:bodyPr wrap="square">
            <a:spAutoFit/>
          </a:bodyPr>
          <a:lstStyle/>
          <a:p>
            <a:r>
              <a:rPr lang="en-US" altLang="zh-CN" dirty="0">
                <a:solidFill>
                  <a:srgbClr val="000000"/>
                </a:solidFill>
                <a:latin typeface="Calibri" panose="020F0502020204030204" pitchFamily="34" charset="0"/>
                <a:ea typeface="SimSun" panose="02010600030101010101" pitchFamily="2" charset="-122"/>
                <a:cs typeface="Calibri" panose="020F0502020204030204" pitchFamily="34" charset="0"/>
              </a:rPr>
              <a:t>500 </a:t>
            </a:r>
            <a:r>
              <a:rPr lang="en-US" altLang="zh-CN" dirty="0" err="1">
                <a:solidFill>
                  <a:srgbClr val="000000"/>
                </a:solidFill>
                <a:latin typeface="Calibri" panose="020F0502020204030204" pitchFamily="34" charset="0"/>
                <a:ea typeface="SimSun" panose="02010600030101010101" pitchFamily="2" charset="-122"/>
                <a:cs typeface="Calibri" panose="020F0502020204030204" pitchFamily="34" charset="0"/>
              </a:rPr>
              <a:t>ms</a:t>
            </a:r>
            <a:endParaRPr lang="en-US" dirty="0">
              <a:solidFill>
                <a:srgbClr val="000000"/>
              </a:solidFill>
              <a:latin typeface="Calibri" panose="020F0502020204030204" pitchFamily="34" charset="0"/>
              <a:ea typeface="SimSun" panose="02010600030101010101" pitchFamily="2" charset="-122"/>
              <a:cs typeface="Calibri" panose="020F0502020204030204" pitchFamily="34" charset="0"/>
            </a:endParaRPr>
          </a:p>
        </p:txBody>
      </p:sp>
    </p:spTree>
    <p:extLst>
      <p:ext uri="{BB962C8B-B14F-4D97-AF65-F5344CB8AC3E}">
        <p14:creationId xmlns:p14="http://schemas.microsoft.com/office/powerpoint/2010/main" val="290969553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B1C5C6-22B8-E648-25C0-F7BE28001846}"/>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8C71AC17-8B9C-097C-EAF5-CE4B249A4ED4}"/>
              </a:ext>
            </a:extLst>
          </p:cNvPr>
          <p:cNvPicPr>
            <a:picLocks noChangeAspect="1"/>
          </p:cNvPicPr>
          <p:nvPr/>
        </p:nvPicPr>
        <p:blipFill>
          <a:blip r:embed="rId3"/>
          <a:stretch>
            <a:fillRect/>
          </a:stretch>
        </p:blipFill>
        <p:spPr>
          <a:xfrm>
            <a:off x="408215" y="2741230"/>
            <a:ext cx="8550729" cy="2092025"/>
          </a:xfrm>
          <a:prstGeom prst="rect">
            <a:avLst/>
          </a:prstGeom>
        </p:spPr>
      </p:pic>
      <p:sp>
        <p:nvSpPr>
          <p:cNvPr id="5" name="Rectangle 4">
            <a:extLst>
              <a:ext uri="{FF2B5EF4-FFF2-40B4-BE49-F238E27FC236}">
                <a16:creationId xmlns:a16="http://schemas.microsoft.com/office/drawing/2014/main" id="{EF6BB05A-FD36-F26D-4995-A39967F04CEA}"/>
              </a:ext>
            </a:extLst>
          </p:cNvPr>
          <p:cNvSpPr/>
          <p:nvPr/>
        </p:nvSpPr>
        <p:spPr>
          <a:xfrm>
            <a:off x="0" y="881981"/>
            <a:ext cx="2457421" cy="707886"/>
          </a:xfrm>
          <a:prstGeom prst="rect">
            <a:avLst/>
          </a:prstGeom>
          <a:noFill/>
        </p:spPr>
        <p:txBody>
          <a:bodyPr wrap="square" lIns="91440" tIns="45720" rIns="91440" bIns="45720">
            <a:spAutoFit/>
          </a:bodyPr>
          <a:lstStyle/>
          <a:p>
            <a:pPr algn="ctr"/>
            <a:r>
              <a:rPr lang="en-US" sz="40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rPr>
              <a:t>R</a:t>
            </a:r>
            <a:r>
              <a:rPr lang="en-US" altLang="zh-CN" sz="40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rPr>
              <a:t>esults</a:t>
            </a:r>
            <a:endParaRPr lang="en-US" sz="40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257324BD-E593-D0BE-A84E-CF7A78513E9B}"/>
              </a:ext>
            </a:extLst>
          </p:cNvPr>
          <p:cNvSpPr txBox="1"/>
          <p:nvPr/>
        </p:nvSpPr>
        <p:spPr>
          <a:xfrm>
            <a:off x="408215" y="1461240"/>
            <a:ext cx="8513064" cy="1200329"/>
          </a:xfrm>
          <a:prstGeom prst="rect">
            <a:avLst/>
          </a:prstGeom>
          <a:noFill/>
        </p:spPr>
        <p:txBody>
          <a:bodyPr wrap="square">
            <a:spAutoFit/>
          </a:bodyPr>
          <a:lstStyle/>
          <a:p>
            <a:r>
              <a:rPr lang="en-US" dirty="0">
                <a:solidFill>
                  <a:srgbClr val="000000"/>
                </a:solidFill>
                <a:latin typeface="Calibri" panose="020F0502020204030204" pitchFamily="34" charset="0"/>
                <a:ea typeface="SimSun" panose="02010600030101010101" pitchFamily="2" charset="-122"/>
                <a:cs typeface="Calibri" panose="020F0502020204030204" pitchFamily="34" charset="0"/>
              </a:rPr>
              <a:t>To investigate hypotheses 2 and 3, we ran a repeated-measures 4 (duration of the preview phase: 0 </a:t>
            </a:r>
            <a:r>
              <a:rPr lang="en-US" dirty="0" err="1">
                <a:solidFill>
                  <a:srgbClr val="000000"/>
                </a:solidFill>
                <a:latin typeface="Calibri" panose="020F0502020204030204" pitchFamily="34" charset="0"/>
                <a:ea typeface="SimSun" panose="02010600030101010101" pitchFamily="2" charset="-122"/>
                <a:cs typeface="Calibri" panose="020F0502020204030204" pitchFamily="34" charset="0"/>
              </a:rPr>
              <a:t>ms</a:t>
            </a:r>
            <a:r>
              <a:rPr lang="en-US" dirty="0">
                <a:solidFill>
                  <a:srgbClr val="000000"/>
                </a:solidFill>
                <a:latin typeface="Calibri" panose="020F0502020204030204" pitchFamily="34" charset="0"/>
                <a:ea typeface="SimSun" panose="02010600030101010101" pitchFamily="2" charset="-122"/>
                <a:cs typeface="Calibri" panose="020F0502020204030204" pitchFamily="34" charset="0"/>
              </a:rPr>
              <a:t>, 50 </a:t>
            </a:r>
            <a:r>
              <a:rPr lang="en-US" dirty="0" err="1">
                <a:solidFill>
                  <a:srgbClr val="000000"/>
                </a:solidFill>
                <a:latin typeface="Calibri" panose="020F0502020204030204" pitchFamily="34" charset="0"/>
                <a:ea typeface="SimSun" panose="02010600030101010101" pitchFamily="2" charset="-122"/>
                <a:cs typeface="Calibri" panose="020F0502020204030204" pitchFamily="34" charset="0"/>
              </a:rPr>
              <a:t>ms</a:t>
            </a:r>
            <a:r>
              <a:rPr lang="en-US" dirty="0">
                <a:solidFill>
                  <a:srgbClr val="000000"/>
                </a:solidFill>
                <a:latin typeface="Calibri" panose="020F0502020204030204" pitchFamily="34" charset="0"/>
                <a:ea typeface="SimSun" panose="02010600030101010101" pitchFamily="2" charset="-122"/>
                <a:cs typeface="Calibri" panose="020F0502020204030204" pitchFamily="34" charset="0"/>
              </a:rPr>
              <a:t>, 150 </a:t>
            </a:r>
            <a:r>
              <a:rPr lang="en-US" dirty="0" err="1">
                <a:solidFill>
                  <a:srgbClr val="000000"/>
                </a:solidFill>
                <a:latin typeface="Calibri" panose="020F0502020204030204" pitchFamily="34" charset="0"/>
                <a:ea typeface="SimSun" panose="02010600030101010101" pitchFamily="2" charset="-122"/>
                <a:cs typeface="Calibri" panose="020F0502020204030204" pitchFamily="34" charset="0"/>
              </a:rPr>
              <a:t>ms</a:t>
            </a:r>
            <a:r>
              <a:rPr lang="en-US" dirty="0">
                <a:solidFill>
                  <a:srgbClr val="000000"/>
                </a:solidFill>
                <a:latin typeface="Calibri" panose="020F0502020204030204" pitchFamily="34" charset="0"/>
                <a:ea typeface="SimSun" panose="02010600030101010101" pitchFamily="2" charset="-122"/>
                <a:cs typeface="Calibri" panose="020F0502020204030204" pitchFamily="34" charset="0"/>
              </a:rPr>
              <a:t>, 500 </a:t>
            </a:r>
            <a:r>
              <a:rPr lang="en-US" dirty="0" err="1">
                <a:solidFill>
                  <a:srgbClr val="000000"/>
                </a:solidFill>
                <a:latin typeface="Calibri" panose="020F0502020204030204" pitchFamily="34" charset="0"/>
                <a:ea typeface="SimSun" panose="02010600030101010101" pitchFamily="2" charset="-122"/>
                <a:cs typeface="Calibri" panose="020F0502020204030204" pitchFamily="34" charset="0"/>
              </a:rPr>
              <a:t>ms</a:t>
            </a:r>
            <a:r>
              <a:rPr lang="en-US" dirty="0">
                <a:solidFill>
                  <a:srgbClr val="000000"/>
                </a:solidFill>
                <a:latin typeface="Calibri" panose="020F0502020204030204" pitchFamily="34" charset="0"/>
                <a:ea typeface="SimSun" panose="02010600030101010101" pitchFamily="2" charset="-122"/>
                <a:cs typeface="Calibri" panose="020F0502020204030204" pitchFamily="34" charset="0"/>
              </a:rPr>
              <a:t>) x 2 (preview object: agent, patient) x 2 (search task: agent search, patient search)  ANOVA with the dependent measure response time. </a:t>
            </a:r>
          </a:p>
        </p:txBody>
      </p:sp>
      <p:sp>
        <p:nvSpPr>
          <p:cNvPr id="7" name="Rectangle 6">
            <a:extLst>
              <a:ext uri="{FF2B5EF4-FFF2-40B4-BE49-F238E27FC236}">
                <a16:creationId xmlns:a16="http://schemas.microsoft.com/office/drawing/2014/main" id="{09404EED-7FE0-2B3D-3067-DF066D4C4E06}"/>
              </a:ext>
            </a:extLst>
          </p:cNvPr>
          <p:cNvSpPr/>
          <p:nvPr/>
        </p:nvSpPr>
        <p:spPr>
          <a:xfrm>
            <a:off x="479373" y="4870807"/>
            <a:ext cx="8185254" cy="707886"/>
          </a:xfrm>
          <a:prstGeom prst="rect">
            <a:avLst/>
          </a:prstGeom>
          <a:noFill/>
        </p:spPr>
        <p:txBody>
          <a:bodyPr wrap="none" lIns="91440" tIns="45720" rIns="91440" bIns="45720">
            <a:spAutoFit/>
          </a:bodyPr>
          <a:lstStyle/>
          <a:p>
            <a:pPr algn="ctr"/>
            <a:r>
              <a:rPr lang="en-US" sz="4000" b="1" dirty="0" err="1">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rPr>
              <a:t>Cofunding</a:t>
            </a:r>
            <a:r>
              <a:rPr lang="en-US" sz="4000" b="1"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rPr>
              <a:t> Factor: Pop-up action</a:t>
            </a:r>
          </a:p>
        </p:txBody>
      </p:sp>
      <p:sp>
        <p:nvSpPr>
          <p:cNvPr id="8" name="Arrow: Right 7">
            <a:extLst>
              <a:ext uri="{FF2B5EF4-FFF2-40B4-BE49-F238E27FC236}">
                <a16:creationId xmlns:a16="http://schemas.microsoft.com/office/drawing/2014/main" id="{45C6388F-9B02-3640-7EAC-93AF1BA2CA1C}"/>
              </a:ext>
            </a:extLst>
          </p:cNvPr>
          <p:cNvSpPr/>
          <p:nvPr/>
        </p:nvSpPr>
        <p:spPr>
          <a:xfrm>
            <a:off x="606074" y="5700463"/>
            <a:ext cx="516197" cy="27739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72FAD28B-07A9-8057-A413-80ECFA8D63F0}"/>
              </a:ext>
            </a:extLst>
          </p:cNvPr>
          <p:cNvSpPr txBox="1"/>
          <p:nvPr/>
        </p:nvSpPr>
        <p:spPr>
          <a:xfrm>
            <a:off x="1228710" y="5606687"/>
            <a:ext cx="4158342" cy="369332"/>
          </a:xfrm>
          <a:prstGeom prst="rect">
            <a:avLst/>
          </a:prstGeom>
          <a:noFill/>
        </p:spPr>
        <p:txBody>
          <a:bodyPr wrap="square">
            <a:spAutoFit/>
          </a:bodyPr>
          <a:lstStyle/>
          <a:p>
            <a:r>
              <a:rPr lang="en-US" altLang="zh-CN" dirty="0">
                <a:solidFill>
                  <a:srgbClr val="000000"/>
                </a:solidFill>
                <a:highlight>
                  <a:srgbClr val="FFFF00"/>
                </a:highlight>
                <a:latin typeface="Calibri" panose="020F0502020204030204" pitchFamily="34" charset="0"/>
                <a:ea typeface="SimSun" panose="02010600030101010101" pitchFamily="2" charset="-122"/>
                <a:cs typeface="Calibri" panose="020F0502020204030204" pitchFamily="34" charset="0"/>
              </a:rPr>
              <a:t>Thus difficult to interpret the data.</a:t>
            </a:r>
            <a:endParaRPr lang="en-US" dirty="0">
              <a:solidFill>
                <a:srgbClr val="000000"/>
              </a:solidFill>
              <a:highlight>
                <a:srgbClr val="FFFF00"/>
              </a:highlight>
              <a:latin typeface="Calibri" panose="020F0502020204030204" pitchFamily="34" charset="0"/>
              <a:ea typeface="SimSun" panose="02010600030101010101" pitchFamily="2" charset="-122"/>
              <a:cs typeface="Calibri" panose="020F0502020204030204" pitchFamily="34" charset="0"/>
            </a:endParaRPr>
          </a:p>
        </p:txBody>
      </p:sp>
      <p:sp>
        <p:nvSpPr>
          <p:cNvPr id="2" name="Arrow: Right 1">
            <a:extLst>
              <a:ext uri="{FF2B5EF4-FFF2-40B4-BE49-F238E27FC236}">
                <a16:creationId xmlns:a16="http://schemas.microsoft.com/office/drawing/2014/main" id="{49E22BD9-F889-BF17-0519-75B677751308}"/>
              </a:ext>
            </a:extLst>
          </p:cNvPr>
          <p:cNvSpPr/>
          <p:nvPr/>
        </p:nvSpPr>
        <p:spPr>
          <a:xfrm>
            <a:off x="606074" y="6192541"/>
            <a:ext cx="516197" cy="27739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B4C63FDA-82AB-1EC3-8594-A35A1B446B77}"/>
              </a:ext>
            </a:extLst>
          </p:cNvPr>
          <p:cNvSpPr txBox="1"/>
          <p:nvPr/>
        </p:nvSpPr>
        <p:spPr>
          <a:xfrm>
            <a:off x="1259161" y="6100599"/>
            <a:ext cx="7405466" cy="646331"/>
          </a:xfrm>
          <a:prstGeom prst="rect">
            <a:avLst/>
          </a:prstGeom>
          <a:noFill/>
        </p:spPr>
        <p:txBody>
          <a:bodyPr wrap="square">
            <a:spAutoFit/>
          </a:bodyPr>
          <a:lstStyle/>
          <a:p>
            <a:r>
              <a:rPr lang="en-US" altLang="zh-CN" dirty="0">
                <a:solidFill>
                  <a:srgbClr val="000000"/>
                </a:solidFill>
                <a:latin typeface="Calibri" panose="020F0502020204030204" pitchFamily="34" charset="0"/>
                <a:ea typeface="SimSun" panose="02010600030101010101" pitchFamily="2" charset="-122"/>
                <a:cs typeface="Calibri" panose="020F0502020204030204" pitchFamily="34" charset="0"/>
              </a:rPr>
              <a:t>Focus on why the agent advantage effect could be replicated, is it because of the change of materials, or because the experiment is too complicated</a:t>
            </a:r>
            <a:endParaRPr lang="en-US" dirty="0">
              <a:solidFill>
                <a:srgbClr val="000000"/>
              </a:solidFill>
              <a:latin typeface="Calibri" panose="020F0502020204030204" pitchFamily="34" charset="0"/>
              <a:ea typeface="SimSun" panose="02010600030101010101" pitchFamily="2" charset="-122"/>
              <a:cs typeface="Calibri" panose="020F0502020204030204" pitchFamily="34" charset="0"/>
            </a:endParaRPr>
          </a:p>
        </p:txBody>
      </p:sp>
    </p:spTree>
    <p:extLst>
      <p:ext uri="{BB962C8B-B14F-4D97-AF65-F5344CB8AC3E}">
        <p14:creationId xmlns:p14="http://schemas.microsoft.com/office/powerpoint/2010/main" val="333648385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170ADD-EE89-CECE-405F-10673FEB7B4C}"/>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2AEA73CC-97EC-270E-6B32-1C25BDE40E88}"/>
              </a:ext>
            </a:extLst>
          </p:cNvPr>
          <p:cNvSpPr/>
          <p:nvPr/>
        </p:nvSpPr>
        <p:spPr>
          <a:xfrm>
            <a:off x="-662329" y="1032424"/>
            <a:ext cx="5137051" cy="707886"/>
          </a:xfrm>
          <a:prstGeom prst="rect">
            <a:avLst/>
          </a:prstGeom>
          <a:noFill/>
        </p:spPr>
        <p:txBody>
          <a:bodyPr wrap="square" lIns="91440" tIns="45720" rIns="91440" bIns="45720">
            <a:spAutoFit/>
          </a:bodyPr>
          <a:lstStyle/>
          <a:p>
            <a:pPr algn="ctr"/>
            <a:r>
              <a:rPr lang="en-US" sz="40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rPr>
              <a:t>Study 3: Exp 4</a:t>
            </a:r>
          </a:p>
        </p:txBody>
      </p:sp>
      <p:sp>
        <p:nvSpPr>
          <p:cNvPr id="2" name="TextBox 1">
            <a:extLst>
              <a:ext uri="{FF2B5EF4-FFF2-40B4-BE49-F238E27FC236}">
                <a16:creationId xmlns:a16="http://schemas.microsoft.com/office/drawing/2014/main" id="{5F58FE67-42DD-43B3-7EFD-6F9108ACB627}"/>
              </a:ext>
            </a:extLst>
          </p:cNvPr>
          <p:cNvSpPr txBox="1"/>
          <p:nvPr/>
        </p:nvSpPr>
        <p:spPr>
          <a:xfrm>
            <a:off x="363306" y="1685881"/>
            <a:ext cx="8611947" cy="4604979"/>
          </a:xfrm>
          <a:prstGeom prst="rect">
            <a:avLst/>
          </a:prstGeom>
          <a:noFill/>
        </p:spPr>
        <p:txBody>
          <a:bodyPr wrap="square" rtlCol="0">
            <a:spAutoFit/>
          </a:bodyPr>
          <a:lstStyle/>
          <a:p>
            <a:pPr marL="0" marR="0">
              <a:lnSpc>
                <a:spcPct val="107000"/>
              </a:lnSpc>
              <a:spcAft>
                <a:spcPts val="800"/>
              </a:spcAft>
            </a:pPr>
            <a:r>
              <a:rPr kumimoji="0" lang="en-US" sz="2000" b="1" i="0" u="none" strike="noStrike" kern="1200" cap="none" spc="0" normalizeH="0" baseline="0" noProof="0" dirty="0">
                <a:ln>
                  <a:noFill/>
                </a:ln>
                <a:solidFill>
                  <a:srgbClr val="000000"/>
                </a:solidFill>
                <a:effectLst/>
                <a:uLnTx/>
                <a:uFillTx/>
                <a:latin typeface="Calibri" panose="020F0502020204030204" pitchFamily="34" charset="0"/>
                <a:ea typeface="SimSun" panose="02010600030101010101" pitchFamily="2" charset="-122"/>
                <a:cs typeface="Calibri" panose="020F0502020204030204" pitchFamily="34" charset="0"/>
              </a:rPr>
              <a:t>Exploratory analysis:</a:t>
            </a:r>
            <a:br>
              <a:rPr lang="en-US" sz="2000" dirty="0">
                <a:solidFill>
                  <a:srgbClr val="000000"/>
                </a:solidFill>
                <a:latin typeface="Calibri" panose="020F0502020204030204" pitchFamily="34" charset="0"/>
                <a:ea typeface="SimSun" panose="02010600030101010101" pitchFamily="2" charset="-122"/>
                <a:cs typeface="Calibri" panose="020F0502020204030204" pitchFamily="34" charset="0"/>
              </a:rPr>
            </a:br>
            <a:r>
              <a:rPr lang="en-US" sz="1800" dirty="0">
                <a:effectLst/>
                <a:latin typeface="Times New Roman" panose="02020603050405020304" pitchFamily="18" charset="0"/>
                <a:ea typeface="SimSun" panose="02010600030101010101" pitchFamily="2" charset="-122"/>
                <a:cs typeface="Arial" panose="020B0604020202020204" pitchFamily="34" charset="0"/>
              </a:rPr>
              <a:t>Exploratory analysis of whether there are transfer effects (carry-over effects) between the biting orientation blocks:</a:t>
            </a:r>
            <a:endParaRPr lang="en-US" sz="1800" dirty="0">
              <a:effectLst/>
              <a:latin typeface="Calibri" panose="020F0502020204030204" pitchFamily="34" charset="0"/>
              <a:ea typeface="SimSun" panose="02010600030101010101" pitchFamily="2" charset="-122"/>
              <a:cs typeface="Arial" panose="020B0604020202020204" pitchFamily="34" charset="0"/>
            </a:endParaRPr>
          </a:p>
          <a:p>
            <a:pPr marL="0" marR="0">
              <a:lnSpc>
                <a:spcPct val="107000"/>
              </a:lnSpc>
              <a:spcAft>
                <a:spcPts val="800"/>
              </a:spcAft>
            </a:pPr>
            <a:br>
              <a:rPr lang="en-US" sz="1800" dirty="0">
                <a:effectLst/>
                <a:latin typeface="Times New Roman" panose="02020603050405020304" pitchFamily="18" charset="0"/>
                <a:ea typeface="SimSun" panose="02010600030101010101" pitchFamily="2" charset="-122"/>
                <a:cs typeface="Arial" panose="020B0604020202020204" pitchFamily="34" charset="0"/>
              </a:rPr>
            </a:br>
            <a:r>
              <a:rPr lang="en-US" sz="1800" dirty="0">
                <a:effectLst/>
                <a:latin typeface="Times New Roman" panose="02020603050405020304" pitchFamily="18" charset="0"/>
                <a:ea typeface="Times New Roman" panose="02020603050405020304" pitchFamily="18" charset="0"/>
                <a:cs typeface="Arial" panose="020B0604020202020204" pitchFamily="34" charset="0"/>
              </a:rPr>
              <a:t>If the agent advantage effect can be transferred</a:t>
            </a:r>
            <a:r>
              <a:rPr lang="en-US" sz="1800" dirty="0">
                <a:effectLst/>
                <a:latin typeface="Times New Roman" panose="02020603050405020304" pitchFamily="18" charset="0"/>
                <a:ea typeface="SimSun" panose="02010600030101010101" pitchFamily="2" charset="-122"/>
                <a:cs typeface="Arial" panose="020B0604020202020204" pitchFamily="34" charset="0"/>
              </a:rPr>
              <a:t> from face-to-face </a:t>
            </a:r>
            <a:r>
              <a:rPr lang="en-US" sz="1800" dirty="0">
                <a:effectLst/>
                <a:latin typeface="Times New Roman" panose="02020603050405020304" pitchFamily="18" charset="0"/>
                <a:ea typeface="Times New Roman" panose="02020603050405020304" pitchFamily="18" charset="0"/>
                <a:cs typeface="Arial" panose="020B0604020202020204" pitchFamily="34" charset="0"/>
              </a:rPr>
              <a:t>stimuli</a:t>
            </a:r>
            <a:r>
              <a:rPr lang="en-US" sz="1800" dirty="0">
                <a:effectLst/>
                <a:latin typeface="Times New Roman" panose="02020603050405020304" pitchFamily="18" charset="0"/>
                <a:ea typeface="SimSun" panose="02010600030101010101" pitchFamily="2" charset="-122"/>
                <a:cs typeface="Arial" panose="020B0604020202020204" pitchFamily="34" charset="0"/>
              </a:rPr>
              <a:t> to face-to-tail</a:t>
            </a:r>
            <a:r>
              <a:rPr lang="en-US" sz="1800" dirty="0">
                <a:effectLst/>
                <a:latin typeface="Times New Roman" panose="02020603050405020304" pitchFamily="18" charset="0"/>
                <a:ea typeface="Times New Roman" panose="02020603050405020304" pitchFamily="18" charset="0"/>
                <a:cs typeface="Arial" panose="020B0604020202020204" pitchFamily="34" charset="0"/>
              </a:rPr>
              <a:t> stimuli, we should see an interaction of</a:t>
            </a:r>
            <a:r>
              <a:rPr lang="en-US" sz="1800" dirty="0">
                <a:effectLst/>
                <a:latin typeface="Times New Roman" panose="02020603050405020304" pitchFamily="18" charset="0"/>
                <a:ea typeface="SimSun" panose="02010600030101010101" pitchFamily="2" charset="-122"/>
                <a:cs typeface="Arial" panose="020B0604020202020204" pitchFamily="34" charset="0"/>
              </a:rPr>
              <a:t> biting orientation </a:t>
            </a:r>
            <a:r>
              <a:rPr lang="en-US" sz="1800" dirty="0">
                <a:effectLst/>
                <a:latin typeface="Times New Roman" panose="02020603050405020304" pitchFamily="18" charset="0"/>
                <a:ea typeface="Times New Roman" panose="02020603050405020304" pitchFamily="18" charset="0"/>
                <a:cs typeface="Arial" panose="020B0604020202020204" pitchFamily="34" charset="0"/>
              </a:rPr>
              <a:t>(</a:t>
            </a:r>
            <a:r>
              <a:rPr lang="en-US" sz="1800" dirty="0">
                <a:effectLst/>
                <a:latin typeface="Times New Roman" panose="02020603050405020304" pitchFamily="18" charset="0"/>
                <a:ea typeface="SimSun" panose="02010600030101010101" pitchFamily="2" charset="-122"/>
                <a:cs typeface="Arial" panose="020B0604020202020204" pitchFamily="34" charset="0"/>
              </a:rPr>
              <a:t>face-to-face</a:t>
            </a:r>
            <a:r>
              <a:rPr lang="en-US" sz="1800" dirty="0">
                <a:effectLst/>
                <a:latin typeface="Times New Roman" panose="02020603050405020304" pitchFamily="18" charset="0"/>
                <a:ea typeface="Times New Roman" panose="02020603050405020304" pitchFamily="18" charset="0"/>
                <a:cs typeface="Arial" panose="020B0604020202020204" pitchFamily="34" charset="0"/>
              </a:rPr>
              <a:t>, </a:t>
            </a:r>
            <a:r>
              <a:rPr lang="en-US" sz="1800" dirty="0">
                <a:effectLst/>
                <a:latin typeface="Times New Roman" panose="02020603050405020304" pitchFamily="18" charset="0"/>
                <a:ea typeface="SimSun" panose="02010600030101010101" pitchFamily="2" charset="-122"/>
                <a:cs typeface="Arial" panose="020B0604020202020204" pitchFamily="34" charset="0"/>
              </a:rPr>
              <a:t>face-to-tail</a:t>
            </a:r>
            <a:r>
              <a:rPr lang="en-US" sz="1800" dirty="0">
                <a:effectLst/>
                <a:latin typeface="Times New Roman" panose="02020603050405020304" pitchFamily="18" charset="0"/>
                <a:ea typeface="Times New Roman" panose="02020603050405020304" pitchFamily="18" charset="0"/>
                <a:cs typeface="Arial" panose="020B0604020202020204" pitchFamily="34" charset="0"/>
              </a:rPr>
              <a:t>)</a:t>
            </a:r>
            <a:r>
              <a:rPr lang="en-US" sz="1800" dirty="0">
                <a:effectLst/>
                <a:latin typeface="Times New Roman" panose="02020603050405020304" pitchFamily="18" charset="0"/>
                <a:ea typeface="SimSun" panose="02010600030101010101" pitchFamily="2" charset="-122"/>
                <a:cs typeface="Arial" panose="020B0604020202020204" pitchFamily="34" charset="0"/>
              </a:rPr>
              <a:t>, </a:t>
            </a:r>
            <a:r>
              <a:rPr lang="en-US" sz="1800" dirty="0">
                <a:effectLst/>
                <a:latin typeface="Times New Roman" panose="02020603050405020304" pitchFamily="18" charset="0"/>
                <a:ea typeface="Times New Roman" panose="02020603050405020304" pitchFamily="18" charset="0"/>
                <a:cs typeface="Arial" panose="020B0604020202020204" pitchFamily="34" charset="0"/>
              </a:rPr>
              <a:t>search</a:t>
            </a:r>
            <a:r>
              <a:rPr lang="en-US" sz="1800" dirty="0">
                <a:effectLst/>
                <a:latin typeface="Times New Roman" panose="02020603050405020304" pitchFamily="18" charset="0"/>
                <a:ea typeface="SimSun" panose="02010600030101010101" pitchFamily="2" charset="-122"/>
                <a:cs typeface="Arial" panose="020B0604020202020204" pitchFamily="34" charset="0"/>
              </a:rPr>
              <a:t> </a:t>
            </a:r>
            <a:r>
              <a:rPr lang="en-US" sz="1800" dirty="0">
                <a:effectLst/>
                <a:latin typeface="Times New Roman" panose="02020603050405020304" pitchFamily="18" charset="0"/>
                <a:ea typeface="Times New Roman" panose="02020603050405020304" pitchFamily="18" charset="0"/>
                <a:cs typeface="Arial" panose="020B0604020202020204" pitchFamily="34" charset="0"/>
              </a:rPr>
              <a:t>task (agent search, patient search) and block</a:t>
            </a:r>
            <a:r>
              <a:rPr lang="en-US" sz="1800" dirty="0">
                <a:effectLst/>
                <a:latin typeface="Times New Roman" panose="02020603050405020304" pitchFamily="18" charset="0"/>
                <a:ea typeface="SimSun" panose="02010600030101010101" pitchFamily="2" charset="-122"/>
                <a:cs typeface="Arial" panose="020B0604020202020204" pitchFamily="34" charset="0"/>
              </a:rPr>
              <a:t> </a:t>
            </a:r>
            <a:r>
              <a:rPr lang="en-US" sz="1800" dirty="0">
                <a:effectLst/>
                <a:latin typeface="Times New Roman" panose="02020603050405020304" pitchFamily="18" charset="0"/>
                <a:ea typeface="Times New Roman" panose="02020603050405020304" pitchFamily="18" charset="0"/>
                <a:cs typeface="Arial" panose="020B0604020202020204" pitchFamily="34" charset="0"/>
              </a:rPr>
              <a:t>order</a:t>
            </a:r>
            <a:r>
              <a:rPr lang="en-US" sz="1800" dirty="0">
                <a:effectLst/>
                <a:latin typeface="Times New Roman" panose="02020603050405020304" pitchFamily="18" charset="0"/>
                <a:ea typeface="SimSun" panose="02010600030101010101" pitchFamily="2" charset="-122"/>
                <a:cs typeface="Arial" panose="020B0604020202020204" pitchFamily="34" charset="0"/>
              </a:rPr>
              <a:t> </a:t>
            </a:r>
            <a:r>
              <a:rPr lang="en-US" sz="1800" dirty="0">
                <a:effectLst/>
                <a:latin typeface="Times New Roman" panose="02020603050405020304" pitchFamily="18" charset="0"/>
                <a:ea typeface="Times New Roman" panose="02020603050405020304" pitchFamily="18" charset="0"/>
                <a:cs typeface="Arial" panose="020B0604020202020204" pitchFamily="34" charset="0"/>
              </a:rPr>
              <a:t>(</a:t>
            </a:r>
            <a:r>
              <a:rPr lang="en-US" sz="1800" dirty="0">
                <a:effectLst/>
                <a:latin typeface="Times New Roman" panose="02020603050405020304" pitchFamily="18" charset="0"/>
                <a:ea typeface="SimSun" panose="02010600030101010101" pitchFamily="2" charset="-122"/>
                <a:cs typeface="Arial" panose="020B0604020202020204" pitchFamily="34" charset="0"/>
              </a:rPr>
              <a:t>face-to-face first, face-to-tail</a:t>
            </a:r>
            <a:r>
              <a:rPr lang="en-US" sz="1800" dirty="0">
                <a:effectLst/>
                <a:latin typeface="Times New Roman" panose="02020603050405020304" pitchFamily="18" charset="0"/>
                <a:ea typeface="Times New Roman" panose="02020603050405020304" pitchFamily="18" charset="0"/>
                <a:cs typeface="Arial" panose="020B0604020202020204" pitchFamily="34" charset="0"/>
              </a:rPr>
              <a:t> </a:t>
            </a:r>
            <a:r>
              <a:rPr lang="en-US" sz="1800" dirty="0">
                <a:effectLst/>
                <a:latin typeface="Times New Roman" panose="02020603050405020304" pitchFamily="18" charset="0"/>
                <a:ea typeface="SimSun" panose="02010600030101010101" pitchFamily="2" charset="-122"/>
                <a:cs typeface="Arial" panose="020B0604020202020204" pitchFamily="34" charset="0"/>
              </a:rPr>
              <a:t>first</a:t>
            </a:r>
            <a:r>
              <a:rPr lang="en-US" sz="1800" dirty="0">
                <a:effectLst/>
                <a:latin typeface="Times New Roman" panose="02020603050405020304" pitchFamily="18" charset="0"/>
                <a:ea typeface="Times New Roman" panose="02020603050405020304" pitchFamily="18" charset="0"/>
                <a:cs typeface="Arial" panose="020B0604020202020204" pitchFamily="34" charset="0"/>
              </a:rPr>
              <a:t>)</a:t>
            </a:r>
            <a:r>
              <a:rPr lang="en-US" sz="1800" dirty="0">
                <a:effectLst/>
                <a:latin typeface="Times New Roman" panose="02020603050405020304" pitchFamily="18" charset="0"/>
                <a:ea typeface="SimSun" panose="02010600030101010101" pitchFamily="2" charset="-122"/>
                <a:cs typeface="Arial" panose="020B0604020202020204" pitchFamily="34" charset="0"/>
              </a:rPr>
              <a:t>.</a:t>
            </a:r>
            <a:br>
              <a:rPr lang="en-US" sz="1800" dirty="0">
                <a:effectLst/>
                <a:latin typeface="Times New Roman" panose="02020603050405020304" pitchFamily="18" charset="0"/>
                <a:ea typeface="SimSun" panose="02010600030101010101" pitchFamily="2" charset="-122"/>
                <a:cs typeface="Arial" panose="020B0604020202020204" pitchFamily="34" charset="0"/>
              </a:rPr>
            </a:br>
            <a:endParaRPr lang="en-US" sz="1800" dirty="0">
              <a:effectLst/>
              <a:latin typeface="Calibri" panose="020F0502020204030204" pitchFamily="34" charset="0"/>
              <a:ea typeface="SimSun" panose="02010600030101010101" pitchFamily="2" charset="-122"/>
              <a:cs typeface="Arial" panose="020B0604020202020204" pitchFamily="34" charset="0"/>
            </a:endParaRPr>
          </a:p>
          <a:p>
            <a:pPr marL="0" marR="0">
              <a:lnSpc>
                <a:spcPct val="107000"/>
              </a:lnSpc>
              <a:spcAft>
                <a:spcPts val="800"/>
              </a:spcAft>
            </a:pPr>
            <a:r>
              <a:rPr lang="en-US" sz="1800" dirty="0">
                <a:effectLst/>
                <a:latin typeface="Times New Roman" panose="02020603050405020304" pitchFamily="18" charset="0"/>
                <a:ea typeface="Times New Roman" panose="02020603050405020304" pitchFamily="18" charset="0"/>
                <a:cs typeface="Arial" panose="020B0604020202020204" pitchFamily="34" charset="0"/>
              </a:rPr>
              <a:t>For </a:t>
            </a:r>
            <a:r>
              <a:rPr lang="en-US" sz="1800" dirty="0">
                <a:effectLst/>
                <a:latin typeface="Times New Roman" panose="02020603050405020304" pitchFamily="18" charset="0"/>
                <a:ea typeface="SimSun" panose="02010600030101010101" pitchFamily="2" charset="-122"/>
                <a:cs typeface="Arial" panose="020B0604020202020204" pitchFamily="34" charset="0"/>
              </a:rPr>
              <a:t>this exploratory</a:t>
            </a:r>
            <a:r>
              <a:rPr lang="en-US" sz="1800" dirty="0">
                <a:effectLst/>
                <a:latin typeface="Times New Roman" panose="02020603050405020304" pitchFamily="18" charset="0"/>
                <a:ea typeface="Times New Roman" panose="02020603050405020304" pitchFamily="18" charset="0"/>
                <a:cs typeface="Arial" panose="020B0604020202020204" pitchFamily="34" charset="0"/>
              </a:rPr>
              <a:t> hypothesis, we </a:t>
            </a:r>
            <a:r>
              <a:rPr lang="en-US" sz="1800" dirty="0">
                <a:effectLst/>
                <a:latin typeface="Times New Roman" panose="02020603050405020304" pitchFamily="18" charset="0"/>
                <a:ea typeface="SimSun" panose="02010600030101010101" pitchFamily="2" charset="-122"/>
                <a:cs typeface="Arial" panose="020B0604020202020204" pitchFamily="34" charset="0"/>
              </a:rPr>
              <a:t>will run a </a:t>
            </a:r>
            <a:r>
              <a:rPr lang="en-US" sz="1800" dirty="0">
                <a:effectLst/>
                <a:latin typeface="Times New Roman" panose="02020603050405020304" pitchFamily="18" charset="0"/>
                <a:ea typeface="Times New Roman" panose="02020603050405020304" pitchFamily="18" charset="0"/>
                <a:cs typeface="Arial" panose="020B0604020202020204" pitchFamily="34" charset="0"/>
              </a:rPr>
              <a:t>repeated-measures 2 (</a:t>
            </a:r>
            <a:r>
              <a:rPr lang="en-US" sz="1800" dirty="0">
                <a:effectLst/>
                <a:latin typeface="Times New Roman" panose="02020603050405020304" pitchFamily="18" charset="0"/>
                <a:ea typeface="SimSun" panose="02010600030101010101" pitchFamily="2" charset="-122"/>
                <a:cs typeface="Arial" panose="020B0604020202020204" pitchFamily="34" charset="0"/>
              </a:rPr>
              <a:t>block order: face-to-face first, face-to-tail</a:t>
            </a:r>
            <a:r>
              <a:rPr lang="en-US" sz="1800" dirty="0">
                <a:effectLst/>
                <a:latin typeface="Times New Roman" panose="02020603050405020304" pitchFamily="18" charset="0"/>
                <a:ea typeface="Times New Roman" panose="02020603050405020304" pitchFamily="18" charset="0"/>
                <a:cs typeface="Arial" panose="020B0604020202020204" pitchFamily="34" charset="0"/>
              </a:rPr>
              <a:t> </a:t>
            </a:r>
            <a:r>
              <a:rPr lang="en-US" sz="1800" dirty="0">
                <a:effectLst/>
                <a:latin typeface="Times New Roman" panose="02020603050405020304" pitchFamily="18" charset="0"/>
                <a:ea typeface="SimSun" panose="02010600030101010101" pitchFamily="2" charset="-122"/>
                <a:cs typeface="Arial" panose="020B0604020202020204" pitchFamily="34" charset="0"/>
              </a:rPr>
              <a:t>first) x 2 (</a:t>
            </a:r>
            <a:r>
              <a:rPr lang="en-US" sz="1800" dirty="0">
                <a:effectLst/>
                <a:latin typeface="Times New Roman" panose="02020603050405020304" pitchFamily="18" charset="0"/>
                <a:ea typeface="Times New Roman" panose="02020603050405020304" pitchFamily="18" charset="0"/>
                <a:cs typeface="Arial" panose="020B0604020202020204" pitchFamily="34" charset="0"/>
              </a:rPr>
              <a:t>search</a:t>
            </a:r>
            <a:r>
              <a:rPr lang="en-US" sz="1800" dirty="0">
                <a:effectLst/>
                <a:latin typeface="Times New Roman" panose="02020603050405020304" pitchFamily="18" charset="0"/>
                <a:ea typeface="SimSun" panose="02010600030101010101" pitchFamily="2" charset="-122"/>
                <a:cs typeface="Arial" panose="020B0604020202020204" pitchFamily="34" charset="0"/>
              </a:rPr>
              <a:t> </a:t>
            </a:r>
            <a:r>
              <a:rPr lang="en-US" sz="1800" dirty="0">
                <a:effectLst/>
                <a:latin typeface="Times New Roman" panose="02020603050405020304" pitchFamily="18" charset="0"/>
                <a:ea typeface="Times New Roman" panose="02020603050405020304" pitchFamily="18" charset="0"/>
                <a:cs typeface="Arial" panose="020B0604020202020204" pitchFamily="34" charset="0"/>
              </a:rPr>
              <a:t>task: agent search, patient search) </a:t>
            </a:r>
            <a:r>
              <a:rPr lang="en-US" sz="1800" dirty="0">
                <a:effectLst/>
                <a:latin typeface="Times New Roman" panose="02020603050405020304" pitchFamily="18" charset="0"/>
                <a:ea typeface="SimSun" panose="02010600030101010101" pitchFamily="2" charset="-122"/>
                <a:cs typeface="Arial" panose="020B0604020202020204" pitchFamily="34" charset="0"/>
              </a:rPr>
              <a:t>x 2 (biting position: face-to-face</a:t>
            </a:r>
            <a:r>
              <a:rPr lang="en-US" sz="1800" dirty="0">
                <a:effectLst/>
                <a:latin typeface="Times New Roman" panose="02020603050405020304" pitchFamily="18" charset="0"/>
                <a:ea typeface="Times New Roman" panose="02020603050405020304" pitchFamily="18" charset="0"/>
                <a:cs typeface="Arial" panose="020B0604020202020204" pitchFamily="34" charset="0"/>
              </a:rPr>
              <a:t>, </a:t>
            </a:r>
            <a:r>
              <a:rPr lang="en-US" sz="1800" dirty="0">
                <a:effectLst/>
                <a:latin typeface="Times New Roman" panose="02020603050405020304" pitchFamily="18" charset="0"/>
                <a:ea typeface="SimSun" panose="02010600030101010101" pitchFamily="2" charset="-122"/>
                <a:cs typeface="Arial" panose="020B0604020202020204" pitchFamily="34" charset="0"/>
              </a:rPr>
              <a:t>face-to-tail</a:t>
            </a:r>
            <a:r>
              <a:rPr lang="en-US" sz="1800" dirty="0">
                <a:effectLst/>
                <a:latin typeface="Times New Roman" panose="02020603050405020304" pitchFamily="18" charset="0"/>
                <a:ea typeface="Times New Roman" panose="02020603050405020304" pitchFamily="18" charset="0"/>
                <a:cs typeface="Arial" panose="020B0604020202020204" pitchFamily="34" charset="0"/>
              </a:rPr>
              <a:t>)</a:t>
            </a:r>
            <a:r>
              <a:rPr lang="en-US" sz="1800" dirty="0">
                <a:effectLst/>
                <a:latin typeface="Times New Roman" panose="02020603050405020304" pitchFamily="18" charset="0"/>
                <a:ea typeface="SimSun" panose="02010600030101010101" pitchFamily="2" charset="-122"/>
                <a:cs typeface="Arial" panose="020B0604020202020204" pitchFamily="34" charset="0"/>
              </a:rPr>
              <a:t> </a:t>
            </a:r>
            <a:r>
              <a:rPr lang="en-US" sz="1800" dirty="0">
                <a:effectLst/>
                <a:latin typeface="Times New Roman" panose="02020603050405020304" pitchFamily="18" charset="0"/>
                <a:ea typeface="Times New Roman" panose="02020603050405020304" pitchFamily="18" charset="0"/>
                <a:cs typeface="Arial" panose="020B0604020202020204" pitchFamily="34" charset="0"/>
              </a:rPr>
              <a:t>ANOVA with the dependent measure response time</a:t>
            </a:r>
            <a:r>
              <a:rPr lang="en-US" sz="1800" dirty="0">
                <a:effectLst/>
                <a:latin typeface="Times New Roman" panose="02020603050405020304" pitchFamily="18" charset="0"/>
                <a:ea typeface="SimSun" panose="02010600030101010101" pitchFamily="2" charset="-122"/>
                <a:cs typeface="Arial" panose="020B0604020202020204" pitchFamily="34" charset="0"/>
              </a:rPr>
              <a:t> thus</a:t>
            </a:r>
            <a:r>
              <a:rPr lang="en-US" sz="1800" dirty="0">
                <a:effectLst/>
                <a:latin typeface="Times New Roman" panose="02020603050405020304" pitchFamily="18" charset="0"/>
                <a:ea typeface="Times New Roman" panose="02020603050405020304" pitchFamily="18" charset="0"/>
                <a:cs typeface="Arial" panose="020B0604020202020204" pitchFamily="34" charset="0"/>
              </a:rPr>
              <a:t> investigat</a:t>
            </a:r>
            <a:r>
              <a:rPr lang="en-US" sz="1800" dirty="0">
                <a:effectLst/>
                <a:latin typeface="Times New Roman" panose="02020603050405020304" pitchFamily="18" charset="0"/>
                <a:ea typeface="SimSun" panose="02010600030101010101" pitchFamily="2" charset="-122"/>
                <a:cs typeface="Arial" panose="020B0604020202020204" pitchFamily="34" charset="0"/>
              </a:rPr>
              <a:t>ing</a:t>
            </a:r>
            <a:r>
              <a:rPr lang="en-US" sz="1800" dirty="0">
                <a:effectLst/>
                <a:latin typeface="Times New Roman" panose="02020603050405020304" pitchFamily="18" charset="0"/>
                <a:ea typeface="Times New Roman" panose="02020603050405020304" pitchFamily="18" charset="0"/>
                <a:cs typeface="Arial" panose="020B0604020202020204" pitchFamily="34" charset="0"/>
              </a:rPr>
              <a:t> the interaction </a:t>
            </a:r>
            <a:r>
              <a:rPr lang="en-US" sz="1800" dirty="0">
                <a:effectLst/>
                <a:latin typeface="Times New Roman" panose="02020603050405020304" pitchFamily="18" charset="0"/>
                <a:ea typeface="SimSun" panose="02010600030101010101" pitchFamily="2" charset="-122"/>
                <a:cs typeface="Arial" panose="020B0604020202020204" pitchFamily="34" charset="0"/>
              </a:rPr>
              <a:t>of</a:t>
            </a:r>
            <a:r>
              <a:rPr lang="en-US" sz="1800" dirty="0">
                <a:effectLst/>
                <a:latin typeface="Times New Roman" panose="02020603050405020304" pitchFamily="18" charset="0"/>
                <a:ea typeface="Times New Roman" panose="02020603050405020304" pitchFamily="18" charset="0"/>
                <a:cs typeface="Arial" panose="020B0604020202020204" pitchFamily="34" charset="0"/>
              </a:rPr>
              <a:t> </a:t>
            </a:r>
            <a:r>
              <a:rPr lang="en-US" sz="1800" dirty="0">
                <a:effectLst/>
                <a:latin typeface="Times New Roman" panose="02020603050405020304" pitchFamily="18" charset="0"/>
                <a:ea typeface="SimSun" panose="02010600030101010101" pitchFamily="2" charset="-122"/>
                <a:cs typeface="Arial" panose="020B0604020202020204" pitchFamily="34" charset="0"/>
              </a:rPr>
              <a:t>biting orientation,</a:t>
            </a:r>
            <a:r>
              <a:rPr lang="en-US" sz="1800" dirty="0">
                <a:effectLst/>
                <a:latin typeface="Times New Roman" panose="02020603050405020304" pitchFamily="18" charset="0"/>
                <a:ea typeface="Times New Roman" panose="02020603050405020304" pitchFamily="18" charset="0"/>
                <a:cs typeface="Arial" panose="020B0604020202020204" pitchFamily="34" charset="0"/>
              </a:rPr>
              <a:t> search task and </a:t>
            </a:r>
            <a:r>
              <a:rPr lang="en-US" sz="1800" dirty="0">
                <a:effectLst/>
                <a:latin typeface="Times New Roman" panose="02020603050405020304" pitchFamily="18" charset="0"/>
                <a:ea typeface="SimSun" panose="02010600030101010101" pitchFamily="2" charset="-122"/>
                <a:cs typeface="Arial" panose="020B0604020202020204" pitchFamily="34" charset="0"/>
              </a:rPr>
              <a:t>block order</a:t>
            </a:r>
            <a:r>
              <a:rPr lang="en-US" sz="1800" dirty="0">
                <a:effectLst/>
                <a:latin typeface="Times New Roman" panose="02020603050405020304" pitchFamily="18" charset="0"/>
                <a:ea typeface="Times New Roman" panose="02020603050405020304" pitchFamily="18" charset="0"/>
                <a:cs typeface="Arial" panose="020B0604020202020204" pitchFamily="34" charset="0"/>
              </a:rPr>
              <a:t>.</a:t>
            </a:r>
            <a:endParaRPr lang="en-US" sz="1800" dirty="0">
              <a:effectLst/>
              <a:latin typeface="Calibri" panose="020F0502020204030204" pitchFamily="34" charset="0"/>
              <a:ea typeface="SimSun" panose="02010600030101010101" pitchFamily="2" charset="-122"/>
              <a:cs typeface="Arial" panose="020B060402020202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br>
              <a:rPr lang="en-US" sz="2000" dirty="0">
                <a:effectLst/>
                <a:latin typeface="Calibri" panose="020F0502020204030204" pitchFamily="34" charset="0"/>
                <a:ea typeface="Times New Roman" panose="02020603050405020304" pitchFamily="18" charset="0"/>
                <a:cs typeface="Calibri" panose="020F0502020204030204" pitchFamily="34" charset="0"/>
              </a:rPr>
            </a:br>
            <a:endParaRPr lang="en-US" sz="2000" dirty="0">
              <a:effectLst/>
              <a:latin typeface="Calibri" panose="020F0502020204030204" pitchFamily="34" charset="0"/>
              <a:ea typeface="SimSun" panose="02010600030101010101" pitchFamily="2" charset="-122"/>
              <a:cs typeface="Calibri" panose="020F0502020204030204" pitchFamily="34" charset="0"/>
            </a:endParaRPr>
          </a:p>
        </p:txBody>
      </p:sp>
      <p:pic>
        <p:nvPicPr>
          <p:cNvPr id="3" name="Picture 2">
            <a:extLst>
              <a:ext uri="{FF2B5EF4-FFF2-40B4-BE49-F238E27FC236}">
                <a16:creationId xmlns:a16="http://schemas.microsoft.com/office/drawing/2014/main" id="{98B350FF-6E88-B64D-6BD0-50312CAC85E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282301" y="205847"/>
            <a:ext cx="2346476" cy="1319893"/>
          </a:xfrm>
          <a:prstGeom prst="rect">
            <a:avLst/>
          </a:prstGeom>
        </p:spPr>
      </p:pic>
      <p:pic>
        <p:nvPicPr>
          <p:cNvPr id="6" name="Picture 5">
            <a:extLst>
              <a:ext uri="{FF2B5EF4-FFF2-40B4-BE49-F238E27FC236}">
                <a16:creationId xmlns:a16="http://schemas.microsoft.com/office/drawing/2014/main" id="{7A6D26ED-85E0-72FA-36FC-EAE0CFBC13A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628777" y="197303"/>
            <a:ext cx="2346476" cy="1319893"/>
          </a:xfrm>
          <a:prstGeom prst="rect">
            <a:avLst/>
          </a:prstGeom>
        </p:spPr>
      </p:pic>
      <p:sp>
        <p:nvSpPr>
          <p:cNvPr id="10" name="TextBox 9">
            <a:extLst>
              <a:ext uri="{FF2B5EF4-FFF2-40B4-BE49-F238E27FC236}">
                <a16:creationId xmlns:a16="http://schemas.microsoft.com/office/drawing/2014/main" id="{03E73B69-31C8-F82F-278D-1C15AFB7C403}"/>
              </a:ext>
            </a:extLst>
          </p:cNvPr>
          <p:cNvSpPr txBox="1"/>
          <p:nvPr/>
        </p:nvSpPr>
        <p:spPr>
          <a:xfrm>
            <a:off x="4865087" y="1386367"/>
            <a:ext cx="1373325" cy="369332"/>
          </a:xfrm>
          <a:prstGeom prst="rect">
            <a:avLst/>
          </a:prstGeom>
          <a:noFill/>
        </p:spPr>
        <p:txBody>
          <a:bodyPr wrap="square">
            <a:spAutoFit/>
          </a:bodyPr>
          <a:lstStyle/>
          <a:p>
            <a:r>
              <a:rPr lang="en-US" sz="1800" b="1" dirty="0">
                <a:solidFill>
                  <a:srgbClr val="0070C0"/>
                </a:solidFill>
                <a:latin typeface="Calibri" panose="020F0502020204030204" pitchFamily="34" charset="0"/>
                <a:ea typeface="SimSun" panose="02010600030101010101" pitchFamily="2" charset="-122"/>
                <a:cs typeface="Calibri" panose="020F0502020204030204" pitchFamily="34" charset="0"/>
              </a:rPr>
              <a:t>Face-to-face</a:t>
            </a:r>
            <a:endParaRPr lang="en-US" dirty="0">
              <a:solidFill>
                <a:srgbClr val="0070C0"/>
              </a:solidFill>
            </a:endParaRPr>
          </a:p>
        </p:txBody>
      </p:sp>
      <p:sp>
        <p:nvSpPr>
          <p:cNvPr id="12" name="TextBox 11">
            <a:extLst>
              <a:ext uri="{FF2B5EF4-FFF2-40B4-BE49-F238E27FC236}">
                <a16:creationId xmlns:a16="http://schemas.microsoft.com/office/drawing/2014/main" id="{76CBCA51-0F41-92A6-987B-BE46CF1A37B7}"/>
              </a:ext>
            </a:extLst>
          </p:cNvPr>
          <p:cNvSpPr txBox="1"/>
          <p:nvPr/>
        </p:nvSpPr>
        <p:spPr>
          <a:xfrm>
            <a:off x="7264047" y="1384963"/>
            <a:ext cx="1260341" cy="369332"/>
          </a:xfrm>
          <a:prstGeom prst="rect">
            <a:avLst/>
          </a:prstGeom>
          <a:noFill/>
        </p:spPr>
        <p:txBody>
          <a:bodyPr wrap="square">
            <a:spAutoFit/>
          </a:bodyPr>
          <a:lstStyle/>
          <a:p>
            <a:r>
              <a:rPr lang="en-US" sz="1800" b="1" dirty="0">
                <a:solidFill>
                  <a:srgbClr val="0070C0"/>
                </a:solidFill>
                <a:latin typeface="Calibri" panose="020F0502020204030204" pitchFamily="34" charset="0"/>
                <a:ea typeface="SimSun" panose="02010600030101010101" pitchFamily="2" charset="-122"/>
                <a:cs typeface="Calibri" panose="020F0502020204030204" pitchFamily="34" charset="0"/>
              </a:rPr>
              <a:t>Face-to-tail</a:t>
            </a:r>
            <a:endParaRPr lang="en-US" dirty="0">
              <a:solidFill>
                <a:srgbClr val="0070C0"/>
              </a:solidFill>
            </a:endParaRPr>
          </a:p>
        </p:txBody>
      </p:sp>
    </p:spTree>
    <p:extLst>
      <p:ext uri="{BB962C8B-B14F-4D97-AF65-F5344CB8AC3E}">
        <p14:creationId xmlns:p14="http://schemas.microsoft.com/office/powerpoint/2010/main" val="418900937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AFF970-46D3-4DBC-1BBD-A4953106F06D}"/>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BE64912E-6EA4-BFF8-25C6-4EEF6159AC47}"/>
              </a:ext>
            </a:extLst>
          </p:cNvPr>
          <p:cNvSpPr/>
          <p:nvPr/>
        </p:nvSpPr>
        <p:spPr>
          <a:xfrm>
            <a:off x="-1" y="881981"/>
            <a:ext cx="6553201" cy="707886"/>
          </a:xfrm>
          <a:prstGeom prst="rect">
            <a:avLst/>
          </a:prstGeom>
          <a:noFill/>
        </p:spPr>
        <p:txBody>
          <a:bodyPr wrap="square" lIns="91440" tIns="45720" rIns="91440" bIns="45720">
            <a:spAutoFit/>
          </a:bodyPr>
          <a:lstStyle/>
          <a:p>
            <a:pPr algn="ctr"/>
            <a:r>
              <a:rPr lang="en-US" sz="40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rPr>
              <a:t>Exploratory Analysis R</a:t>
            </a:r>
            <a:r>
              <a:rPr lang="en-US" altLang="zh-CN" sz="40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rPr>
              <a:t>esults</a:t>
            </a:r>
            <a:endParaRPr lang="en-US" sz="16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pic>
        <p:nvPicPr>
          <p:cNvPr id="15" name="Picture 14">
            <a:extLst>
              <a:ext uri="{FF2B5EF4-FFF2-40B4-BE49-F238E27FC236}">
                <a16:creationId xmlns:a16="http://schemas.microsoft.com/office/drawing/2014/main" id="{DCEFB04C-EDC2-E1A1-FAEF-29B611E1234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385658" y="2612018"/>
            <a:ext cx="2346476" cy="1319893"/>
          </a:xfrm>
          <a:prstGeom prst="rect">
            <a:avLst/>
          </a:prstGeom>
        </p:spPr>
      </p:pic>
      <p:pic>
        <p:nvPicPr>
          <p:cNvPr id="16" name="Picture 15">
            <a:extLst>
              <a:ext uri="{FF2B5EF4-FFF2-40B4-BE49-F238E27FC236}">
                <a16:creationId xmlns:a16="http://schemas.microsoft.com/office/drawing/2014/main" id="{BD23E709-D99B-9F74-F14E-243FD71ABDC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170092" y="2585822"/>
            <a:ext cx="2346476" cy="1319893"/>
          </a:xfrm>
          <a:prstGeom prst="rect">
            <a:avLst/>
          </a:prstGeom>
        </p:spPr>
      </p:pic>
      <p:sp>
        <p:nvSpPr>
          <p:cNvPr id="17" name="TextBox 16">
            <a:extLst>
              <a:ext uri="{FF2B5EF4-FFF2-40B4-BE49-F238E27FC236}">
                <a16:creationId xmlns:a16="http://schemas.microsoft.com/office/drawing/2014/main" id="{ABF89BF3-5ED9-596B-F4C0-1221F613BBFD}"/>
              </a:ext>
            </a:extLst>
          </p:cNvPr>
          <p:cNvSpPr txBox="1"/>
          <p:nvPr/>
        </p:nvSpPr>
        <p:spPr>
          <a:xfrm>
            <a:off x="1848700" y="3792538"/>
            <a:ext cx="2232398" cy="369332"/>
          </a:xfrm>
          <a:prstGeom prst="rect">
            <a:avLst/>
          </a:prstGeom>
          <a:noFill/>
        </p:spPr>
        <p:txBody>
          <a:bodyPr wrap="square">
            <a:spAutoFit/>
          </a:bodyPr>
          <a:lstStyle/>
          <a:p>
            <a:r>
              <a:rPr lang="en-US" sz="1800" b="1" dirty="0">
                <a:solidFill>
                  <a:srgbClr val="0070C0"/>
                </a:solidFill>
                <a:latin typeface="Calibri" panose="020F0502020204030204" pitchFamily="34" charset="0"/>
                <a:ea typeface="SimSun" panose="02010600030101010101" pitchFamily="2" charset="-122"/>
                <a:cs typeface="Calibri" panose="020F0502020204030204" pitchFamily="34" charset="0"/>
              </a:rPr>
              <a:t>Face-to-face F</a:t>
            </a:r>
            <a:r>
              <a:rPr lang="en-US" altLang="zh-CN" sz="1800" b="1" dirty="0">
                <a:solidFill>
                  <a:srgbClr val="0070C0"/>
                </a:solidFill>
                <a:latin typeface="Calibri" panose="020F0502020204030204" pitchFamily="34" charset="0"/>
                <a:ea typeface="SimSun" panose="02010600030101010101" pitchFamily="2" charset="-122"/>
                <a:cs typeface="Calibri" panose="020F0502020204030204" pitchFamily="34" charset="0"/>
              </a:rPr>
              <a:t>irst</a:t>
            </a:r>
            <a:endParaRPr lang="en-US" dirty="0">
              <a:solidFill>
                <a:srgbClr val="0070C0"/>
              </a:solidFill>
            </a:endParaRPr>
          </a:p>
        </p:txBody>
      </p:sp>
      <p:sp>
        <p:nvSpPr>
          <p:cNvPr id="18" name="TextBox 17">
            <a:extLst>
              <a:ext uri="{FF2B5EF4-FFF2-40B4-BE49-F238E27FC236}">
                <a16:creationId xmlns:a16="http://schemas.microsoft.com/office/drawing/2014/main" id="{2A613E4E-6043-75A0-5AF1-5089A9C2ABFE}"/>
              </a:ext>
            </a:extLst>
          </p:cNvPr>
          <p:cNvSpPr txBox="1"/>
          <p:nvPr/>
        </p:nvSpPr>
        <p:spPr>
          <a:xfrm>
            <a:off x="5638800" y="3773482"/>
            <a:ext cx="2232398" cy="369332"/>
          </a:xfrm>
          <a:prstGeom prst="rect">
            <a:avLst/>
          </a:prstGeom>
          <a:noFill/>
        </p:spPr>
        <p:txBody>
          <a:bodyPr wrap="square">
            <a:spAutoFit/>
          </a:bodyPr>
          <a:lstStyle/>
          <a:p>
            <a:r>
              <a:rPr lang="en-US" sz="1800" b="1" dirty="0">
                <a:solidFill>
                  <a:srgbClr val="0070C0"/>
                </a:solidFill>
                <a:latin typeface="Calibri" panose="020F0502020204030204" pitchFamily="34" charset="0"/>
                <a:ea typeface="SimSun" panose="02010600030101010101" pitchFamily="2" charset="-122"/>
                <a:cs typeface="Calibri" panose="020F0502020204030204" pitchFamily="34" charset="0"/>
              </a:rPr>
              <a:t>Face-to-tail F</a:t>
            </a:r>
            <a:r>
              <a:rPr lang="en-US" altLang="zh-CN" sz="1800" b="1" dirty="0">
                <a:solidFill>
                  <a:srgbClr val="0070C0"/>
                </a:solidFill>
                <a:latin typeface="Calibri" panose="020F0502020204030204" pitchFamily="34" charset="0"/>
                <a:ea typeface="SimSun" panose="02010600030101010101" pitchFamily="2" charset="-122"/>
                <a:cs typeface="Calibri" panose="020F0502020204030204" pitchFamily="34" charset="0"/>
              </a:rPr>
              <a:t>irst</a:t>
            </a:r>
            <a:endParaRPr lang="en-US" dirty="0">
              <a:solidFill>
                <a:srgbClr val="0070C0"/>
              </a:solidFill>
            </a:endParaRPr>
          </a:p>
        </p:txBody>
      </p:sp>
      <p:pic>
        <p:nvPicPr>
          <p:cNvPr id="20" name="Picture 19">
            <a:extLst>
              <a:ext uri="{FF2B5EF4-FFF2-40B4-BE49-F238E27FC236}">
                <a16:creationId xmlns:a16="http://schemas.microsoft.com/office/drawing/2014/main" id="{A4E8B98E-926C-215B-0D1E-D7C2AF5E2724}"/>
              </a:ext>
            </a:extLst>
          </p:cNvPr>
          <p:cNvPicPr>
            <a:picLocks noChangeAspect="1"/>
          </p:cNvPicPr>
          <p:nvPr/>
        </p:nvPicPr>
        <p:blipFill>
          <a:blip r:embed="rId5"/>
          <a:stretch>
            <a:fillRect/>
          </a:stretch>
        </p:blipFill>
        <p:spPr>
          <a:xfrm>
            <a:off x="-1" y="4212974"/>
            <a:ext cx="9144000" cy="1630969"/>
          </a:xfrm>
          <a:prstGeom prst="rect">
            <a:avLst/>
          </a:prstGeom>
        </p:spPr>
      </p:pic>
      <p:sp>
        <p:nvSpPr>
          <p:cNvPr id="21" name="Rectangle 20">
            <a:extLst>
              <a:ext uri="{FF2B5EF4-FFF2-40B4-BE49-F238E27FC236}">
                <a16:creationId xmlns:a16="http://schemas.microsoft.com/office/drawing/2014/main" id="{492D4101-55F4-7987-B2FC-1AB2E4EDD2A1}"/>
              </a:ext>
            </a:extLst>
          </p:cNvPr>
          <p:cNvSpPr/>
          <p:nvPr/>
        </p:nvSpPr>
        <p:spPr>
          <a:xfrm>
            <a:off x="-121066" y="5780115"/>
            <a:ext cx="9143999" cy="707886"/>
          </a:xfrm>
          <a:prstGeom prst="rect">
            <a:avLst/>
          </a:prstGeom>
          <a:noFill/>
        </p:spPr>
        <p:txBody>
          <a:bodyPr wrap="square" lIns="91440" tIns="45720" rIns="91440" bIns="45720">
            <a:spAutoFit/>
          </a:bodyPr>
          <a:lstStyle/>
          <a:p>
            <a:pPr algn="ctr"/>
            <a:r>
              <a:rPr lang="en-US" altLang="zh-CN" sz="4000" b="1"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rPr>
              <a:t>No transfer effect</a:t>
            </a:r>
            <a:endParaRPr lang="en-US" sz="4000" b="1"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endParaRPr>
          </a:p>
        </p:txBody>
      </p:sp>
      <p:sp>
        <p:nvSpPr>
          <p:cNvPr id="23" name="TextBox 22">
            <a:extLst>
              <a:ext uri="{FF2B5EF4-FFF2-40B4-BE49-F238E27FC236}">
                <a16:creationId xmlns:a16="http://schemas.microsoft.com/office/drawing/2014/main" id="{2997E884-B260-8535-720A-4912A854F63A}"/>
              </a:ext>
            </a:extLst>
          </p:cNvPr>
          <p:cNvSpPr txBox="1"/>
          <p:nvPr/>
        </p:nvSpPr>
        <p:spPr>
          <a:xfrm>
            <a:off x="290578" y="1424092"/>
            <a:ext cx="8562841" cy="1477328"/>
          </a:xfrm>
          <a:prstGeom prst="rect">
            <a:avLst/>
          </a:prstGeom>
          <a:noFill/>
        </p:spPr>
        <p:txBody>
          <a:bodyPr wrap="square">
            <a:spAutoFit/>
          </a:bodyPr>
          <a:lstStyle/>
          <a:p>
            <a:r>
              <a:rPr lang="en-US" dirty="0">
                <a:solidFill>
                  <a:srgbClr val="000000"/>
                </a:solidFill>
                <a:latin typeface="Calibri" panose="020F0502020204030204" pitchFamily="34" charset="0"/>
                <a:ea typeface="SimSun" panose="02010600030101010101" pitchFamily="2" charset="-122"/>
                <a:cs typeface="Calibri" panose="020F0502020204030204" pitchFamily="34" charset="0"/>
              </a:rPr>
              <a:t>We ran repeated-measures 2 (block order: face-to-face first, face-to-tail first) x 2 (search task: agent search, patient search) x 2 (biting position: face-to-face, face-to-tail) ANOVA with the dependent measure response time thus investigating the interaction of biting orientation, search task and block order.</a:t>
            </a:r>
          </a:p>
          <a:p>
            <a:endParaRPr lang="en-US" dirty="0">
              <a:solidFill>
                <a:srgbClr val="000000"/>
              </a:solidFill>
              <a:latin typeface="Calibri" panose="020F0502020204030204" pitchFamily="34" charset="0"/>
              <a:ea typeface="SimSun" panose="02010600030101010101" pitchFamily="2" charset="-122"/>
              <a:cs typeface="Calibri" panose="020F0502020204030204" pitchFamily="34" charset="0"/>
            </a:endParaRPr>
          </a:p>
        </p:txBody>
      </p:sp>
    </p:spTree>
    <p:extLst>
      <p:ext uri="{BB962C8B-B14F-4D97-AF65-F5344CB8AC3E}">
        <p14:creationId xmlns:p14="http://schemas.microsoft.com/office/powerpoint/2010/main" val="78190063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06E983-6176-101B-9653-2E9A49EBEB5A}"/>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8CFBE410-D2C4-C8A6-23D4-9A510D33268A}"/>
              </a:ext>
            </a:extLst>
          </p:cNvPr>
          <p:cNvSpPr/>
          <p:nvPr/>
        </p:nvSpPr>
        <p:spPr>
          <a:xfrm>
            <a:off x="-662328" y="1032424"/>
            <a:ext cx="3877986" cy="707886"/>
          </a:xfrm>
          <a:prstGeom prst="rect">
            <a:avLst/>
          </a:prstGeom>
          <a:noFill/>
        </p:spPr>
        <p:txBody>
          <a:bodyPr wrap="square" lIns="91440" tIns="45720" rIns="91440" bIns="45720">
            <a:spAutoFit/>
          </a:bodyPr>
          <a:lstStyle/>
          <a:p>
            <a:pPr algn="ctr"/>
            <a:r>
              <a:rPr lang="en-US" sz="40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rPr>
              <a:t>Study 1</a:t>
            </a:r>
          </a:p>
        </p:txBody>
      </p:sp>
      <p:sp>
        <p:nvSpPr>
          <p:cNvPr id="5" name="TextBox 4">
            <a:extLst>
              <a:ext uri="{FF2B5EF4-FFF2-40B4-BE49-F238E27FC236}">
                <a16:creationId xmlns:a16="http://schemas.microsoft.com/office/drawing/2014/main" id="{D9126D00-7BAD-6506-709F-968518B778C9}"/>
              </a:ext>
            </a:extLst>
          </p:cNvPr>
          <p:cNvSpPr txBox="1"/>
          <p:nvPr/>
        </p:nvSpPr>
        <p:spPr>
          <a:xfrm>
            <a:off x="404038" y="1851535"/>
            <a:ext cx="8255330" cy="3477875"/>
          </a:xfrm>
          <a:prstGeom prst="rect">
            <a:avLst/>
          </a:prstGeom>
          <a:noFill/>
        </p:spPr>
        <p:txBody>
          <a:bodyPr wrap="square" rtlCol="0">
            <a:spAutoFit/>
          </a:bodyPr>
          <a:lstStyle/>
          <a:p>
            <a:r>
              <a:rPr lang="en-US" sz="2000" dirty="0">
                <a:solidFill>
                  <a:srgbClr val="000000"/>
                </a:solidFill>
                <a:latin typeface="Calibri" panose="020F0502020204030204" pitchFamily="34" charset="0"/>
                <a:ea typeface="SimSun" panose="02010600030101010101" pitchFamily="2" charset="-122"/>
                <a:cs typeface="Calibri" panose="020F0502020204030204" pitchFamily="34" charset="0"/>
              </a:rPr>
              <a:t>Hypothesis:</a:t>
            </a:r>
            <a:br>
              <a:rPr lang="en-US" sz="2000" dirty="0">
                <a:solidFill>
                  <a:srgbClr val="000000"/>
                </a:solidFill>
                <a:latin typeface="Calibri" panose="020F0502020204030204" pitchFamily="34" charset="0"/>
                <a:ea typeface="SimSun" panose="02010600030101010101" pitchFamily="2" charset="-122"/>
                <a:cs typeface="Calibri" panose="020F0502020204030204" pitchFamily="34" charset="0"/>
              </a:rPr>
            </a:br>
            <a:r>
              <a:rPr lang="en-US" sz="2000" dirty="0">
                <a:solidFill>
                  <a:srgbClr val="000000"/>
                </a:solidFill>
                <a:latin typeface="Calibri" panose="020F0502020204030204" pitchFamily="34" charset="0"/>
                <a:ea typeface="SimSun" panose="02010600030101010101" pitchFamily="2" charset="-122"/>
                <a:cs typeface="Calibri" panose="020F0502020204030204" pitchFamily="34" charset="0"/>
              </a:rPr>
              <a:t>        We </a:t>
            </a:r>
            <a:r>
              <a:rPr lang="en-US" altLang="zh-CN" sz="2000" dirty="0">
                <a:solidFill>
                  <a:srgbClr val="000000"/>
                </a:solidFill>
                <a:latin typeface="Calibri" panose="020F0502020204030204" pitchFamily="34" charset="0"/>
                <a:ea typeface="SimSun" panose="02010600030101010101" pitchFamily="2" charset="-122"/>
                <a:cs typeface="Calibri" panose="020F0502020204030204" pitchFamily="34" charset="0"/>
              </a:rPr>
              <a:t>conducted</a:t>
            </a:r>
            <a:r>
              <a:rPr lang="en-US" sz="2000" dirty="0">
                <a:solidFill>
                  <a:srgbClr val="000000"/>
                </a:solidFill>
                <a:latin typeface="Calibri" panose="020F0502020204030204" pitchFamily="34" charset="0"/>
                <a:ea typeface="SimSun" panose="02010600030101010101" pitchFamily="2" charset="-122"/>
                <a:cs typeface="Calibri" panose="020F0502020204030204" pitchFamily="34" charset="0"/>
              </a:rPr>
              <a:t> an eye-tracking study to investigate the temporal dynamics of the underlying process of the agent advantage effect. </a:t>
            </a:r>
            <a:br>
              <a:rPr lang="en-US" sz="2000" dirty="0">
                <a:solidFill>
                  <a:srgbClr val="000000"/>
                </a:solidFill>
                <a:latin typeface="Calibri" panose="020F0502020204030204" pitchFamily="34" charset="0"/>
                <a:ea typeface="SimSun" panose="02010600030101010101" pitchFamily="2" charset="-122"/>
                <a:cs typeface="Calibri" panose="020F0502020204030204" pitchFamily="34" charset="0"/>
              </a:rPr>
            </a:br>
            <a:r>
              <a:rPr lang="en-US" sz="2000" dirty="0">
                <a:solidFill>
                  <a:srgbClr val="000000"/>
                </a:solidFill>
                <a:latin typeface="Calibri" panose="020F0502020204030204" pitchFamily="34" charset="0"/>
                <a:ea typeface="SimSun" panose="02010600030101010101" pitchFamily="2" charset="-122"/>
                <a:cs typeface="Calibri" panose="020F0502020204030204" pitchFamily="34" charset="0"/>
              </a:rPr>
              <a:t>        1. Participants' reaction times in the agent search conditions are faster than in the patient search condition </a:t>
            </a:r>
            <a:r>
              <a:rPr lang="en-US" altLang="zh-CN" sz="2000" dirty="0">
                <a:solidFill>
                  <a:srgbClr val="000000"/>
                </a:solidFill>
                <a:latin typeface="Calibri" panose="020F0502020204030204" pitchFamily="34" charset="0"/>
                <a:ea typeface="SimSun" panose="02010600030101010101" pitchFamily="2" charset="-122"/>
                <a:cs typeface="Calibri" panose="020F0502020204030204" pitchFamily="34" charset="0"/>
              </a:rPr>
              <a:t>thus</a:t>
            </a:r>
            <a:r>
              <a:rPr lang="en-US" sz="2000" dirty="0">
                <a:solidFill>
                  <a:srgbClr val="000000"/>
                </a:solidFill>
                <a:latin typeface="Calibri" panose="020F0502020204030204" pitchFamily="34" charset="0"/>
                <a:ea typeface="SimSun" panose="02010600030101010101" pitchFamily="2" charset="-122"/>
                <a:cs typeface="Calibri" panose="020F0502020204030204" pitchFamily="34" charset="0"/>
              </a:rPr>
              <a:t> replicating the agent advantage effect (</a:t>
            </a:r>
            <a:r>
              <a:rPr lang="en-US" sz="2000" dirty="0" err="1">
                <a:solidFill>
                  <a:srgbClr val="000000"/>
                </a:solidFill>
                <a:latin typeface="Calibri" panose="020F0502020204030204" pitchFamily="34" charset="0"/>
                <a:ea typeface="SimSun" panose="02010600030101010101" pitchFamily="2" charset="-122"/>
                <a:cs typeface="Calibri" panose="020F0502020204030204" pitchFamily="34" charset="0"/>
              </a:rPr>
              <a:t>Segalowitz</a:t>
            </a:r>
            <a:r>
              <a:rPr lang="en-US" sz="2000" dirty="0">
                <a:solidFill>
                  <a:srgbClr val="000000"/>
                </a:solidFill>
                <a:latin typeface="Calibri" panose="020F0502020204030204" pitchFamily="34" charset="0"/>
                <a:ea typeface="SimSun" panose="02010600030101010101" pitchFamily="2" charset="-122"/>
                <a:cs typeface="Calibri" panose="020F0502020204030204" pitchFamily="34" charset="0"/>
              </a:rPr>
              <a:t>, 1982).</a:t>
            </a:r>
          </a:p>
          <a:p>
            <a:r>
              <a:rPr lang="en-US" sz="2000" dirty="0">
                <a:solidFill>
                  <a:srgbClr val="000000"/>
                </a:solidFill>
                <a:latin typeface="Calibri" panose="020F0502020204030204" pitchFamily="34" charset="0"/>
                <a:ea typeface="SimSun" panose="02010600030101010101" pitchFamily="2" charset="-122"/>
                <a:cs typeface="Calibri" panose="020F0502020204030204" pitchFamily="34" charset="0"/>
              </a:rPr>
              <a:t>        2. We would like to investigate whether participants’ eye movements differed on the event roles depending on the search task and thus studied the underlying process of the agent advantage effect.</a:t>
            </a:r>
            <a:br>
              <a:rPr lang="en-US" sz="2000" dirty="0">
                <a:solidFill>
                  <a:srgbClr val="000000"/>
                </a:solidFill>
                <a:latin typeface="Calibri" panose="020F0502020204030204" pitchFamily="34" charset="0"/>
                <a:ea typeface="SimSun" panose="02010600030101010101" pitchFamily="2" charset="-122"/>
                <a:cs typeface="Calibri" panose="020F0502020204030204" pitchFamily="34" charset="0"/>
              </a:rPr>
            </a:br>
            <a:br>
              <a:rPr lang="en-US" sz="2000" dirty="0">
                <a:solidFill>
                  <a:srgbClr val="000000"/>
                </a:solidFill>
                <a:latin typeface="Calibri" panose="020F0502020204030204" pitchFamily="34" charset="0"/>
                <a:ea typeface="SimSun" panose="02010600030101010101" pitchFamily="2" charset="-122"/>
                <a:cs typeface="Calibri" panose="020F0502020204030204" pitchFamily="34" charset="0"/>
              </a:rPr>
            </a:br>
            <a:r>
              <a:rPr lang="en-US" sz="2000" dirty="0">
                <a:solidFill>
                  <a:srgbClr val="000000"/>
                </a:solidFill>
                <a:latin typeface="Calibri" panose="020F0502020204030204" pitchFamily="34" charset="0"/>
                <a:ea typeface="SimSun" panose="02010600030101010101" pitchFamily="2" charset="-122"/>
                <a:cs typeface="Calibri" panose="020F0502020204030204" pitchFamily="34" charset="0"/>
              </a:rPr>
              <a:t>Experiment Design: one factorial within-subjects design</a:t>
            </a:r>
          </a:p>
        </p:txBody>
      </p:sp>
    </p:spTree>
    <p:extLst>
      <p:ext uri="{BB962C8B-B14F-4D97-AF65-F5344CB8AC3E}">
        <p14:creationId xmlns:p14="http://schemas.microsoft.com/office/powerpoint/2010/main" val="414362690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D077336-FF10-8534-C647-70152F8018C0}"/>
              </a:ext>
            </a:extLst>
          </p:cNvPr>
          <p:cNvSpPr/>
          <p:nvPr/>
        </p:nvSpPr>
        <p:spPr>
          <a:xfrm>
            <a:off x="-662328" y="1032424"/>
            <a:ext cx="3877986" cy="707886"/>
          </a:xfrm>
          <a:prstGeom prst="rect">
            <a:avLst/>
          </a:prstGeom>
          <a:noFill/>
        </p:spPr>
        <p:txBody>
          <a:bodyPr wrap="square" lIns="91440" tIns="45720" rIns="91440" bIns="45720">
            <a:spAutoFit/>
          </a:bodyPr>
          <a:lstStyle/>
          <a:p>
            <a:pPr algn="ctr"/>
            <a:r>
              <a:rPr lang="en-US" sz="40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rPr>
              <a:t>Study 1</a:t>
            </a:r>
          </a:p>
        </p:txBody>
      </p:sp>
      <p:sp>
        <p:nvSpPr>
          <p:cNvPr id="5" name="TextBox 4">
            <a:extLst>
              <a:ext uri="{FF2B5EF4-FFF2-40B4-BE49-F238E27FC236}">
                <a16:creationId xmlns:a16="http://schemas.microsoft.com/office/drawing/2014/main" id="{CEDD6B76-5EC4-88C2-AB82-FFBC56F65F49}"/>
              </a:ext>
            </a:extLst>
          </p:cNvPr>
          <p:cNvSpPr txBox="1"/>
          <p:nvPr/>
        </p:nvSpPr>
        <p:spPr>
          <a:xfrm>
            <a:off x="404038" y="1851535"/>
            <a:ext cx="8255330" cy="3477875"/>
          </a:xfrm>
          <a:prstGeom prst="rect">
            <a:avLst/>
          </a:prstGeom>
          <a:noFill/>
        </p:spPr>
        <p:txBody>
          <a:bodyPr wrap="square" rtlCol="0">
            <a:spAutoFit/>
          </a:bodyPr>
          <a:lstStyle/>
          <a:p>
            <a:r>
              <a:rPr lang="en-US" sz="2000" dirty="0">
                <a:solidFill>
                  <a:srgbClr val="000000"/>
                </a:solidFill>
                <a:latin typeface="Calibri" panose="020F0502020204030204" pitchFamily="34" charset="0"/>
                <a:ea typeface="SimSun" panose="02010600030101010101" pitchFamily="2" charset="-122"/>
                <a:cs typeface="Calibri" panose="020F0502020204030204" pitchFamily="34" charset="0"/>
              </a:rPr>
              <a:t>Hypothesis:</a:t>
            </a:r>
            <a:br>
              <a:rPr lang="en-US" sz="2000" dirty="0">
                <a:solidFill>
                  <a:srgbClr val="000000"/>
                </a:solidFill>
                <a:latin typeface="Calibri" panose="020F0502020204030204" pitchFamily="34" charset="0"/>
                <a:ea typeface="SimSun" panose="02010600030101010101" pitchFamily="2" charset="-122"/>
                <a:cs typeface="Calibri" panose="020F0502020204030204" pitchFamily="34" charset="0"/>
              </a:rPr>
            </a:br>
            <a:r>
              <a:rPr lang="en-US" sz="2000" dirty="0">
                <a:solidFill>
                  <a:srgbClr val="000000"/>
                </a:solidFill>
                <a:latin typeface="Calibri" panose="020F0502020204030204" pitchFamily="34" charset="0"/>
                <a:ea typeface="SimSun" panose="02010600030101010101" pitchFamily="2" charset="-122"/>
                <a:cs typeface="Calibri" panose="020F0502020204030204" pitchFamily="34" charset="0"/>
              </a:rPr>
              <a:t>        We </a:t>
            </a:r>
            <a:r>
              <a:rPr lang="en-US" altLang="zh-CN" sz="2000" dirty="0">
                <a:solidFill>
                  <a:srgbClr val="000000"/>
                </a:solidFill>
                <a:latin typeface="Calibri" panose="020F0502020204030204" pitchFamily="34" charset="0"/>
                <a:ea typeface="SimSun" panose="02010600030101010101" pitchFamily="2" charset="-122"/>
                <a:cs typeface="Calibri" panose="020F0502020204030204" pitchFamily="34" charset="0"/>
              </a:rPr>
              <a:t>conducted</a:t>
            </a:r>
            <a:r>
              <a:rPr lang="en-US" sz="2000" dirty="0">
                <a:solidFill>
                  <a:srgbClr val="000000"/>
                </a:solidFill>
                <a:latin typeface="Calibri" panose="020F0502020204030204" pitchFamily="34" charset="0"/>
                <a:ea typeface="SimSun" panose="02010600030101010101" pitchFamily="2" charset="-122"/>
                <a:cs typeface="Calibri" panose="020F0502020204030204" pitchFamily="34" charset="0"/>
              </a:rPr>
              <a:t> an eye-tracking study to investigate the temporal dynamics of the underlying process of the agent advantage effect. </a:t>
            </a:r>
            <a:br>
              <a:rPr lang="en-US" sz="2000" dirty="0">
                <a:solidFill>
                  <a:srgbClr val="000000"/>
                </a:solidFill>
                <a:latin typeface="Calibri" panose="020F0502020204030204" pitchFamily="34" charset="0"/>
                <a:ea typeface="SimSun" panose="02010600030101010101" pitchFamily="2" charset="-122"/>
                <a:cs typeface="Calibri" panose="020F0502020204030204" pitchFamily="34" charset="0"/>
              </a:rPr>
            </a:br>
            <a:r>
              <a:rPr lang="en-US" sz="2000" dirty="0">
                <a:solidFill>
                  <a:srgbClr val="000000"/>
                </a:solidFill>
                <a:latin typeface="Calibri" panose="020F0502020204030204" pitchFamily="34" charset="0"/>
                <a:ea typeface="SimSun" panose="02010600030101010101" pitchFamily="2" charset="-122"/>
                <a:cs typeface="Calibri" panose="020F0502020204030204" pitchFamily="34" charset="0"/>
              </a:rPr>
              <a:t>        1. Participants' reaction times in the agent search conditions are faster than in the patient search condition </a:t>
            </a:r>
            <a:r>
              <a:rPr lang="en-US" altLang="zh-CN" sz="2000" dirty="0">
                <a:solidFill>
                  <a:srgbClr val="000000"/>
                </a:solidFill>
                <a:latin typeface="Calibri" panose="020F0502020204030204" pitchFamily="34" charset="0"/>
                <a:ea typeface="SimSun" panose="02010600030101010101" pitchFamily="2" charset="-122"/>
                <a:cs typeface="Calibri" panose="020F0502020204030204" pitchFamily="34" charset="0"/>
              </a:rPr>
              <a:t>thus</a:t>
            </a:r>
            <a:r>
              <a:rPr lang="en-US" sz="2000" dirty="0">
                <a:solidFill>
                  <a:srgbClr val="000000"/>
                </a:solidFill>
                <a:latin typeface="Calibri" panose="020F0502020204030204" pitchFamily="34" charset="0"/>
                <a:ea typeface="SimSun" panose="02010600030101010101" pitchFamily="2" charset="-122"/>
                <a:cs typeface="Calibri" panose="020F0502020204030204" pitchFamily="34" charset="0"/>
              </a:rPr>
              <a:t> replicating the agent advantage effect (</a:t>
            </a:r>
            <a:r>
              <a:rPr lang="en-US" sz="2000" dirty="0" err="1">
                <a:solidFill>
                  <a:srgbClr val="000000"/>
                </a:solidFill>
                <a:latin typeface="Calibri" panose="020F0502020204030204" pitchFamily="34" charset="0"/>
                <a:ea typeface="SimSun" panose="02010600030101010101" pitchFamily="2" charset="-122"/>
                <a:cs typeface="Calibri" panose="020F0502020204030204" pitchFamily="34" charset="0"/>
              </a:rPr>
              <a:t>Segalowitz</a:t>
            </a:r>
            <a:r>
              <a:rPr lang="en-US" sz="2000" dirty="0">
                <a:solidFill>
                  <a:srgbClr val="000000"/>
                </a:solidFill>
                <a:latin typeface="Calibri" panose="020F0502020204030204" pitchFamily="34" charset="0"/>
                <a:ea typeface="SimSun" panose="02010600030101010101" pitchFamily="2" charset="-122"/>
                <a:cs typeface="Calibri" panose="020F0502020204030204" pitchFamily="34" charset="0"/>
              </a:rPr>
              <a:t>, 1982).</a:t>
            </a:r>
          </a:p>
          <a:p>
            <a:r>
              <a:rPr lang="en-US" sz="2000" dirty="0">
                <a:solidFill>
                  <a:srgbClr val="000000"/>
                </a:solidFill>
                <a:latin typeface="Calibri" panose="020F0502020204030204" pitchFamily="34" charset="0"/>
                <a:ea typeface="SimSun" panose="02010600030101010101" pitchFamily="2" charset="-122"/>
                <a:cs typeface="Calibri" panose="020F0502020204030204" pitchFamily="34" charset="0"/>
              </a:rPr>
              <a:t>        2. We would like to investigate whether participants’ eye movements differed on the event roles depending on the search task and thus studied the underlying process of the agent advantage effect.</a:t>
            </a:r>
            <a:br>
              <a:rPr lang="en-US" sz="2000" dirty="0">
                <a:solidFill>
                  <a:srgbClr val="000000"/>
                </a:solidFill>
                <a:latin typeface="Calibri" panose="020F0502020204030204" pitchFamily="34" charset="0"/>
                <a:ea typeface="SimSun" panose="02010600030101010101" pitchFamily="2" charset="-122"/>
                <a:cs typeface="Calibri" panose="020F0502020204030204" pitchFamily="34" charset="0"/>
              </a:rPr>
            </a:br>
            <a:br>
              <a:rPr lang="en-US" sz="2000" dirty="0">
                <a:solidFill>
                  <a:srgbClr val="000000"/>
                </a:solidFill>
                <a:latin typeface="Calibri" panose="020F0502020204030204" pitchFamily="34" charset="0"/>
                <a:ea typeface="SimSun" panose="02010600030101010101" pitchFamily="2" charset="-122"/>
                <a:cs typeface="Calibri" panose="020F0502020204030204" pitchFamily="34" charset="0"/>
              </a:rPr>
            </a:br>
            <a:r>
              <a:rPr lang="en-US" sz="2000" dirty="0">
                <a:solidFill>
                  <a:srgbClr val="000000"/>
                </a:solidFill>
                <a:latin typeface="Calibri" panose="020F0502020204030204" pitchFamily="34" charset="0"/>
                <a:ea typeface="SimSun" panose="02010600030101010101" pitchFamily="2" charset="-122"/>
                <a:cs typeface="Calibri" panose="020F0502020204030204" pitchFamily="34" charset="0"/>
              </a:rPr>
              <a:t>Experiment Design: one factorial within-subjects design</a:t>
            </a:r>
          </a:p>
        </p:txBody>
      </p:sp>
    </p:spTree>
    <p:extLst>
      <p:ext uri="{BB962C8B-B14F-4D97-AF65-F5344CB8AC3E}">
        <p14:creationId xmlns:p14="http://schemas.microsoft.com/office/powerpoint/2010/main" val="89211425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A6DD54-7EB3-FF2D-8466-4F20A2B3D519}"/>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80F1DFC5-251E-83B6-C5DD-8E17977C9535}"/>
              </a:ext>
            </a:extLst>
          </p:cNvPr>
          <p:cNvSpPr/>
          <p:nvPr/>
        </p:nvSpPr>
        <p:spPr>
          <a:xfrm>
            <a:off x="359999" y="1043057"/>
            <a:ext cx="8236254" cy="707886"/>
          </a:xfrm>
          <a:prstGeom prst="rect">
            <a:avLst/>
          </a:prstGeom>
          <a:noFill/>
        </p:spPr>
        <p:txBody>
          <a:bodyPr wrap="square" lIns="91440" tIns="45720" rIns="91440" bIns="45720">
            <a:spAutoFit/>
          </a:bodyPr>
          <a:lstStyle/>
          <a:p>
            <a:pPr eaLnBrk="1" hangingPunct="1">
              <a:spcBef>
                <a:spcPct val="20000"/>
              </a:spcBef>
            </a:pPr>
            <a:r>
              <a:rPr lang="en-US" altLang="zh-CN" sz="4000" b="1" dirty="0">
                <a:latin typeface="Calibri" panose="020F0502020204030204" pitchFamily="34" charset="0"/>
                <a:ea typeface="微软雅黑" panose="020B0503020204020204" pitchFamily="34" charset="-122"/>
                <a:cs typeface="Calibri" panose="020F0502020204030204" pitchFamily="34" charset="0"/>
                <a:sym typeface="Arial" panose="020B0604020202020204" pitchFamily="34" charset="0"/>
              </a:rPr>
              <a:t>Research Interest:</a:t>
            </a:r>
            <a:endParaRPr lang="en-US" sz="4000" b="1" dirty="0">
              <a:latin typeface="Calibri" panose="020F0502020204030204" pitchFamily="34" charset="0"/>
              <a:ea typeface="微软雅黑" panose="020B0503020204020204" pitchFamily="34" charset="-122"/>
              <a:cs typeface="Calibri" panose="020F0502020204030204" pitchFamily="34" charset="0"/>
              <a:sym typeface="Arial" panose="020B0604020202020204" pitchFamily="34" charset="0"/>
            </a:endParaRPr>
          </a:p>
        </p:txBody>
      </p:sp>
      <p:sp>
        <p:nvSpPr>
          <p:cNvPr id="7" name="TextBox 6">
            <a:extLst>
              <a:ext uri="{FF2B5EF4-FFF2-40B4-BE49-F238E27FC236}">
                <a16:creationId xmlns:a16="http://schemas.microsoft.com/office/drawing/2014/main" id="{6BD214F4-465B-1287-C0B6-8CD989BF4635}"/>
              </a:ext>
            </a:extLst>
          </p:cNvPr>
          <p:cNvSpPr txBox="1"/>
          <p:nvPr/>
        </p:nvSpPr>
        <p:spPr>
          <a:xfrm>
            <a:off x="5430731" y="1961708"/>
            <a:ext cx="3127807" cy="4570482"/>
          </a:xfrm>
          <a:prstGeom prst="rect">
            <a:avLst/>
          </a:prstGeom>
          <a:noFill/>
        </p:spPr>
        <p:txBody>
          <a:bodyPr wrap="square" rtlCol="0">
            <a:spAutoFit/>
          </a:bodyPr>
          <a:lstStyle/>
          <a:p>
            <a:pPr marL="342900" indent="-342900">
              <a:buFont typeface="Arial" panose="020B0604020202020204" pitchFamily="34" charset="0"/>
              <a:buChar char="•"/>
            </a:pPr>
            <a:r>
              <a:rPr lang="en-US" sz="2000" dirty="0">
                <a:latin typeface="Calibri" panose="020F0502020204030204" pitchFamily="34" charset="0"/>
                <a:ea typeface="DengXian" panose="02010600030101010101" pitchFamily="2" charset="-122"/>
                <a:cs typeface="Times New Roman" panose="02020603050405020304" pitchFamily="18" charset="0"/>
              </a:rPr>
              <a:t>Underlying process of the agent advantage effect</a:t>
            </a:r>
          </a:p>
          <a:p>
            <a:pPr marL="342900" indent="-342900">
              <a:buFont typeface="Arial" panose="020B0604020202020204" pitchFamily="34" charset="0"/>
              <a:buChar char="•"/>
            </a:pPr>
            <a:endParaRPr lang="en-US" sz="2000" dirty="0">
              <a:effectLst/>
              <a:latin typeface="Calibri" panose="020F0502020204030204" pitchFamily="34" charset="0"/>
              <a:ea typeface="DengXian" panose="02010600030101010101" pitchFamily="2" charset="-122"/>
              <a:cs typeface="Times New Roman" panose="02020603050405020304" pitchFamily="18" charset="0"/>
            </a:endParaRPr>
          </a:p>
          <a:p>
            <a:endParaRPr lang="en-US" sz="2000" dirty="0">
              <a:effectLst/>
              <a:latin typeface="Calibri" panose="020F0502020204030204" pitchFamily="34" charset="0"/>
              <a:ea typeface="DengXian" panose="02010600030101010101" pitchFamily="2" charset="-122"/>
              <a:cs typeface="Times New Roman" panose="02020603050405020304" pitchFamily="18" charset="0"/>
            </a:endParaRPr>
          </a:p>
          <a:p>
            <a:pPr marL="342900" indent="-342900">
              <a:buFont typeface="Arial" panose="020B0604020202020204" pitchFamily="34" charset="0"/>
              <a:buChar char="•"/>
            </a:pPr>
            <a:r>
              <a:rPr lang="en-US" sz="2000" dirty="0">
                <a:latin typeface="Calibri" panose="020F0502020204030204" pitchFamily="34" charset="0"/>
                <a:ea typeface="DengXian" panose="02010600030101010101" pitchFamily="2" charset="-122"/>
                <a:cs typeface="Times New Roman" panose="02020603050405020304" pitchFamily="18" charset="0"/>
              </a:rPr>
              <a:t>Whether motion lines might impact the agent advantage effect</a:t>
            </a:r>
          </a:p>
          <a:p>
            <a:pPr marL="342900" indent="-342900">
              <a:buFont typeface="Arial" panose="020B0604020202020204" pitchFamily="34" charset="0"/>
              <a:buChar char="•"/>
            </a:pPr>
            <a:endParaRPr lang="en-US" sz="2000" dirty="0">
              <a:latin typeface="Calibri" panose="020F0502020204030204" pitchFamily="34" charset="0"/>
              <a:ea typeface="DengXian" panose="02010600030101010101" pitchFamily="2" charset="-122"/>
              <a:cs typeface="Times New Roman" panose="02020603050405020304" pitchFamily="18" charset="0"/>
            </a:endParaRPr>
          </a:p>
          <a:p>
            <a:endParaRPr lang="en-US" sz="2000" dirty="0">
              <a:latin typeface="Calibri" panose="020F0502020204030204" pitchFamily="34" charset="0"/>
              <a:ea typeface="DengXian" panose="02010600030101010101" pitchFamily="2" charset="-122"/>
              <a:cs typeface="Times New Roman" panose="02020603050405020304" pitchFamily="18" charset="0"/>
            </a:endParaRPr>
          </a:p>
          <a:p>
            <a:pPr marL="342900" indent="-342900">
              <a:buFont typeface="Arial" panose="020B0604020202020204" pitchFamily="34" charset="0"/>
              <a:buChar char="•"/>
            </a:pPr>
            <a:r>
              <a:rPr lang="en-US" sz="2000" dirty="0">
                <a:latin typeface="Calibri" panose="020F0502020204030204" pitchFamily="34" charset="0"/>
                <a:ea typeface="DengXian" panose="02010600030101010101" pitchFamily="2" charset="-122"/>
                <a:cs typeface="Times New Roman" panose="02020603050405020304" pitchFamily="18" charset="0"/>
              </a:rPr>
              <a:t>Agent advantage effect in dynamics</a:t>
            </a:r>
          </a:p>
          <a:p>
            <a:pPr marL="342900" indent="-342900">
              <a:buFont typeface="Arial" panose="020B0604020202020204" pitchFamily="34" charset="0"/>
              <a:buChar char="•"/>
            </a:pPr>
            <a:endParaRPr lang="en-US" sz="2000" dirty="0">
              <a:effectLst/>
              <a:latin typeface="Calibri" panose="020F0502020204030204" pitchFamily="34" charset="0"/>
              <a:ea typeface="DengXian" panose="02010600030101010101" pitchFamily="2" charset="-122"/>
              <a:cs typeface="Times New Roman" panose="02020603050405020304" pitchFamily="18" charset="0"/>
            </a:endParaRPr>
          </a:p>
          <a:p>
            <a:pPr marL="342900" indent="-342900">
              <a:buFont typeface="Arial" panose="020B0604020202020204" pitchFamily="34" charset="0"/>
              <a:buChar char="•"/>
            </a:pPr>
            <a:endParaRPr lang="en-US" sz="1100" dirty="0">
              <a:effectLst/>
              <a:latin typeface="Calibri" panose="020F0502020204030204" pitchFamily="34" charset="0"/>
              <a:ea typeface="DengXian" panose="02010600030101010101" pitchFamily="2" charset="-122"/>
              <a:cs typeface="Times New Roman" panose="02020603050405020304" pitchFamily="18" charset="0"/>
            </a:endParaRPr>
          </a:p>
          <a:p>
            <a:endParaRPr lang="en-US" sz="2000" dirty="0">
              <a:effectLst/>
              <a:latin typeface="Calibri" panose="020F0502020204030204" pitchFamily="34" charset="0"/>
              <a:ea typeface="DengXian" panose="02010600030101010101" pitchFamily="2" charset="-122"/>
              <a:cs typeface="Times New Roman" panose="02020603050405020304" pitchFamily="18" charset="0"/>
            </a:endParaRPr>
          </a:p>
        </p:txBody>
      </p:sp>
      <p:sp>
        <p:nvSpPr>
          <p:cNvPr id="2" name="Arrow: Right 1">
            <a:extLst>
              <a:ext uri="{FF2B5EF4-FFF2-40B4-BE49-F238E27FC236}">
                <a16:creationId xmlns:a16="http://schemas.microsoft.com/office/drawing/2014/main" id="{1AAD4351-CA01-2A46-AF60-D9C034F97DFC}"/>
              </a:ext>
            </a:extLst>
          </p:cNvPr>
          <p:cNvSpPr/>
          <p:nvPr/>
        </p:nvSpPr>
        <p:spPr>
          <a:xfrm>
            <a:off x="4123944" y="3569547"/>
            <a:ext cx="896112" cy="338328"/>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dirty="0"/>
          </a:p>
        </p:txBody>
      </p:sp>
      <p:pic>
        <p:nvPicPr>
          <p:cNvPr id="3" name="Picture 2">
            <a:extLst>
              <a:ext uri="{FF2B5EF4-FFF2-40B4-BE49-F238E27FC236}">
                <a16:creationId xmlns:a16="http://schemas.microsoft.com/office/drawing/2014/main" id="{4EC5BB90-9641-4747-75D8-7144250F1692}"/>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722150" y="3124422"/>
            <a:ext cx="1478446" cy="1284670"/>
          </a:xfrm>
          <a:prstGeom prst="rect">
            <a:avLst/>
          </a:prstGeom>
        </p:spPr>
      </p:pic>
      <p:pic>
        <p:nvPicPr>
          <p:cNvPr id="5" name="Grafik 4">
            <a:extLst>
              <a:ext uri="{FF2B5EF4-FFF2-40B4-BE49-F238E27FC236}">
                <a16:creationId xmlns:a16="http://schemas.microsoft.com/office/drawing/2014/main" id="{8C86346C-B53B-1319-29C2-A6BD7ED45C2C}"/>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02336" y="1750943"/>
            <a:ext cx="1766175" cy="1284670"/>
          </a:xfrm>
          <a:prstGeom prst="rect">
            <a:avLst/>
          </a:prstGeom>
        </p:spPr>
      </p:pic>
      <p:sp>
        <p:nvSpPr>
          <p:cNvPr id="6" name="TextBox 5">
            <a:extLst>
              <a:ext uri="{FF2B5EF4-FFF2-40B4-BE49-F238E27FC236}">
                <a16:creationId xmlns:a16="http://schemas.microsoft.com/office/drawing/2014/main" id="{D480CF39-C7B0-6067-BA72-322A3443CC23}"/>
              </a:ext>
            </a:extLst>
          </p:cNvPr>
          <p:cNvSpPr txBox="1"/>
          <p:nvPr/>
        </p:nvSpPr>
        <p:spPr>
          <a:xfrm>
            <a:off x="2350109" y="3607906"/>
            <a:ext cx="1465466" cy="261610"/>
          </a:xfrm>
          <a:prstGeom prst="rect">
            <a:avLst/>
          </a:prstGeom>
          <a:noFill/>
        </p:spPr>
        <p:txBody>
          <a:bodyPr wrap="none" rtlCol="0">
            <a:spAutoFit/>
          </a:bodyPr>
          <a:lstStyle/>
          <a:p>
            <a:r>
              <a:rPr lang="en-US" sz="1100" dirty="0">
                <a:effectLst/>
                <a:latin typeface="Calibri" panose="020F0502020204030204" pitchFamily="34" charset="0"/>
                <a:ea typeface="DengXian" panose="02010600030101010101" pitchFamily="2" charset="-122"/>
                <a:cs typeface="Times New Roman" panose="02020603050405020304" pitchFamily="18" charset="0"/>
              </a:rPr>
              <a:t>(</a:t>
            </a:r>
            <a:r>
              <a:rPr lang="de-DE" sz="1100" dirty="0">
                <a:effectLst/>
                <a:latin typeface="Calibri" panose="020F0502020204030204" pitchFamily="34" charset="0"/>
                <a:ea typeface="DengXian" panose="02010600030101010101" pitchFamily="2" charset="-122"/>
                <a:cs typeface="Times New Roman" panose="02020603050405020304" pitchFamily="18" charset="0"/>
              </a:rPr>
              <a:t>Cohn &amp; Maher, 2015)</a:t>
            </a:r>
            <a:endParaRPr lang="en-US" sz="1100" dirty="0"/>
          </a:p>
        </p:txBody>
      </p:sp>
      <p:sp>
        <p:nvSpPr>
          <p:cNvPr id="10" name="TextBox 9">
            <a:extLst>
              <a:ext uri="{FF2B5EF4-FFF2-40B4-BE49-F238E27FC236}">
                <a16:creationId xmlns:a16="http://schemas.microsoft.com/office/drawing/2014/main" id="{74820230-09AF-4A25-409D-2B56E547F0D4}"/>
              </a:ext>
            </a:extLst>
          </p:cNvPr>
          <p:cNvSpPr txBox="1"/>
          <p:nvPr/>
        </p:nvSpPr>
        <p:spPr>
          <a:xfrm>
            <a:off x="2337285" y="2260654"/>
            <a:ext cx="1236236" cy="261610"/>
          </a:xfrm>
          <a:prstGeom prst="rect">
            <a:avLst/>
          </a:prstGeom>
          <a:noFill/>
        </p:spPr>
        <p:txBody>
          <a:bodyPr wrap="none" rtlCol="0">
            <a:spAutoFit/>
          </a:bodyPr>
          <a:lstStyle/>
          <a:p>
            <a:r>
              <a:rPr lang="en-US" sz="1100" dirty="0">
                <a:effectLst/>
                <a:latin typeface="Calibri" panose="020F0502020204030204" pitchFamily="34" charset="0"/>
                <a:ea typeface="DengXian" panose="02010600030101010101" pitchFamily="2" charset="-122"/>
                <a:cs typeface="Times New Roman" panose="02020603050405020304" pitchFamily="18" charset="0"/>
              </a:rPr>
              <a:t>(</a:t>
            </a:r>
            <a:r>
              <a:rPr lang="en-US" sz="1100" dirty="0" err="1">
                <a:effectLst/>
                <a:latin typeface="Calibri" panose="020F0502020204030204" pitchFamily="34" charset="0"/>
                <a:ea typeface="DengXian" panose="02010600030101010101" pitchFamily="2" charset="-122"/>
                <a:cs typeface="Times New Roman" panose="02020603050405020304" pitchFamily="18" charset="0"/>
              </a:rPr>
              <a:t>Segalowitz</a:t>
            </a:r>
            <a:r>
              <a:rPr lang="en-US" sz="1100" dirty="0">
                <a:effectLst/>
                <a:latin typeface="Calibri" panose="020F0502020204030204" pitchFamily="34" charset="0"/>
                <a:ea typeface="DengXian" panose="02010600030101010101" pitchFamily="2" charset="-122"/>
                <a:cs typeface="Times New Roman" panose="02020603050405020304" pitchFamily="18" charset="0"/>
              </a:rPr>
              <a:t>, 1982)</a:t>
            </a:r>
            <a:endParaRPr lang="en-US" sz="1100" dirty="0"/>
          </a:p>
        </p:txBody>
      </p:sp>
      <p:pic>
        <p:nvPicPr>
          <p:cNvPr id="25" name="Picture 24">
            <a:extLst>
              <a:ext uri="{FF2B5EF4-FFF2-40B4-BE49-F238E27FC236}">
                <a16:creationId xmlns:a16="http://schemas.microsoft.com/office/drawing/2014/main" id="{61510D87-6734-294E-DEC5-31E2F63C64B2}"/>
              </a:ext>
            </a:extLst>
          </p:cNvPr>
          <p:cNvPicPr>
            <a:picLocks noChangeAspect="1"/>
          </p:cNvPicPr>
          <p:nvPr/>
        </p:nvPicPr>
        <p:blipFill>
          <a:blip r:embed="rId5"/>
          <a:stretch>
            <a:fillRect/>
          </a:stretch>
        </p:blipFill>
        <p:spPr>
          <a:xfrm>
            <a:off x="464873" y="4609404"/>
            <a:ext cx="2793382" cy="1722377"/>
          </a:xfrm>
          <a:prstGeom prst="rect">
            <a:avLst/>
          </a:prstGeom>
        </p:spPr>
      </p:pic>
      <p:sp>
        <p:nvSpPr>
          <p:cNvPr id="26" name="TextBox 25">
            <a:extLst>
              <a:ext uri="{FF2B5EF4-FFF2-40B4-BE49-F238E27FC236}">
                <a16:creationId xmlns:a16="http://schemas.microsoft.com/office/drawing/2014/main" id="{FD5EF22B-9B70-05F7-FFBF-83FDF67CA4A8}"/>
              </a:ext>
            </a:extLst>
          </p:cNvPr>
          <p:cNvSpPr txBox="1"/>
          <p:nvPr/>
        </p:nvSpPr>
        <p:spPr>
          <a:xfrm>
            <a:off x="3395828" y="5039355"/>
            <a:ext cx="1571264" cy="261610"/>
          </a:xfrm>
          <a:prstGeom prst="rect">
            <a:avLst/>
          </a:prstGeom>
          <a:noFill/>
        </p:spPr>
        <p:txBody>
          <a:bodyPr wrap="none" rtlCol="0">
            <a:spAutoFit/>
          </a:bodyPr>
          <a:lstStyle/>
          <a:p>
            <a:r>
              <a:rPr lang="en-US" sz="1100" dirty="0">
                <a:effectLst/>
                <a:latin typeface="Calibri" panose="020F0502020204030204" pitchFamily="34" charset="0"/>
                <a:ea typeface="DengXian" panose="02010600030101010101" pitchFamily="2" charset="-122"/>
                <a:cs typeface="Times New Roman" panose="02020603050405020304" pitchFamily="18" charset="0"/>
              </a:rPr>
              <a:t>(Cohn &amp; </a:t>
            </a:r>
            <a:r>
              <a:rPr lang="en-US" sz="1100" dirty="0" err="1">
                <a:effectLst/>
                <a:latin typeface="Calibri" panose="020F0502020204030204" pitchFamily="34" charset="0"/>
                <a:ea typeface="DengXian" panose="02010600030101010101" pitchFamily="2" charset="-122"/>
                <a:cs typeface="Times New Roman" panose="02020603050405020304" pitchFamily="18" charset="0"/>
              </a:rPr>
              <a:t>Pacynski</a:t>
            </a:r>
            <a:r>
              <a:rPr lang="en-US" sz="1100" dirty="0">
                <a:effectLst/>
                <a:latin typeface="Calibri" panose="020F0502020204030204" pitchFamily="34" charset="0"/>
                <a:ea typeface="DengXian" panose="02010600030101010101" pitchFamily="2" charset="-122"/>
                <a:cs typeface="Times New Roman" panose="02020603050405020304" pitchFamily="18" charset="0"/>
              </a:rPr>
              <a:t>, 2013)</a:t>
            </a:r>
            <a:endParaRPr lang="en-US" sz="1100" dirty="0"/>
          </a:p>
        </p:txBody>
      </p:sp>
      <p:sp>
        <p:nvSpPr>
          <p:cNvPr id="28" name="TextBox 27">
            <a:extLst>
              <a:ext uri="{FF2B5EF4-FFF2-40B4-BE49-F238E27FC236}">
                <a16:creationId xmlns:a16="http://schemas.microsoft.com/office/drawing/2014/main" id="{AA307E08-2244-44DC-B430-421EBFD7CE1E}"/>
              </a:ext>
            </a:extLst>
          </p:cNvPr>
          <p:cNvSpPr txBox="1"/>
          <p:nvPr/>
        </p:nvSpPr>
        <p:spPr>
          <a:xfrm>
            <a:off x="4478126" y="1114645"/>
            <a:ext cx="4615590" cy="830997"/>
          </a:xfrm>
          <a:prstGeom prst="rect">
            <a:avLst/>
          </a:prstGeom>
          <a:noFill/>
        </p:spPr>
        <p:txBody>
          <a:bodyPr wrap="square" rtlCol="0">
            <a:spAutoFit/>
          </a:bodyPr>
          <a:lstStyle/>
          <a:p>
            <a:r>
              <a:rPr lang="en-GB" sz="1600" b="1" dirty="0">
                <a:latin typeface="Open Sans" panose="020B0606030504020204" pitchFamily="34" charset="0"/>
                <a:ea typeface="SimSun" panose="02010600030101010101" pitchFamily="2" charset="-122"/>
              </a:rPr>
              <a:t>exploring the event roles </a:t>
            </a:r>
            <a:r>
              <a:rPr lang="en-GB" sz="1600" b="1" dirty="0">
                <a:effectLst/>
                <a:latin typeface="Open Sans" panose="020B0606030504020204" pitchFamily="34" charset="0"/>
                <a:ea typeface="SimSun" panose="02010600030101010101" pitchFamily="2" charset="-122"/>
              </a:rPr>
              <a:t>in visual narrative, which eventually contributes to the application of pictorial media.</a:t>
            </a:r>
            <a:endParaRPr lang="en-US" sz="1600" dirty="0"/>
          </a:p>
        </p:txBody>
      </p:sp>
    </p:spTree>
    <p:extLst>
      <p:ext uri="{BB962C8B-B14F-4D97-AF65-F5344CB8AC3E}">
        <p14:creationId xmlns:p14="http://schemas.microsoft.com/office/powerpoint/2010/main" val="4887655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D077336-FF10-8534-C647-70152F8018C0}"/>
              </a:ext>
            </a:extLst>
          </p:cNvPr>
          <p:cNvSpPr/>
          <p:nvPr/>
        </p:nvSpPr>
        <p:spPr>
          <a:xfrm>
            <a:off x="-662328" y="1032424"/>
            <a:ext cx="3877986" cy="707886"/>
          </a:xfrm>
          <a:prstGeom prst="rect">
            <a:avLst/>
          </a:prstGeom>
          <a:noFill/>
        </p:spPr>
        <p:txBody>
          <a:bodyPr wrap="square" lIns="91440" tIns="45720" rIns="91440" bIns="45720">
            <a:spAutoFit/>
          </a:bodyPr>
          <a:lstStyle/>
          <a:p>
            <a:pPr algn="ctr"/>
            <a:r>
              <a:rPr lang="en-US" sz="40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rPr>
              <a:t>Study 1</a:t>
            </a:r>
          </a:p>
        </p:txBody>
      </p:sp>
      <p:sp>
        <p:nvSpPr>
          <p:cNvPr id="5" name="TextBox 4">
            <a:extLst>
              <a:ext uri="{FF2B5EF4-FFF2-40B4-BE49-F238E27FC236}">
                <a16:creationId xmlns:a16="http://schemas.microsoft.com/office/drawing/2014/main" id="{CEDD6B76-5EC4-88C2-AB82-FFBC56F65F49}"/>
              </a:ext>
            </a:extLst>
          </p:cNvPr>
          <p:cNvSpPr txBox="1"/>
          <p:nvPr/>
        </p:nvSpPr>
        <p:spPr>
          <a:xfrm>
            <a:off x="449758" y="1743260"/>
            <a:ext cx="5695010" cy="4093428"/>
          </a:xfrm>
          <a:prstGeom prst="rect">
            <a:avLst/>
          </a:prstGeom>
          <a:noFill/>
        </p:spPr>
        <p:txBody>
          <a:bodyPr wrap="square" rtlCol="0">
            <a:spAutoFit/>
          </a:bodyPr>
          <a:lstStyle/>
          <a:p>
            <a:r>
              <a:rPr lang="en-US" sz="2000" dirty="0">
                <a:solidFill>
                  <a:srgbClr val="000000"/>
                </a:solidFill>
                <a:latin typeface="Calibri" panose="020F0502020204030204" pitchFamily="34" charset="0"/>
                <a:ea typeface="SimSun" panose="02010600030101010101" pitchFamily="2" charset="-122"/>
                <a:cs typeface="Calibri" panose="020F0502020204030204" pitchFamily="34" charset="0"/>
              </a:rPr>
              <a:t>Participants:</a:t>
            </a:r>
          </a:p>
          <a:p>
            <a:r>
              <a:rPr lang="en-US" sz="2000" dirty="0">
                <a:solidFill>
                  <a:srgbClr val="000000"/>
                </a:solidFill>
                <a:latin typeface="Calibri" panose="020F0502020204030204" pitchFamily="34" charset="0"/>
                <a:ea typeface="SimSun" panose="02010600030101010101" pitchFamily="2" charset="-122"/>
                <a:cs typeface="Calibri" panose="020F0502020204030204" pitchFamily="34" charset="0"/>
              </a:rPr>
              <a:t>Sixteen participants were recruited from the University of Tübingen. The sample size was large enough to detect effects with a size (</a:t>
            </a:r>
            <a:r>
              <a:rPr lang="en-US" sz="2000" dirty="0" err="1">
                <a:solidFill>
                  <a:srgbClr val="000000"/>
                </a:solidFill>
                <a:latin typeface="Calibri" panose="020F0502020204030204" pitchFamily="34" charset="0"/>
                <a:ea typeface="SimSun" panose="02010600030101010101" pitchFamily="2" charset="-122"/>
                <a:cs typeface="Calibri" panose="020F0502020204030204" pitchFamily="34" charset="0"/>
              </a:rPr>
              <a:t>dz</a:t>
            </a:r>
            <a:r>
              <a:rPr lang="en-US" sz="2000" dirty="0">
                <a:solidFill>
                  <a:srgbClr val="000000"/>
                </a:solidFill>
                <a:latin typeface="Calibri" panose="020F0502020204030204" pitchFamily="34" charset="0"/>
                <a:ea typeface="SimSun" panose="02010600030101010101" pitchFamily="2" charset="-122"/>
                <a:cs typeface="Calibri" panose="020F0502020204030204" pitchFamily="34" charset="0"/>
              </a:rPr>
              <a:t>) of 0.75 with a power of 80 percent.</a:t>
            </a:r>
            <a:br>
              <a:rPr lang="en-US" sz="2000" dirty="0">
                <a:solidFill>
                  <a:srgbClr val="000000"/>
                </a:solidFill>
                <a:latin typeface="Calibri" panose="020F0502020204030204" pitchFamily="34" charset="0"/>
                <a:ea typeface="SimSun" panose="02010600030101010101" pitchFamily="2" charset="-122"/>
                <a:cs typeface="Calibri" panose="020F0502020204030204" pitchFamily="34" charset="0"/>
              </a:rPr>
            </a:br>
            <a:endParaRPr lang="en-US" sz="2000" dirty="0">
              <a:solidFill>
                <a:srgbClr val="000000"/>
              </a:solidFill>
              <a:latin typeface="Calibri" panose="020F0502020204030204" pitchFamily="34" charset="0"/>
              <a:ea typeface="SimSun" panose="02010600030101010101" pitchFamily="2" charset="-122"/>
              <a:cs typeface="Calibri" panose="020F0502020204030204" pitchFamily="34" charset="0"/>
            </a:endParaRPr>
          </a:p>
          <a:p>
            <a:r>
              <a:rPr lang="en-US" sz="2000" dirty="0">
                <a:solidFill>
                  <a:srgbClr val="000000"/>
                </a:solidFill>
                <a:latin typeface="Calibri" panose="020F0502020204030204" pitchFamily="34" charset="0"/>
                <a:ea typeface="SimSun" panose="02010600030101010101" pitchFamily="2" charset="-122"/>
                <a:cs typeface="Calibri" panose="020F0502020204030204" pitchFamily="34" charset="0"/>
              </a:rPr>
              <a:t>Apparatus </a:t>
            </a:r>
          </a:p>
          <a:p>
            <a:r>
              <a:rPr lang="en-US" sz="2000" dirty="0" err="1">
                <a:solidFill>
                  <a:srgbClr val="000000"/>
                </a:solidFill>
                <a:latin typeface="Calibri" panose="020F0502020204030204" pitchFamily="34" charset="0"/>
                <a:ea typeface="SimSun" panose="02010600030101010101" pitchFamily="2" charset="-122"/>
                <a:cs typeface="Calibri" panose="020F0502020204030204" pitchFamily="34" charset="0"/>
              </a:rPr>
              <a:t>PsychoPy</a:t>
            </a:r>
            <a:r>
              <a:rPr lang="en-US" sz="2000" dirty="0">
                <a:solidFill>
                  <a:srgbClr val="000000"/>
                </a:solidFill>
                <a:latin typeface="Calibri" panose="020F0502020204030204" pitchFamily="34" charset="0"/>
                <a:ea typeface="SimSun" panose="02010600030101010101" pitchFamily="2" charset="-122"/>
                <a:cs typeface="Calibri" panose="020F0502020204030204" pitchFamily="34" charset="0"/>
              </a:rPr>
              <a:t> Experiment Builder (v1.80.04) </a:t>
            </a:r>
            <a:br>
              <a:rPr lang="en-US" sz="2000" dirty="0">
                <a:solidFill>
                  <a:srgbClr val="000000"/>
                </a:solidFill>
                <a:latin typeface="Calibri" panose="020F0502020204030204" pitchFamily="34" charset="0"/>
                <a:ea typeface="SimSun" panose="02010600030101010101" pitchFamily="2" charset="-122"/>
                <a:cs typeface="Calibri" panose="020F0502020204030204" pitchFamily="34" charset="0"/>
              </a:rPr>
            </a:br>
            <a:r>
              <a:rPr lang="en-US" sz="2000" dirty="0">
                <a:solidFill>
                  <a:srgbClr val="000000"/>
                </a:solidFill>
                <a:latin typeface="Calibri" panose="020F0502020204030204" pitchFamily="34" charset="0"/>
                <a:ea typeface="SimSun" panose="02010600030101010101" pitchFamily="2" charset="-122"/>
                <a:cs typeface="Calibri" panose="020F0502020204030204" pitchFamily="34" charset="0"/>
              </a:rPr>
              <a:t>SMI RED eye tracker </a:t>
            </a:r>
            <a:r>
              <a:rPr lang="zh-CN" altLang="en-US" sz="2000" dirty="0">
                <a:solidFill>
                  <a:srgbClr val="000000"/>
                </a:solidFill>
                <a:latin typeface="Calibri" panose="020F0502020204030204" pitchFamily="34" charset="0"/>
                <a:ea typeface="SimSun" panose="02010600030101010101" pitchFamily="2" charset="-122"/>
                <a:cs typeface="Calibri" panose="020F0502020204030204" pitchFamily="34" charset="0"/>
              </a:rPr>
              <a:t>→ </a:t>
            </a:r>
            <a:r>
              <a:rPr lang="en-US" sz="2000" dirty="0">
                <a:solidFill>
                  <a:srgbClr val="000000"/>
                </a:solidFill>
                <a:latin typeface="Calibri" panose="020F0502020204030204" pitchFamily="34" charset="0"/>
                <a:ea typeface="SimSun" panose="02010600030101010101" pitchFamily="2" charset="-122"/>
                <a:cs typeface="Calibri" panose="020F0502020204030204" pitchFamily="34" charset="0"/>
              </a:rPr>
              <a:t>binocular tracking at a sampling rate of 60 Hz for each eye</a:t>
            </a:r>
            <a:br>
              <a:rPr lang="en-US" sz="2000" dirty="0">
                <a:solidFill>
                  <a:srgbClr val="000000"/>
                </a:solidFill>
                <a:latin typeface="Calibri" panose="020F0502020204030204" pitchFamily="34" charset="0"/>
                <a:ea typeface="SimSun" panose="02010600030101010101" pitchFamily="2" charset="-122"/>
                <a:cs typeface="Calibri" panose="020F0502020204030204" pitchFamily="34" charset="0"/>
              </a:rPr>
            </a:br>
            <a:r>
              <a:rPr lang="en-US" sz="2000" dirty="0">
                <a:solidFill>
                  <a:srgbClr val="000000"/>
                </a:solidFill>
                <a:latin typeface="Calibri" panose="020F0502020204030204" pitchFamily="34" charset="0"/>
                <a:ea typeface="SimSun" panose="02010600030101010101" pitchFamily="2" charset="-122"/>
                <a:cs typeface="Calibri" panose="020F0502020204030204" pitchFamily="34" charset="0"/>
              </a:rPr>
              <a:t>A headrest </a:t>
            </a:r>
            <a:r>
              <a:rPr lang="zh-CN" altLang="en-US" sz="2000" dirty="0">
                <a:solidFill>
                  <a:srgbClr val="000000"/>
                </a:solidFill>
                <a:latin typeface="Calibri" panose="020F0502020204030204" pitchFamily="34" charset="0"/>
                <a:ea typeface="SimSun" panose="02010600030101010101" pitchFamily="2" charset="-122"/>
                <a:cs typeface="Calibri" panose="020F0502020204030204" pitchFamily="34" charset="0"/>
              </a:rPr>
              <a:t>→ </a:t>
            </a:r>
            <a:r>
              <a:rPr lang="en-US" sz="2000" dirty="0">
                <a:solidFill>
                  <a:srgbClr val="000000"/>
                </a:solidFill>
                <a:latin typeface="Calibri" panose="020F0502020204030204" pitchFamily="34" charset="0"/>
                <a:ea typeface="SimSun" panose="02010600030101010101" pitchFamily="2" charset="-122"/>
                <a:cs typeface="Calibri" panose="020F0502020204030204" pitchFamily="34" charset="0"/>
              </a:rPr>
              <a:t>stabilized the participants’ head position</a:t>
            </a:r>
            <a:br>
              <a:rPr lang="en-US" sz="2000" dirty="0">
                <a:solidFill>
                  <a:srgbClr val="000000"/>
                </a:solidFill>
                <a:latin typeface="Calibri" panose="020F0502020204030204" pitchFamily="34" charset="0"/>
                <a:ea typeface="SimSun" panose="02010600030101010101" pitchFamily="2" charset="-122"/>
                <a:cs typeface="Calibri" panose="020F0502020204030204" pitchFamily="34" charset="0"/>
              </a:rPr>
            </a:br>
            <a:endParaRPr lang="en-US" sz="2000" dirty="0">
              <a:solidFill>
                <a:srgbClr val="000000"/>
              </a:solidFill>
              <a:latin typeface="Calibri" panose="020F0502020204030204" pitchFamily="34" charset="0"/>
              <a:ea typeface="SimSun" panose="02010600030101010101" pitchFamily="2" charset="-122"/>
              <a:cs typeface="Calibri" panose="020F0502020204030204" pitchFamily="34" charset="0"/>
            </a:endParaRPr>
          </a:p>
        </p:txBody>
      </p:sp>
      <p:pic>
        <p:nvPicPr>
          <p:cNvPr id="3" name="Picture 2">
            <a:extLst>
              <a:ext uri="{FF2B5EF4-FFF2-40B4-BE49-F238E27FC236}">
                <a16:creationId xmlns:a16="http://schemas.microsoft.com/office/drawing/2014/main" id="{FFD55BB4-3618-7414-2CC8-D7F0B49EAF0B}"/>
              </a:ext>
            </a:extLst>
          </p:cNvPr>
          <p:cNvPicPr>
            <a:picLocks noChangeAspect="1"/>
          </p:cNvPicPr>
          <p:nvPr/>
        </p:nvPicPr>
        <p:blipFill>
          <a:blip r:embed="rId3"/>
          <a:stretch>
            <a:fillRect/>
          </a:stretch>
        </p:blipFill>
        <p:spPr>
          <a:xfrm>
            <a:off x="5670995" y="3429000"/>
            <a:ext cx="3335846" cy="2533895"/>
          </a:xfrm>
          <a:prstGeom prst="rect">
            <a:avLst/>
          </a:prstGeom>
        </p:spPr>
      </p:pic>
    </p:spTree>
    <p:extLst>
      <p:ext uri="{BB962C8B-B14F-4D97-AF65-F5344CB8AC3E}">
        <p14:creationId xmlns:p14="http://schemas.microsoft.com/office/powerpoint/2010/main" val="72977962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D077336-FF10-8534-C647-70152F8018C0}"/>
              </a:ext>
            </a:extLst>
          </p:cNvPr>
          <p:cNvSpPr/>
          <p:nvPr/>
        </p:nvSpPr>
        <p:spPr>
          <a:xfrm>
            <a:off x="-662328" y="1032424"/>
            <a:ext cx="3877986" cy="707886"/>
          </a:xfrm>
          <a:prstGeom prst="rect">
            <a:avLst/>
          </a:prstGeom>
          <a:noFill/>
        </p:spPr>
        <p:txBody>
          <a:bodyPr wrap="square" lIns="91440" tIns="45720" rIns="91440" bIns="45720">
            <a:spAutoFit/>
          </a:bodyPr>
          <a:lstStyle/>
          <a:p>
            <a:pPr algn="ctr"/>
            <a:r>
              <a:rPr lang="en-US" sz="40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rPr>
              <a:t>Study 1</a:t>
            </a:r>
          </a:p>
        </p:txBody>
      </p:sp>
      <p:pic>
        <p:nvPicPr>
          <p:cNvPr id="2" name="Picture 1" descr="A picture containing sketch, line art, drawing, clipart&#10;&#10;Description automatically generated">
            <a:extLst>
              <a:ext uri="{FF2B5EF4-FFF2-40B4-BE49-F238E27FC236}">
                <a16:creationId xmlns:a16="http://schemas.microsoft.com/office/drawing/2014/main" id="{1AC92D60-CFED-0DCC-BDFD-94A0C3CB02A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9991" y="2221493"/>
            <a:ext cx="7584017" cy="2722789"/>
          </a:xfrm>
          <a:prstGeom prst="rect">
            <a:avLst/>
          </a:prstGeom>
        </p:spPr>
      </p:pic>
      <p:sp>
        <p:nvSpPr>
          <p:cNvPr id="3" name="TextBox 2">
            <a:extLst>
              <a:ext uri="{FF2B5EF4-FFF2-40B4-BE49-F238E27FC236}">
                <a16:creationId xmlns:a16="http://schemas.microsoft.com/office/drawing/2014/main" id="{B213989D-9B49-A5FF-16A9-3B86C6B6708A}"/>
              </a:ext>
            </a:extLst>
          </p:cNvPr>
          <p:cNvSpPr txBox="1"/>
          <p:nvPr/>
        </p:nvSpPr>
        <p:spPr>
          <a:xfrm>
            <a:off x="340030" y="1740310"/>
            <a:ext cx="5695010" cy="400110"/>
          </a:xfrm>
          <a:prstGeom prst="rect">
            <a:avLst/>
          </a:prstGeom>
          <a:noFill/>
        </p:spPr>
        <p:txBody>
          <a:bodyPr wrap="square" rtlCol="0">
            <a:spAutoFit/>
          </a:bodyPr>
          <a:lstStyle/>
          <a:p>
            <a:r>
              <a:rPr lang="en-US" sz="2000" dirty="0">
                <a:solidFill>
                  <a:srgbClr val="000000"/>
                </a:solidFill>
                <a:latin typeface="Calibri" panose="020F0502020204030204" pitchFamily="34" charset="0"/>
                <a:ea typeface="SimSun" panose="02010600030101010101" pitchFamily="2" charset="-122"/>
                <a:cs typeface="Calibri" panose="020F0502020204030204" pitchFamily="34" charset="0"/>
              </a:rPr>
              <a:t>M</a:t>
            </a:r>
            <a:r>
              <a:rPr lang="en-US" altLang="zh-CN" sz="2000" dirty="0">
                <a:solidFill>
                  <a:srgbClr val="000000"/>
                </a:solidFill>
                <a:latin typeface="Calibri" panose="020F0502020204030204" pitchFamily="34" charset="0"/>
                <a:ea typeface="SimSun" panose="02010600030101010101" pitchFamily="2" charset="-122"/>
                <a:cs typeface="Calibri" panose="020F0502020204030204" pitchFamily="34" charset="0"/>
              </a:rPr>
              <a:t>aterials:</a:t>
            </a:r>
            <a:endParaRPr lang="en-US" sz="2000" dirty="0">
              <a:solidFill>
                <a:srgbClr val="000000"/>
              </a:solidFill>
              <a:latin typeface="Calibri" panose="020F0502020204030204" pitchFamily="34" charset="0"/>
              <a:ea typeface="SimSun" panose="02010600030101010101" pitchFamily="2" charset="-122"/>
              <a:cs typeface="Calibri" panose="020F0502020204030204" pitchFamily="34" charset="0"/>
            </a:endParaRPr>
          </a:p>
        </p:txBody>
      </p:sp>
      <p:sp>
        <p:nvSpPr>
          <p:cNvPr id="7" name="TextBox 6">
            <a:extLst>
              <a:ext uri="{FF2B5EF4-FFF2-40B4-BE49-F238E27FC236}">
                <a16:creationId xmlns:a16="http://schemas.microsoft.com/office/drawing/2014/main" id="{1C5C57B3-2282-77FE-7880-95FB987865E7}"/>
              </a:ext>
            </a:extLst>
          </p:cNvPr>
          <p:cNvSpPr txBox="1"/>
          <p:nvPr/>
        </p:nvSpPr>
        <p:spPr>
          <a:xfrm>
            <a:off x="91439" y="4816020"/>
            <a:ext cx="8961120" cy="1115947"/>
          </a:xfrm>
          <a:prstGeom prst="rect">
            <a:avLst/>
          </a:prstGeom>
          <a:noFill/>
        </p:spPr>
        <p:txBody>
          <a:bodyPr wrap="square">
            <a:spAutoFit/>
          </a:bodyPr>
          <a:lstStyle/>
          <a:p>
            <a:pPr marL="0" marR="0" indent="457200">
              <a:lnSpc>
                <a:spcPct val="200000"/>
              </a:lnSpc>
              <a:spcBef>
                <a:spcPts val="0"/>
              </a:spcBef>
              <a:spcAft>
                <a:spcPts val="0"/>
              </a:spcAft>
            </a:pPr>
            <a:r>
              <a:rPr lang="en-US" sz="1800" i="1" dirty="0">
                <a:solidFill>
                  <a:srgbClr val="000000"/>
                </a:solidFill>
                <a:effectLst/>
                <a:latin typeface="Times New Roman" panose="02020603050405020304" pitchFamily="18" charset="0"/>
                <a:ea typeface="SimSun" panose="02010600030101010101" pitchFamily="2" charset="-122"/>
              </a:rPr>
              <a:t>Note</a:t>
            </a:r>
            <a:r>
              <a:rPr lang="en-US" sz="1800" dirty="0">
                <a:solidFill>
                  <a:srgbClr val="000000"/>
                </a:solidFill>
                <a:effectLst/>
                <a:latin typeface="Times New Roman" panose="02020603050405020304" pitchFamily="18" charset="0"/>
                <a:ea typeface="SimSun" panose="02010600030101010101" pitchFamily="2" charset="-122"/>
              </a:rPr>
              <a:t>. (a) the left fish biting the right fish, (b) the right fish biting the left fish, (c) no biting action (filler trials).</a:t>
            </a:r>
            <a:endParaRPr lang="en-US" sz="1800" dirty="0">
              <a:effectLst/>
              <a:latin typeface="Times New Roman" panose="02020603050405020304" pitchFamily="18" charset="0"/>
              <a:ea typeface="SimSun" panose="02010600030101010101" pitchFamily="2" charset="-122"/>
            </a:endParaRPr>
          </a:p>
        </p:txBody>
      </p:sp>
    </p:spTree>
    <p:extLst>
      <p:ext uri="{BB962C8B-B14F-4D97-AF65-F5344CB8AC3E}">
        <p14:creationId xmlns:p14="http://schemas.microsoft.com/office/powerpoint/2010/main" val="373169503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D077336-FF10-8534-C647-70152F8018C0}"/>
              </a:ext>
            </a:extLst>
          </p:cNvPr>
          <p:cNvSpPr/>
          <p:nvPr/>
        </p:nvSpPr>
        <p:spPr>
          <a:xfrm>
            <a:off x="-662328" y="1032424"/>
            <a:ext cx="3877986" cy="707886"/>
          </a:xfrm>
          <a:prstGeom prst="rect">
            <a:avLst/>
          </a:prstGeom>
          <a:noFill/>
        </p:spPr>
        <p:txBody>
          <a:bodyPr wrap="square" lIns="91440" tIns="45720" rIns="91440" bIns="45720">
            <a:spAutoFit/>
          </a:bodyPr>
          <a:lstStyle/>
          <a:p>
            <a:pPr algn="ctr"/>
            <a:r>
              <a:rPr lang="en-US" sz="40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rPr>
              <a:t>Study 1</a:t>
            </a:r>
          </a:p>
        </p:txBody>
      </p:sp>
      <p:sp>
        <p:nvSpPr>
          <p:cNvPr id="3" name="Rectangle 2">
            <a:extLst>
              <a:ext uri="{FF2B5EF4-FFF2-40B4-BE49-F238E27FC236}">
                <a16:creationId xmlns:a16="http://schemas.microsoft.com/office/drawing/2014/main" id="{8C0F7CAA-E9E8-8149-35CF-AED6983C3FE9}"/>
              </a:ext>
            </a:extLst>
          </p:cNvPr>
          <p:cNvSpPr/>
          <p:nvPr/>
        </p:nvSpPr>
        <p:spPr>
          <a:xfrm>
            <a:off x="2376604" y="1913125"/>
            <a:ext cx="1836774" cy="101210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pic>
        <p:nvPicPr>
          <p:cNvPr id="6" name="Grafik 4">
            <a:extLst>
              <a:ext uri="{FF2B5EF4-FFF2-40B4-BE49-F238E27FC236}">
                <a16:creationId xmlns:a16="http://schemas.microsoft.com/office/drawing/2014/main" id="{E89AD32C-7963-6864-7A83-E1144BB8012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965161" y="1626495"/>
            <a:ext cx="1984080" cy="1443169"/>
          </a:xfrm>
          <a:prstGeom prst="rect">
            <a:avLst/>
          </a:prstGeom>
        </p:spPr>
      </p:pic>
      <p:grpSp>
        <p:nvGrpSpPr>
          <p:cNvPr id="8" name="Group 7">
            <a:extLst>
              <a:ext uri="{FF2B5EF4-FFF2-40B4-BE49-F238E27FC236}">
                <a16:creationId xmlns:a16="http://schemas.microsoft.com/office/drawing/2014/main" id="{F4B1E33D-67FD-DC45-8F83-33387F4967E1}"/>
              </a:ext>
            </a:extLst>
          </p:cNvPr>
          <p:cNvGrpSpPr/>
          <p:nvPr/>
        </p:nvGrpSpPr>
        <p:grpSpPr>
          <a:xfrm>
            <a:off x="3021388" y="2326891"/>
            <a:ext cx="532930" cy="184576"/>
            <a:chOff x="499462" y="1045029"/>
            <a:chExt cx="725907" cy="266513"/>
          </a:xfrm>
        </p:grpSpPr>
        <p:sp>
          <p:nvSpPr>
            <p:cNvPr id="9" name="Oval 8">
              <a:extLst>
                <a:ext uri="{FF2B5EF4-FFF2-40B4-BE49-F238E27FC236}">
                  <a16:creationId xmlns:a16="http://schemas.microsoft.com/office/drawing/2014/main" id="{EEB1C998-C998-70A7-3A9E-81EA36639E46}"/>
                </a:ext>
              </a:extLst>
            </p:cNvPr>
            <p:cNvSpPr/>
            <p:nvPr/>
          </p:nvSpPr>
          <p:spPr>
            <a:xfrm>
              <a:off x="499462" y="1045029"/>
              <a:ext cx="725907" cy="266513"/>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 name="Oval 9">
              <a:extLst>
                <a:ext uri="{FF2B5EF4-FFF2-40B4-BE49-F238E27FC236}">
                  <a16:creationId xmlns:a16="http://schemas.microsoft.com/office/drawing/2014/main" id="{76A7F66E-EBFE-8906-0B64-6F7A8B5030F8}"/>
                </a:ext>
              </a:extLst>
            </p:cNvPr>
            <p:cNvSpPr/>
            <p:nvPr/>
          </p:nvSpPr>
          <p:spPr>
            <a:xfrm>
              <a:off x="806824" y="1045029"/>
              <a:ext cx="130628" cy="266513"/>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grpSp>
      <p:sp>
        <p:nvSpPr>
          <p:cNvPr id="11" name="Rectangle 10">
            <a:extLst>
              <a:ext uri="{FF2B5EF4-FFF2-40B4-BE49-F238E27FC236}">
                <a16:creationId xmlns:a16="http://schemas.microsoft.com/office/drawing/2014/main" id="{91FB4379-AA07-2334-EBC4-AE4B28D44E61}"/>
              </a:ext>
            </a:extLst>
          </p:cNvPr>
          <p:cNvSpPr/>
          <p:nvPr/>
        </p:nvSpPr>
        <p:spPr>
          <a:xfrm>
            <a:off x="2369466" y="3338999"/>
            <a:ext cx="1836774" cy="101210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Introduction</a:t>
            </a:r>
            <a:endParaRPr lang="en-US" dirty="0"/>
          </a:p>
        </p:txBody>
      </p:sp>
      <p:grpSp>
        <p:nvGrpSpPr>
          <p:cNvPr id="18" name="Group 17">
            <a:extLst>
              <a:ext uri="{FF2B5EF4-FFF2-40B4-BE49-F238E27FC236}">
                <a16:creationId xmlns:a16="http://schemas.microsoft.com/office/drawing/2014/main" id="{4701CE3B-2586-2423-440F-ADA28DA7FE89}"/>
              </a:ext>
            </a:extLst>
          </p:cNvPr>
          <p:cNvGrpSpPr/>
          <p:nvPr/>
        </p:nvGrpSpPr>
        <p:grpSpPr>
          <a:xfrm>
            <a:off x="2347734" y="4747130"/>
            <a:ext cx="1836774" cy="1012108"/>
            <a:chOff x="4492038" y="3405797"/>
            <a:chExt cx="1836774" cy="1012108"/>
          </a:xfrm>
        </p:grpSpPr>
        <p:sp>
          <p:nvSpPr>
            <p:cNvPr id="12" name="Rectangle 11">
              <a:extLst>
                <a:ext uri="{FF2B5EF4-FFF2-40B4-BE49-F238E27FC236}">
                  <a16:creationId xmlns:a16="http://schemas.microsoft.com/office/drawing/2014/main" id="{A4777977-CEC1-3485-AD9E-ABA00009CC32}"/>
                </a:ext>
              </a:extLst>
            </p:cNvPr>
            <p:cNvSpPr/>
            <p:nvPr/>
          </p:nvSpPr>
          <p:spPr>
            <a:xfrm>
              <a:off x="4492038" y="3405797"/>
              <a:ext cx="1836774" cy="101210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13" name="Plus Sign 12">
              <a:extLst>
                <a:ext uri="{FF2B5EF4-FFF2-40B4-BE49-F238E27FC236}">
                  <a16:creationId xmlns:a16="http://schemas.microsoft.com/office/drawing/2014/main" id="{F0708711-4EDC-B600-4D02-D43BA1F21943}"/>
                </a:ext>
              </a:extLst>
            </p:cNvPr>
            <p:cNvSpPr/>
            <p:nvPr/>
          </p:nvSpPr>
          <p:spPr>
            <a:xfrm>
              <a:off x="5321030" y="3847745"/>
              <a:ext cx="178790" cy="128211"/>
            </a:xfrm>
            <a:prstGeom prst="mathPlus">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17" name="Group 16">
            <a:extLst>
              <a:ext uri="{FF2B5EF4-FFF2-40B4-BE49-F238E27FC236}">
                <a16:creationId xmlns:a16="http://schemas.microsoft.com/office/drawing/2014/main" id="{6B1D1D05-B564-FD6C-EDBA-ED1AFF838EBB}"/>
              </a:ext>
            </a:extLst>
          </p:cNvPr>
          <p:cNvGrpSpPr/>
          <p:nvPr/>
        </p:nvGrpSpPr>
        <p:grpSpPr>
          <a:xfrm>
            <a:off x="5569963" y="4223418"/>
            <a:ext cx="1347172" cy="799248"/>
            <a:chOff x="5641134" y="4105989"/>
            <a:chExt cx="1836774" cy="1012108"/>
          </a:xfrm>
        </p:grpSpPr>
        <p:sp>
          <p:nvSpPr>
            <p:cNvPr id="14" name="Rectangle 13">
              <a:extLst>
                <a:ext uri="{FF2B5EF4-FFF2-40B4-BE49-F238E27FC236}">
                  <a16:creationId xmlns:a16="http://schemas.microsoft.com/office/drawing/2014/main" id="{B2E79835-F4A7-6A6B-3E63-C8B6D83D2E2A}"/>
                </a:ext>
              </a:extLst>
            </p:cNvPr>
            <p:cNvSpPr/>
            <p:nvPr/>
          </p:nvSpPr>
          <p:spPr>
            <a:xfrm>
              <a:off x="5641134" y="4105989"/>
              <a:ext cx="1836774" cy="101210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15" name="Plus Sign 14">
              <a:extLst>
                <a:ext uri="{FF2B5EF4-FFF2-40B4-BE49-F238E27FC236}">
                  <a16:creationId xmlns:a16="http://schemas.microsoft.com/office/drawing/2014/main" id="{08FA89EC-335B-5788-6E81-17A29967E67D}"/>
                </a:ext>
              </a:extLst>
            </p:cNvPr>
            <p:cNvSpPr/>
            <p:nvPr/>
          </p:nvSpPr>
          <p:spPr>
            <a:xfrm>
              <a:off x="6470126" y="4547937"/>
              <a:ext cx="178790" cy="128211"/>
            </a:xfrm>
            <a:prstGeom prst="mathPlus">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pic>
          <p:nvPicPr>
            <p:cNvPr id="16" name="Grafik 4">
              <a:extLst>
                <a:ext uri="{FF2B5EF4-FFF2-40B4-BE49-F238E27FC236}">
                  <a16:creationId xmlns:a16="http://schemas.microsoft.com/office/drawing/2014/main" id="{50DD9E17-4A01-3921-C026-E3606A5FFE2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288410" y="4152039"/>
              <a:ext cx="531258" cy="386424"/>
            </a:xfrm>
            <a:prstGeom prst="rect">
              <a:avLst/>
            </a:prstGeom>
          </p:spPr>
        </p:pic>
      </p:grpSp>
      <p:grpSp>
        <p:nvGrpSpPr>
          <p:cNvPr id="27" name="Group 26">
            <a:extLst>
              <a:ext uri="{FF2B5EF4-FFF2-40B4-BE49-F238E27FC236}">
                <a16:creationId xmlns:a16="http://schemas.microsoft.com/office/drawing/2014/main" id="{1A02BE6D-D563-5B37-B1E2-A6B4E3A3A82F}"/>
              </a:ext>
            </a:extLst>
          </p:cNvPr>
          <p:cNvGrpSpPr/>
          <p:nvPr/>
        </p:nvGrpSpPr>
        <p:grpSpPr>
          <a:xfrm>
            <a:off x="5575066" y="5102331"/>
            <a:ext cx="1342069" cy="799248"/>
            <a:chOff x="5912245" y="4885080"/>
            <a:chExt cx="1836774" cy="1012108"/>
          </a:xfrm>
        </p:grpSpPr>
        <p:sp>
          <p:nvSpPr>
            <p:cNvPr id="23" name="Rectangle 22">
              <a:extLst>
                <a:ext uri="{FF2B5EF4-FFF2-40B4-BE49-F238E27FC236}">
                  <a16:creationId xmlns:a16="http://schemas.microsoft.com/office/drawing/2014/main" id="{5A6D268F-09F3-235C-C7AD-0FB8489E323F}"/>
                </a:ext>
              </a:extLst>
            </p:cNvPr>
            <p:cNvSpPr/>
            <p:nvPr/>
          </p:nvSpPr>
          <p:spPr>
            <a:xfrm>
              <a:off x="5912245" y="4885080"/>
              <a:ext cx="1836774" cy="101210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24" name="Plus Sign 23">
              <a:extLst>
                <a:ext uri="{FF2B5EF4-FFF2-40B4-BE49-F238E27FC236}">
                  <a16:creationId xmlns:a16="http://schemas.microsoft.com/office/drawing/2014/main" id="{8A93FF69-CD12-0453-7324-D2838F4F48EF}"/>
                </a:ext>
              </a:extLst>
            </p:cNvPr>
            <p:cNvSpPr/>
            <p:nvPr/>
          </p:nvSpPr>
          <p:spPr>
            <a:xfrm>
              <a:off x="6741237" y="5327028"/>
              <a:ext cx="178790" cy="128211"/>
            </a:xfrm>
            <a:prstGeom prst="mathPlus">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pic>
          <p:nvPicPr>
            <p:cNvPr id="25" name="Grafik 4">
              <a:extLst>
                <a:ext uri="{FF2B5EF4-FFF2-40B4-BE49-F238E27FC236}">
                  <a16:creationId xmlns:a16="http://schemas.microsoft.com/office/drawing/2014/main" id="{B55250F1-7739-7FE3-A9CE-5EB94F7BA29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568729" y="5453388"/>
              <a:ext cx="531258" cy="386424"/>
            </a:xfrm>
            <a:prstGeom prst="rect">
              <a:avLst/>
            </a:prstGeom>
          </p:spPr>
        </p:pic>
      </p:grpSp>
      <p:cxnSp>
        <p:nvCxnSpPr>
          <p:cNvPr id="29" name="Straight Arrow Connector 28">
            <a:extLst>
              <a:ext uri="{FF2B5EF4-FFF2-40B4-BE49-F238E27FC236}">
                <a16:creationId xmlns:a16="http://schemas.microsoft.com/office/drawing/2014/main" id="{C6DB79E4-019B-8E47-48B8-2CE042EE0A58}"/>
              </a:ext>
            </a:extLst>
          </p:cNvPr>
          <p:cNvCxnSpPr/>
          <p:nvPr/>
        </p:nvCxnSpPr>
        <p:spPr>
          <a:xfrm flipH="1" flipV="1">
            <a:off x="5788152" y="1913125"/>
            <a:ext cx="667512" cy="24485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0" name="TextBox 29">
            <a:extLst>
              <a:ext uri="{FF2B5EF4-FFF2-40B4-BE49-F238E27FC236}">
                <a16:creationId xmlns:a16="http://schemas.microsoft.com/office/drawing/2014/main" id="{C4B5D938-A88C-45E1-4E90-FDAC13EE3683}"/>
              </a:ext>
            </a:extLst>
          </p:cNvPr>
          <p:cNvSpPr txBox="1"/>
          <p:nvPr/>
        </p:nvSpPr>
        <p:spPr>
          <a:xfrm>
            <a:off x="4621564" y="1466003"/>
            <a:ext cx="2045801" cy="369332"/>
          </a:xfrm>
          <a:prstGeom prst="rect">
            <a:avLst/>
          </a:prstGeom>
          <a:noFill/>
        </p:spPr>
        <p:txBody>
          <a:bodyPr wrap="square" rtlCol="0">
            <a:spAutoFit/>
          </a:bodyPr>
          <a:lstStyle/>
          <a:p>
            <a:r>
              <a:rPr lang="en-US" dirty="0"/>
              <a:t>Agent</a:t>
            </a:r>
            <a:r>
              <a:rPr lang="zh-CN" altLang="en-US" dirty="0"/>
              <a:t> </a:t>
            </a:r>
            <a:r>
              <a:rPr lang="en-US" altLang="zh-CN" dirty="0"/>
              <a:t>search</a:t>
            </a:r>
            <a:endParaRPr lang="en-US" dirty="0"/>
          </a:p>
        </p:txBody>
      </p:sp>
      <p:sp>
        <p:nvSpPr>
          <p:cNvPr id="31" name="TextBox 30">
            <a:extLst>
              <a:ext uri="{FF2B5EF4-FFF2-40B4-BE49-F238E27FC236}">
                <a16:creationId xmlns:a16="http://schemas.microsoft.com/office/drawing/2014/main" id="{40DFC377-9548-07E2-6FCE-A0409D81236D}"/>
              </a:ext>
            </a:extLst>
          </p:cNvPr>
          <p:cNvSpPr txBox="1"/>
          <p:nvPr/>
        </p:nvSpPr>
        <p:spPr>
          <a:xfrm>
            <a:off x="6972943" y="3142280"/>
            <a:ext cx="2045801" cy="369332"/>
          </a:xfrm>
          <a:prstGeom prst="rect">
            <a:avLst/>
          </a:prstGeom>
          <a:noFill/>
        </p:spPr>
        <p:txBody>
          <a:bodyPr wrap="square" rtlCol="0">
            <a:spAutoFit/>
          </a:bodyPr>
          <a:lstStyle/>
          <a:p>
            <a:r>
              <a:rPr lang="en-US" altLang="zh-CN" dirty="0"/>
              <a:t>Patient</a:t>
            </a:r>
            <a:r>
              <a:rPr lang="zh-CN" altLang="en-US" dirty="0"/>
              <a:t> </a:t>
            </a:r>
            <a:r>
              <a:rPr lang="en-US" altLang="zh-CN" dirty="0"/>
              <a:t>search</a:t>
            </a:r>
            <a:endParaRPr lang="en-US" dirty="0"/>
          </a:p>
        </p:txBody>
      </p:sp>
      <p:cxnSp>
        <p:nvCxnSpPr>
          <p:cNvPr id="32" name="Straight Arrow Connector 31">
            <a:extLst>
              <a:ext uri="{FF2B5EF4-FFF2-40B4-BE49-F238E27FC236}">
                <a16:creationId xmlns:a16="http://schemas.microsoft.com/office/drawing/2014/main" id="{A1A2103D-D18D-7CAA-05B2-E9D08DD2B7AB}"/>
              </a:ext>
            </a:extLst>
          </p:cNvPr>
          <p:cNvCxnSpPr>
            <a:cxnSpLocks/>
          </p:cNvCxnSpPr>
          <p:nvPr/>
        </p:nvCxnSpPr>
        <p:spPr>
          <a:xfrm>
            <a:off x="7299640" y="2615430"/>
            <a:ext cx="502295" cy="56548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6" name="TextBox 35">
            <a:extLst>
              <a:ext uri="{FF2B5EF4-FFF2-40B4-BE49-F238E27FC236}">
                <a16:creationId xmlns:a16="http://schemas.microsoft.com/office/drawing/2014/main" id="{29ADA49A-2DCA-F802-109D-50649735247B}"/>
              </a:ext>
            </a:extLst>
          </p:cNvPr>
          <p:cNvSpPr txBox="1"/>
          <p:nvPr/>
        </p:nvSpPr>
        <p:spPr>
          <a:xfrm>
            <a:off x="308714" y="2001903"/>
            <a:ext cx="2028664" cy="923330"/>
          </a:xfrm>
          <a:prstGeom prst="rect">
            <a:avLst/>
          </a:prstGeom>
          <a:noFill/>
        </p:spPr>
        <p:txBody>
          <a:bodyPr wrap="square" rtlCol="0">
            <a:spAutoFit/>
          </a:bodyPr>
          <a:lstStyle/>
          <a:p>
            <a:r>
              <a:rPr lang="en-US" sz="1800" dirty="0">
                <a:solidFill>
                  <a:srgbClr val="000000"/>
                </a:solidFill>
                <a:effectLst/>
                <a:latin typeface="Calibri" panose="020F0502020204030204" pitchFamily="34" charset="0"/>
                <a:ea typeface="SimSun" panose="02010600030101010101" pitchFamily="2" charset="-122"/>
                <a:cs typeface="Calibri" panose="020F0502020204030204" pitchFamily="34" charset="0"/>
              </a:rPr>
              <a:t>9-point binocular calibration and validation</a:t>
            </a:r>
            <a:endParaRPr lang="en-US" dirty="0">
              <a:latin typeface="Calibri" panose="020F0502020204030204" pitchFamily="34" charset="0"/>
              <a:cs typeface="Calibri" panose="020F0502020204030204" pitchFamily="34" charset="0"/>
            </a:endParaRPr>
          </a:p>
        </p:txBody>
      </p:sp>
      <p:sp>
        <p:nvSpPr>
          <p:cNvPr id="37" name="TextBox 36">
            <a:extLst>
              <a:ext uri="{FF2B5EF4-FFF2-40B4-BE49-F238E27FC236}">
                <a16:creationId xmlns:a16="http://schemas.microsoft.com/office/drawing/2014/main" id="{8628825B-4A49-993A-E492-FEB87BEBEC85}"/>
              </a:ext>
            </a:extLst>
          </p:cNvPr>
          <p:cNvSpPr txBox="1"/>
          <p:nvPr/>
        </p:nvSpPr>
        <p:spPr>
          <a:xfrm>
            <a:off x="308714" y="3521887"/>
            <a:ext cx="2028664" cy="646331"/>
          </a:xfrm>
          <a:prstGeom prst="rect">
            <a:avLst/>
          </a:prstGeom>
          <a:noFill/>
        </p:spPr>
        <p:txBody>
          <a:bodyPr wrap="square" rtlCol="0">
            <a:spAutoFit/>
          </a:bodyPr>
          <a:lstStyle/>
          <a:p>
            <a:r>
              <a:rPr lang="en-US" sz="1800" dirty="0">
                <a:solidFill>
                  <a:srgbClr val="000000"/>
                </a:solidFill>
                <a:effectLst/>
                <a:latin typeface="Calibri" panose="020F0502020204030204" pitchFamily="34" charset="0"/>
                <a:ea typeface="SimSun" panose="02010600030101010101" pitchFamily="2" charset="-122"/>
                <a:cs typeface="Calibri" panose="020F0502020204030204" pitchFamily="34" charset="0"/>
              </a:rPr>
              <a:t>Agent</a:t>
            </a:r>
            <a:r>
              <a:rPr lang="en-US" dirty="0">
                <a:solidFill>
                  <a:srgbClr val="000000"/>
                </a:solidFill>
                <a:latin typeface="Calibri" panose="020F0502020204030204" pitchFamily="34" charset="0"/>
                <a:ea typeface="SimSun" panose="02010600030101010101" pitchFamily="2" charset="-122"/>
                <a:cs typeface="Calibri" panose="020F0502020204030204" pitchFamily="34" charset="0"/>
              </a:rPr>
              <a:t>/P</a:t>
            </a:r>
            <a:r>
              <a:rPr lang="en-US" altLang="zh-CN" dirty="0">
                <a:solidFill>
                  <a:srgbClr val="000000"/>
                </a:solidFill>
                <a:latin typeface="Calibri" panose="020F0502020204030204" pitchFamily="34" charset="0"/>
                <a:ea typeface="SimSun" panose="02010600030101010101" pitchFamily="2" charset="-122"/>
                <a:cs typeface="Calibri" panose="020F0502020204030204" pitchFamily="34" charset="0"/>
              </a:rPr>
              <a:t>atient Search</a:t>
            </a:r>
            <a:endParaRPr lang="en-US" dirty="0">
              <a:latin typeface="Calibri" panose="020F0502020204030204" pitchFamily="34" charset="0"/>
              <a:cs typeface="Calibri" panose="020F0502020204030204" pitchFamily="34" charset="0"/>
            </a:endParaRPr>
          </a:p>
        </p:txBody>
      </p:sp>
      <p:sp>
        <p:nvSpPr>
          <p:cNvPr id="38" name="TextBox 37">
            <a:extLst>
              <a:ext uri="{FF2B5EF4-FFF2-40B4-BE49-F238E27FC236}">
                <a16:creationId xmlns:a16="http://schemas.microsoft.com/office/drawing/2014/main" id="{4DDC6AB4-AEE6-6FC6-9156-5AA608944F65}"/>
              </a:ext>
            </a:extLst>
          </p:cNvPr>
          <p:cNvSpPr txBox="1"/>
          <p:nvPr/>
        </p:nvSpPr>
        <p:spPr>
          <a:xfrm>
            <a:off x="171419" y="5132623"/>
            <a:ext cx="2028664" cy="369332"/>
          </a:xfrm>
          <a:prstGeom prst="rect">
            <a:avLst/>
          </a:prstGeom>
          <a:noFill/>
        </p:spPr>
        <p:txBody>
          <a:bodyPr wrap="square" rtlCol="0">
            <a:spAutoFit/>
          </a:bodyPr>
          <a:lstStyle/>
          <a:p>
            <a:r>
              <a:rPr lang="en-US" sz="1800" dirty="0">
                <a:solidFill>
                  <a:srgbClr val="000000"/>
                </a:solidFill>
                <a:effectLst/>
                <a:latin typeface="Calibri" panose="020F0502020204030204" pitchFamily="34" charset="0"/>
                <a:ea typeface="SimSun" panose="02010600030101010101" pitchFamily="2" charset="-122"/>
                <a:cs typeface="Calibri" panose="020F0502020204030204" pitchFamily="34" charset="0"/>
              </a:rPr>
              <a:t>Fixation Cross</a:t>
            </a:r>
            <a:endParaRPr lang="en-US" dirty="0">
              <a:latin typeface="Calibri" panose="020F0502020204030204" pitchFamily="34" charset="0"/>
              <a:cs typeface="Calibri" panose="020F0502020204030204" pitchFamily="34" charset="0"/>
            </a:endParaRPr>
          </a:p>
        </p:txBody>
      </p:sp>
      <p:sp>
        <p:nvSpPr>
          <p:cNvPr id="39" name="Arrow: Down 38">
            <a:extLst>
              <a:ext uri="{FF2B5EF4-FFF2-40B4-BE49-F238E27FC236}">
                <a16:creationId xmlns:a16="http://schemas.microsoft.com/office/drawing/2014/main" id="{76C40796-5B6A-138F-AB28-84076D87636E}"/>
              </a:ext>
            </a:extLst>
          </p:cNvPr>
          <p:cNvSpPr/>
          <p:nvPr/>
        </p:nvSpPr>
        <p:spPr>
          <a:xfrm>
            <a:off x="3225988" y="3048171"/>
            <a:ext cx="80265" cy="203680"/>
          </a:xfrm>
          <a:prstGeom prst="down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40" name="Arrow: Down 39">
            <a:extLst>
              <a:ext uri="{FF2B5EF4-FFF2-40B4-BE49-F238E27FC236}">
                <a16:creationId xmlns:a16="http://schemas.microsoft.com/office/drawing/2014/main" id="{EF7A3261-418C-3569-983E-5CC2C4C3BDF8}"/>
              </a:ext>
            </a:extLst>
          </p:cNvPr>
          <p:cNvSpPr/>
          <p:nvPr/>
        </p:nvSpPr>
        <p:spPr>
          <a:xfrm>
            <a:off x="3222940" y="4453299"/>
            <a:ext cx="80265" cy="203680"/>
          </a:xfrm>
          <a:prstGeom prst="down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cxnSp>
        <p:nvCxnSpPr>
          <p:cNvPr id="42" name="Straight Arrow Connector 41">
            <a:extLst>
              <a:ext uri="{FF2B5EF4-FFF2-40B4-BE49-F238E27FC236}">
                <a16:creationId xmlns:a16="http://schemas.microsoft.com/office/drawing/2014/main" id="{57AF806A-0A33-5DCA-E04B-8522874E465D}"/>
              </a:ext>
            </a:extLst>
          </p:cNvPr>
          <p:cNvCxnSpPr>
            <a:cxnSpLocks/>
          </p:cNvCxnSpPr>
          <p:nvPr/>
        </p:nvCxnSpPr>
        <p:spPr>
          <a:xfrm flipV="1">
            <a:off x="4425696" y="4747130"/>
            <a:ext cx="1020489" cy="339773"/>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43" name="Straight Arrow Connector 42">
            <a:extLst>
              <a:ext uri="{FF2B5EF4-FFF2-40B4-BE49-F238E27FC236}">
                <a16:creationId xmlns:a16="http://schemas.microsoft.com/office/drawing/2014/main" id="{4CEFA06A-3176-3DCD-DF3C-3BA96009B3A3}"/>
              </a:ext>
            </a:extLst>
          </p:cNvPr>
          <p:cNvCxnSpPr>
            <a:cxnSpLocks/>
          </p:cNvCxnSpPr>
          <p:nvPr/>
        </p:nvCxnSpPr>
        <p:spPr>
          <a:xfrm>
            <a:off x="4425696" y="5253183"/>
            <a:ext cx="975092" cy="319632"/>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sp>
        <p:nvSpPr>
          <p:cNvPr id="45" name="TextBox 44">
            <a:extLst>
              <a:ext uri="{FF2B5EF4-FFF2-40B4-BE49-F238E27FC236}">
                <a16:creationId xmlns:a16="http://schemas.microsoft.com/office/drawing/2014/main" id="{7F92872B-37DB-7674-D568-8C369799E7E0}"/>
              </a:ext>
            </a:extLst>
          </p:cNvPr>
          <p:cNvSpPr txBox="1"/>
          <p:nvPr/>
        </p:nvSpPr>
        <p:spPr>
          <a:xfrm>
            <a:off x="7160911" y="4805000"/>
            <a:ext cx="1416161" cy="646331"/>
          </a:xfrm>
          <a:prstGeom prst="rect">
            <a:avLst/>
          </a:prstGeom>
          <a:noFill/>
        </p:spPr>
        <p:txBody>
          <a:bodyPr wrap="square" rtlCol="0">
            <a:spAutoFit/>
          </a:bodyPr>
          <a:lstStyle/>
          <a:p>
            <a:r>
              <a:rPr lang="en-US" sz="1800" dirty="0">
                <a:solidFill>
                  <a:srgbClr val="000000"/>
                </a:solidFill>
                <a:effectLst/>
                <a:latin typeface="Calibri" panose="020F0502020204030204" pitchFamily="34" charset="0"/>
                <a:ea typeface="SimSun" panose="02010600030101010101" pitchFamily="2" charset="-122"/>
                <a:cs typeface="Calibri" panose="020F0502020204030204" pitchFamily="34" charset="0"/>
              </a:rPr>
              <a:t>Unlimited Time</a:t>
            </a:r>
            <a:endParaRPr lang="en-US" dirty="0">
              <a:latin typeface="Calibri" panose="020F0502020204030204" pitchFamily="34" charset="0"/>
              <a:cs typeface="Calibri" panose="020F0502020204030204" pitchFamily="34" charset="0"/>
            </a:endParaRPr>
          </a:p>
        </p:txBody>
      </p:sp>
      <p:sp>
        <p:nvSpPr>
          <p:cNvPr id="49" name="Rectangle 48">
            <a:extLst>
              <a:ext uri="{FF2B5EF4-FFF2-40B4-BE49-F238E27FC236}">
                <a16:creationId xmlns:a16="http://schemas.microsoft.com/office/drawing/2014/main" id="{237358B6-3062-7F02-2151-7D85500270D9}"/>
              </a:ext>
            </a:extLst>
          </p:cNvPr>
          <p:cNvSpPr/>
          <p:nvPr/>
        </p:nvSpPr>
        <p:spPr>
          <a:xfrm>
            <a:off x="334723" y="6056237"/>
            <a:ext cx="1037342" cy="330414"/>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dirty="0"/>
              <a:t>Practice</a:t>
            </a:r>
          </a:p>
        </p:txBody>
      </p:sp>
      <p:sp>
        <p:nvSpPr>
          <p:cNvPr id="50" name="Rectangle 49">
            <a:extLst>
              <a:ext uri="{FF2B5EF4-FFF2-40B4-BE49-F238E27FC236}">
                <a16:creationId xmlns:a16="http://schemas.microsoft.com/office/drawing/2014/main" id="{27859671-CD79-1728-0BBE-9E964F438AF4}"/>
              </a:ext>
            </a:extLst>
          </p:cNvPr>
          <p:cNvSpPr/>
          <p:nvPr/>
        </p:nvSpPr>
        <p:spPr>
          <a:xfrm>
            <a:off x="4393124" y="6060769"/>
            <a:ext cx="1037341" cy="330414"/>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dirty="0"/>
              <a:t>patient</a:t>
            </a:r>
          </a:p>
        </p:txBody>
      </p:sp>
      <p:sp>
        <p:nvSpPr>
          <p:cNvPr id="51" name="Rectangle 50">
            <a:extLst>
              <a:ext uri="{FF2B5EF4-FFF2-40B4-BE49-F238E27FC236}">
                <a16:creationId xmlns:a16="http://schemas.microsoft.com/office/drawing/2014/main" id="{9B18B273-3643-E518-AEBD-EB83A9CA03C9}"/>
              </a:ext>
            </a:extLst>
          </p:cNvPr>
          <p:cNvSpPr/>
          <p:nvPr/>
        </p:nvSpPr>
        <p:spPr>
          <a:xfrm>
            <a:off x="1678187" y="6056237"/>
            <a:ext cx="1037341" cy="330414"/>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dirty="0"/>
              <a:t>agent</a:t>
            </a:r>
          </a:p>
        </p:txBody>
      </p:sp>
      <p:sp>
        <p:nvSpPr>
          <p:cNvPr id="52" name="Rectangle 51">
            <a:extLst>
              <a:ext uri="{FF2B5EF4-FFF2-40B4-BE49-F238E27FC236}">
                <a16:creationId xmlns:a16="http://schemas.microsoft.com/office/drawing/2014/main" id="{D2C57AD7-CDAC-2728-5F17-85DC6CB28C11}"/>
              </a:ext>
            </a:extLst>
          </p:cNvPr>
          <p:cNvSpPr/>
          <p:nvPr/>
        </p:nvSpPr>
        <p:spPr>
          <a:xfrm>
            <a:off x="3035655" y="6056237"/>
            <a:ext cx="1037342" cy="330414"/>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dirty="0"/>
              <a:t>practice</a:t>
            </a:r>
          </a:p>
        </p:txBody>
      </p:sp>
      <p:cxnSp>
        <p:nvCxnSpPr>
          <p:cNvPr id="53" name="Straight Arrow Connector 52">
            <a:extLst>
              <a:ext uri="{FF2B5EF4-FFF2-40B4-BE49-F238E27FC236}">
                <a16:creationId xmlns:a16="http://schemas.microsoft.com/office/drawing/2014/main" id="{A8528C51-F746-2EAF-F45F-D2BF27DBCFDF}"/>
              </a:ext>
            </a:extLst>
          </p:cNvPr>
          <p:cNvCxnSpPr>
            <a:cxnSpLocks/>
          </p:cNvCxnSpPr>
          <p:nvPr/>
        </p:nvCxnSpPr>
        <p:spPr>
          <a:xfrm>
            <a:off x="1430356" y="6259296"/>
            <a:ext cx="190772" cy="0"/>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cxnSp>
        <p:nvCxnSpPr>
          <p:cNvPr id="54" name="Straight Arrow Connector 53">
            <a:extLst>
              <a:ext uri="{FF2B5EF4-FFF2-40B4-BE49-F238E27FC236}">
                <a16:creationId xmlns:a16="http://schemas.microsoft.com/office/drawing/2014/main" id="{D475850C-67D5-2BE5-6BE8-71036C3A9301}"/>
              </a:ext>
            </a:extLst>
          </p:cNvPr>
          <p:cNvCxnSpPr>
            <a:cxnSpLocks/>
          </p:cNvCxnSpPr>
          <p:nvPr/>
        </p:nvCxnSpPr>
        <p:spPr>
          <a:xfrm>
            <a:off x="2805798" y="6259296"/>
            <a:ext cx="190772" cy="0"/>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cxnSp>
        <p:nvCxnSpPr>
          <p:cNvPr id="55" name="Straight Arrow Connector 54">
            <a:extLst>
              <a:ext uri="{FF2B5EF4-FFF2-40B4-BE49-F238E27FC236}">
                <a16:creationId xmlns:a16="http://schemas.microsoft.com/office/drawing/2014/main" id="{43ED8BE1-7FCF-97DF-385C-DB98FAEFB4FD}"/>
              </a:ext>
            </a:extLst>
          </p:cNvPr>
          <p:cNvCxnSpPr>
            <a:cxnSpLocks/>
          </p:cNvCxnSpPr>
          <p:nvPr/>
        </p:nvCxnSpPr>
        <p:spPr>
          <a:xfrm>
            <a:off x="4130677" y="6259296"/>
            <a:ext cx="190772" cy="0"/>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spTree>
    <p:extLst>
      <p:ext uri="{BB962C8B-B14F-4D97-AF65-F5344CB8AC3E}">
        <p14:creationId xmlns:p14="http://schemas.microsoft.com/office/powerpoint/2010/main" val="163539859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1" name="Group 60">
            <a:extLst>
              <a:ext uri="{FF2B5EF4-FFF2-40B4-BE49-F238E27FC236}">
                <a16:creationId xmlns:a16="http://schemas.microsoft.com/office/drawing/2014/main" id="{C75FFB94-ACCE-5234-604E-216B8980F6F5}"/>
              </a:ext>
            </a:extLst>
          </p:cNvPr>
          <p:cNvGrpSpPr/>
          <p:nvPr/>
        </p:nvGrpSpPr>
        <p:grpSpPr>
          <a:xfrm>
            <a:off x="4696714" y="2327197"/>
            <a:ext cx="3376422" cy="2841666"/>
            <a:chOff x="4696714" y="2126029"/>
            <a:chExt cx="3376422" cy="2841666"/>
          </a:xfrm>
        </p:grpSpPr>
        <p:pic>
          <p:nvPicPr>
            <p:cNvPr id="21" name="Picture 20">
              <a:extLst>
                <a:ext uri="{FF2B5EF4-FFF2-40B4-BE49-F238E27FC236}">
                  <a16:creationId xmlns:a16="http://schemas.microsoft.com/office/drawing/2014/main" id="{1BAF7C92-68F8-2651-14FD-DCAB2AA87BEF}"/>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696714" y="2126029"/>
              <a:ext cx="3376422" cy="2841666"/>
            </a:xfrm>
            <a:prstGeom prst="rect">
              <a:avLst/>
            </a:prstGeom>
          </p:spPr>
        </p:pic>
        <p:sp>
          <p:nvSpPr>
            <p:cNvPr id="58" name="Rectangle 57">
              <a:extLst>
                <a:ext uri="{FF2B5EF4-FFF2-40B4-BE49-F238E27FC236}">
                  <a16:creationId xmlns:a16="http://schemas.microsoft.com/office/drawing/2014/main" id="{43B0AB09-D83E-B6F0-2249-5C9FE8387F81}"/>
                </a:ext>
              </a:extLst>
            </p:cNvPr>
            <p:cNvSpPr/>
            <p:nvPr/>
          </p:nvSpPr>
          <p:spPr>
            <a:xfrm>
              <a:off x="4811737" y="3397873"/>
              <a:ext cx="45719" cy="85572"/>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59" name="Rectangle 58">
              <a:extLst>
                <a:ext uri="{FF2B5EF4-FFF2-40B4-BE49-F238E27FC236}">
                  <a16:creationId xmlns:a16="http://schemas.microsoft.com/office/drawing/2014/main" id="{53B2D80B-BFD1-5F6A-7C14-F4D8DB2C3642}"/>
                </a:ext>
              </a:extLst>
            </p:cNvPr>
            <p:cNvSpPr/>
            <p:nvPr/>
          </p:nvSpPr>
          <p:spPr>
            <a:xfrm>
              <a:off x="4790571" y="2872942"/>
              <a:ext cx="45719" cy="85572"/>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grpSp>
      <p:sp>
        <p:nvSpPr>
          <p:cNvPr id="4" name="Rectangle 3">
            <a:extLst>
              <a:ext uri="{FF2B5EF4-FFF2-40B4-BE49-F238E27FC236}">
                <a16:creationId xmlns:a16="http://schemas.microsoft.com/office/drawing/2014/main" id="{5D077336-FF10-8534-C647-70152F8018C0}"/>
              </a:ext>
            </a:extLst>
          </p:cNvPr>
          <p:cNvSpPr/>
          <p:nvPr/>
        </p:nvSpPr>
        <p:spPr>
          <a:xfrm>
            <a:off x="-662328" y="1032424"/>
            <a:ext cx="3877986" cy="707886"/>
          </a:xfrm>
          <a:prstGeom prst="rect">
            <a:avLst/>
          </a:prstGeom>
          <a:noFill/>
        </p:spPr>
        <p:txBody>
          <a:bodyPr wrap="square" lIns="91440" tIns="45720" rIns="91440" bIns="45720">
            <a:spAutoFit/>
          </a:bodyPr>
          <a:lstStyle/>
          <a:p>
            <a:pPr algn="ctr"/>
            <a:r>
              <a:rPr lang="en-US" sz="40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rPr>
              <a:t>R</a:t>
            </a:r>
            <a:r>
              <a:rPr lang="en-US" altLang="zh-CN" sz="40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rPr>
              <a:t>esults</a:t>
            </a:r>
            <a:endParaRPr lang="en-US" sz="40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20" name="TextBox 19">
            <a:extLst>
              <a:ext uri="{FF2B5EF4-FFF2-40B4-BE49-F238E27FC236}">
                <a16:creationId xmlns:a16="http://schemas.microsoft.com/office/drawing/2014/main" id="{BFAB3170-D3A6-D613-EBC1-0034178EC57B}"/>
              </a:ext>
            </a:extLst>
          </p:cNvPr>
          <p:cNvSpPr txBox="1"/>
          <p:nvPr/>
        </p:nvSpPr>
        <p:spPr>
          <a:xfrm>
            <a:off x="1686066" y="5045834"/>
            <a:ext cx="1993685" cy="369332"/>
          </a:xfrm>
          <a:prstGeom prst="rect">
            <a:avLst/>
          </a:prstGeom>
          <a:noFill/>
        </p:spPr>
        <p:txBody>
          <a:bodyPr wrap="square" rtlCol="0">
            <a:spAutoFit/>
          </a:bodyPr>
          <a:lstStyle/>
          <a:p>
            <a:r>
              <a:rPr lang="en-US" altLang="zh-CN" dirty="0"/>
              <a:t>Correct response</a:t>
            </a:r>
            <a:endParaRPr lang="en-US" dirty="0"/>
          </a:p>
        </p:txBody>
      </p:sp>
      <p:sp>
        <p:nvSpPr>
          <p:cNvPr id="22" name="TextBox 21">
            <a:extLst>
              <a:ext uri="{FF2B5EF4-FFF2-40B4-BE49-F238E27FC236}">
                <a16:creationId xmlns:a16="http://schemas.microsoft.com/office/drawing/2014/main" id="{8E380E16-A275-4C53-C81B-0ECC05E15B93}"/>
              </a:ext>
            </a:extLst>
          </p:cNvPr>
          <p:cNvSpPr txBox="1"/>
          <p:nvPr/>
        </p:nvSpPr>
        <p:spPr>
          <a:xfrm>
            <a:off x="5848663" y="5045834"/>
            <a:ext cx="1712104" cy="369332"/>
          </a:xfrm>
          <a:prstGeom prst="rect">
            <a:avLst/>
          </a:prstGeom>
          <a:noFill/>
        </p:spPr>
        <p:txBody>
          <a:bodyPr wrap="square" rtlCol="0">
            <a:spAutoFit/>
          </a:bodyPr>
          <a:lstStyle/>
          <a:p>
            <a:r>
              <a:rPr lang="en-US" dirty="0"/>
              <a:t>Reaction time</a:t>
            </a:r>
          </a:p>
        </p:txBody>
      </p:sp>
      <p:sp>
        <p:nvSpPr>
          <p:cNvPr id="26" name="矩形 15">
            <a:extLst>
              <a:ext uri="{FF2B5EF4-FFF2-40B4-BE49-F238E27FC236}">
                <a16:creationId xmlns:a16="http://schemas.microsoft.com/office/drawing/2014/main" id="{6AD8D3F6-B0F7-2302-A322-C121C2C23742}"/>
              </a:ext>
            </a:extLst>
          </p:cNvPr>
          <p:cNvSpPr>
            <a:spLocks noChangeArrowheads="1"/>
          </p:cNvSpPr>
          <p:nvPr/>
        </p:nvSpPr>
        <p:spPr bwMode="auto">
          <a:xfrm>
            <a:off x="5370634" y="2217332"/>
            <a:ext cx="2986982"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911225">
              <a:defRPr>
                <a:solidFill>
                  <a:schemeClr val="tx1"/>
                </a:solidFill>
                <a:latin typeface="Calibri" panose="020F0502020204030204" pitchFamily="34" charset="0"/>
                <a:ea typeface="宋体" panose="02010600030101010101" pitchFamily="2" charset="-122"/>
              </a:defRPr>
            </a:lvl1pPr>
            <a:lvl2pPr marL="742950" indent="-285750" defTabSz="911225">
              <a:defRPr>
                <a:solidFill>
                  <a:schemeClr val="tx1"/>
                </a:solidFill>
                <a:latin typeface="Calibri" panose="020F0502020204030204" pitchFamily="34" charset="0"/>
                <a:ea typeface="宋体" panose="02010600030101010101" pitchFamily="2" charset="-122"/>
              </a:defRPr>
            </a:lvl2pPr>
            <a:lvl3pPr marL="1143000" indent="-228600" defTabSz="911225">
              <a:defRPr>
                <a:solidFill>
                  <a:schemeClr val="tx1"/>
                </a:solidFill>
                <a:latin typeface="Calibri" panose="020F0502020204030204" pitchFamily="34" charset="0"/>
                <a:ea typeface="宋体" panose="02010600030101010101" pitchFamily="2" charset="-122"/>
              </a:defRPr>
            </a:lvl3pPr>
            <a:lvl4pPr marL="1600200" indent="-228600" defTabSz="911225">
              <a:defRPr>
                <a:solidFill>
                  <a:schemeClr val="tx1"/>
                </a:solidFill>
                <a:latin typeface="Calibri" panose="020F0502020204030204" pitchFamily="34" charset="0"/>
                <a:ea typeface="宋体" panose="02010600030101010101" pitchFamily="2" charset="-122"/>
              </a:defRPr>
            </a:lvl4pPr>
            <a:lvl5pPr marL="2057400" indent="-228600" defTabSz="911225">
              <a:defRPr>
                <a:solidFill>
                  <a:schemeClr val="tx1"/>
                </a:solidFill>
                <a:latin typeface="Calibri" panose="020F0502020204030204" pitchFamily="34" charset="0"/>
                <a:ea typeface="宋体" panose="02010600030101010101" pitchFamily="2" charset="-122"/>
              </a:defRPr>
            </a:lvl5pPr>
            <a:lvl6pPr marL="25146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l"/>
            <a:r>
              <a:rPr lang="en-US" altLang="zh-CN" sz="1400" b="1" i="1" dirty="0">
                <a:effectLst>
                  <a:innerShdw blurRad="63500" dist="50800">
                    <a:prstClr val="black">
                      <a:alpha val="50000"/>
                    </a:prstClr>
                  </a:innerShdw>
                </a:effectLst>
                <a:latin typeface="open sans" panose="020B0606030504020204" pitchFamily="34" charset="0"/>
              </a:rPr>
              <a:t>t</a:t>
            </a:r>
            <a:r>
              <a:rPr lang="en-US" altLang="zh-CN" sz="1400" b="1" dirty="0">
                <a:effectLst>
                  <a:innerShdw blurRad="63500" dist="50800">
                    <a:prstClr val="black">
                      <a:alpha val="50000"/>
                    </a:prstClr>
                  </a:innerShdw>
                </a:effectLst>
                <a:latin typeface="open sans" panose="020B0606030504020204" pitchFamily="34" charset="0"/>
              </a:rPr>
              <a:t>(15) = -2.41, </a:t>
            </a:r>
            <a:r>
              <a:rPr lang="en-US" altLang="zh-CN" sz="1400" b="1" i="1" dirty="0">
                <a:solidFill>
                  <a:srgbClr val="FF0000"/>
                </a:solidFill>
                <a:effectLst>
                  <a:innerShdw blurRad="63500" dist="50800">
                    <a:prstClr val="black">
                      <a:alpha val="50000"/>
                    </a:prstClr>
                  </a:innerShdw>
                </a:effectLst>
                <a:latin typeface="open sans" panose="020B0606030504020204" pitchFamily="34" charset="0"/>
              </a:rPr>
              <a:t>p</a:t>
            </a:r>
            <a:r>
              <a:rPr lang="en-US" altLang="zh-CN" sz="1400" b="1" dirty="0">
                <a:solidFill>
                  <a:srgbClr val="FF0000"/>
                </a:solidFill>
                <a:effectLst>
                  <a:innerShdw blurRad="63500" dist="50800">
                    <a:prstClr val="black">
                      <a:alpha val="50000"/>
                    </a:prstClr>
                  </a:innerShdw>
                </a:effectLst>
                <a:latin typeface="open sans" panose="020B0606030504020204" pitchFamily="34" charset="0"/>
              </a:rPr>
              <a:t> = 0.029</a:t>
            </a:r>
            <a:endParaRPr lang="en-US" altLang="zh-CN" sz="1400" b="1" dirty="0">
              <a:effectLst>
                <a:innerShdw blurRad="63500" dist="50800">
                  <a:prstClr val="black">
                    <a:alpha val="50000"/>
                  </a:prstClr>
                </a:innerShdw>
              </a:effectLst>
              <a:latin typeface="open sans" panose="020B0606030504020204" pitchFamily="34" charset="0"/>
            </a:endParaRPr>
          </a:p>
        </p:txBody>
      </p:sp>
      <p:sp>
        <p:nvSpPr>
          <p:cNvPr id="28" name="TextBox 27">
            <a:extLst>
              <a:ext uri="{FF2B5EF4-FFF2-40B4-BE49-F238E27FC236}">
                <a16:creationId xmlns:a16="http://schemas.microsoft.com/office/drawing/2014/main" id="{55FFF881-E12F-2F8E-5BD8-358C68BBEBED}"/>
              </a:ext>
            </a:extLst>
          </p:cNvPr>
          <p:cNvSpPr txBox="1"/>
          <p:nvPr/>
        </p:nvSpPr>
        <p:spPr>
          <a:xfrm>
            <a:off x="1276665" y="1695969"/>
            <a:ext cx="3232404" cy="509755"/>
          </a:xfrm>
          <a:prstGeom prst="rect">
            <a:avLst/>
          </a:prstGeom>
          <a:noFill/>
        </p:spPr>
        <p:txBody>
          <a:bodyPr wrap="square">
            <a:spAutoFit/>
          </a:bodyPr>
          <a:lstStyle/>
          <a:p>
            <a:pPr marL="0" marR="0" indent="0">
              <a:lnSpc>
                <a:spcPct val="200000"/>
              </a:lnSpc>
              <a:spcBef>
                <a:spcPts val="0"/>
              </a:spcBef>
              <a:spcAft>
                <a:spcPts val="0"/>
              </a:spcAft>
            </a:pPr>
            <a:r>
              <a:rPr lang="en-US" sz="1600" b="1" dirty="0">
                <a:effectLst/>
                <a:latin typeface="Times New Roman" panose="02020603050405020304" pitchFamily="18" charset="0"/>
                <a:ea typeface="SimSun" panose="02010600030101010101" pitchFamily="2" charset="-122"/>
              </a:rPr>
              <a:t>Search Task Performance</a:t>
            </a:r>
            <a:endParaRPr lang="en-US" sz="1600" dirty="0">
              <a:effectLst/>
              <a:latin typeface="Times New Roman" panose="02020603050405020304" pitchFamily="18" charset="0"/>
              <a:ea typeface="SimSun" panose="02010600030101010101" pitchFamily="2" charset="-122"/>
            </a:endParaRPr>
          </a:p>
        </p:txBody>
      </p:sp>
      <p:sp>
        <p:nvSpPr>
          <p:cNvPr id="34" name="TextBox 33">
            <a:extLst>
              <a:ext uri="{FF2B5EF4-FFF2-40B4-BE49-F238E27FC236}">
                <a16:creationId xmlns:a16="http://schemas.microsoft.com/office/drawing/2014/main" id="{DCAB91AC-A40C-14A0-EC70-EAFDC7CFAAFA}"/>
              </a:ext>
            </a:extLst>
          </p:cNvPr>
          <p:cNvSpPr txBox="1"/>
          <p:nvPr/>
        </p:nvSpPr>
        <p:spPr>
          <a:xfrm>
            <a:off x="520133" y="5415166"/>
            <a:ext cx="2199339" cy="307777"/>
          </a:xfrm>
          <a:prstGeom prst="rect">
            <a:avLst/>
          </a:prstGeom>
          <a:noFill/>
        </p:spPr>
        <p:txBody>
          <a:bodyPr wrap="square">
            <a:spAutoFit/>
          </a:bodyPr>
          <a:lstStyle/>
          <a:p>
            <a:r>
              <a:rPr lang="en-US" sz="1400" dirty="0">
                <a:effectLst/>
                <a:latin typeface="Calibri" panose="020F0502020204030204" pitchFamily="34" charset="0"/>
                <a:ea typeface="SimSun" panose="02010600030101010101" pitchFamily="2" charset="-122"/>
                <a:cs typeface="Calibri" panose="020F0502020204030204" pitchFamily="34" charset="0"/>
              </a:rPr>
              <a:t> </a:t>
            </a:r>
            <a:r>
              <a:rPr lang="en-US" sz="1400" dirty="0">
                <a:solidFill>
                  <a:srgbClr val="000000"/>
                </a:solidFill>
                <a:effectLst/>
                <a:latin typeface="Calibri" panose="020F0502020204030204" pitchFamily="34" charset="0"/>
                <a:ea typeface="SimSun" panose="02010600030101010101" pitchFamily="2" charset="-122"/>
                <a:cs typeface="Calibri" panose="020F0502020204030204" pitchFamily="34" charset="0"/>
              </a:rPr>
              <a:t>(</a:t>
            </a:r>
            <a:r>
              <a:rPr lang="en-US" sz="1400" i="1" dirty="0">
                <a:solidFill>
                  <a:srgbClr val="000000"/>
                </a:solidFill>
                <a:effectLst/>
                <a:latin typeface="Calibri" panose="020F0502020204030204" pitchFamily="34" charset="0"/>
                <a:ea typeface="SimSun" panose="02010600030101010101" pitchFamily="2" charset="-122"/>
                <a:cs typeface="Calibri" panose="020F0502020204030204" pitchFamily="34" charset="0"/>
              </a:rPr>
              <a:t>M</a:t>
            </a:r>
            <a:r>
              <a:rPr lang="en-US" sz="1400" dirty="0">
                <a:solidFill>
                  <a:srgbClr val="000000"/>
                </a:solidFill>
                <a:effectLst/>
                <a:latin typeface="Calibri" panose="020F0502020204030204" pitchFamily="34" charset="0"/>
                <a:ea typeface="SimSun" panose="02010600030101010101" pitchFamily="2" charset="-122"/>
                <a:cs typeface="Calibri" panose="020F0502020204030204" pitchFamily="34" charset="0"/>
              </a:rPr>
              <a:t> = .98, </a:t>
            </a:r>
            <a:r>
              <a:rPr lang="en-US" sz="1400" i="1" dirty="0">
                <a:solidFill>
                  <a:srgbClr val="000000"/>
                </a:solidFill>
                <a:effectLst/>
                <a:latin typeface="Calibri" panose="020F0502020204030204" pitchFamily="34" charset="0"/>
                <a:ea typeface="SimSun" panose="02010600030101010101" pitchFamily="2" charset="-122"/>
                <a:cs typeface="Calibri" panose="020F0502020204030204" pitchFamily="34" charset="0"/>
              </a:rPr>
              <a:t>SD</a:t>
            </a:r>
            <a:r>
              <a:rPr lang="en-US" sz="1400" dirty="0">
                <a:solidFill>
                  <a:srgbClr val="000000"/>
                </a:solidFill>
                <a:effectLst/>
                <a:latin typeface="Calibri" panose="020F0502020204030204" pitchFamily="34" charset="0"/>
                <a:ea typeface="SimSun" panose="02010600030101010101" pitchFamily="2" charset="-122"/>
                <a:cs typeface="Calibri" panose="020F0502020204030204" pitchFamily="34" charset="0"/>
              </a:rPr>
              <a:t> = .03)</a:t>
            </a:r>
            <a:endParaRPr lang="en-US" sz="1400" dirty="0">
              <a:latin typeface="Calibri" panose="020F0502020204030204" pitchFamily="34" charset="0"/>
              <a:cs typeface="Calibri" panose="020F0502020204030204" pitchFamily="34" charset="0"/>
            </a:endParaRPr>
          </a:p>
        </p:txBody>
      </p:sp>
      <p:sp>
        <p:nvSpPr>
          <p:cNvPr id="41" name="TextBox 40">
            <a:extLst>
              <a:ext uri="{FF2B5EF4-FFF2-40B4-BE49-F238E27FC236}">
                <a16:creationId xmlns:a16="http://schemas.microsoft.com/office/drawing/2014/main" id="{D9B6CB82-FE4E-A2F9-CF21-597E797D43E6}"/>
              </a:ext>
            </a:extLst>
          </p:cNvPr>
          <p:cNvSpPr txBox="1"/>
          <p:nvPr/>
        </p:nvSpPr>
        <p:spPr>
          <a:xfrm>
            <a:off x="2578315" y="5415166"/>
            <a:ext cx="1993685" cy="307777"/>
          </a:xfrm>
          <a:prstGeom prst="rect">
            <a:avLst/>
          </a:prstGeom>
          <a:noFill/>
        </p:spPr>
        <p:txBody>
          <a:bodyPr wrap="square">
            <a:spAutoFit/>
          </a:bodyPr>
          <a:lstStyle/>
          <a:p>
            <a:r>
              <a:rPr lang="en-US" sz="1400" dirty="0">
                <a:solidFill>
                  <a:srgbClr val="000000"/>
                </a:solidFill>
                <a:effectLst/>
                <a:latin typeface="Calibri" panose="020F0502020204030204" pitchFamily="34" charset="0"/>
                <a:ea typeface="SimSun" panose="02010600030101010101" pitchFamily="2" charset="-122"/>
                <a:cs typeface="Calibri" panose="020F0502020204030204" pitchFamily="34" charset="0"/>
              </a:rPr>
              <a:t>(</a:t>
            </a:r>
            <a:r>
              <a:rPr lang="en-US" sz="1400" i="1" dirty="0">
                <a:solidFill>
                  <a:srgbClr val="000000"/>
                </a:solidFill>
                <a:effectLst/>
                <a:latin typeface="Calibri" panose="020F0502020204030204" pitchFamily="34" charset="0"/>
                <a:ea typeface="SimSun" panose="02010600030101010101" pitchFamily="2" charset="-122"/>
                <a:cs typeface="Calibri" panose="020F0502020204030204" pitchFamily="34" charset="0"/>
              </a:rPr>
              <a:t>M</a:t>
            </a:r>
            <a:r>
              <a:rPr lang="en-US" sz="1400" dirty="0">
                <a:solidFill>
                  <a:srgbClr val="000000"/>
                </a:solidFill>
                <a:effectLst/>
                <a:latin typeface="Calibri" panose="020F0502020204030204" pitchFamily="34" charset="0"/>
                <a:ea typeface="SimSun" panose="02010600030101010101" pitchFamily="2" charset="-122"/>
                <a:cs typeface="Calibri" panose="020F0502020204030204" pitchFamily="34" charset="0"/>
              </a:rPr>
              <a:t> = .96, </a:t>
            </a:r>
            <a:r>
              <a:rPr lang="en-US" sz="1400" i="1" dirty="0">
                <a:solidFill>
                  <a:srgbClr val="000000"/>
                </a:solidFill>
                <a:effectLst/>
                <a:latin typeface="Calibri" panose="020F0502020204030204" pitchFamily="34" charset="0"/>
                <a:ea typeface="SimSun" panose="02010600030101010101" pitchFamily="2" charset="-122"/>
                <a:cs typeface="Calibri" panose="020F0502020204030204" pitchFamily="34" charset="0"/>
              </a:rPr>
              <a:t>SD</a:t>
            </a:r>
            <a:r>
              <a:rPr lang="en-US" sz="1400" dirty="0">
                <a:solidFill>
                  <a:srgbClr val="000000"/>
                </a:solidFill>
                <a:effectLst/>
                <a:latin typeface="Calibri" panose="020F0502020204030204" pitchFamily="34" charset="0"/>
                <a:ea typeface="SimSun" panose="02010600030101010101" pitchFamily="2" charset="-122"/>
                <a:cs typeface="Calibri" panose="020F0502020204030204" pitchFamily="34" charset="0"/>
              </a:rPr>
              <a:t> = .05)</a:t>
            </a:r>
            <a:endParaRPr lang="en-US" sz="1400" dirty="0">
              <a:latin typeface="Calibri" panose="020F0502020204030204" pitchFamily="34" charset="0"/>
              <a:cs typeface="Calibri" panose="020F0502020204030204" pitchFamily="34" charset="0"/>
            </a:endParaRPr>
          </a:p>
        </p:txBody>
      </p:sp>
      <p:sp>
        <p:nvSpPr>
          <p:cNvPr id="46" name="TextBox 45">
            <a:extLst>
              <a:ext uri="{FF2B5EF4-FFF2-40B4-BE49-F238E27FC236}">
                <a16:creationId xmlns:a16="http://schemas.microsoft.com/office/drawing/2014/main" id="{0CF60398-2405-5012-AA17-154B836B2DD1}"/>
              </a:ext>
            </a:extLst>
          </p:cNvPr>
          <p:cNvSpPr txBox="1"/>
          <p:nvPr/>
        </p:nvSpPr>
        <p:spPr>
          <a:xfrm>
            <a:off x="4983480" y="1867170"/>
            <a:ext cx="4160520" cy="338554"/>
          </a:xfrm>
          <a:prstGeom prst="rect">
            <a:avLst/>
          </a:prstGeom>
          <a:noFill/>
        </p:spPr>
        <p:txBody>
          <a:bodyPr wrap="square">
            <a:spAutoFit/>
          </a:bodyPr>
          <a:lstStyle/>
          <a:p>
            <a:pPr marL="0" marR="0" indent="0">
              <a:spcBef>
                <a:spcPts val="0"/>
              </a:spcBef>
              <a:spcAft>
                <a:spcPts val="0"/>
              </a:spcAft>
            </a:pPr>
            <a:r>
              <a:rPr lang="en-US" sz="1600" b="1" dirty="0">
                <a:effectLst/>
                <a:latin typeface="Times New Roman" panose="02020603050405020304" pitchFamily="18" charset="0"/>
                <a:ea typeface="SimSun" panose="02010600030101010101" pitchFamily="2" charset="-122"/>
              </a:rPr>
              <a:t>Replicat</a:t>
            </a:r>
            <a:r>
              <a:rPr lang="en-US" sz="1600" b="1" dirty="0">
                <a:latin typeface="Times New Roman" panose="02020603050405020304" pitchFamily="18" charset="0"/>
                <a:ea typeface="SimSun" panose="02010600030101010101" pitchFamily="2" charset="-122"/>
              </a:rPr>
              <a:t>e the</a:t>
            </a:r>
            <a:r>
              <a:rPr lang="en-US" sz="1600" b="1" dirty="0">
                <a:effectLst/>
                <a:latin typeface="Times New Roman" panose="02020603050405020304" pitchFamily="18" charset="0"/>
                <a:ea typeface="SimSun" panose="02010600030101010101" pitchFamily="2" charset="-122"/>
              </a:rPr>
              <a:t> Agent Advantage Effect</a:t>
            </a:r>
            <a:endParaRPr lang="en-US" sz="1600" dirty="0">
              <a:effectLst/>
              <a:latin typeface="Times New Roman" panose="02020603050405020304" pitchFamily="18" charset="0"/>
              <a:ea typeface="SimSun" panose="02010600030101010101" pitchFamily="2" charset="-122"/>
            </a:endParaRPr>
          </a:p>
        </p:txBody>
      </p:sp>
      <p:sp>
        <p:nvSpPr>
          <p:cNvPr id="56" name="TextBox 55">
            <a:extLst>
              <a:ext uri="{FF2B5EF4-FFF2-40B4-BE49-F238E27FC236}">
                <a16:creationId xmlns:a16="http://schemas.microsoft.com/office/drawing/2014/main" id="{094C5A72-B0DC-2D45-EAE9-B6E2E6B05D89}"/>
              </a:ext>
            </a:extLst>
          </p:cNvPr>
          <p:cNvSpPr txBox="1"/>
          <p:nvPr/>
        </p:nvSpPr>
        <p:spPr>
          <a:xfrm>
            <a:off x="4572000" y="5415166"/>
            <a:ext cx="2528316" cy="307777"/>
          </a:xfrm>
          <a:prstGeom prst="rect">
            <a:avLst/>
          </a:prstGeom>
          <a:noFill/>
        </p:spPr>
        <p:txBody>
          <a:bodyPr wrap="square">
            <a:spAutoFit/>
          </a:bodyPr>
          <a:lstStyle/>
          <a:p>
            <a:r>
              <a:rPr lang="en-US" sz="1400" dirty="0">
                <a:solidFill>
                  <a:srgbClr val="000000"/>
                </a:solidFill>
                <a:effectLst/>
                <a:latin typeface="Calibri" panose="020F0502020204030204" pitchFamily="34" charset="0"/>
                <a:ea typeface="SimSun" panose="02010600030101010101" pitchFamily="2" charset="-122"/>
                <a:cs typeface="Calibri" panose="020F0502020204030204" pitchFamily="34" charset="0"/>
              </a:rPr>
              <a:t>(</a:t>
            </a:r>
            <a:r>
              <a:rPr lang="en-US" sz="1400" i="1" dirty="0">
                <a:solidFill>
                  <a:srgbClr val="000000"/>
                </a:solidFill>
                <a:effectLst/>
                <a:latin typeface="Calibri" panose="020F0502020204030204" pitchFamily="34" charset="0"/>
                <a:ea typeface="SimSun" panose="02010600030101010101" pitchFamily="2" charset="-122"/>
                <a:cs typeface="Calibri" panose="020F0502020204030204" pitchFamily="34" charset="0"/>
              </a:rPr>
              <a:t>M</a:t>
            </a:r>
            <a:r>
              <a:rPr lang="en-US" sz="1400" dirty="0">
                <a:solidFill>
                  <a:srgbClr val="000000"/>
                </a:solidFill>
                <a:effectLst/>
                <a:latin typeface="Calibri" panose="020F0502020204030204" pitchFamily="34" charset="0"/>
                <a:ea typeface="SimSun" panose="02010600030101010101" pitchFamily="2" charset="-122"/>
                <a:cs typeface="Calibri" panose="020F0502020204030204" pitchFamily="34" charset="0"/>
              </a:rPr>
              <a:t> = 987 </a:t>
            </a:r>
            <a:r>
              <a:rPr lang="en-US" sz="1400" dirty="0" err="1">
                <a:solidFill>
                  <a:srgbClr val="000000"/>
                </a:solidFill>
                <a:effectLst/>
                <a:latin typeface="Calibri" panose="020F0502020204030204" pitchFamily="34" charset="0"/>
                <a:ea typeface="SimSun" panose="02010600030101010101" pitchFamily="2" charset="-122"/>
                <a:cs typeface="Calibri" panose="020F0502020204030204" pitchFamily="34" charset="0"/>
              </a:rPr>
              <a:t>ms</a:t>
            </a:r>
            <a:r>
              <a:rPr lang="en-US" sz="1400" dirty="0">
                <a:solidFill>
                  <a:srgbClr val="000000"/>
                </a:solidFill>
                <a:effectLst/>
                <a:latin typeface="Calibri" panose="020F0502020204030204" pitchFamily="34" charset="0"/>
                <a:ea typeface="SimSun" panose="02010600030101010101" pitchFamily="2" charset="-122"/>
                <a:cs typeface="Calibri" panose="020F0502020204030204" pitchFamily="34" charset="0"/>
              </a:rPr>
              <a:t>, </a:t>
            </a:r>
            <a:r>
              <a:rPr lang="en-US" sz="1400" i="1" dirty="0">
                <a:solidFill>
                  <a:srgbClr val="000000"/>
                </a:solidFill>
                <a:effectLst/>
                <a:latin typeface="Calibri" panose="020F0502020204030204" pitchFamily="34" charset="0"/>
                <a:ea typeface="SimSun" panose="02010600030101010101" pitchFamily="2" charset="-122"/>
                <a:cs typeface="Calibri" panose="020F0502020204030204" pitchFamily="34" charset="0"/>
              </a:rPr>
              <a:t>SD</a:t>
            </a:r>
            <a:r>
              <a:rPr lang="en-US" sz="1400" dirty="0">
                <a:solidFill>
                  <a:srgbClr val="000000"/>
                </a:solidFill>
                <a:effectLst/>
                <a:latin typeface="Calibri" panose="020F0502020204030204" pitchFamily="34" charset="0"/>
                <a:ea typeface="SimSun" panose="02010600030101010101" pitchFamily="2" charset="-122"/>
                <a:cs typeface="Calibri" panose="020F0502020204030204" pitchFamily="34" charset="0"/>
              </a:rPr>
              <a:t> = 220)</a:t>
            </a:r>
            <a:endParaRPr lang="en-US" sz="1400" dirty="0">
              <a:latin typeface="Calibri" panose="020F0502020204030204" pitchFamily="34" charset="0"/>
              <a:cs typeface="Calibri" panose="020F0502020204030204" pitchFamily="34" charset="0"/>
            </a:endParaRPr>
          </a:p>
        </p:txBody>
      </p:sp>
      <p:grpSp>
        <p:nvGrpSpPr>
          <p:cNvPr id="60" name="Group 59">
            <a:extLst>
              <a:ext uri="{FF2B5EF4-FFF2-40B4-BE49-F238E27FC236}">
                <a16:creationId xmlns:a16="http://schemas.microsoft.com/office/drawing/2014/main" id="{8A7C154B-5A28-6D28-2E33-1A5B23976152}"/>
              </a:ext>
            </a:extLst>
          </p:cNvPr>
          <p:cNvGrpSpPr/>
          <p:nvPr/>
        </p:nvGrpSpPr>
        <p:grpSpPr>
          <a:xfrm>
            <a:off x="875566" y="2464754"/>
            <a:ext cx="3120569" cy="2639620"/>
            <a:chOff x="875566" y="2263586"/>
            <a:chExt cx="3120569" cy="2639620"/>
          </a:xfrm>
        </p:grpSpPr>
        <p:pic>
          <p:nvPicPr>
            <p:cNvPr id="19" name="Picture 18">
              <a:extLst>
                <a:ext uri="{FF2B5EF4-FFF2-40B4-BE49-F238E27FC236}">
                  <a16:creationId xmlns:a16="http://schemas.microsoft.com/office/drawing/2014/main" id="{C0104F92-4802-D1CA-834F-37D904692F6E}"/>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875566" y="2263586"/>
              <a:ext cx="3120569" cy="2639620"/>
            </a:xfrm>
            <a:prstGeom prst="rect">
              <a:avLst/>
            </a:prstGeom>
          </p:spPr>
        </p:pic>
        <p:sp>
          <p:nvSpPr>
            <p:cNvPr id="57" name="Rectangle 56">
              <a:extLst>
                <a:ext uri="{FF2B5EF4-FFF2-40B4-BE49-F238E27FC236}">
                  <a16:creationId xmlns:a16="http://schemas.microsoft.com/office/drawing/2014/main" id="{4B6F7DCC-C10D-7937-CB7D-963045339857}"/>
                </a:ext>
              </a:extLst>
            </p:cNvPr>
            <p:cNvSpPr/>
            <p:nvPr/>
          </p:nvSpPr>
          <p:spPr>
            <a:xfrm>
              <a:off x="997527" y="3173506"/>
              <a:ext cx="45719" cy="85572"/>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grpSp>
      <p:sp>
        <p:nvSpPr>
          <p:cNvPr id="63" name="TextBox 62">
            <a:extLst>
              <a:ext uri="{FF2B5EF4-FFF2-40B4-BE49-F238E27FC236}">
                <a16:creationId xmlns:a16="http://schemas.microsoft.com/office/drawing/2014/main" id="{5C150D76-F0E3-D5C9-FEA3-1E32067BE976}"/>
              </a:ext>
            </a:extLst>
          </p:cNvPr>
          <p:cNvSpPr txBox="1"/>
          <p:nvPr/>
        </p:nvSpPr>
        <p:spPr>
          <a:xfrm>
            <a:off x="6605925" y="5393166"/>
            <a:ext cx="1978361" cy="307777"/>
          </a:xfrm>
          <a:prstGeom prst="rect">
            <a:avLst/>
          </a:prstGeom>
          <a:noFill/>
        </p:spPr>
        <p:txBody>
          <a:bodyPr wrap="square">
            <a:spAutoFit/>
          </a:bodyPr>
          <a:lstStyle/>
          <a:p>
            <a:r>
              <a:rPr lang="en-US" sz="1400" dirty="0">
                <a:solidFill>
                  <a:srgbClr val="000000"/>
                </a:solidFill>
                <a:effectLst/>
                <a:latin typeface="Calibri" panose="020F0502020204030204" pitchFamily="34" charset="0"/>
                <a:ea typeface="SimSun" panose="02010600030101010101" pitchFamily="2" charset="-122"/>
                <a:cs typeface="Calibri" panose="020F0502020204030204" pitchFamily="34" charset="0"/>
              </a:rPr>
              <a:t>(</a:t>
            </a:r>
            <a:r>
              <a:rPr lang="en-US" sz="1400" i="1" dirty="0">
                <a:solidFill>
                  <a:srgbClr val="000000"/>
                </a:solidFill>
                <a:effectLst/>
                <a:latin typeface="Calibri" panose="020F0502020204030204" pitchFamily="34" charset="0"/>
                <a:ea typeface="SimSun" panose="02010600030101010101" pitchFamily="2" charset="-122"/>
                <a:cs typeface="Calibri" panose="020F0502020204030204" pitchFamily="34" charset="0"/>
              </a:rPr>
              <a:t>M</a:t>
            </a:r>
            <a:r>
              <a:rPr lang="en-US" sz="1400" dirty="0">
                <a:solidFill>
                  <a:srgbClr val="000000"/>
                </a:solidFill>
                <a:effectLst/>
                <a:latin typeface="Calibri" panose="020F0502020204030204" pitchFamily="34" charset="0"/>
                <a:ea typeface="SimSun" panose="02010600030101010101" pitchFamily="2" charset="-122"/>
                <a:cs typeface="Calibri" panose="020F0502020204030204" pitchFamily="34" charset="0"/>
              </a:rPr>
              <a:t> = 1139 </a:t>
            </a:r>
            <a:r>
              <a:rPr lang="en-US" sz="1400" dirty="0" err="1">
                <a:solidFill>
                  <a:srgbClr val="000000"/>
                </a:solidFill>
                <a:effectLst/>
                <a:latin typeface="Calibri" panose="020F0502020204030204" pitchFamily="34" charset="0"/>
                <a:ea typeface="SimSun" panose="02010600030101010101" pitchFamily="2" charset="-122"/>
                <a:cs typeface="Calibri" panose="020F0502020204030204" pitchFamily="34" charset="0"/>
              </a:rPr>
              <a:t>ms</a:t>
            </a:r>
            <a:r>
              <a:rPr lang="en-US" sz="1400" dirty="0">
                <a:solidFill>
                  <a:srgbClr val="000000"/>
                </a:solidFill>
                <a:effectLst/>
                <a:latin typeface="Calibri" panose="020F0502020204030204" pitchFamily="34" charset="0"/>
                <a:ea typeface="SimSun" panose="02010600030101010101" pitchFamily="2" charset="-122"/>
                <a:cs typeface="Calibri" panose="020F0502020204030204" pitchFamily="34" charset="0"/>
              </a:rPr>
              <a:t>, </a:t>
            </a:r>
            <a:r>
              <a:rPr lang="en-US" sz="1400" i="1" dirty="0">
                <a:solidFill>
                  <a:srgbClr val="000000"/>
                </a:solidFill>
                <a:effectLst/>
                <a:latin typeface="Calibri" panose="020F0502020204030204" pitchFamily="34" charset="0"/>
                <a:ea typeface="SimSun" panose="02010600030101010101" pitchFamily="2" charset="-122"/>
                <a:cs typeface="Calibri" panose="020F0502020204030204" pitchFamily="34" charset="0"/>
              </a:rPr>
              <a:t>SD</a:t>
            </a:r>
            <a:r>
              <a:rPr lang="en-US" sz="1400" dirty="0">
                <a:solidFill>
                  <a:srgbClr val="000000"/>
                </a:solidFill>
                <a:effectLst/>
                <a:latin typeface="Calibri" panose="020F0502020204030204" pitchFamily="34" charset="0"/>
                <a:ea typeface="SimSun" panose="02010600030101010101" pitchFamily="2" charset="-122"/>
                <a:cs typeface="Calibri" panose="020F0502020204030204" pitchFamily="34" charset="0"/>
              </a:rPr>
              <a:t> = 306)</a:t>
            </a:r>
            <a:endParaRPr lang="en-US" sz="1400" dirty="0">
              <a:latin typeface="Calibri" panose="020F0502020204030204" pitchFamily="34" charset="0"/>
              <a:cs typeface="Calibri" panose="020F0502020204030204" pitchFamily="34" charset="0"/>
            </a:endParaRPr>
          </a:p>
        </p:txBody>
      </p:sp>
      <p:sp>
        <p:nvSpPr>
          <p:cNvPr id="65" name="TextBox 64">
            <a:extLst>
              <a:ext uri="{FF2B5EF4-FFF2-40B4-BE49-F238E27FC236}">
                <a16:creationId xmlns:a16="http://schemas.microsoft.com/office/drawing/2014/main" id="{17F410AE-B02C-9782-16FE-B35ACBE7C949}"/>
              </a:ext>
            </a:extLst>
          </p:cNvPr>
          <p:cNvSpPr txBox="1"/>
          <p:nvPr/>
        </p:nvSpPr>
        <p:spPr>
          <a:xfrm>
            <a:off x="5478760" y="5722943"/>
            <a:ext cx="2436747" cy="307778"/>
          </a:xfrm>
          <a:prstGeom prst="rect">
            <a:avLst/>
          </a:prstGeom>
          <a:noFill/>
        </p:spPr>
        <p:txBody>
          <a:bodyPr wrap="square">
            <a:spAutoFit/>
          </a:bodyPr>
          <a:lstStyle/>
          <a:p>
            <a:r>
              <a:rPr lang="en-US" sz="1400" dirty="0">
                <a:solidFill>
                  <a:srgbClr val="000000"/>
                </a:solidFill>
                <a:effectLst/>
                <a:latin typeface="Calibri" panose="020F0502020204030204" pitchFamily="34" charset="0"/>
                <a:ea typeface="SimSun" panose="02010600030101010101" pitchFamily="2" charset="-122"/>
                <a:cs typeface="Calibri" panose="020F0502020204030204" pitchFamily="34" charset="0"/>
              </a:rPr>
              <a:t>reaction time benefit </a:t>
            </a:r>
            <a:r>
              <a:rPr lang="en-US" sz="1400" dirty="0">
                <a:solidFill>
                  <a:srgbClr val="000000"/>
                </a:solidFill>
                <a:latin typeface="Calibri" panose="020F0502020204030204" pitchFamily="34" charset="0"/>
                <a:ea typeface="SimSun" panose="02010600030101010101" pitchFamily="2" charset="-122"/>
                <a:cs typeface="Calibri" panose="020F0502020204030204" pitchFamily="34" charset="0"/>
              </a:rPr>
              <a:t>=</a:t>
            </a:r>
            <a:r>
              <a:rPr lang="en-US" sz="1400" dirty="0">
                <a:solidFill>
                  <a:srgbClr val="000000"/>
                </a:solidFill>
                <a:effectLst/>
                <a:latin typeface="Calibri" panose="020F0502020204030204" pitchFamily="34" charset="0"/>
                <a:ea typeface="SimSun" panose="02010600030101010101" pitchFamily="2" charset="-122"/>
                <a:cs typeface="Calibri" panose="020F0502020204030204" pitchFamily="34" charset="0"/>
              </a:rPr>
              <a:t> 152 </a:t>
            </a:r>
            <a:r>
              <a:rPr lang="en-US" sz="1400" dirty="0" err="1">
                <a:solidFill>
                  <a:srgbClr val="000000"/>
                </a:solidFill>
                <a:effectLst/>
                <a:latin typeface="Calibri" panose="020F0502020204030204" pitchFamily="34" charset="0"/>
                <a:ea typeface="SimSun" panose="02010600030101010101" pitchFamily="2" charset="-122"/>
                <a:cs typeface="Calibri" panose="020F0502020204030204" pitchFamily="34" charset="0"/>
              </a:rPr>
              <a:t>ms</a:t>
            </a:r>
            <a:endParaRPr lang="en-US" sz="1400" dirty="0">
              <a:latin typeface="Calibri" panose="020F0502020204030204" pitchFamily="34" charset="0"/>
              <a:cs typeface="Calibri" panose="020F0502020204030204" pitchFamily="34" charset="0"/>
            </a:endParaRPr>
          </a:p>
        </p:txBody>
      </p:sp>
      <p:sp>
        <p:nvSpPr>
          <p:cNvPr id="7" name="矩形 15">
            <a:extLst>
              <a:ext uri="{FF2B5EF4-FFF2-40B4-BE49-F238E27FC236}">
                <a16:creationId xmlns:a16="http://schemas.microsoft.com/office/drawing/2014/main" id="{9B516125-9970-15E6-038B-6F2464A91DC5}"/>
              </a:ext>
            </a:extLst>
          </p:cNvPr>
          <p:cNvSpPr>
            <a:spLocks noChangeArrowheads="1"/>
          </p:cNvSpPr>
          <p:nvPr/>
        </p:nvSpPr>
        <p:spPr bwMode="auto">
          <a:xfrm>
            <a:off x="1234007" y="2243813"/>
            <a:ext cx="2897802"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911225">
              <a:defRPr>
                <a:solidFill>
                  <a:schemeClr val="tx1"/>
                </a:solidFill>
                <a:latin typeface="Calibri" panose="020F0502020204030204" pitchFamily="34" charset="0"/>
                <a:ea typeface="宋体" panose="02010600030101010101" pitchFamily="2" charset="-122"/>
              </a:defRPr>
            </a:lvl1pPr>
            <a:lvl2pPr marL="742950" indent="-285750" defTabSz="911225">
              <a:defRPr>
                <a:solidFill>
                  <a:schemeClr val="tx1"/>
                </a:solidFill>
                <a:latin typeface="Calibri" panose="020F0502020204030204" pitchFamily="34" charset="0"/>
                <a:ea typeface="宋体" panose="02010600030101010101" pitchFamily="2" charset="-122"/>
              </a:defRPr>
            </a:lvl2pPr>
            <a:lvl3pPr marL="1143000" indent="-228600" defTabSz="911225">
              <a:defRPr>
                <a:solidFill>
                  <a:schemeClr val="tx1"/>
                </a:solidFill>
                <a:latin typeface="Calibri" panose="020F0502020204030204" pitchFamily="34" charset="0"/>
                <a:ea typeface="宋体" panose="02010600030101010101" pitchFamily="2" charset="-122"/>
              </a:defRPr>
            </a:lvl3pPr>
            <a:lvl4pPr marL="1600200" indent="-228600" defTabSz="911225">
              <a:defRPr>
                <a:solidFill>
                  <a:schemeClr val="tx1"/>
                </a:solidFill>
                <a:latin typeface="Calibri" panose="020F0502020204030204" pitchFamily="34" charset="0"/>
                <a:ea typeface="宋体" panose="02010600030101010101" pitchFamily="2" charset="-122"/>
              </a:defRPr>
            </a:lvl4pPr>
            <a:lvl5pPr marL="2057400" indent="-228600" defTabSz="911225">
              <a:defRPr>
                <a:solidFill>
                  <a:schemeClr val="tx1"/>
                </a:solidFill>
                <a:latin typeface="Calibri" panose="020F0502020204030204" pitchFamily="34" charset="0"/>
                <a:ea typeface="宋体" panose="02010600030101010101" pitchFamily="2" charset="-122"/>
              </a:defRPr>
            </a:lvl5pPr>
            <a:lvl6pPr marL="25146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l"/>
            <a:r>
              <a:rPr lang="en-US" altLang="zh-CN" sz="1400" b="1" i="1" dirty="0">
                <a:effectLst>
                  <a:innerShdw blurRad="63500" dist="50800">
                    <a:prstClr val="black">
                      <a:alpha val="50000"/>
                    </a:prstClr>
                  </a:innerShdw>
                </a:effectLst>
                <a:latin typeface="open sans" panose="020B0606030504020204" pitchFamily="34" charset="0"/>
              </a:rPr>
              <a:t>t</a:t>
            </a:r>
            <a:r>
              <a:rPr lang="en-US" altLang="zh-CN" sz="1400" b="1" dirty="0">
                <a:effectLst>
                  <a:innerShdw blurRad="63500" dist="50800">
                    <a:prstClr val="black">
                      <a:alpha val="50000"/>
                    </a:prstClr>
                  </a:innerShdw>
                </a:effectLst>
                <a:latin typeface="open sans" panose="020B0606030504020204" pitchFamily="34" charset="0"/>
              </a:rPr>
              <a:t>(15) = 1.07, </a:t>
            </a:r>
            <a:r>
              <a:rPr lang="en-US" altLang="zh-CN" sz="1400" b="1" i="1" dirty="0">
                <a:effectLst>
                  <a:innerShdw blurRad="63500" dist="50800">
                    <a:prstClr val="black">
                      <a:alpha val="50000"/>
                    </a:prstClr>
                  </a:innerShdw>
                </a:effectLst>
                <a:latin typeface="open sans" panose="020B0606030504020204" pitchFamily="34" charset="0"/>
              </a:rPr>
              <a:t>p</a:t>
            </a:r>
            <a:r>
              <a:rPr lang="en-US" altLang="zh-CN" sz="1400" b="1" dirty="0">
                <a:effectLst>
                  <a:innerShdw blurRad="63500" dist="50800">
                    <a:prstClr val="black">
                      <a:alpha val="50000"/>
                    </a:prstClr>
                  </a:innerShdw>
                </a:effectLst>
                <a:latin typeface="open sans" panose="020B0606030504020204" pitchFamily="34" charset="0"/>
              </a:rPr>
              <a:t> = .304</a:t>
            </a:r>
          </a:p>
        </p:txBody>
      </p:sp>
    </p:spTree>
    <p:extLst>
      <p:ext uri="{BB962C8B-B14F-4D97-AF65-F5344CB8AC3E}">
        <p14:creationId xmlns:p14="http://schemas.microsoft.com/office/powerpoint/2010/main" val="171419653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1" name="Group 60">
            <a:extLst>
              <a:ext uri="{FF2B5EF4-FFF2-40B4-BE49-F238E27FC236}">
                <a16:creationId xmlns:a16="http://schemas.microsoft.com/office/drawing/2014/main" id="{C75FFB94-ACCE-5234-604E-216B8980F6F5}"/>
              </a:ext>
            </a:extLst>
          </p:cNvPr>
          <p:cNvGrpSpPr/>
          <p:nvPr/>
        </p:nvGrpSpPr>
        <p:grpSpPr>
          <a:xfrm>
            <a:off x="4742433" y="2442229"/>
            <a:ext cx="3376422" cy="2676745"/>
            <a:chOff x="4696714" y="2208489"/>
            <a:chExt cx="3376422" cy="2676745"/>
          </a:xfrm>
        </p:grpSpPr>
        <p:pic>
          <p:nvPicPr>
            <p:cNvPr id="21" name="Picture 20">
              <a:extLst>
                <a:ext uri="{FF2B5EF4-FFF2-40B4-BE49-F238E27FC236}">
                  <a16:creationId xmlns:a16="http://schemas.microsoft.com/office/drawing/2014/main" id="{1BAF7C92-68F8-2651-14FD-DCAB2AA87BEF}"/>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696714" y="2208489"/>
              <a:ext cx="3376422" cy="2676745"/>
            </a:xfrm>
            <a:prstGeom prst="rect">
              <a:avLst/>
            </a:prstGeom>
          </p:spPr>
        </p:pic>
        <p:sp>
          <p:nvSpPr>
            <p:cNvPr id="58" name="Rectangle 57">
              <a:extLst>
                <a:ext uri="{FF2B5EF4-FFF2-40B4-BE49-F238E27FC236}">
                  <a16:creationId xmlns:a16="http://schemas.microsoft.com/office/drawing/2014/main" id="{43B0AB09-D83E-B6F0-2249-5C9FE8387F81}"/>
                </a:ext>
              </a:extLst>
            </p:cNvPr>
            <p:cNvSpPr/>
            <p:nvPr/>
          </p:nvSpPr>
          <p:spPr>
            <a:xfrm flipH="1" flipV="1">
              <a:off x="4857456" y="3483445"/>
              <a:ext cx="45719" cy="139522"/>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59" name="Rectangle 58">
              <a:extLst>
                <a:ext uri="{FF2B5EF4-FFF2-40B4-BE49-F238E27FC236}">
                  <a16:creationId xmlns:a16="http://schemas.microsoft.com/office/drawing/2014/main" id="{53B2D80B-BFD1-5F6A-7C14-F4D8DB2C3642}"/>
                </a:ext>
              </a:extLst>
            </p:cNvPr>
            <p:cNvSpPr/>
            <p:nvPr/>
          </p:nvSpPr>
          <p:spPr>
            <a:xfrm flipH="1">
              <a:off x="4836289" y="2941498"/>
              <a:ext cx="45719" cy="139523"/>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grpSp>
      <p:sp>
        <p:nvSpPr>
          <p:cNvPr id="4" name="Rectangle 3">
            <a:extLst>
              <a:ext uri="{FF2B5EF4-FFF2-40B4-BE49-F238E27FC236}">
                <a16:creationId xmlns:a16="http://schemas.microsoft.com/office/drawing/2014/main" id="{5D077336-FF10-8534-C647-70152F8018C0}"/>
              </a:ext>
            </a:extLst>
          </p:cNvPr>
          <p:cNvSpPr/>
          <p:nvPr/>
        </p:nvSpPr>
        <p:spPr>
          <a:xfrm>
            <a:off x="-662328" y="1032424"/>
            <a:ext cx="3877986" cy="707886"/>
          </a:xfrm>
          <a:prstGeom prst="rect">
            <a:avLst/>
          </a:prstGeom>
          <a:noFill/>
        </p:spPr>
        <p:txBody>
          <a:bodyPr wrap="square" lIns="91440" tIns="45720" rIns="91440" bIns="45720">
            <a:spAutoFit/>
          </a:bodyPr>
          <a:lstStyle/>
          <a:p>
            <a:pPr algn="ctr"/>
            <a:r>
              <a:rPr lang="en-US" sz="40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rPr>
              <a:t>R</a:t>
            </a:r>
            <a:r>
              <a:rPr lang="en-US" altLang="zh-CN" sz="40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rPr>
              <a:t>esults</a:t>
            </a:r>
            <a:endParaRPr lang="en-US" sz="40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28" name="TextBox 27">
            <a:extLst>
              <a:ext uri="{FF2B5EF4-FFF2-40B4-BE49-F238E27FC236}">
                <a16:creationId xmlns:a16="http://schemas.microsoft.com/office/drawing/2014/main" id="{55FFF881-E12F-2F8E-5BD8-358C68BBEBED}"/>
              </a:ext>
            </a:extLst>
          </p:cNvPr>
          <p:cNvSpPr txBox="1"/>
          <p:nvPr/>
        </p:nvSpPr>
        <p:spPr>
          <a:xfrm>
            <a:off x="1254903" y="1755481"/>
            <a:ext cx="3232404" cy="338554"/>
          </a:xfrm>
          <a:prstGeom prst="rect">
            <a:avLst/>
          </a:prstGeom>
          <a:noFill/>
        </p:spPr>
        <p:txBody>
          <a:bodyPr wrap="square">
            <a:spAutoFit/>
          </a:bodyPr>
          <a:lstStyle/>
          <a:p>
            <a:pPr marL="0" marR="0" indent="0">
              <a:spcBef>
                <a:spcPts val="0"/>
              </a:spcBef>
              <a:spcAft>
                <a:spcPts val="0"/>
              </a:spcAft>
            </a:pPr>
            <a:r>
              <a:rPr lang="en-US" sz="1600" b="1" dirty="0">
                <a:effectLst/>
                <a:latin typeface="Times New Roman" panose="02020603050405020304" pitchFamily="18" charset="0"/>
                <a:ea typeface="SimSun" panose="02010600030101010101" pitchFamily="2" charset="-122"/>
              </a:rPr>
              <a:t>Overall Number of Fixations</a:t>
            </a:r>
            <a:endParaRPr lang="en-US" sz="1600" dirty="0">
              <a:effectLst/>
              <a:latin typeface="Times New Roman" panose="02020603050405020304" pitchFamily="18" charset="0"/>
              <a:ea typeface="SimSun" panose="02010600030101010101" pitchFamily="2" charset="-122"/>
            </a:endParaRPr>
          </a:p>
        </p:txBody>
      </p:sp>
      <p:sp>
        <p:nvSpPr>
          <p:cNvPr id="46" name="TextBox 45">
            <a:extLst>
              <a:ext uri="{FF2B5EF4-FFF2-40B4-BE49-F238E27FC236}">
                <a16:creationId xmlns:a16="http://schemas.microsoft.com/office/drawing/2014/main" id="{0CF60398-2405-5012-AA17-154B836B2DD1}"/>
              </a:ext>
            </a:extLst>
          </p:cNvPr>
          <p:cNvSpPr txBox="1"/>
          <p:nvPr/>
        </p:nvSpPr>
        <p:spPr>
          <a:xfrm>
            <a:off x="5336682" y="1719411"/>
            <a:ext cx="2862072" cy="338554"/>
          </a:xfrm>
          <a:prstGeom prst="rect">
            <a:avLst/>
          </a:prstGeom>
          <a:noFill/>
        </p:spPr>
        <p:txBody>
          <a:bodyPr wrap="square">
            <a:spAutoFit/>
          </a:bodyPr>
          <a:lstStyle/>
          <a:p>
            <a:pPr marL="0" marR="0" indent="0">
              <a:spcBef>
                <a:spcPts val="0"/>
              </a:spcBef>
              <a:spcAft>
                <a:spcPts val="0"/>
              </a:spcAft>
            </a:pPr>
            <a:r>
              <a:rPr lang="en-US" sz="1600" b="1" dirty="0">
                <a:effectLst/>
                <a:latin typeface="Times New Roman" panose="02020603050405020304" pitchFamily="18" charset="0"/>
                <a:ea typeface="SimSun" panose="02010600030101010101" pitchFamily="2" charset="-122"/>
              </a:rPr>
              <a:t>Overall Fixation Duration</a:t>
            </a:r>
            <a:endParaRPr lang="en-US" sz="1600" dirty="0">
              <a:effectLst/>
              <a:latin typeface="Times New Roman" panose="02020603050405020304" pitchFamily="18" charset="0"/>
              <a:ea typeface="SimSun" panose="02010600030101010101" pitchFamily="2" charset="-122"/>
            </a:endParaRPr>
          </a:p>
        </p:txBody>
      </p:sp>
      <p:sp>
        <p:nvSpPr>
          <p:cNvPr id="57" name="Rectangle 56">
            <a:extLst>
              <a:ext uri="{FF2B5EF4-FFF2-40B4-BE49-F238E27FC236}">
                <a16:creationId xmlns:a16="http://schemas.microsoft.com/office/drawing/2014/main" id="{4B6F7DCC-C10D-7937-CB7D-963045339857}"/>
              </a:ext>
            </a:extLst>
          </p:cNvPr>
          <p:cNvSpPr/>
          <p:nvPr/>
        </p:nvSpPr>
        <p:spPr>
          <a:xfrm>
            <a:off x="1025145" y="3183719"/>
            <a:ext cx="45719" cy="85572"/>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grpSp>
        <p:nvGrpSpPr>
          <p:cNvPr id="8" name="Group 7">
            <a:extLst>
              <a:ext uri="{FF2B5EF4-FFF2-40B4-BE49-F238E27FC236}">
                <a16:creationId xmlns:a16="http://schemas.microsoft.com/office/drawing/2014/main" id="{1F60331D-2C06-A76A-4DD0-6B03352D82CB}"/>
              </a:ext>
            </a:extLst>
          </p:cNvPr>
          <p:cNvGrpSpPr/>
          <p:nvPr/>
        </p:nvGrpSpPr>
        <p:grpSpPr>
          <a:xfrm>
            <a:off x="848985" y="2498933"/>
            <a:ext cx="3120569" cy="2516398"/>
            <a:chOff x="848985" y="2325197"/>
            <a:chExt cx="3120569" cy="2516398"/>
          </a:xfrm>
        </p:grpSpPr>
        <p:grpSp>
          <p:nvGrpSpPr>
            <p:cNvPr id="5" name="Group 4">
              <a:extLst>
                <a:ext uri="{FF2B5EF4-FFF2-40B4-BE49-F238E27FC236}">
                  <a16:creationId xmlns:a16="http://schemas.microsoft.com/office/drawing/2014/main" id="{D481A5AE-D891-6B4A-D0C8-ECF8EB946271}"/>
                </a:ext>
              </a:extLst>
            </p:cNvPr>
            <p:cNvGrpSpPr/>
            <p:nvPr/>
          </p:nvGrpSpPr>
          <p:grpSpPr>
            <a:xfrm>
              <a:off x="848985" y="2325197"/>
              <a:ext cx="3120569" cy="2516398"/>
              <a:chOff x="875566" y="2325197"/>
              <a:chExt cx="3120569" cy="2516398"/>
            </a:xfrm>
          </p:grpSpPr>
          <p:pic>
            <p:nvPicPr>
              <p:cNvPr id="19" name="Picture 18">
                <a:extLst>
                  <a:ext uri="{FF2B5EF4-FFF2-40B4-BE49-F238E27FC236}">
                    <a16:creationId xmlns:a16="http://schemas.microsoft.com/office/drawing/2014/main" id="{C0104F92-4802-D1CA-834F-37D904692F6E}"/>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875566" y="2325197"/>
                <a:ext cx="3120569" cy="2516398"/>
              </a:xfrm>
              <a:prstGeom prst="rect">
                <a:avLst/>
              </a:prstGeom>
            </p:spPr>
          </p:pic>
          <p:sp>
            <p:nvSpPr>
              <p:cNvPr id="2" name="Rectangle 1">
                <a:extLst>
                  <a:ext uri="{FF2B5EF4-FFF2-40B4-BE49-F238E27FC236}">
                    <a16:creationId xmlns:a16="http://schemas.microsoft.com/office/drawing/2014/main" id="{807D86EF-BBC9-B105-FD19-C184E1DACA56}"/>
                  </a:ext>
                </a:extLst>
              </p:cNvPr>
              <p:cNvSpPr/>
              <p:nvPr/>
            </p:nvSpPr>
            <p:spPr>
              <a:xfrm>
                <a:off x="1014541" y="2894819"/>
                <a:ext cx="45719" cy="85572"/>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3" name="Rectangle 2">
                <a:extLst>
                  <a:ext uri="{FF2B5EF4-FFF2-40B4-BE49-F238E27FC236}">
                    <a16:creationId xmlns:a16="http://schemas.microsoft.com/office/drawing/2014/main" id="{A3AE4F23-8021-7F3C-3989-1389A6EF1DC4}"/>
                  </a:ext>
                </a:extLst>
              </p:cNvPr>
              <p:cNvSpPr/>
              <p:nvPr/>
            </p:nvSpPr>
            <p:spPr>
              <a:xfrm>
                <a:off x="1018514" y="3721759"/>
                <a:ext cx="45719" cy="85572"/>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grpSp>
        <p:sp>
          <p:nvSpPr>
            <p:cNvPr id="6" name="Rectangle 5">
              <a:extLst>
                <a:ext uri="{FF2B5EF4-FFF2-40B4-BE49-F238E27FC236}">
                  <a16:creationId xmlns:a16="http://schemas.microsoft.com/office/drawing/2014/main" id="{ED5B8CB8-DE82-D48F-8AD1-98745B0E676B}"/>
                </a:ext>
              </a:extLst>
            </p:cNvPr>
            <p:cNvSpPr/>
            <p:nvPr/>
          </p:nvSpPr>
          <p:spPr>
            <a:xfrm>
              <a:off x="995477" y="3082032"/>
              <a:ext cx="45719" cy="85572"/>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grpSp>
      <p:sp>
        <p:nvSpPr>
          <p:cNvPr id="7" name="矩形 15">
            <a:extLst>
              <a:ext uri="{FF2B5EF4-FFF2-40B4-BE49-F238E27FC236}">
                <a16:creationId xmlns:a16="http://schemas.microsoft.com/office/drawing/2014/main" id="{9B516125-9970-15E6-038B-6F2464A91DC5}"/>
              </a:ext>
            </a:extLst>
          </p:cNvPr>
          <p:cNvSpPr>
            <a:spLocks noChangeArrowheads="1"/>
          </p:cNvSpPr>
          <p:nvPr/>
        </p:nvSpPr>
        <p:spPr bwMode="auto">
          <a:xfrm>
            <a:off x="1294052" y="2195481"/>
            <a:ext cx="2702504"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911225">
              <a:defRPr>
                <a:solidFill>
                  <a:schemeClr val="tx1"/>
                </a:solidFill>
                <a:latin typeface="Calibri" panose="020F0502020204030204" pitchFamily="34" charset="0"/>
                <a:ea typeface="宋体" panose="02010600030101010101" pitchFamily="2" charset="-122"/>
              </a:defRPr>
            </a:lvl1pPr>
            <a:lvl2pPr marL="742950" indent="-285750" defTabSz="911225">
              <a:defRPr>
                <a:solidFill>
                  <a:schemeClr val="tx1"/>
                </a:solidFill>
                <a:latin typeface="Calibri" panose="020F0502020204030204" pitchFamily="34" charset="0"/>
                <a:ea typeface="宋体" panose="02010600030101010101" pitchFamily="2" charset="-122"/>
              </a:defRPr>
            </a:lvl2pPr>
            <a:lvl3pPr marL="1143000" indent="-228600" defTabSz="911225">
              <a:defRPr>
                <a:solidFill>
                  <a:schemeClr val="tx1"/>
                </a:solidFill>
                <a:latin typeface="Calibri" panose="020F0502020204030204" pitchFamily="34" charset="0"/>
                <a:ea typeface="宋体" panose="02010600030101010101" pitchFamily="2" charset="-122"/>
              </a:defRPr>
            </a:lvl3pPr>
            <a:lvl4pPr marL="1600200" indent="-228600" defTabSz="911225">
              <a:defRPr>
                <a:solidFill>
                  <a:schemeClr val="tx1"/>
                </a:solidFill>
                <a:latin typeface="Calibri" panose="020F0502020204030204" pitchFamily="34" charset="0"/>
                <a:ea typeface="宋体" panose="02010600030101010101" pitchFamily="2" charset="-122"/>
              </a:defRPr>
            </a:lvl4pPr>
            <a:lvl5pPr marL="2057400" indent="-228600" defTabSz="911225">
              <a:defRPr>
                <a:solidFill>
                  <a:schemeClr val="tx1"/>
                </a:solidFill>
                <a:latin typeface="Calibri" panose="020F0502020204030204" pitchFamily="34" charset="0"/>
                <a:ea typeface="宋体" panose="02010600030101010101" pitchFamily="2" charset="-122"/>
              </a:defRPr>
            </a:lvl5pPr>
            <a:lvl6pPr marL="25146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l"/>
            <a:r>
              <a:rPr lang="en-US" sz="1400" b="1" i="1" dirty="0">
                <a:solidFill>
                  <a:srgbClr val="000000"/>
                </a:solidFill>
                <a:effectLst/>
                <a:latin typeface="open sans" panose="020B0606030504020204" pitchFamily="34" charset="0"/>
                <a:ea typeface="open sans" panose="020B0606030504020204" pitchFamily="34" charset="0"/>
                <a:cs typeface="open sans" panose="020B0606030504020204" pitchFamily="34" charset="0"/>
              </a:rPr>
              <a:t>t</a:t>
            </a:r>
            <a:r>
              <a:rPr lang="en-US" sz="1400" b="1" dirty="0">
                <a:solidFill>
                  <a:srgbClr val="000000"/>
                </a:solidFill>
                <a:effectLst/>
                <a:latin typeface="open sans" panose="020B0606030504020204" pitchFamily="34" charset="0"/>
                <a:ea typeface="open sans" panose="020B0606030504020204" pitchFamily="34" charset="0"/>
                <a:cs typeface="open sans" panose="020B0606030504020204" pitchFamily="34" charset="0"/>
              </a:rPr>
              <a:t>(15) = -2.00, </a:t>
            </a:r>
            <a:r>
              <a:rPr lang="en-US" sz="1400" b="1" i="1" dirty="0">
                <a:solidFill>
                  <a:srgbClr val="000000"/>
                </a:solidFill>
                <a:effectLst/>
                <a:latin typeface="open sans" panose="020B0606030504020204" pitchFamily="34" charset="0"/>
                <a:ea typeface="open sans" panose="020B0606030504020204" pitchFamily="34" charset="0"/>
                <a:cs typeface="open sans" panose="020B0606030504020204" pitchFamily="34" charset="0"/>
              </a:rPr>
              <a:t>p</a:t>
            </a:r>
            <a:r>
              <a:rPr lang="en-US" sz="1400" b="1" dirty="0">
                <a:solidFill>
                  <a:srgbClr val="000000"/>
                </a:solidFill>
                <a:effectLst/>
                <a:latin typeface="open sans" panose="020B0606030504020204" pitchFamily="34" charset="0"/>
                <a:ea typeface="open sans" panose="020B0606030504020204" pitchFamily="34" charset="0"/>
                <a:cs typeface="open sans" panose="020B0606030504020204" pitchFamily="34" charset="0"/>
              </a:rPr>
              <a:t> = .064</a:t>
            </a:r>
            <a:endParaRPr lang="en-US" altLang="zh-CN" sz="1400" b="1" dirty="0">
              <a:effectLst>
                <a:innerShdw blurRad="63500" dist="50800">
                  <a:prstClr val="black">
                    <a:alpha val="50000"/>
                  </a:prstClr>
                </a:innerShdw>
              </a:effectLst>
              <a:latin typeface="open sans" panose="020B0606030504020204" pitchFamily="34" charset="0"/>
              <a:ea typeface="open sans" panose="020B0606030504020204" pitchFamily="34" charset="0"/>
              <a:cs typeface="open sans" panose="020B0606030504020204" pitchFamily="34" charset="0"/>
            </a:endParaRPr>
          </a:p>
        </p:txBody>
      </p:sp>
      <p:sp>
        <p:nvSpPr>
          <p:cNvPr id="16" name="矩形 15">
            <a:extLst>
              <a:ext uri="{FF2B5EF4-FFF2-40B4-BE49-F238E27FC236}">
                <a16:creationId xmlns:a16="http://schemas.microsoft.com/office/drawing/2014/main" id="{747204A2-086D-7B98-7D0D-67F85A785D63}"/>
              </a:ext>
            </a:extLst>
          </p:cNvPr>
          <p:cNvSpPr>
            <a:spLocks noChangeArrowheads="1"/>
          </p:cNvSpPr>
          <p:nvPr/>
        </p:nvSpPr>
        <p:spPr bwMode="auto">
          <a:xfrm>
            <a:off x="5416351" y="2195481"/>
            <a:ext cx="2702504"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911225">
              <a:defRPr>
                <a:solidFill>
                  <a:schemeClr val="tx1"/>
                </a:solidFill>
                <a:latin typeface="Calibri" panose="020F0502020204030204" pitchFamily="34" charset="0"/>
                <a:ea typeface="宋体" panose="02010600030101010101" pitchFamily="2" charset="-122"/>
              </a:defRPr>
            </a:lvl1pPr>
            <a:lvl2pPr marL="742950" indent="-285750" defTabSz="911225">
              <a:defRPr>
                <a:solidFill>
                  <a:schemeClr val="tx1"/>
                </a:solidFill>
                <a:latin typeface="Calibri" panose="020F0502020204030204" pitchFamily="34" charset="0"/>
                <a:ea typeface="宋体" panose="02010600030101010101" pitchFamily="2" charset="-122"/>
              </a:defRPr>
            </a:lvl2pPr>
            <a:lvl3pPr marL="1143000" indent="-228600" defTabSz="911225">
              <a:defRPr>
                <a:solidFill>
                  <a:schemeClr val="tx1"/>
                </a:solidFill>
                <a:latin typeface="Calibri" panose="020F0502020204030204" pitchFamily="34" charset="0"/>
                <a:ea typeface="宋体" panose="02010600030101010101" pitchFamily="2" charset="-122"/>
              </a:defRPr>
            </a:lvl3pPr>
            <a:lvl4pPr marL="1600200" indent="-228600" defTabSz="911225">
              <a:defRPr>
                <a:solidFill>
                  <a:schemeClr val="tx1"/>
                </a:solidFill>
                <a:latin typeface="Calibri" panose="020F0502020204030204" pitchFamily="34" charset="0"/>
                <a:ea typeface="宋体" panose="02010600030101010101" pitchFamily="2" charset="-122"/>
              </a:defRPr>
            </a:lvl4pPr>
            <a:lvl5pPr marL="2057400" indent="-228600" defTabSz="911225">
              <a:defRPr>
                <a:solidFill>
                  <a:schemeClr val="tx1"/>
                </a:solidFill>
                <a:latin typeface="Calibri" panose="020F0502020204030204" pitchFamily="34" charset="0"/>
                <a:ea typeface="宋体" panose="02010600030101010101" pitchFamily="2" charset="-122"/>
              </a:defRPr>
            </a:lvl5pPr>
            <a:lvl6pPr marL="25146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l"/>
            <a:r>
              <a:rPr lang="en-US" sz="1400" b="1" i="1" dirty="0">
                <a:solidFill>
                  <a:srgbClr val="000000"/>
                </a:solidFill>
                <a:effectLst/>
                <a:latin typeface="open sans" panose="020B0606030504020204" pitchFamily="34" charset="0"/>
                <a:ea typeface="open sans" panose="020B0606030504020204" pitchFamily="34" charset="0"/>
                <a:cs typeface="open sans" panose="020B0606030504020204" pitchFamily="34" charset="0"/>
              </a:rPr>
              <a:t>t</a:t>
            </a:r>
            <a:r>
              <a:rPr lang="en-US" sz="1400" b="1" dirty="0">
                <a:solidFill>
                  <a:srgbClr val="000000"/>
                </a:solidFill>
                <a:effectLst/>
                <a:latin typeface="open sans" panose="020B0606030504020204" pitchFamily="34" charset="0"/>
                <a:ea typeface="open sans" panose="020B0606030504020204" pitchFamily="34" charset="0"/>
                <a:cs typeface="open sans" panose="020B0606030504020204" pitchFamily="34" charset="0"/>
              </a:rPr>
              <a:t>(15) = -1.43, </a:t>
            </a:r>
            <a:r>
              <a:rPr lang="en-US" sz="1400" b="1" i="1" dirty="0">
                <a:solidFill>
                  <a:srgbClr val="000000"/>
                </a:solidFill>
                <a:effectLst/>
                <a:latin typeface="open sans" panose="020B0606030504020204" pitchFamily="34" charset="0"/>
                <a:ea typeface="open sans" panose="020B0606030504020204" pitchFamily="34" charset="0"/>
                <a:cs typeface="open sans" panose="020B0606030504020204" pitchFamily="34" charset="0"/>
              </a:rPr>
              <a:t>p</a:t>
            </a:r>
            <a:r>
              <a:rPr lang="en-US" sz="1400" b="1" dirty="0">
                <a:solidFill>
                  <a:srgbClr val="000000"/>
                </a:solidFill>
                <a:effectLst/>
                <a:latin typeface="open sans" panose="020B0606030504020204" pitchFamily="34" charset="0"/>
                <a:ea typeface="open sans" panose="020B0606030504020204" pitchFamily="34" charset="0"/>
                <a:cs typeface="open sans" panose="020B0606030504020204" pitchFamily="34" charset="0"/>
              </a:rPr>
              <a:t> = .173</a:t>
            </a:r>
            <a:endParaRPr lang="en-US" altLang="zh-CN" sz="1400" b="1" dirty="0">
              <a:effectLst>
                <a:innerShdw blurRad="63500" dist="50800">
                  <a:prstClr val="black">
                    <a:alpha val="50000"/>
                  </a:prstClr>
                </a:innerShdw>
              </a:effectLst>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163204390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D077336-FF10-8534-C647-70152F8018C0}"/>
              </a:ext>
            </a:extLst>
          </p:cNvPr>
          <p:cNvSpPr/>
          <p:nvPr/>
        </p:nvSpPr>
        <p:spPr>
          <a:xfrm>
            <a:off x="-662328" y="1032424"/>
            <a:ext cx="3877986" cy="707886"/>
          </a:xfrm>
          <a:prstGeom prst="rect">
            <a:avLst/>
          </a:prstGeom>
          <a:noFill/>
        </p:spPr>
        <p:txBody>
          <a:bodyPr wrap="square" lIns="91440" tIns="45720" rIns="91440" bIns="45720">
            <a:spAutoFit/>
          </a:bodyPr>
          <a:lstStyle/>
          <a:p>
            <a:pPr algn="ctr"/>
            <a:r>
              <a:rPr lang="en-US" sz="40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rPr>
              <a:t>R</a:t>
            </a:r>
            <a:r>
              <a:rPr lang="en-US" altLang="zh-CN" sz="40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rPr>
              <a:t>esults</a:t>
            </a:r>
            <a:endParaRPr lang="en-US" sz="40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28" name="TextBox 27">
            <a:extLst>
              <a:ext uri="{FF2B5EF4-FFF2-40B4-BE49-F238E27FC236}">
                <a16:creationId xmlns:a16="http://schemas.microsoft.com/office/drawing/2014/main" id="{55FFF881-E12F-2F8E-5BD8-358C68BBEBED}"/>
              </a:ext>
            </a:extLst>
          </p:cNvPr>
          <p:cNvSpPr txBox="1"/>
          <p:nvPr/>
        </p:nvSpPr>
        <p:spPr>
          <a:xfrm>
            <a:off x="1254903" y="1755481"/>
            <a:ext cx="3232404" cy="338554"/>
          </a:xfrm>
          <a:prstGeom prst="rect">
            <a:avLst/>
          </a:prstGeom>
          <a:noFill/>
        </p:spPr>
        <p:txBody>
          <a:bodyPr wrap="square">
            <a:spAutoFit/>
          </a:bodyPr>
          <a:lstStyle/>
          <a:p>
            <a:pPr marL="0" marR="0" indent="0">
              <a:spcBef>
                <a:spcPts val="0"/>
              </a:spcBef>
              <a:spcAft>
                <a:spcPts val="0"/>
              </a:spcAft>
            </a:pPr>
            <a:r>
              <a:rPr lang="en-US" sz="1600" b="1" dirty="0">
                <a:effectLst/>
                <a:latin typeface="Times New Roman" panose="02020603050405020304" pitchFamily="18" charset="0"/>
                <a:ea typeface="SimSun" panose="02010600030101010101" pitchFamily="2" charset="-122"/>
              </a:rPr>
              <a:t>Overall Number of Fixations</a:t>
            </a:r>
            <a:endParaRPr lang="en-US" sz="1600" dirty="0">
              <a:effectLst/>
              <a:latin typeface="Times New Roman" panose="02020603050405020304" pitchFamily="18" charset="0"/>
              <a:ea typeface="SimSun" panose="02010600030101010101" pitchFamily="2" charset="-122"/>
            </a:endParaRPr>
          </a:p>
        </p:txBody>
      </p:sp>
      <p:sp>
        <p:nvSpPr>
          <p:cNvPr id="34" name="TextBox 33">
            <a:extLst>
              <a:ext uri="{FF2B5EF4-FFF2-40B4-BE49-F238E27FC236}">
                <a16:creationId xmlns:a16="http://schemas.microsoft.com/office/drawing/2014/main" id="{DCAB91AC-A40C-14A0-EC70-EAFDC7CFAAFA}"/>
              </a:ext>
            </a:extLst>
          </p:cNvPr>
          <p:cNvSpPr txBox="1"/>
          <p:nvPr/>
        </p:nvSpPr>
        <p:spPr>
          <a:xfrm>
            <a:off x="520133" y="5213998"/>
            <a:ext cx="2199339" cy="307777"/>
          </a:xfrm>
          <a:prstGeom prst="rect">
            <a:avLst/>
          </a:prstGeom>
          <a:noFill/>
        </p:spPr>
        <p:txBody>
          <a:bodyPr wrap="square">
            <a:spAutoFit/>
          </a:bodyPr>
          <a:lstStyle/>
          <a:p>
            <a:r>
              <a:rPr lang="en-US" sz="1400" dirty="0">
                <a:effectLst/>
                <a:latin typeface="Calibri" panose="020F0502020204030204" pitchFamily="34" charset="0"/>
                <a:ea typeface="SimSun" panose="02010600030101010101" pitchFamily="2" charset="-122"/>
                <a:cs typeface="Calibri" panose="020F0502020204030204" pitchFamily="34" charset="0"/>
              </a:rPr>
              <a:t> </a:t>
            </a:r>
            <a:r>
              <a:rPr lang="en-US" sz="1400" dirty="0">
                <a:solidFill>
                  <a:srgbClr val="000000"/>
                </a:solidFill>
                <a:effectLst/>
                <a:latin typeface="Calibri" panose="020F0502020204030204" pitchFamily="34" charset="0"/>
                <a:ea typeface="SimSun" panose="02010600030101010101" pitchFamily="2" charset="-122"/>
                <a:cs typeface="Calibri" panose="020F0502020204030204" pitchFamily="34" charset="0"/>
              </a:rPr>
              <a:t>(</a:t>
            </a:r>
            <a:r>
              <a:rPr lang="en-US" sz="1400" i="1" dirty="0">
                <a:solidFill>
                  <a:srgbClr val="000000"/>
                </a:solidFill>
                <a:effectLst/>
                <a:latin typeface="Times New Roman" panose="02020603050405020304" pitchFamily="18" charset="0"/>
                <a:ea typeface="SimSun" panose="02010600030101010101" pitchFamily="2" charset="-122"/>
              </a:rPr>
              <a:t>M</a:t>
            </a:r>
            <a:r>
              <a:rPr lang="en-US" sz="1400" dirty="0">
                <a:solidFill>
                  <a:srgbClr val="000000"/>
                </a:solidFill>
                <a:effectLst/>
                <a:latin typeface="Times New Roman" panose="02020603050405020304" pitchFamily="18" charset="0"/>
                <a:ea typeface="SimSun" panose="02010600030101010101" pitchFamily="2" charset="-122"/>
              </a:rPr>
              <a:t> = 3.02, </a:t>
            </a:r>
            <a:r>
              <a:rPr lang="en-US" sz="1400" i="1" dirty="0">
                <a:solidFill>
                  <a:srgbClr val="000000"/>
                </a:solidFill>
                <a:effectLst/>
                <a:latin typeface="Times New Roman" panose="02020603050405020304" pitchFamily="18" charset="0"/>
                <a:ea typeface="SimSun" panose="02010600030101010101" pitchFamily="2" charset="-122"/>
              </a:rPr>
              <a:t>SD</a:t>
            </a:r>
            <a:r>
              <a:rPr lang="en-US" sz="1400" dirty="0">
                <a:solidFill>
                  <a:srgbClr val="000000"/>
                </a:solidFill>
                <a:effectLst/>
                <a:latin typeface="Times New Roman" panose="02020603050405020304" pitchFamily="18" charset="0"/>
                <a:ea typeface="SimSun" panose="02010600030101010101" pitchFamily="2" charset="-122"/>
              </a:rPr>
              <a:t> = 0.42</a:t>
            </a:r>
            <a:r>
              <a:rPr lang="en-US" sz="1400" dirty="0">
                <a:solidFill>
                  <a:srgbClr val="000000"/>
                </a:solidFill>
                <a:effectLst/>
                <a:latin typeface="Calibri" panose="020F0502020204030204" pitchFamily="34" charset="0"/>
                <a:ea typeface="SimSun" panose="02010600030101010101" pitchFamily="2" charset="-122"/>
                <a:cs typeface="Calibri" panose="020F0502020204030204" pitchFamily="34" charset="0"/>
              </a:rPr>
              <a:t>)</a:t>
            </a:r>
            <a:endParaRPr lang="en-US" sz="1400" dirty="0">
              <a:latin typeface="Calibri" panose="020F0502020204030204" pitchFamily="34" charset="0"/>
              <a:cs typeface="Calibri" panose="020F0502020204030204" pitchFamily="34" charset="0"/>
            </a:endParaRPr>
          </a:p>
        </p:txBody>
      </p:sp>
      <p:sp>
        <p:nvSpPr>
          <p:cNvPr id="41" name="TextBox 40">
            <a:extLst>
              <a:ext uri="{FF2B5EF4-FFF2-40B4-BE49-F238E27FC236}">
                <a16:creationId xmlns:a16="http://schemas.microsoft.com/office/drawing/2014/main" id="{D9B6CB82-FE4E-A2F9-CF21-597E797D43E6}"/>
              </a:ext>
            </a:extLst>
          </p:cNvPr>
          <p:cNvSpPr txBox="1"/>
          <p:nvPr/>
        </p:nvSpPr>
        <p:spPr>
          <a:xfrm>
            <a:off x="2578315" y="5213998"/>
            <a:ext cx="1993685" cy="307777"/>
          </a:xfrm>
          <a:prstGeom prst="rect">
            <a:avLst/>
          </a:prstGeom>
          <a:noFill/>
        </p:spPr>
        <p:txBody>
          <a:bodyPr wrap="square">
            <a:spAutoFit/>
          </a:bodyPr>
          <a:lstStyle/>
          <a:p>
            <a:r>
              <a:rPr lang="en-US" sz="1400" dirty="0">
                <a:solidFill>
                  <a:srgbClr val="000000"/>
                </a:solidFill>
                <a:effectLst/>
                <a:latin typeface="Calibri" panose="020F0502020204030204" pitchFamily="34" charset="0"/>
                <a:ea typeface="SimSun" panose="02010600030101010101" pitchFamily="2" charset="-122"/>
                <a:cs typeface="Calibri" panose="020F0502020204030204" pitchFamily="34" charset="0"/>
              </a:rPr>
              <a:t>(</a:t>
            </a:r>
            <a:r>
              <a:rPr lang="en-US" sz="1400" i="1" dirty="0">
                <a:solidFill>
                  <a:srgbClr val="000000"/>
                </a:solidFill>
                <a:effectLst/>
                <a:latin typeface="Times New Roman" panose="02020603050405020304" pitchFamily="18" charset="0"/>
                <a:ea typeface="SimSun" panose="02010600030101010101" pitchFamily="2" charset="-122"/>
              </a:rPr>
              <a:t>M</a:t>
            </a:r>
            <a:r>
              <a:rPr lang="en-US" sz="1400" dirty="0">
                <a:solidFill>
                  <a:srgbClr val="000000"/>
                </a:solidFill>
                <a:effectLst/>
                <a:latin typeface="Times New Roman" panose="02020603050405020304" pitchFamily="18" charset="0"/>
                <a:ea typeface="SimSun" panose="02010600030101010101" pitchFamily="2" charset="-122"/>
              </a:rPr>
              <a:t> = 3.29, </a:t>
            </a:r>
            <a:r>
              <a:rPr lang="en-US" sz="1400" i="1" dirty="0">
                <a:solidFill>
                  <a:srgbClr val="000000"/>
                </a:solidFill>
                <a:effectLst/>
                <a:latin typeface="Times New Roman" panose="02020603050405020304" pitchFamily="18" charset="0"/>
                <a:ea typeface="SimSun" panose="02010600030101010101" pitchFamily="2" charset="-122"/>
              </a:rPr>
              <a:t>SD</a:t>
            </a:r>
            <a:r>
              <a:rPr lang="en-US" sz="1400" dirty="0">
                <a:solidFill>
                  <a:srgbClr val="000000"/>
                </a:solidFill>
                <a:effectLst/>
                <a:latin typeface="Times New Roman" panose="02020603050405020304" pitchFamily="18" charset="0"/>
                <a:ea typeface="SimSun" panose="02010600030101010101" pitchFamily="2" charset="-122"/>
              </a:rPr>
              <a:t> = 0.58</a:t>
            </a:r>
            <a:r>
              <a:rPr lang="en-US" sz="1400" dirty="0">
                <a:solidFill>
                  <a:srgbClr val="000000"/>
                </a:solidFill>
                <a:effectLst/>
                <a:latin typeface="Calibri" panose="020F0502020204030204" pitchFamily="34" charset="0"/>
                <a:ea typeface="SimSun" panose="02010600030101010101" pitchFamily="2" charset="-122"/>
                <a:cs typeface="Calibri" panose="020F0502020204030204" pitchFamily="34" charset="0"/>
              </a:rPr>
              <a:t>)</a:t>
            </a:r>
            <a:endParaRPr lang="en-US" sz="1400" dirty="0">
              <a:latin typeface="Calibri" panose="020F0502020204030204" pitchFamily="34" charset="0"/>
              <a:cs typeface="Calibri" panose="020F0502020204030204" pitchFamily="34" charset="0"/>
            </a:endParaRPr>
          </a:p>
        </p:txBody>
      </p:sp>
      <p:sp>
        <p:nvSpPr>
          <p:cNvPr id="46" name="TextBox 45">
            <a:extLst>
              <a:ext uri="{FF2B5EF4-FFF2-40B4-BE49-F238E27FC236}">
                <a16:creationId xmlns:a16="http://schemas.microsoft.com/office/drawing/2014/main" id="{0CF60398-2405-5012-AA17-154B836B2DD1}"/>
              </a:ext>
            </a:extLst>
          </p:cNvPr>
          <p:cNvSpPr txBox="1"/>
          <p:nvPr/>
        </p:nvSpPr>
        <p:spPr>
          <a:xfrm>
            <a:off x="5336682" y="1719411"/>
            <a:ext cx="2862072" cy="338554"/>
          </a:xfrm>
          <a:prstGeom prst="rect">
            <a:avLst/>
          </a:prstGeom>
          <a:noFill/>
        </p:spPr>
        <p:txBody>
          <a:bodyPr wrap="square">
            <a:spAutoFit/>
          </a:bodyPr>
          <a:lstStyle/>
          <a:p>
            <a:pPr marL="0" marR="0" indent="0">
              <a:spcBef>
                <a:spcPts val="0"/>
              </a:spcBef>
              <a:spcAft>
                <a:spcPts val="0"/>
              </a:spcAft>
            </a:pPr>
            <a:r>
              <a:rPr lang="en-US" sz="1600" b="1" dirty="0">
                <a:effectLst/>
                <a:latin typeface="Times New Roman" panose="02020603050405020304" pitchFamily="18" charset="0"/>
                <a:ea typeface="SimSun" panose="02010600030101010101" pitchFamily="2" charset="-122"/>
              </a:rPr>
              <a:t>Overall Fixation Duration</a:t>
            </a:r>
            <a:endParaRPr lang="en-US" sz="1600" dirty="0">
              <a:effectLst/>
              <a:latin typeface="Times New Roman" panose="02020603050405020304" pitchFamily="18" charset="0"/>
              <a:ea typeface="SimSun" panose="02010600030101010101" pitchFamily="2" charset="-122"/>
            </a:endParaRPr>
          </a:p>
        </p:txBody>
      </p:sp>
      <p:sp>
        <p:nvSpPr>
          <p:cNvPr id="56" name="TextBox 55">
            <a:extLst>
              <a:ext uri="{FF2B5EF4-FFF2-40B4-BE49-F238E27FC236}">
                <a16:creationId xmlns:a16="http://schemas.microsoft.com/office/drawing/2014/main" id="{094C5A72-B0DC-2D45-EAE9-B6E2E6B05D89}"/>
              </a:ext>
            </a:extLst>
          </p:cNvPr>
          <p:cNvSpPr txBox="1"/>
          <p:nvPr/>
        </p:nvSpPr>
        <p:spPr>
          <a:xfrm>
            <a:off x="4572000" y="5213998"/>
            <a:ext cx="2528316" cy="307777"/>
          </a:xfrm>
          <a:prstGeom prst="rect">
            <a:avLst/>
          </a:prstGeom>
          <a:noFill/>
        </p:spPr>
        <p:txBody>
          <a:bodyPr wrap="square">
            <a:spAutoFit/>
          </a:bodyPr>
          <a:lstStyle/>
          <a:p>
            <a:r>
              <a:rPr lang="en-US" sz="1400" dirty="0">
                <a:solidFill>
                  <a:srgbClr val="000000"/>
                </a:solidFill>
                <a:effectLst/>
                <a:latin typeface="Calibri" panose="020F0502020204030204" pitchFamily="34" charset="0"/>
                <a:ea typeface="SimSun" panose="02010600030101010101" pitchFamily="2" charset="-122"/>
                <a:cs typeface="Calibri" panose="020F0502020204030204" pitchFamily="34" charset="0"/>
              </a:rPr>
              <a:t>(</a:t>
            </a:r>
            <a:r>
              <a:rPr lang="en-US" sz="1400" i="1" dirty="0">
                <a:solidFill>
                  <a:srgbClr val="000000"/>
                </a:solidFill>
                <a:effectLst/>
                <a:latin typeface="Calibri" panose="020F0502020204030204" pitchFamily="34" charset="0"/>
                <a:ea typeface="SimSun" panose="02010600030101010101" pitchFamily="2" charset="-122"/>
                <a:cs typeface="Calibri" panose="020F0502020204030204" pitchFamily="34" charset="0"/>
              </a:rPr>
              <a:t>M</a:t>
            </a:r>
            <a:r>
              <a:rPr lang="en-US" sz="1400" dirty="0">
                <a:solidFill>
                  <a:srgbClr val="000000"/>
                </a:solidFill>
                <a:effectLst/>
                <a:latin typeface="Calibri" panose="020F0502020204030204" pitchFamily="34" charset="0"/>
                <a:ea typeface="SimSun" panose="02010600030101010101" pitchFamily="2" charset="-122"/>
                <a:cs typeface="Calibri" panose="020F0502020204030204" pitchFamily="34" charset="0"/>
              </a:rPr>
              <a:t> = 987 </a:t>
            </a:r>
            <a:r>
              <a:rPr lang="en-US" sz="1400" dirty="0" err="1">
                <a:solidFill>
                  <a:srgbClr val="000000"/>
                </a:solidFill>
                <a:effectLst/>
                <a:latin typeface="Calibri" panose="020F0502020204030204" pitchFamily="34" charset="0"/>
                <a:ea typeface="SimSun" panose="02010600030101010101" pitchFamily="2" charset="-122"/>
                <a:cs typeface="Calibri" panose="020F0502020204030204" pitchFamily="34" charset="0"/>
              </a:rPr>
              <a:t>ms</a:t>
            </a:r>
            <a:r>
              <a:rPr lang="en-US" sz="1400" dirty="0">
                <a:solidFill>
                  <a:srgbClr val="000000"/>
                </a:solidFill>
                <a:effectLst/>
                <a:latin typeface="Calibri" panose="020F0502020204030204" pitchFamily="34" charset="0"/>
                <a:ea typeface="SimSun" panose="02010600030101010101" pitchFamily="2" charset="-122"/>
                <a:cs typeface="Calibri" panose="020F0502020204030204" pitchFamily="34" charset="0"/>
              </a:rPr>
              <a:t>, </a:t>
            </a:r>
            <a:r>
              <a:rPr lang="en-US" sz="1400" i="1" dirty="0">
                <a:solidFill>
                  <a:srgbClr val="000000"/>
                </a:solidFill>
                <a:effectLst/>
                <a:latin typeface="Calibri" panose="020F0502020204030204" pitchFamily="34" charset="0"/>
                <a:ea typeface="SimSun" panose="02010600030101010101" pitchFamily="2" charset="-122"/>
                <a:cs typeface="Calibri" panose="020F0502020204030204" pitchFamily="34" charset="0"/>
              </a:rPr>
              <a:t>SD</a:t>
            </a:r>
            <a:r>
              <a:rPr lang="en-US" sz="1400" dirty="0">
                <a:solidFill>
                  <a:srgbClr val="000000"/>
                </a:solidFill>
                <a:effectLst/>
                <a:latin typeface="Calibri" panose="020F0502020204030204" pitchFamily="34" charset="0"/>
                <a:ea typeface="SimSun" panose="02010600030101010101" pitchFamily="2" charset="-122"/>
                <a:cs typeface="Calibri" panose="020F0502020204030204" pitchFamily="34" charset="0"/>
              </a:rPr>
              <a:t> = 220)</a:t>
            </a:r>
            <a:endParaRPr lang="en-US" sz="1400" dirty="0">
              <a:latin typeface="Calibri" panose="020F0502020204030204" pitchFamily="34" charset="0"/>
              <a:cs typeface="Calibri" panose="020F0502020204030204" pitchFamily="34" charset="0"/>
            </a:endParaRPr>
          </a:p>
        </p:txBody>
      </p:sp>
      <p:sp>
        <p:nvSpPr>
          <p:cNvPr id="57" name="Rectangle 56">
            <a:extLst>
              <a:ext uri="{FF2B5EF4-FFF2-40B4-BE49-F238E27FC236}">
                <a16:creationId xmlns:a16="http://schemas.microsoft.com/office/drawing/2014/main" id="{4B6F7DCC-C10D-7937-CB7D-963045339857}"/>
              </a:ext>
            </a:extLst>
          </p:cNvPr>
          <p:cNvSpPr/>
          <p:nvPr/>
        </p:nvSpPr>
        <p:spPr>
          <a:xfrm>
            <a:off x="1025145" y="3183719"/>
            <a:ext cx="45719" cy="85572"/>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63" name="TextBox 62">
            <a:extLst>
              <a:ext uri="{FF2B5EF4-FFF2-40B4-BE49-F238E27FC236}">
                <a16:creationId xmlns:a16="http://schemas.microsoft.com/office/drawing/2014/main" id="{5C150D76-F0E3-D5C9-FEA3-1E32067BE976}"/>
              </a:ext>
            </a:extLst>
          </p:cNvPr>
          <p:cNvSpPr txBox="1"/>
          <p:nvPr/>
        </p:nvSpPr>
        <p:spPr>
          <a:xfrm>
            <a:off x="6605925" y="5191998"/>
            <a:ext cx="1978361" cy="307777"/>
          </a:xfrm>
          <a:prstGeom prst="rect">
            <a:avLst/>
          </a:prstGeom>
          <a:noFill/>
        </p:spPr>
        <p:txBody>
          <a:bodyPr wrap="square">
            <a:spAutoFit/>
          </a:bodyPr>
          <a:lstStyle/>
          <a:p>
            <a:r>
              <a:rPr lang="en-US" sz="1400" dirty="0">
                <a:solidFill>
                  <a:srgbClr val="000000"/>
                </a:solidFill>
                <a:effectLst/>
                <a:latin typeface="Calibri" panose="020F0502020204030204" pitchFamily="34" charset="0"/>
                <a:ea typeface="SimSun" panose="02010600030101010101" pitchFamily="2" charset="-122"/>
                <a:cs typeface="Calibri" panose="020F0502020204030204" pitchFamily="34" charset="0"/>
              </a:rPr>
              <a:t>(</a:t>
            </a:r>
            <a:r>
              <a:rPr lang="en-US" sz="1400" i="1" dirty="0">
                <a:solidFill>
                  <a:srgbClr val="000000"/>
                </a:solidFill>
                <a:effectLst/>
                <a:latin typeface="Calibri" panose="020F0502020204030204" pitchFamily="34" charset="0"/>
                <a:ea typeface="SimSun" panose="02010600030101010101" pitchFamily="2" charset="-122"/>
                <a:cs typeface="Calibri" panose="020F0502020204030204" pitchFamily="34" charset="0"/>
              </a:rPr>
              <a:t>M</a:t>
            </a:r>
            <a:r>
              <a:rPr lang="en-US" sz="1400" dirty="0">
                <a:solidFill>
                  <a:srgbClr val="000000"/>
                </a:solidFill>
                <a:effectLst/>
                <a:latin typeface="Calibri" panose="020F0502020204030204" pitchFamily="34" charset="0"/>
                <a:ea typeface="SimSun" panose="02010600030101010101" pitchFamily="2" charset="-122"/>
                <a:cs typeface="Calibri" panose="020F0502020204030204" pitchFamily="34" charset="0"/>
              </a:rPr>
              <a:t> = 1139 </a:t>
            </a:r>
            <a:r>
              <a:rPr lang="en-US" sz="1400" dirty="0" err="1">
                <a:solidFill>
                  <a:srgbClr val="000000"/>
                </a:solidFill>
                <a:effectLst/>
                <a:latin typeface="Calibri" panose="020F0502020204030204" pitchFamily="34" charset="0"/>
                <a:ea typeface="SimSun" panose="02010600030101010101" pitchFamily="2" charset="-122"/>
                <a:cs typeface="Calibri" panose="020F0502020204030204" pitchFamily="34" charset="0"/>
              </a:rPr>
              <a:t>ms</a:t>
            </a:r>
            <a:r>
              <a:rPr lang="en-US" sz="1400" dirty="0">
                <a:solidFill>
                  <a:srgbClr val="000000"/>
                </a:solidFill>
                <a:effectLst/>
                <a:latin typeface="Calibri" panose="020F0502020204030204" pitchFamily="34" charset="0"/>
                <a:ea typeface="SimSun" panose="02010600030101010101" pitchFamily="2" charset="-122"/>
                <a:cs typeface="Calibri" panose="020F0502020204030204" pitchFamily="34" charset="0"/>
              </a:rPr>
              <a:t>, </a:t>
            </a:r>
            <a:r>
              <a:rPr lang="en-US" sz="1400" i="1" dirty="0">
                <a:solidFill>
                  <a:srgbClr val="000000"/>
                </a:solidFill>
                <a:effectLst/>
                <a:latin typeface="Calibri" panose="020F0502020204030204" pitchFamily="34" charset="0"/>
                <a:ea typeface="SimSun" panose="02010600030101010101" pitchFamily="2" charset="-122"/>
                <a:cs typeface="Calibri" panose="020F0502020204030204" pitchFamily="34" charset="0"/>
              </a:rPr>
              <a:t>SD</a:t>
            </a:r>
            <a:r>
              <a:rPr lang="en-US" sz="1400" dirty="0">
                <a:solidFill>
                  <a:srgbClr val="000000"/>
                </a:solidFill>
                <a:effectLst/>
                <a:latin typeface="Calibri" panose="020F0502020204030204" pitchFamily="34" charset="0"/>
                <a:ea typeface="SimSun" panose="02010600030101010101" pitchFamily="2" charset="-122"/>
                <a:cs typeface="Calibri" panose="020F0502020204030204" pitchFamily="34" charset="0"/>
              </a:rPr>
              <a:t> = 306)</a:t>
            </a:r>
            <a:endParaRPr lang="en-US" sz="1400" dirty="0">
              <a:latin typeface="Calibri" panose="020F0502020204030204" pitchFamily="34" charset="0"/>
              <a:cs typeface="Calibri" panose="020F0502020204030204" pitchFamily="34" charset="0"/>
            </a:endParaRPr>
          </a:p>
        </p:txBody>
      </p:sp>
      <p:sp>
        <p:nvSpPr>
          <p:cNvPr id="7" name="矩形 15">
            <a:extLst>
              <a:ext uri="{FF2B5EF4-FFF2-40B4-BE49-F238E27FC236}">
                <a16:creationId xmlns:a16="http://schemas.microsoft.com/office/drawing/2014/main" id="{9B516125-9970-15E6-038B-6F2464A91DC5}"/>
              </a:ext>
            </a:extLst>
          </p:cNvPr>
          <p:cNvSpPr>
            <a:spLocks noChangeArrowheads="1"/>
          </p:cNvSpPr>
          <p:nvPr/>
        </p:nvSpPr>
        <p:spPr bwMode="auto">
          <a:xfrm>
            <a:off x="1294052" y="2195481"/>
            <a:ext cx="2702504"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911225">
              <a:defRPr>
                <a:solidFill>
                  <a:schemeClr val="tx1"/>
                </a:solidFill>
                <a:latin typeface="Calibri" panose="020F0502020204030204" pitchFamily="34" charset="0"/>
                <a:ea typeface="宋体" panose="02010600030101010101" pitchFamily="2" charset="-122"/>
              </a:defRPr>
            </a:lvl1pPr>
            <a:lvl2pPr marL="742950" indent="-285750" defTabSz="911225">
              <a:defRPr>
                <a:solidFill>
                  <a:schemeClr val="tx1"/>
                </a:solidFill>
                <a:latin typeface="Calibri" panose="020F0502020204030204" pitchFamily="34" charset="0"/>
                <a:ea typeface="宋体" panose="02010600030101010101" pitchFamily="2" charset="-122"/>
              </a:defRPr>
            </a:lvl2pPr>
            <a:lvl3pPr marL="1143000" indent="-228600" defTabSz="911225">
              <a:defRPr>
                <a:solidFill>
                  <a:schemeClr val="tx1"/>
                </a:solidFill>
                <a:latin typeface="Calibri" panose="020F0502020204030204" pitchFamily="34" charset="0"/>
                <a:ea typeface="宋体" panose="02010600030101010101" pitchFamily="2" charset="-122"/>
              </a:defRPr>
            </a:lvl3pPr>
            <a:lvl4pPr marL="1600200" indent="-228600" defTabSz="911225">
              <a:defRPr>
                <a:solidFill>
                  <a:schemeClr val="tx1"/>
                </a:solidFill>
                <a:latin typeface="Calibri" panose="020F0502020204030204" pitchFamily="34" charset="0"/>
                <a:ea typeface="宋体" panose="02010600030101010101" pitchFamily="2" charset="-122"/>
              </a:defRPr>
            </a:lvl4pPr>
            <a:lvl5pPr marL="2057400" indent="-228600" defTabSz="911225">
              <a:defRPr>
                <a:solidFill>
                  <a:schemeClr val="tx1"/>
                </a:solidFill>
                <a:latin typeface="Calibri" panose="020F0502020204030204" pitchFamily="34" charset="0"/>
                <a:ea typeface="宋体" panose="02010600030101010101" pitchFamily="2" charset="-122"/>
              </a:defRPr>
            </a:lvl5pPr>
            <a:lvl6pPr marL="25146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l"/>
            <a:r>
              <a:rPr lang="en-US" sz="1400" b="1" i="1" dirty="0">
                <a:solidFill>
                  <a:srgbClr val="000000"/>
                </a:solidFill>
                <a:effectLst/>
                <a:latin typeface="open sans" panose="020B0606030504020204" pitchFamily="34" charset="0"/>
                <a:ea typeface="open sans" panose="020B0606030504020204" pitchFamily="34" charset="0"/>
                <a:cs typeface="open sans" panose="020B0606030504020204" pitchFamily="34" charset="0"/>
              </a:rPr>
              <a:t>t</a:t>
            </a:r>
            <a:r>
              <a:rPr lang="en-US" sz="1400" b="1" dirty="0">
                <a:solidFill>
                  <a:srgbClr val="000000"/>
                </a:solidFill>
                <a:effectLst/>
                <a:latin typeface="open sans" panose="020B0606030504020204" pitchFamily="34" charset="0"/>
                <a:ea typeface="open sans" panose="020B0606030504020204" pitchFamily="34" charset="0"/>
                <a:cs typeface="open sans" panose="020B0606030504020204" pitchFamily="34" charset="0"/>
              </a:rPr>
              <a:t>(15) = -2.00, </a:t>
            </a:r>
            <a:r>
              <a:rPr lang="en-US" sz="1400" b="1" i="1" dirty="0">
                <a:solidFill>
                  <a:srgbClr val="000000"/>
                </a:solidFill>
                <a:effectLst/>
                <a:latin typeface="open sans" panose="020B0606030504020204" pitchFamily="34" charset="0"/>
                <a:ea typeface="open sans" panose="020B0606030504020204" pitchFamily="34" charset="0"/>
                <a:cs typeface="open sans" panose="020B0606030504020204" pitchFamily="34" charset="0"/>
              </a:rPr>
              <a:t>p</a:t>
            </a:r>
            <a:r>
              <a:rPr lang="en-US" sz="1400" b="1" dirty="0">
                <a:solidFill>
                  <a:srgbClr val="000000"/>
                </a:solidFill>
                <a:effectLst/>
                <a:latin typeface="open sans" panose="020B0606030504020204" pitchFamily="34" charset="0"/>
                <a:ea typeface="open sans" panose="020B0606030504020204" pitchFamily="34" charset="0"/>
                <a:cs typeface="open sans" panose="020B0606030504020204" pitchFamily="34" charset="0"/>
              </a:rPr>
              <a:t> = .064, </a:t>
            </a:r>
            <a:r>
              <a:rPr lang="en-US" sz="1400" b="1" i="1" dirty="0" err="1">
                <a:solidFill>
                  <a:srgbClr val="000000"/>
                </a:solidFill>
                <a:effectLst/>
                <a:latin typeface="open sans" panose="020B0606030504020204" pitchFamily="34" charset="0"/>
                <a:ea typeface="open sans" panose="020B0606030504020204" pitchFamily="34" charset="0"/>
                <a:cs typeface="open sans" panose="020B0606030504020204" pitchFamily="34" charset="0"/>
              </a:rPr>
              <a:t>d</a:t>
            </a:r>
            <a:r>
              <a:rPr lang="en-US" sz="1400" b="1" baseline="-25000" dirty="0" err="1">
                <a:solidFill>
                  <a:srgbClr val="000000"/>
                </a:solidFill>
                <a:effectLst/>
                <a:latin typeface="open sans" panose="020B0606030504020204" pitchFamily="34" charset="0"/>
                <a:ea typeface="open sans" panose="020B0606030504020204" pitchFamily="34" charset="0"/>
                <a:cs typeface="open sans" panose="020B0606030504020204" pitchFamily="34" charset="0"/>
              </a:rPr>
              <a:t>z</a:t>
            </a:r>
            <a:r>
              <a:rPr lang="en-US" sz="1400" b="1" dirty="0">
                <a:solidFill>
                  <a:srgbClr val="000000"/>
                </a:solidFill>
                <a:effectLst/>
                <a:latin typeface="open sans" panose="020B0606030504020204" pitchFamily="34" charset="0"/>
                <a:ea typeface="open sans" panose="020B0606030504020204" pitchFamily="34" charset="0"/>
                <a:cs typeface="open sans" panose="020B0606030504020204" pitchFamily="34" charset="0"/>
              </a:rPr>
              <a:t> = -0.50</a:t>
            </a:r>
            <a:endParaRPr lang="en-US" altLang="zh-CN" sz="1400" b="1" dirty="0">
              <a:effectLst>
                <a:innerShdw blurRad="63500" dist="50800">
                  <a:prstClr val="black">
                    <a:alpha val="50000"/>
                  </a:prstClr>
                </a:innerShdw>
              </a:effectLst>
              <a:latin typeface="open sans" panose="020B0606030504020204" pitchFamily="34" charset="0"/>
              <a:ea typeface="open sans" panose="020B0606030504020204" pitchFamily="34" charset="0"/>
              <a:cs typeface="open sans" panose="020B0606030504020204" pitchFamily="34" charset="0"/>
            </a:endParaRPr>
          </a:p>
        </p:txBody>
      </p:sp>
      <p:sp>
        <p:nvSpPr>
          <p:cNvPr id="16" name="矩形 15">
            <a:extLst>
              <a:ext uri="{FF2B5EF4-FFF2-40B4-BE49-F238E27FC236}">
                <a16:creationId xmlns:a16="http://schemas.microsoft.com/office/drawing/2014/main" id="{747204A2-086D-7B98-7D0D-67F85A785D63}"/>
              </a:ext>
            </a:extLst>
          </p:cNvPr>
          <p:cNvSpPr>
            <a:spLocks noChangeArrowheads="1"/>
          </p:cNvSpPr>
          <p:nvPr/>
        </p:nvSpPr>
        <p:spPr bwMode="auto">
          <a:xfrm>
            <a:off x="5416351" y="2195481"/>
            <a:ext cx="2702504"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911225">
              <a:defRPr>
                <a:solidFill>
                  <a:schemeClr val="tx1"/>
                </a:solidFill>
                <a:latin typeface="Calibri" panose="020F0502020204030204" pitchFamily="34" charset="0"/>
                <a:ea typeface="宋体" panose="02010600030101010101" pitchFamily="2" charset="-122"/>
              </a:defRPr>
            </a:lvl1pPr>
            <a:lvl2pPr marL="742950" indent="-285750" defTabSz="911225">
              <a:defRPr>
                <a:solidFill>
                  <a:schemeClr val="tx1"/>
                </a:solidFill>
                <a:latin typeface="Calibri" panose="020F0502020204030204" pitchFamily="34" charset="0"/>
                <a:ea typeface="宋体" panose="02010600030101010101" pitchFamily="2" charset="-122"/>
              </a:defRPr>
            </a:lvl2pPr>
            <a:lvl3pPr marL="1143000" indent="-228600" defTabSz="911225">
              <a:defRPr>
                <a:solidFill>
                  <a:schemeClr val="tx1"/>
                </a:solidFill>
                <a:latin typeface="Calibri" panose="020F0502020204030204" pitchFamily="34" charset="0"/>
                <a:ea typeface="宋体" panose="02010600030101010101" pitchFamily="2" charset="-122"/>
              </a:defRPr>
            </a:lvl3pPr>
            <a:lvl4pPr marL="1600200" indent="-228600" defTabSz="911225">
              <a:defRPr>
                <a:solidFill>
                  <a:schemeClr val="tx1"/>
                </a:solidFill>
                <a:latin typeface="Calibri" panose="020F0502020204030204" pitchFamily="34" charset="0"/>
                <a:ea typeface="宋体" panose="02010600030101010101" pitchFamily="2" charset="-122"/>
              </a:defRPr>
            </a:lvl4pPr>
            <a:lvl5pPr marL="2057400" indent="-228600" defTabSz="911225">
              <a:defRPr>
                <a:solidFill>
                  <a:schemeClr val="tx1"/>
                </a:solidFill>
                <a:latin typeface="Calibri" panose="020F0502020204030204" pitchFamily="34" charset="0"/>
                <a:ea typeface="宋体" panose="02010600030101010101" pitchFamily="2" charset="-122"/>
              </a:defRPr>
            </a:lvl5pPr>
            <a:lvl6pPr marL="25146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l"/>
            <a:r>
              <a:rPr lang="en-US" sz="1400" b="1" i="1" dirty="0">
                <a:solidFill>
                  <a:srgbClr val="000000"/>
                </a:solidFill>
                <a:effectLst/>
                <a:latin typeface="open sans" panose="020B0606030504020204" pitchFamily="34" charset="0"/>
                <a:ea typeface="open sans" panose="020B0606030504020204" pitchFamily="34" charset="0"/>
                <a:cs typeface="open sans" panose="020B0606030504020204" pitchFamily="34" charset="0"/>
              </a:rPr>
              <a:t>t</a:t>
            </a:r>
            <a:r>
              <a:rPr lang="en-US" sz="1400" b="1" dirty="0">
                <a:solidFill>
                  <a:srgbClr val="000000"/>
                </a:solidFill>
                <a:effectLst/>
                <a:latin typeface="open sans" panose="020B0606030504020204" pitchFamily="34" charset="0"/>
                <a:ea typeface="open sans" panose="020B0606030504020204" pitchFamily="34" charset="0"/>
                <a:cs typeface="open sans" panose="020B0606030504020204" pitchFamily="34" charset="0"/>
              </a:rPr>
              <a:t>(15) = -1.43, </a:t>
            </a:r>
            <a:r>
              <a:rPr lang="en-US" sz="1400" b="1" i="1" dirty="0">
                <a:solidFill>
                  <a:srgbClr val="000000"/>
                </a:solidFill>
                <a:effectLst/>
                <a:latin typeface="open sans" panose="020B0606030504020204" pitchFamily="34" charset="0"/>
                <a:ea typeface="open sans" panose="020B0606030504020204" pitchFamily="34" charset="0"/>
                <a:cs typeface="open sans" panose="020B0606030504020204" pitchFamily="34" charset="0"/>
              </a:rPr>
              <a:t>p</a:t>
            </a:r>
            <a:r>
              <a:rPr lang="en-US" sz="1400" b="1" dirty="0">
                <a:solidFill>
                  <a:srgbClr val="000000"/>
                </a:solidFill>
                <a:effectLst/>
                <a:latin typeface="open sans" panose="020B0606030504020204" pitchFamily="34" charset="0"/>
                <a:ea typeface="open sans" panose="020B0606030504020204" pitchFamily="34" charset="0"/>
                <a:cs typeface="open sans" panose="020B0606030504020204" pitchFamily="34" charset="0"/>
              </a:rPr>
              <a:t> = .173, </a:t>
            </a:r>
            <a:r>
              <a:rPr lang="en-US" sz="1400" b="1" i="1" dirty="0" err="1">
                <a:solidFill>
                  <a:srgbClr val="000000"/>
                </a:solidFill>
                <a:effectLst/>
                <a:latin typeface="open sans" panose="020B0606030504020204" pitchFamily="34" charset="0"/>
                <a:ea typeface="open sans" panose="020B0606030504020204" pitchFamily="34" charset="0"/>
                <a:cs typeface="open sans" panose="020B0606030504020204" pitchFamily="34" charset="0"/>
              </a:rPr>
              <a:t>d</a:t>
            </a:r>
            <a:r>
              <a:rPr lang="en-US" sz="1400" b="1" baseline="-25000" dirty="0" err="1">
                <a:solidFill>
                  <a:srgbClr val="000000"/>
                </a:solidFill>
                <a:effectLst/>
                <a:latin typeface="open sans" panose="020B0606030504020204" pitchFamily="34" charset="0"/>
                <a:ea typeface="open sans" panose="020B0606030504020204" pitchFamily="34" charset="0"/>
                <a:cs typeface="open sans" panose="020B0606030504020204" pitchFamily="34" charset="0"/>
              </a:rPr>
              <a:t>z</a:t>
            </a:r>
            <a:r>
              <a:rPr lang="en-US" sz="1400" b="1" dirty="0">
                <a:solidFill>
                  <a:srgbClr val="000000"/>
                </a:solidFill>
                <a:effectLst/>
                <a:latin typeface="open sans" panose="020B0606030504020204" pitchFamily="34" charset="0"/>
                <a:ea typeface="open sans" panose="020B0606030504020204" pitchFamily="34" charset="0"/>
                <a:cs typeface="open sans" panose="020B0606030504020204" pitchFamily="34" charset="0"/>
              </a:rPr>
              <a:t> = -0.36</a:t>
            </a:r>
            <a:endParaRPr lang="en-US" altLang="zh-CN" sz="1400" b="1" dirty="0">
              <a:effectLst>
                <a:innerShdw blurRad="63500" dist="50800">
                  <a:prstClr val="black">
                    <a:alpha val="50000"/>
                  </a:prstClr>
                </a:innerShdw>
              </a:effectLst>
              <a:latin typeface="open sans" panose="020B0606030504020204" pitchFamily="34" charset="0"/>
              <a:ea typeface="open sans" panose="020B0606030504020204" pitchFamily="34" charset="0"/>
              <a:cs typeface="open sans" panose="020B0606030504020204" pitchFamily="34" charset="0"/>
            </a:endParaRPr>
          </a:p>
        </p:txBody>
      </p:sp>
      <p:pic>
        <p:nvPicPr>
          <p:cNvPr id="10" name="Picture 9">
            <a:extLst>
              <a:ext uri="{FF2B5EF4-FFF2-40B4-BE49-F238E27FC236}">
                <a16:creationId xmlns:a16="http://schemas.microsoft.com/office/drawing/2014/main" id="{EDF7B04A-B79C-19E7-79B4-19590C804665}"/>
              </a:ext>
            </a:extLst>
          </p:cNvPr>
          <p:cNvPicPr>
            <a:picLocks noChangeAspect="1"/>
          </p:cNvPicPr>
          <p:nvPr/>
        </p:nvPicPr>
        <p:blipFill>
          <a:blip r:embed="rId3"/>
          <a:stretch>
            <a:fillRect/>
          </a:stretch>
        </p:blipFill>
        <p:spPr>
          <a:xfrm>
            <a:off x="234086" y="1755481"/>
            <a:ext cx="8746766" cy="4233666"/>
          </a:xfrm>
          <a:prstGeom prst="rect">
            <a:avLst/>
          </a:prstGeom>
        </p:spPr>
      </p:pic>
      <p:pic>
        <p:nvPicPr>
          <p:cNvPr id="11" name="Picture 10">
            <a:extLst>
              <a:ext uri="{FF2B5EF4-FFF2-40B4-BE49-F238E27FC236}">
                <a16:creationId xmlns:a16="http://schemas.microsoft.com/office/drawing/2014/main" id="{D6976904-8BCD-FF2E-FDB8-D020A19C4885}"/>
              </a:ext>
            </a:extLst>
          </p:cNvPr>
          <p:cNvPicPr>
            <a:picLocks noChangeAspect="1"/>
          </p:cNvPicPr>
          <p:nvPr/>
        </p:nvPicPr>
        <p:blipFill>
          <a:blip r:embed="rId4"/>
          <a:srcRect t="145" b="145"/>
          <a:stretch>
            <a:fillRect/>
          </a:stretch>
        </p:blipFill>
        <p:spPr bwMode="auto">
          <a:xfrm>
            <a:off x="7539452" y="907430"/>
            <a:ext cx="1441400" cy="1503495"/>
          </a:xfrm>
          <a:prstGeom prst="rect">
            <a:avLst/>
          </a:prstGeom>
          <a:ln>
            <a:noFill/>
          </a:ln>
          <a:extLst>
            <a:ext uri="{53640926-AAD7-44D8-BBD7-CCE9431645EC}">
              <a14:shadowObscured xmlns:a14="http://schemas.microsoft.com/office/drawing/2010/main"/>
            </a:ext>
          </a:extLst>
        </p:spPr>
      </p:pic>
      <p:sp>
        <p:nvSpPr>
          <p:cNvPr id="12" name="Rectangle 11">
            <a:extLst>
              <a:ext uri="{FF2B5EF4-FFF2-40B4-BE49-F238E27FC236}">
                <a16:creationId xmlns:a16="http://schemas.microsoft.com/office/drawing/2014/main" id="{BEF85EDF-CD52-A66C-6E26-A132308B9D5C}"/>
              </a:ext>
            </a:extLst>
          </p:cNvPr>
          <p:cNvSpPr/>
          <p:nvPr/>
        </p:nvSpPr>
        <p:spPr>
          <a:xfrm>
            <a:off x="5429806" y="1118832"/>
            <a:ext cx="2165299" cy="338554"/>
          </a:xfrm>
          <a:prstGeom prst="rect">
            <a:avLst/>
          </a:prstGeom>
          <a:noFill/>
        </p:spPr>
        <p:txBody>
          <a:bodyPr wrap="square" lIns="91440" tIns="45720" rIns="91440" bIns="45720">
            <a:spAutoFit/>
          </a:bodyPr>
          <a:lstStyle/>
          <a:p>
            <a:pPr algn="ctr"/>
            <a:r>
              <a:rPr lang="en-US" sz="1600" b="0"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rPr>
              <a:t>AOI: </a:t>
            </a:r>
            <a:r>
              <a:rPr lang="en-US" sz="1600" dirty="0">
                <a:effectLst/>
                <a:latin typeface="Calibri" panose="020F0502020204030204" pitchFamily="34" charset="0"/>
                <a:ea typeface="SimSun" panose="02010600030101010101" pitchFamily="2" charset="-122"/>
                <a:cs typeface="Calibri" panose="020F0502020204030204" pitchFamily="34" charset="0"/>
              </a:rPr>
              <a:t>Areas of Interest </a:t>
            </a:r>
            <a:endParaRPr lang="en-US" sz="1600" b="0"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13" name="Oval 12">
            <a:extLst>
              <a:ext uri="{FF2B5EF4-FFF2-40B4-BE49-F238E27FC236}">
                <a16:creationId xmlns:a16="http://schemas.microsoft.com/office/drawing/2014/main" id="{136D9817-DC45-7B40-964E-447960951584}"/>
              </a:ext>
            </a:extLst>
          </p:cNvPr>
          <p:cNvSpPr/>
          <p:nvPr/>
        </p:nvSpPr>
        <p:spPr>
          <a:xfrm>
            <a:off x="6722708" y="2803196"/>
            <a:ext cx="667514" cy="1334930"/>
          </a:xfrm>
          <a:prstGeom prst="ellipse">
            <a:avLst/>
          </a:prstGeom>
          <a:no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 name="Oval 13">
            <a:extLst>
              <a:ext uri="{FF2B5EF4-FFF2-40B4-BE49-F238E27FC236}">
                <a16:creationId xmlns:a16="http://schemas.microsoft.com/office/drawing/2014/main" id="{C77D872A-DED1-D6E5-3687-956BF8474792}"/>
              </a:ext>
            </a:extLst>
          </p:cNvPr>
          <p:cNvSpPr/>
          <p:nvPr/>
        </p:nvSpPr>
        <p:spPr>
          <a:xfrm>
            <a:off x="3554596" y="3269291"/>
            <a:ext cx="441960" cy="653391"/>
          </a:xfrm>
          <a:prstGeom prst="ellipse">
            <a:avLst/>
          </a:prstGeom>
          <a:no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422831512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D077336-FF10-8534-C647-70152F8018C0}"/>
              </a:ext>
            </a:extLst>
          </p:cNvPr>
          <p:cNvSpPr/>
          <p:nvPr/>
        </p:nvSpPr>
        <p:spPr>
          <a:xfrm>
            <a:off x="-662328" y="1032424"/>
            <a:ext cx="3877986" cy="707886"/>
          </a:xfrm>
          <a:prstGeom prst="rect">
            <a:avLst/>
          </a:prstGeom>
          <a:noFill/>
        </p:spPr>
        <p:txBody>
          <a:bodyPr wrap="square" lIns="91440" tIns="45720" rIns="91440" bIns="45720">
            <a:spAutoFit/>
          </a:bodyPr>
          <a:lstStyle/>
          <a:p>
            <a:pPr algn="ctr"/>
            <a:r>
              <a:rPr lang="en-US" sz="40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rPr>
              <a:t>R</a:t>
            </a:r>
            <a:r>
              <a:rPr lang="en-US" altLang="zh-CN" sz="40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rPr>
              <a:t>esults</a:t>
            </a:r>
            <a:endParaRPr lang="en-US" sz="40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57" name="Rectangle 56">
            <a:extLst>
              <a:ext uri="{FF2B5EF4-FFF2-40B4-BE49-F238E27FC236}">
                <a16:creationId xmlns:a16="http://schemas.microsoft.com/office/drawing/2014/main" id="{4B6F7DCC-C10D-7937-CB7D-963045339857}"/>
              </a:ext>
            </a:extLst>
          </p:cNvPr>
          <p:cNvSpPr/>
          <p:nvPr/>
        </p:nvSpPr>
        <p:spPr>
          <a:xfrm>
            <a:off x="1025145" y="3183719"/>
            <a:ext cx="45719" cy="85572"/>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5" name="TextBox 4">
            <a:extLst>
              <a:ext uri="{FF2B5EF4-FFF2-40B4-BE49-F238E27FC236}">
                <a16:creationId xmlns:a16="http://schemas.microsoft.com/office/drawing/2014/main" id="{E31E1005-A8AD-63C2-4756-9C0F0447B6A8}"/>
              </a:ext>
            </a:extLst>
          </p:cNvPr>
          <p:cNvSpPr txBox="1"/>
          <p:nvPr/>
        </p:nvSpPr>
        <p:spPr>
          <a:xfrm>
            <a:off x="448339" y="1652272"/>
            <a:ext cx="6917897" cy="307777"/>
          </a:xfrm>
          <a:prstGeom prst="rect">
            <a:avLst/>
          </a:prstGeom>
          <a:noFill/>
        </p:spPr>
        <p:txBody>
          <a:bodyPr wrap="square">
            <a:spAutoFit/>
          </a:bodyPr>
          <a:lstStyle/>
          <a:p>
            <a:pPr marL="0" marR="0" indent="0">
              <a:spcBef>
                <a:spcPts val="0"/>
              </a:spcBef>
              <a:spcAft>
                <a:spcPts val="0"/>
              </a:spcAft>
            </a:pPr>
            <a:r>
              <a:rPr lang="en-US" sz="1400" i="1" dirty="0">
                <a:solidFill>
                  <a:srgbClr val="000000"/>
                </a:solidFill>
                <a:effectLst/>
                <a:latin typeface="Times New Roman" panose="02020603050405020304" pitchFamily="18" charset="0"/>
                <a:ea typeface="SimSun" panose="02010600030101010101" pitchFamily="2" charset="-122"/>
              </a:rPr>
              <a:t>Number of Fixations on AOIs. A: First Fixation of a Search. B: Last Fixation of a Search.</a:t>
            </a:r>
            <a:endParaRPr lang="en-US" sz="1400" dirty="0">
              <a:effectLst/>
              <a:latin typeface="Times New Roman" panose="02020603050405020304" pitchFamily="18" charset="0"/>
              <a:ea typeface="SimSun" panose="02010600030101010101" pitchFamily="2" charset="-122"/>
            </a:endParaRPr>
          </a:p>
        </p:txBody>
      </p:sp>
      <p:pic>
        <p:nvPicPr>
          <p:cNvPr id="15" name="Picture 14">
            <a:extLst>
              <a:ext uri="{FF2B5EF4-FFF2-40B4-BE49-F238E27FC236}">
                <a16:creationId xmlns:a16="http://schemas.microsoft.com/office/drawing/2014/main" id="{81349DBC-A22D-F3A9-BD3D-435AF5D2BF39}"/>
              </a:ext>
            </a:extLst>
          </p:cNvPr>
          <p:cNvPicPr>
            <a:picLocks noChangeAspect="1"/>
          </p:cNvPicPr>
          <p:nvPr/>
        </p:nvPicPr>
        <p:blipFill rotWithShape="1">
          <a:blip r:embed="rId3"/>
          <a:srcRect l="341" t="423" b="1"/>
          <a:stretch/>
        </p:blipFill>
        <p:spPr bwMode="auto">
          <a:xfrm>
            <a:off x="2050547" y="2104648"/>
            <a:ext cx="3713480" cy="2988945"/>
          </a:xfrm>
          <a:prstGeom prst="rect">
            <a:avLst/>
          </a:prstGeom>
          <a:ln>
            <a:noFill/>
          </a:ln>
          <a:extLst>
            <a:ext uri="{53640926-AAD7-44D8-BBD7-CCE9431645EC}">
              <a14:shadowObscured xmlns:a14="http://schemas.microsoft.com/office/drawing/2010/main"/>
            </a:ext>
          </a:extLst>
        </p:spPr>
      </p:pic>
      <p:sp>
        <p:nvSpPr>
          <p:cNvPr id="18" name="TextBox 17">
            <a:extLst>
              <a:ext uri="{FF2B5EF4-FFF2-40B4-BE49-F238E27FC236}">
                <a16:creationId xmlns:a16="http://schemas.microsoft.com/office/drawing/2014/main" id="{AE9C3123-F0B6-9BD8-9F9B-17C4FB5908AF}"/>
              </a:ext>
            </a:extLst>
          </p:cNvPr>
          <p:cNvSpPr txBox="1"/>
          <p:nvPr/>
        </p:nvSpPr>
        <p:spPr>
          <a:xfrm>
            <a:off x="332740" y="5238192"/>
            <a:ext cx="2209800" cy="646331"/>
          </a:xfrm>
          <a:prstGeom prst="rect">
            <a:avLst/>
          </a:prstGeom>
          <a:noFill/>
        </p:spPr>
        <p:txBody>
          <a:bodyPr wrap="square">
            <a:spAutoFit/>
          </a:bodyPr>
          <a:lstStyle/>
          <a:p>
            <a:r>
              <a:rPr lang="en-US" sz="1800" dirty="0">
                <a:solidFill>
                  <a:srgbClr val="000000"/>
                </a:solidFill>
                <a:effectLst/>
                <a:latin typeface="Calibri" panose="020F0502020204030204" pitchFamily="34" charset="0"/>
                <a:ea typeface="SimSun" panose="02010600030101010101" pitchFamily="2" charset="-122"/>
                <a:cs typeface="Calibri" panose="020F0502020204030204" pitchFamily="34" charset="0"/>
              </a:rPr>
              <a:t>a strong correlation, </a:t>
            </a:r>
            <a:r>
              <a:rPr lang="en-US" sz="1800" i="1" dirty="0">
                <a:solidFill>
                  <a:srgbClr val="000000"/>
                </a:solidFill>
                <a:effectLst/>
                <a:latin typeface="Calibri" panose="020F0502020204030204" pitchFamily="34" charset="0"/>
                <a:ea typeface="SimSun" panose="02010600030101010101" pitchFamily="2" charset="-122"/>
                <a:cs typeface="Calibri" panose="020F0502020204030204" pitchFamily="34" charset="0"/>
              </a:rPr>
              <a:t>r</a:t>
            </a:r>
            <a:r>
              <a:rPr lang="en-US" sz="1800" dirty="0">
                <a:solidFill>
                  <a:srgbClr val="000000"/>
                </a:solidFill>
                <a:effectLst/>
                <a:latin typeface="Calibri" panose="020F0502020204030204" pitchFamily="34" charset="0"/>
                <a:ea typeface="SimSun" panose="02010600030101010101" pitchFamily="2" charset="-122"/>
                <a:cs typeface="Calibri" panose="020F0502020204030204" pitchFamily="34" charset="0"/>
              </a:rPr>
              <a:t>(14) = .78, </a:t>
            </a:r>
            <a:r>
              <a:rPr lang="en-US" sz="1800" i="1" dirty="0">
                <a:solidFill>
                  <a:srgbClr val="000000"/>
                </a:solidFill>
                <a:effectLst/>
                <a:latin typeface="Calibri" panose="020F0502020204030204" pitchFamily="34" charset="0"/>
                <a:ea typeface="SimSun" panose="02010600030101010101" pitchFamily="2" charset="-122"/>
                <a:cs typeface="Calibri" panose="020F0502020204030204" pitchFamily="34" charset="0"/>
              </a:rPr>
              <a:t>p</a:t>
            </a:r>
            <a:r>
              <a:rPr lang="en-US" sz="1800" dirty="0">
                <a:solidFill>
                  <a:srgbClr val="000000"/>
                </a:solidFill>
                <a:effectLst/>
                <a:latin typeface="Calibri" panose="020F0502020204030204" pitchFamily="34" charset="0"/>
                <a:ea typeface="SimSun" panose="02010600030101010101" pitchFamily="2" charset="-122"/>
                <a:cs typeface="Calibri" panose="020F0502020204030204" pitchFamily="34" charset="0"/>
              </a:rPr>
              <a:t> &lt; .001</a:t>
            </a:r>
            <a:endParaRPr lang="en-US" dirty="0">
              <a:latin typeface="Calibri" panose="020F0502020204030204" pitchFamily="34" charset="0"/>
              <a:cs typeface="Calibri" panose="020F0502020204030204" pitchFamily="34" charset="0"/>
            </a:endParaRPr>
          </a:p>
        </p:txBody>
      </p:sp>
      <p:sp>
        <p:nvSpPr>
          <p:cNvPr id="19" name="Arrow: Right 18">
            <a:extLst>
              <a:ext uri="{FF2B5EF4-FFF2-40B4-BE49-F238E27FC236}">
                <a16:creationId xmlns:a16="http://schemas.microsoft.com/office/drawing/2014/main" id="{91ED3DBC-373D-6CA9-188A-9A4E48FB1960}"/>
              </a:ext>
            </a:extLst>
          </p:cNvPr>
          <p:cNvSpPr/>
          <p:nvPr/>
        </p:nvSpPr>
        <p:spPr>
          <a:xfrm>
            <a:off x="2670662" y="5515638"/>
            <a:ext cx="382772" cy="45719"/>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101F4644-6B34-B3FA-8F9B-FF2CD3E18C5C}"/>
              </a:ext>
            </a:extLst>
          </p:cNvPr>
          <p:cNvSpPr txBox="1"/>
          <p:nvPr/>
        </p:nvSpPr>
        <p:spPr>
          <a:xfrm>
            <a:off x="3309678" y="5218101"/>
            <a:ext cx="4908698" cy="738664"/>
          </a:xfrm>
          <a:prstGeom prst="rect">
            <a:avLst/>
          </a:prstGeom>
          <a:noFill/>
        </p:spPr>
        <p:txBody>
          <a:bodyPr wrap="square">
            <a:spAutoFit/>
          </a:bodyPr>
          <a:lstStyle/>
          <a:p>
            <a:r>
              <a:rPr lang="en-US" sz="1400" dirty="0">
                <a:solidFill>
                  <a:srgbClr val="000000"/>
                </a:solidFill>
                <a:effectLst/>
                <a:latin typeface="Calibri" panose="020F0502020204030204" pitchFamily="34" charset="0"/>
                <a:ea typeface="SimSun" panose="02010600030101010101" pitchFamily="2" charset="-122"/>
                <a:cs typeface="Calibri" panose="020F0502020204030204" pitchFamily="34" charset="0"/>
              </a:rPr>
              <a:t>The tendency of participants to perform a last fixation toward the patient fish during patient search might in part, explain the agent advantage effect</a:t>
            </a: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01285629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420C031-F3DF-AA50-04F5-EF2F8E1546A4}"/>
              </a:ext>
            </a:extLst>
          </p:cNvPr>
          <p:cNvSpPr/>
          <p:nvPr/>
        </p:nvSpPr>
        <p:spPr>
          <a:xfrm>
            <a:off x="-662328" y="1032424"/>
            <a:ext cx="3877986" cy="707886"/>
          </a:xfrm>
          <a:prstGeom prst="rect">
            <a:avLst/>
          </a:prstGeom>
          <a:noFill/>
        </p:spPr>
        <p:txBody>
          <a:bodyPr wrap="square" lIns="91440" tIns="45720" rIns="91440" bIns="45720">
            <a:spAutoFit/>
          </a:bodyPr>
          <a:lstStyle/>
          <a:p>
            <a:pPr algn="ctr"/>
            <a:r>
              <a:rPr lang="en-US" sz="40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rPr>
              <a:t>Study 1</a:t>
            </a:r>
          </a:p>
        </p:txBody>
      </p:sp>
      <p:sp>
        <p:nvSpPr>
          <p:cNvPr id="5" name="TextBox 4">
            <a:extLst>
              <a:ext uri="{FF2B5EF4-FFF2-40B4-BE49-F238E27FC236}">
                <a16:creationId xmlns:a16="http://schemas.microsoft.com/office/drawing/2014/main" id="{1C3CE10E-37A7-4FD2-6FFE-C992EC920DC3}"/>
              </a:ext>
            </a:extLst>
          </p:cNvPr>
          <p:cNvSpPr txBox="1"/>
          <p:nvPr/>
        </p:nvSpPr>
        <p:spPr>
          <a:xfrm>
            <a:off x="449757" y="1743260"/>
            <a:ext cx="7992494" cy="4370427"/>
          </a:xfrm>
          <a:prstGeom prst="rect">
            <a:avLst/>
          </a:prstGeom>
          <a:noFill/>
        </p:spPr>
        <p:txBody>
          <a:bodyPr wrap="square" rtlCol="0">
            <a:spAutoFit/>
          </a:bodyPr>
          <a:lstStyle/>
          <a:p>
            <a:r>
              <a:rPr lang="en-US" sz="2000" dirty="0">
                <a:solidFill>
                  <a:srgbClr val="000000"/>
                </a:solidFill>
                <a:latin typeface="Calibri" panose="020F0502020204030204" pitchFamily="34" charset="0"/>
                <a:ea typeface="SimSun" panose="02010600030101010101" pitchFamily="2" charset="-122"/>
                <a:cs typeface="Calibri" panose="020F0502020204030204" pitchFamily="34" charset="0"/>
              </a:rPr>
              <a:t>Conclusion of study 1:</a:t>
            </a:r>
          </a:p>
          <a:p>
            <a:br>
              <a:rPr lang="en-US" sz="2000" dirty="0">
                <a:solidFill>
                  <a:srgbClr val="000000"/>
                </a:solidFill>
                <a:latin typeface="Calibri" panose="020F0502020204030204" pitchFamily="34" charset="0"/>
                <a:ea typeface="SimSun" panose="02010600030101010101" pitchFamily="2" charset="-122"/>
                <a:cs typeface="Calibri" panose="020F0502020204030204" pitchFamily="34" charset="0"/>
              </a:rPr>
            </a:br>
            <a:r>
              <a:rPr lang="en-GB" dirty="0">
                <a:solidFill>
                  <a:srgbClr val="000000"/>
                </a:solidFill>
                <a:latin typeface="Calibri" panose="020F0502020204030204" pitchFamily="34" charset="0"/>
                <a:ea typeface="SimSun" panose="02010600030101010101" pitchFamily="2" charset="-122"/>
                <a:cs typeface="Calibri" panose="020F0502020204030204" pitchFamily="34" charset="0"/>
              </a:rPr>
              <a:t>W</a:t>
            </a:r>
            <a:r>
              <a:rPr lang="en-GB" sz="1800" dirty="0">
                <a:effectLst/>
                <a:latin typeface="Calibri" panose="020F0502020204030204" pitchFamily="34" charset="0"/>
                <a:ea typeface="SimSun" panose="02010600030101010101" pitchFamily="2" charset="-122"/>
                <a:cs typeface="Calibri" panose="020F0502020204030204" pitchFamily="34" charset="0"/>
              </a:rPr>
              <a:t>e observed faster reaction times when participants searched for the agent than when participants searched for the patient, thus replicating the </a:t>
            </a:r>
            <a:r>
              <a:rPr lang="en-GB" sz="1800" dirty="0">
                <a:solidFill>
                  <a:srgbClr val="000000"/>
                </a:solidFill>
                <a:effectLst/>
                <a:latin typeface="Calibri" panose="020F0502020204030204" pitchFamily="34" charset="0"/>
                <a:ea typeface="SimSun" panose="02010600030101010101" pitchFamily="2" charset="-122"/>
                <a:cs typeface="Calibri" panose="020F0502020204030204" pitchFamily="34" charset="0"/>
              </a:rPr>
              <a:t>agent advantage effect </a:t>
            </a:r>
            <a:r>
              <a:rPr lang="en-GB" sz="1800" dirty="0" err="1">
                <a:solidFill>
                  <a:srgbClr val="000000"/>
                </a:solidFill>
                <a:effectLst/>
                <a:latin typeface="Calibri" panose="020F0502020204030204" pitchFamily="34" charset="0"/>
                <a:ea typeface="SimSun" panose="02010600030101010101" pitchFamily="2" charset="-122"/>
                <a:cs typeface="Calibri" panose="020F0502020204030204" pitchFamily="34" charset="0"/>
              </a:rPr>
              <a:t>Segalowitz</a:t>
            </a:r>
            <a:r>
              <a:rPr lang="en-GB" sz="1800" dirty="0">
                <a:solidFill>
                  <a:srgbClr val="000000"/>
                </a:solidFill>
                <a:effectLst/>
                <a:latin typeface="Calibri" panose="020F0502020204030204" pitchFamily="34" charset="0"/>
                <a:ea typeface="SimSun" panose="02010600030101010101" pitchFamily="2" charset="-122"/>
                <a:cs typeface="Calibri" panose="020F0502020204030204" pitchFamily="34" charset="0"/>
              </a:rPr>
              <a:t> (1982).</a:t>
            </a:r>
          </a:p>
          <a:p>
            <a:endParaRPr lang="en-GB" sz="2000" dirty="0">
              <a:solidFill>
                <a:srgbClr val="000000"/>
              </a:solidFill>
              <a:latin typeface="Calibri" panose="020F0502020204030204" pitchFamily="34" charset="0"/>
              <a:ea typeface="SimSun" panose="02010600030101010101" pitchFamily="2" charset="-122"/>
              <a:cs typeface="Calibri" panose="020F0502020204030204" pitchFamily="34" charset="0"/>
            </a:endParaRPr>
          </a:p>
          <a:p>
            <a:r>
              <a:rPr lang="en-GB" sz="1800" dirty="0">
                <a:solidFill>
                  <a:srgbClr val="000000"/>
                </a:solidFill>
                <a:effectLst/>
                <a:latin typeface="Calibri" panose="020F0502020204030204" pitchFamily="34" charset="0"/>
                <a:ea typeface="SimSun" panose="02010600030101010101" pitchFamily="2" charset="-122"/>
                <a:cs typeface="Calibri" panose="020F0502020204030204" pitchFamily="34" charset="0"/>
              </a:rPr>
              <a:t>Regarding eye movements, we observed that participants’ last fixation </a:t>
            </a:r>
            <a:r>
              <a:rPr lang="en-US" sz="1800" dirty="0">
                <a:solidFill>
                  <a:srgbClr val="000000"/>
                </a:solidFill>
                <a:effectLst/>
                <a:latin typeface="Calibri" panose="020F0502020204030204" pitchFamily="34" charset="0"/>
                <a:ea typeface="SimSun" panose="02010600030101010101" pitchFamily="2" charset="-122"/>
                <a:cs typeface="Calibri" panose="020F0502020204030204" pitchFamily="34" charset="0"/>
              </a:rPr>
              <a:t>landed on one of the two fish </a:t>
            </a:r>
            <a:r>
              <a:rPr lang="en-GB" sz="1800" dirty="0">
                <a:solidFill>
                  <a:srgbClr val="000000"/>
                </a:solidFill>
                <a:effectLst/>
                <a:latin typeface="Calibri" panose="020F0502020204030204" pitchFamily="34" charset="0"/>
                <a:ea typeface="SimSun" panose="02010600030101010101" pitchFamily="2" charset="-122"/>
                <a:cs typeface="Calibri" panose="020F0502020204030204" pitchFamily="34" charset="0"/>
              </a:rPr>
              <a:t>before they </a:t>
            </a:r>
            <a:r>
              <a:rPr lang="en-GB" sz="1800" dirty="0">
                <a:effectLst/>
                <a:latin typeface="Calibri" panose="020F0502020204030204" pitchFamily="34" charset="0"/>
                <a:ea typeface="SimSun" panose="02010600030101010101" pitchFamily="2" charset="-122"/>
                <a:cs typeface="Calibri" panose="020F0502020204030204" pitchFamily="34" charset="0"/>
              </a:rPr>
              <a:t>made their decisions was preferentially directed toward the </a:t>
            </a:r>
            <a:r>
              <a:rPr lang="en-GB" sz="1800" dirty="0">
                <a:solidFill>
                  <a:srgbClr val="FF0000"/>
                </a:solidFill>
                <a:effectLst/>
                <a:latin typeface="Calibri" panose="020F0502020204030204" pitchFamily="34" charset="0"/>
                <a:ea typeface="SimSun" panose="02010600030101010101" pitchFamily="2" charset="-122"/>
                <a:cs typeface="Calibri" panose="020F0502020204030204" pitchFamily="34" charset="0"/>
              </a:rPr>
              <a:t>patient fish</a:t>
            </a:r>
            <a:r>
              <a:rPr lang="en-GB" sz="1800" dirty="0">
                <a:effectLst/>
                <a:latin typeface="Calibri" panose="020F0502020204030204" pitchFamily="34" charset="0"/>
                <a:ea typeface="SimSun" panose="02010600030101010101" pitchFamily="2" charset="-122"/>
                <a:cs typeface="Calibri" panose="020F0502020204030204" pitchFamily="34" charset="0"/>
              </a:rPr>
              <a:t> rather than the agent fish during the </a:t>
            </a:r>
            <a:r>
              <a:rPr lang="en-GB" sz="1800" dirty="0">
                <a:solidFill>
                  <a:srgbClr val="FF0000"/>
                </a:solidFill>
                <a:effectLst/>
                <a:latin typeface="Calibri" panose="020F0502020204030204" pitchFamily="34" charset="0"/>
                <a:ea typeface="SimSun" panose="02010600030101010101" pitchFamily="2" charset="-122"/>
                <a:cs typeface="Calibri" panose="020F0502020204030204" pitchFamily="34" charset="0"/>
              </a:rPr>
              <a:t>patient search</a:t>
            </a:r>
            <a:r>
              <a:rPr lang="en-GB" sz="1800" dirty="0">
                <a:effectLst/>
                <a:latin typeface="Calibri" panose="020F0502020204030204" pitchFamily="34" charset="0"/>
                <a:ea typeface="SimSun" panose="02010600030101010101" pitchFamily="2" charset="-122"/>
                <a:cs typeface="Calibri" panose="020F0502020204030204" pitchFamily="34" charset="0"/>
              </a:rPr>
              <a:t>. </a:t>
            </a:r>
            <a:r>
              <a:rPr lang="en-GB" dirty="0">
                <a:latin typeface="Calibri" panose="020F0502020204030204" pitchFamily="34" charset="0"/>
                <a:ea typeface="SimSun" panose="02010600030101010101" pitchFamily="2" charset="-122"/>
                <a:cs typeface="Calibri" panose="020F0502020204030204" pitchFamily="34" charset="0"/>
              </a:rPr>
              <a:t>T</a:t>
            </a:r>
            <a:r>
              <a:rPr lang="en-GB" sz="1800" dirty="0">
                <a:effectLst/>
                <a:latin typeface="Calibri" panose="020F0502020204030204" pitchFamily="34" charset="0"/>
                <a:ea typeface="SimSun" panose="02010600030101010101" pitchFamily="2" charset="-122"/>
                <a:cs typeface="Calibri" panose="020F0502020204030204" pitchFamily="34" charset="0"/>
              </a:rPr>
              <a:t>here was no bias in the agent search.</a:t>
            </a:r>
          </a:p>
          <a:p>
            <a:endParaRPr lang="en-GB" dirty="0">
              <a:latin typeface="Calibri" panose="020F0502020204030204" pitchFamily="34" charset="0"/>
              <a:ea typeface="SimSun" panose="02010600030101010101" pitchFamily="2" charset="-122"/>
              <a:cs typeface="Calibri" panose="020F0502020204030204" pitchFamily="34" charset="0"/>
            </a:endParaRPr>
          </a:p>
          <a:p>
            <a:r>
              <a:rPr lang="en-GB" sz="1800" dirty="0">
                <a:effectLst/>
                <a:latin typeface="Calibri" panose="020F0502020204030204" pitchFamily="34" charset="0"/>
                <a:ea typeface="SimSun" panose="02010600030101010101" pitchFamily="2" charset="-122"/>
                <a:cs typeface="Calibri" panose="020F0502020204030204" pitchFamily="34" charset="0"/>
              </a:rPr>
              <a:t>We also observed a strong correlation between the impact of the search task on reaction times and the impact of the search task on participants’ eye movements during the last fixation.</a:t>
            </a:r>
            <a:br>
              <a:rPr lang="en-US" sz="2000" dirty="0">
                <a:solidFill>
                  <a:srgbClr val="000000"/>
                </a:solidFill>
                <a:latin typeface="Calibri" panose="020F0502020204030204" pitchFamily="34" charset="0"/>
                <a:ea typeface="SimSun" panose="02010600030101010101" pitchFamily="2" charset="-122"/>
                <a:cs typeface="Calibri" panose="020F0502020204030204" pitchFamily="34" charset="0"/>
              </a:rPr>
            </a:br>
            <a:endParaRPr lang="en-US" sz="2000" dirty="0">
              <a:solidFill>
                <a:srgbClr val="000000"/>
              </a:solidFill>
              <a:latin typeface="Calibri" panose="020F0502020204030204" pitchFamily="34" charset="0"/>
              <a:ea typeface="SimSun" panose="02010600030101010101" pitchFamily="2" charset="-122"/>
              <a:cs typeface="Calibri" panose="020F0502020204030204" pitchFamily="34" charset="0"/>
            </a:endParaRPr>
          </a:p>
        </p:txBody>
      </p:sp>
    </p:spTree>
    <p:extLst>
      <p:ext uri="{BB962C8B-B14F-4D97-AF65-F5344CB8AC3E}">
        <p14:creationId xmlns:p14="http://schemas.microsoft.com/office/powerpoint/2010/main" val="34585939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420C031-F3DF-AA50-04F5-EF2F8E1546A4}"/>
              </a:ext>
            </a:extLst>
          </p:cNvPr>
          <p:cNvSpPr/>
          <p:nvPr/>
        </p:nvSpPr>
        <p:spPr>
          <a:xfrm>
            <a:off x="-574158" y="1032424"/>
            <a:ext cx="3789816" cy="707886"/>
          </a:xfrm>
          <a:prstGeom prst="rect">
            <a:avLst/>
          </a:prstGeom>
          <a:noFill/>
        </p:spPr>
        <p:txBody>
          <a:bodyPr wrap="square" lIns="91440" tIns="45720" rIns="91440" bIns="45720">
            <a:spAutoFit/>
          </a:bodyPr>
          <a:lstStyle/>
          <a:p>
            <a:pPr algn="ctr"/>
            <a:r>
              <a:rPr lang="en-US" sz="40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rPr>
              <a:t>Study 2</a:t>
            </a:r>
          </a:p>
        </p:txBody>
      </p:sp>
      <p:sp>
        <p:nvSpPr>
          <p:cNvPr id="2" name="TextBox 1">
            <a:extLst>
              <a:ext uri="{FF2B5EF4-FFF2-40B4-BE49-F238E27FC236}">
                <a16:creationId xmlns:a16="http://schemas.microsoft.com/office/drawing/2014/main" id="{AC7DFE7E-9BEF-2754-11E7-78070F7F501F}"/>
              </a:ext>
            </a:extLst>
          </p:cNvPr>
          <p:cNvSpPr txBox="1"/>
          <p:nvPr/>
        </p:nvSpPr>
        <p:spPr>
          <a:xfrm>
            <a:off x="484783" y="2615827"/>
            <a:ext cx="2476323" cy="1384995"/>
          </a:xfrm>
          <a:prstGeom prst="rect">
            <a:avLst/>
          </a:prstGeom>
          <a:noFill/>
        </p:spPr>
        <p:txBody>
          <a:bodyPr wrap="square" rtlCol="0">
            <a:spAutoFit/>
          </a:bodyPr>
          <a:lstStyle/>
          <a:p>
            <a:r>
              <a:rPr lang="en-US" sz="2800" b="1" dirty="0">
                <a:solidFill>
                  <a:srgbClr val="000000"/>
                </a:solidFill>
                <a:latin typeface="Calibri" panose="020F0502020204030204" pitchFamily="34" charset="0"/>
                <a:ea typeface="SimSun" panose="02010600030101010101" pitchFamily="2" charset="-122"/>
                <a:cs typeface="Calibri" panose="020F0502020204030204" pitchFamily="34" charset="0"/>
              </a:rPr>
              <a:t>Experiment 1</a:t>
            </a:r>
          </a:p>
          <a:p>
            <a:br>
              <a:rPr lang="en-US" sz="2800" b="1" dirty="0">
                <a:solidFill>
                  <a:srgbClr val="000000"/>
                </a:solidFill>
                <a:latin typeface="Calibri" panose="020F0502020204030204" pitchFamily="34" charset="0"/>
                <a:ea typeface="SimSun" panose="02010600030101010101" pitchFamily="2" charset="-122"/>
                <a:cs typeface="Calibri" panose="020F0502020204030204" pitchFamily="34" charset="0"/>
              </a:rPr>
            </a:br>
            <a:endParaRPr lang="en-US" sz="2800" b="1" dirty="0">
              <a:solidFill>
                <a:srgbClr val="000000"/>
              </a:solidFill>
              <a:latin typeface="Calibri" panose="020F0502020204030204" pitchFamily="34" charset="0"/>
              <a:ea typeface="SimSun" panose="02010600030101010101" pitchFamily="2" charset="-122"/>
              <a:cs typeface="Calibri" panose="020F0502020204030204" pitchFamily="34" charset="0"/>
            </a:endParaRPr>
          </a:p>
        </p:txBody>
      </p:sp>
      <p:sp>
        <p:nvSpPr>
          <p:cNvPr id="6" name="TextBox 5">
            <a:extLst>
              <a:ext uri="{FF2B5EF4-FFF2-40B4-BE49-F238E27FC236}">
                <a16:creationId xmlns:a16="http://schemas.microsoft.com/office/drawing/2014/main" id="{403BAAFF-6365-5369-AE33-F1D5BCF30081}"/>
              </a:ext>
            </a:extLst>
          </p:cNvPr>
          <p:cNvSpPr txBox="1"/>
          <p:nvPr/>
        </p:nvSpPr>
        <p:spPr>
          <a:xfrm>
            <a:off x="484782" y="4273336"/>
            <a:ext cx="2476323" cy="1384995"/>
          </a:xfrm>
          <a:prstGeom prst="rect">
            <a:avLst/>
          </a:prstGeom>
          <a:noFill/>
        </p:spPr>
        <p:txBody>
          <a:bodyPr wrap="square" rtlCol="0">
            <a:spAutoFit/>
          </a:bodyPr>
          <a:lstStyle/>
          <a:p>
            <a:r>
              <a:rPr lang="en-US" sz="2800" b="1" dirty="0">
                <a:solidFill>
                  <a:srgbClr val="000000"/>
                </a:solidFill>
                <a:latin typeface="Calibri" panose="020F0502020204030204" pitchFamily="34" charset="0"/>
                <a:ea typeface="SimSun" panose="02010600030101010101" pitchFamily="2" charset="-122"/>
                <a:cs typeface="Calibri" panose="020F0502020204030204" pitchFamily="34" charset="0"/>
              </a:rPr>
              <a:t>Experiment 2</a:t>
            </a:r>
          </a:p>
          <a:p>
            <a:br>
              <a:rPr lang="en-US" sz="2800" b="1" dirty="0">
                <a:solidFill>
                  <a:srgbClr val="000000"/>
                </a:solidFill>
                <a:latin typeface="Calibri" panose="020F0502020204030204" pitchFamily="34" charset="0"/>
                <a:ea typeface="SimSun" panose="02010600030101010101" pitchFamily="2" charset="-122"/>
                <a:cs typeface="Calibri" panose="020F0502020204030204" pitchFamily="34" charset="0"/>
              </a:rPr>
            </a:br>
            <a:endParaRPr lang="en-US" sz="2800" b="1" dirty="0">
              <a:solidFill>
                <a:srgbClr val="000000"/>
              </a:solidFill>
              <a:latin typeface="Calibri" panose="020F0502020204030204" pitchFamily="34" charset="0"/>
              <a:ea typeface="SimSun" panose="02010600030101010101" pitchFamily="2" charset="-122"/>
              <a:cs typeface="Calibri" panose="020F0502020204030204" pitchFamily="34" charset="0"/>
            </a:endParaRPr>
          </a:p>
        </p:txBody>
      </p:sp>
      <p:sp>
        <p:nvSpPr>
          <p:cNvPr id="14" name="TextBox 13">
            <a:extLst>
              <a:ext uri="{FF2B5EF4-FFF2-40B4-BE49-F238E27FC236}">
                <a16:creationId xmlns:a16="http://schemas.microsoft.com/office/drawing/2014/main" id="{B1D19798-8190-F421-6921-9240F2764B77}"/>
              </a:ext>
            </a:extLst>
          </p:cNvPr>
          <p:cNvSpPr txBox="1"/>
          <p:nvPr/>
        </p:nvSpPr>
        <p:spPr>
          <a:xfrm>
            <a:off x="484783" y="4781167"/>
            <a:ext cx="2923794" cy="369332"/>
          </a:xfrm>
          <a:prstGeom prst="rect">
            <a:avLst/>
          </a:prstGeom>
          <a:noFill/>
        </p:spPr>
        <p:txBody>
          <a:bodyPr wrap="square">
            <a:spAutoFit/>
          </a:bodyPr>
          <a:lstStyle/>
          <a:p>
            <a:r>
              <a:rPr lang="en-US" sz="1800" dirty="0">
                <a:effectLst/>
                <a:latin typeface="Calibri" panose="020F0502020204030204" pitchFamily="34" charset="0"/>
                <a:ea typeface="Times New Roman" panose="02020603050405020304" pitchFamily="18" charset="0"/>
                <a:cs typeface="Calibri" panose="020F0502020204030204" pitchFamily="34" charset="0"/>
              </a:rPr>
              <a:t>orthogonal motion lines </a:t>
            </a:r>
            <a:endParaRPr lang="en-US" dirty="0">
              <a:latin typeface="Calibri" panose="020F0502020204030204" pitchFamily="34" charset="0"/>
              <a:cs typeface="Calibri" panose="020F0502020204030204" pitchFamily="34" charset="0"/>
            </a:endParaRPr>
          </a:p>
        </p:txBody>
      </p:sp>
      <p:sp>
        <p:nvSpPr>
          <p:cNvPr id="15" name="TextBox 14">
            <a:extLst>
              <a:ext uri="{FF2B5EF4-FFF2-40B4-BE49-F238E27FC236}">
                <a16:creationId xmlns:a16="http://schemas.microsoft.com/office/drawing/2014/main" id="{FA944BFA-A250-BAFD-1F8A-86877AFF08EF}"/>
              </a:ext>
            </a:extLst>
          </p:cNvPr>
          <p:cNvSpPr txBox="1"/>
          <p:nvPr/>
        </p:nvSpPr>
        <p:spPr>
          <a:xfrm>
            <a:off x="484783" y="3059668"/>
            <a:ext cx="2923794" cy="369332"/>
          </a:xfrm>
          <a:prstGeom prst="rect">
            <a:avLst/>
          </a:prstGeom>
          <a:noFill/>
        </p:spPr>
        <p:txBody>
          <a:bodyPr wrap="square">
            <a:spAutoFit/>
          </a:bodyPr>
          <a:lstStyle/>
          <a:p>
            <a:r>
              <a:rPr lang="en-US" sz="1800" dirty="0">
                <a:effectLst/>
                <a:latin typeface="Calibri" panose="020F0502020204030204" pitchFamily="34" charset="0"/>
                <a:ea typeface="Times New Roman" panose="02020603050405020304" pitchFamily="18" charset="0"/>
                <a:cs typeface="Calibri" panose="020F0502020204030204" pitchFamily="34" charset="0"/>
              </a:rPr>
              <a:t>parallel motion lines </a:t>
            </a:r>
            <a:endParaRPr lang="en-US" dirty="0">
              <a:latin typeface="Calibri" panose="020F0502020204030204" pitchFamily="34" charset="0"/>
              <a:cs typeface="Calibri" panose="020F0502020204030204" pitchFamily="34" charset="0"/>
            </a:endParaRPr>
          </a:p>
        </p:txBody>
      </p:sp>
      <p:sp>
        <p:nvSpPr>
          <p:cNvPr id="17" name="TextBox 16">
            <a:extLst>
              <a:ext uri="{FF2B5EF4-FFF2-40B4-BE49-F238E27FC236}">
                <a16:creationId xmlns:a16="http://schemas.microsoft.com/office/drawing/2014/main" id="{CD6F10AE-CA76-924A-AD26-44DA55DDD818}"/>
              </a:ext>
            </a:extLst>
          </p:cNvPr>
          <p:cNvSpPr txBox="1"/>
          <p:nvPr/>
        </p:nvSpPr>
        <p:spPr>
          <a:xfrm>
            <a:off x="484783" y="1807602"/>
            <a:ext cx="7988072" cy="671915"/>
          </a:xfrm>
          <a:prstGeom prst="rect">
            <a:avLst/>
          </a:prstGeom>
          <a:noFill/>
        </p:spPr>
        <p:txBody>
          <a:bodyPr wrap="square">
            <a:spAutoFit/>
          </a:bodyPr>
          <a:lstStyle/>
          <a:p>
            <a:pPr marL="0" marR="0">
              <a:lnSpc>
                <a:spcPct val="107000"/>
              </a:lnSpc>
              <a:spcBef>
                <a:spcPts val="0"/>
              </a:spcBef>
              <a:spcAft>
                <a:spcPts val="800"/>
              </a:spcAft>
            </a:pPr>
            <a:r>
              <a:rPr lang="en-US" dirty="0">
                <a:latin typeface="Calibri" panose="020F0502020204030204" pitchFamily="34" charset="0"/>
                <a:ea typeface="Times New Roman" panose="02020603050405020304" pitchFamily="18" charset="0"/>
                <a:cs typeface="Calibri" panose="020F0502020204030204" pitchFamily="34" charset="0"/>
              </a:rPr>
              <a:t>W</a:t>
            </a:r>
            <a:r>
              <a:rPr lang="en-US" sz="1800" dirty="0">
                <a:effectLst/>
                <a:latin typeface="Calibri" panose="020F0502020204030204" pitchFamily="34" charset="0"/>
                <a:ea typeface="Times New Roman" panose="02020603050405020304" pitchFamily="18" charset="0"/>
                <a:cs typeface="Calibri" panose="020F0502020204030204" pitchFamily="34" charset="0"/>
              </a:rPr>
              <a:t>e investigate whether the presence of motion lines behind the agent or patient impacts the agent advantage effect.</a:t>
            </a:r>
            <a:endParaRPr lang="en-US" sz="1600" dirty="0">
              <a:effectLst/>
              <a:latin typeface="Calibri" panose="020F0502020204030204" pitchFamily="34" charset="0"/>
              <a:ea typeface="SimSun" panose="02010600030101010101" pitchFamily="2" charset="-122"/>
              <a:cs typeface="Calibri" panose="020F0502020204030204" pitchFamily="34" charset="0"/>
            </a:endParaRPr>
          </a:p>
        </p:txBody>
      </p:sp>
      <p:pic>
        <p:nvPicPr>
          <p:cNvPr id="18" name="Picture 17">
            <a:extLst>
              <a:ext uri="{FF2B5EF4-FFF2-40B4-BE49-F238E27FC236}">
                <a16:creationId xmlns:a16="http://schemas.microsoft.com/office/drawing/2014/main" id="{BBECC207-FD4F-9639-6CDA-0033DCEF2781}"/>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16488" b="29764"/>
          <a:stretch/>
        </p:blipFill>
        <p:spPr bwMode="auto">
          <a:xfrm>
            <a:off x="2745744" y="2403125"/>
            <a:ext cx="5979362" cy="1810398"/>
          </a:xfrm>
          <a:prstGeom prst="rect">
            <a:avLst/>
          </a:prstGeom>
          <a:noFill/>
          <a:ln>
            <a:noFill/>
          </a:ln>
          <a:extLst>
            <a:ext uri="{53640926-AAD7-44D8-BBD7-CCE9431645EC}">
              <a14:shadowObscured xmlns:a14="http://schemas.microsoft.com/office/drawing/2010/main"/>
            </a:ext>
          </a:extLst>
        </p:spPr>
      </p:pic>
      <p:pic>
        <p:nvPicPr>
          <p:cNvPr id="19" name="Picture 18">
            <a:extLst>
              <a:ext uri="{FF2B5EF4-FFF2-40B4-BE49-F238E27FC236}">
                <a16:creationId xmlns:a16="http://schemas.microsoft.com/office/drawing/2014/main" id="{E3C4D4F1-AB7A-03E5-BC81-9CCC41527FEC}"/>
              </a:ext>
            </a:extLst>
          </p:cNvPr>
          <p:cNvPicPr>
            <a:picLocks noChangeAspect="1"/>
          </p:cNvPicPr>
          <p:nvPr/>
        </p:nvPicPr>
        <p:blipFill>
          <a:blip r:embed="rId3">
            <a:extLst>
              <a:ext uri="{28A0092B-C50C-407E-A947-70E740481C1C}">
                <a14:useLocalDpi xmlns:a14="http://schemas.microsoft.com/office/drawing/2010/main" val="0"/>
              </a:ext>
            </a:extLst>
          </a:blip>
          <a:srcRect t="4664" b="4664"/>
          <a:stretch>
            <a:fillRect/>
          </a:stretch>
        </p:blipFill>
        <p:spPr bwMode="auto">
          <a:xfrm>
            <a:off x="2805322" y="4213523"/>
            <a:ext cx="5667533" cy="1715984"/>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2352876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420C031-F3DF-AA50-04F5-EF2F8E1546A4}"/>
              </a:ext>
            </a:extLst>
          </p:cNvPr>
          <p:cNvSpPr/>
          <p:nvPr/>
        </p:nvSpPr>
        <p:spPr>
          <a:xfrm>
            <a:off x="-574158" y="1032424"/>
            <a:ext cx="3789816" cy="707886"/>
          </a:xfrm>
          <a:prstGeom prst="rect">
            <a:avLst/>
          </a:prstGeom>
          <a:noFill/>
        </p:spPr>
        <p:txBody>
          <a:bodyPr wrap="square" lIns="91440" tIns="45720" rIns="91440" bIns="45720">
            <a:spAutoFit/>
          </a:bodyPr>
          <a:lstStyle/>
          <a:p>
            <a:pPr algn="ctr"/>
            <a:r>
              <a:rPr lang="en-US" sz="40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rPr>
              <a:t>Study 2</a:t>
            </a:r>
          </a:p>
        </p:txBody>
      </p:sp>
      <p:sp>
        <p:nvSpPr>
          <p:cNvPr id="5" name="TextBox 4">
            <a:extLst>
              <a:ext uri="{FF2B5EF4-FFF2-40B4-BE49-F238E27FC236}">
                <a16:creationId xmlns:a16="http://schemas.microsoft.com/office/drawing/2014/main" id="{1C3CE10E-37A7-4FD2-6FFE-C992EC920DC3}"/>
              </a:ext>
            </a:extLst>
          </p:cNvPr>
          <p:cNvSpPr txBox="1"/>
          <p:nvPr/>
        </p:nvSpPr>
        <p:spPr>
          <a:xfrm>
            <a:off x="449757" y="1743260"/>
            <a:ext cx="7992494" cy="5078313"/>
          </a:xfrm>
          <a:prstGeom prst="rect">
            <a:avLst/>
          </a:prstGeom>
          <a:noFill/>
        </p:spPr>
        <p:txBody>
          <a:bodyPr wrap="square" rtlCol="0">
            <a:spAutoFit/>
          </a:bodyPr>
          <a:lstStyle/>
          <a:p>
            <a:r>
              <a:rPr lang="en-US" dirty="0">
                <a:solidFill>
                  <a:srgbClr val="000000"/>
                </a:solidFill>
                <a:latin typeface="Calibri" panose="020F0502020204030204" pitchFamily="34" charset="0"/>
                <a:ea typeface="SimSun" panose="02010600030101010101" pitchFamily="2" charset="-122"/>
                <a:cs typeface="Calibri" panose="020F0502020204030204" pitchFamily="34" charset="0"/>
              </a:rPr>
              <a:t>Research question:</a:t>
            </a:r>
          </a:p>
          <a:p>
            <a:r>
              <a:rPr lang="en-US" dirty="0">
                <a:solidFill>
                  <a:srgbClr val="000000"/>
                </a:solidFill>
                <a:latin typeface="Calibri" panose="020F0502020204030204" pitchFamily="34" charset="0"/>
                <a:ea typeface="SimSun" panose="02010600030101010101" pitchFamily="2" charset="-122"/>
                <a:cs typeface="Calibri" panose="020F0502020204030204" pitchFamily="34" charset="0"/>
              </a:rPr>
              <a:t>        With the present experiment, we investigate whether the presence of motion lines behind the agent or patient impacts the agent advantage effect.</a:t>
            </a:r>
          </a:p>
          <a:p>
            <a:endParaRPr lang="en-US" dirty="0">
              <a:solidFill>
                <a:srgbClr val="000000"/>
              </a:solidFill>
              <a:latin typeface="Calibri" panose="020F0502020204030204" pitchFamily="34" charset="0"/>
              <a:ea typeface="SimSun" panose="02010600030101010101" pitchFamily="2" charset="-122"/>
              <a:cs typeface="Calibri" panose="020F0502020204030204" pitchFamily="34" charset="0"/>
            </a:endParaRPr>
          </a:p>
          <a:p>
            <a:r>
              <a:rPr lang="en-US" dirty="0">
                <a:solidFill>
                  <a:srgbClr val="000000"/>
                </a:solidFill>
                <a:latin typeface="Calibri" panose="020F0502020204030204" pitchFamily="34" charset="0"/>
                <a:ea typeface="SimSun" panose="02010600030101010101" pitchFamily="2" charset="-122"/>
                <a:cs typeface="Calibri" panose="020F0502020204030204" pitchFamily="34" charset="0"/>
              </a:rPr>
              <a:t>Hypotheses:</a:t>
            </a:r>
          </a:p>
          <a:p>
            <a:r>
              <a:rPr lang="en-US" dirty="0">
                <a:solidFill>
                  <a:srgbClr val="000000"/>
                </a:solidFill>
                <a:latin typeface="Calibri" panose="020F0502020204030204" pitchFamily="34" charset="0"/>
                <a:ea typeface="SimSun" panose="02010600030101010101" pitchFamily="2" charset="-122"/>
                <a:cs typeface="Calibri" panose="020F0502020204030204" pitchFamily="34" charset="0"/>
              </a:rPr>
              <a:t>         1.) For the stimuli without motion lines, we predict to replicate the agent advantage effect as reported by </a:t>
            </a:r>
            <a:r>
              <a:rPr lang="en-US" dirty="0" err="1">
                <a:solidFill>
                  <a:srgbClr val="000000"/>
                </a:solidFill>
                <a:latin typeface="Calibri" panose="020F0502020204030204" pitchFamily="34" charset="0"/>
                <a:ea typeface="SimSun" panose="02010600030101010101" pitchFamily="2" charset="-122"/>
                <a:cs typeface="Calibri" panose="020F0502020204030204" pitchFamily="34" charset="0"/>
              </a:rPr>
              <a:t>Segalowitz</a:t>
            </a:r>
            <a:r>
              <a:rPr lang="en-US" dirty="0">
                <a:solidFill>
                  <a:srgbClr val="000000"/>
                </a:solidFill>
                <a:latin typeface="Calibri" panose="020F0502020204030204" pitchFamily="34" charset="0"/>
                <a:ea typeface="SimSun" panose="02010600030101010101" pitchFamily="2" charset="-122"/>
                <a:cs typeface="Calibri" panose="020F0502020204030204" pitchFamily="34" charset="0"/>
              </a:rPr>
              <a:t> (1982). Thus, participants should respond faster when locating the agent than when locating the patient.</a:t>
            </a:r>
          </a:p>
          <a:p>
            <a:endParaRPr lang="en-US" dirty="0">
              <a:solidFill>
                <a:srgbClr val="000000"/>
              </a:solidFill>
              <a:latin typeface="Calibri" panose="020F0502020204030204" pitchFamily="34" charset="0"/>
              <a:ea typeface="SimSun" panose="02010600030101010101" pitchFamily="2" charset="-122"/>
              <a:cs typeface="Calibri" panose="020F0502020204030204" pitchFamily="34" charset="0"/>
            </a:endParaRPr>
          </a:p>
          <a:p>
            <a:r>
              <a:rPr lang="en-US" dirty="0">
                <a:solidFill>
                  <a:srgbClr val="000000"/>
                </a:solidFill>
                <a:latin typeface="Calibri" panose="020F0502020204030204" pitchFamily="34" charset="0"/>
                <a:ea typeface="SimSun" panose="02010600030101010101" pitchFamily="2" charset="-122"/>
                <a:cs typeface="Calibri" panose="020F0502020204030204" pitchFamily="34" charset="0"/>
              </a:rPr>
              <a:t>        2.) If the presence of motion lines behind the agent impacts the agent advantage effect, we should see an interaction of search tasks (agent search, patient search) and agent motion lines (with, without). </a:t>
            </a:r>
          </a:p>
          <a:p>
            <a:endParaRPr lang="en-US" dirty="0">
              <a:solidFill>
                <a:srgbClr val="000000"/>
              </a:solidFill>
              <a:latin typeface="Calibri" panose="020F0502020204030204" pitchFamily="34" charset="0"/>
              <a:ea typeface="SimSun" panose="02010600030101010101" pitchFamily="2" charset="-122"/>
              <a:cs typeface="Calibri" panose="020F0502020204030204" pitchFamily="34" charset="0"/>
            </a:endParaRPr>
          </a:p>
          <a:p>
            <a:r>
              <a:rPr lang="en-US" dirty="0">
                <a:solidFill>
                  <a:srgbClr val="000000"/>
                </a:solidFill>
                <a:latin typeface="Calibri" panose="020F0502020204030204" pitchFamily="34" charset="0"/>
                <a:ea typeface="SimSun" panose="02010600030101010101" pitchFamily="2" charset="-122"/>
                <a:cs typeface="Calibri" panose="020F0502020204030204" pitchFamily="34" charset="0"/>
              </a:rPr>
              <a:t>        3.) If the presence of motion lines behind the patient impacts the agent advantage effect, we should see an interaction of search tasks (agent search, patient search) and patient motion lines (with, without). </a:t>
            </a:r>
          </a:p>
          <a:p>
            <a:br>
              <a:rPr lang="en-US" dirty="0">
                <a:solidFill>
                  <a:srgbClr val="000000"/>
                </a:solidFill>
                <a:latin typeface="Calibri" panose="020F0502020204030204" pitchFamily="34" charset="0"/>
                <a:ea typeface="SimSun" panose="02010600030101010101" pitchFamily="2" charset="-122"/>
                <a:cs typeface="Calibri" panose="020F0502020204030204" pitchFamily="34" charset="0"/>
              </a:rPr>
            </a:br>
            <a:endParaRPr lang="en-US" dirty="0">
              <a:solidFill>
                <a:srgbClr val="000000"/>
              </a:solidFill>
              <a:latin typeface="Calibri" panose="020F0502020204030204" pitchFamily="34" charset="0"/>
              <a:ea typeface="SimSun" panose="02010600030101010101" pitchFamily="2" charset="-122"/>
              <a:cs typeface="Calibri" panose="020F0502020204030204" pitchFamily="34" charset="0"/>
            </a:endParaRPr>
          </a:p>
        </p:txBody>
      </p:sp>
    </p:spTree>
    <p:extLst>
      <p:ext uri="{BB962C8B-B14F-4D97-AF65-F5344CB8AC3E}">
        <p14:creationId xmlns:p14="http://schemas.microsoft.com/office/powerpoint/2010/main" val="317974947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420C031-F3DF-AA50-04F5-EF2F8E1546A4}"/>
              </a:ext>
            </a:extLst>
          </p:cNvPr>
          <p:cNvSpPr/>
          <p:nvPr/>
        </p:nvSpPr>
        <p:spPr>
          <a:xfrm>
            <a:off x="-574158" y="1032424"/>
            <a:ext cx="3789816" cy="707886"/>
          </a:xfrm>
          <a:prstGeom prst="rect">
            <a:avLst/>
          </a:prstGeom>
          <a:noFill/>
        </p:spPr>
        <p:txBody>
          <a:bodyPr wrap="square" lIns="91440" tIns="45720" rIns="91440" bIns="45720">
            <a:spAutoFit/>
          </a:bodyPr>
          <a:lstStyle/>
          <a:p>
            <a:pPr algn="ctr"/>
            <a:r>
              <a:rPr lang="en-US" sz="40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rPr>
              <a:t>Study 2</a:t>
            </a:r>
          </a:p>
        </p:txBody>
      </p:sp>
      <p:sp>
        <p:nvSpPr>
          <p:cNvPr id="5" name="TextBox 4">
            <a:extLst>
              <a:ext uri="{FF2B5EF4-FFF2-40B4-BE49-F238E27FC236}">
                <a16:creationId xmlns:a16="http://schemas.microsoft.com/office/drawing/2014/main" id="{1C3CE10E-37A7-4FD2-6FFE-C992EC920DC3}"/>
              </a:ext>
            </a:extLst>
          </p:cNvPr>
          <p:cNvSpPr txBox="1"/>
          <p:nvPr/>
        </p:nvSpPr>
        <p:spPr>
          <a:xfrm>
            <a:off x="449757" y="1743260"/>
            <a:ext cx="7992494" cy="3970318"/>
          </a:xfrm>
          <a:prstGeom prst="rect">
            <a:avLst/>
          </a:prstGeom>
          <a:noFill/>
        </p:spPr>
        <p:txBody>
          <a:bodyPr wrap="square" rtlCol="0">
            <a:spAutoFit/>
          </a:bodyPr>
          <a:lstStyle/>
          <a:p>
            <a:r>
              <a:rPr lang="en-US" b="1" dirty="0">
                <a:solidFill>
                  <a:srgbClr val="000000"/>
                </a:solidFill>
                <a:latin typeface="Calibri" panose="020F0502020204030204" pitchFamily="34" charset="0"/>
                <a:ea typeface="SimSun" panose="02010600030101010101" pitchFamily="2" charset="-122"/>
                <a:cs typeface="Calibri" panose="020F0502020204030204" pitchFamily="34" charset="0"/>
              </a:rPr>
              <a:t>Experiment Design:</a:t>
            </a:r>
          </a:p>
          <a:p>
            <a:r>
              <a:rPr lang="en-US" dirty="0">
                <a:solidFill>
                  <a:srgbClr val="000000"/>
                </a:solidFill>
                <a:latin typeface="Calibri" panose="020F0502020204030204" pitchFamily="34" charset="0"/>
                <a:ea typeface="SimSun" panose="02010600030101010101" pitchFamily="2" charset="-122"/>
                <a:cs typeface="Calibri" panose="020F0502020204030204" pitchFamily="34" charset="0"/>
              </a:rPr>
              <a:t>        The experiment consists of a 2 (search-task: agent search, patient search) x 2 (agent parallel/orthogonal motion lines: with, without) x 2 (patient parallel/orthogonal motion lines: with, without) design. Participants are assigned to all conditions (within-participants design).</a:t>
            </a:r>
          </a:p>
          <a:p>
            <a:endParaRPr lang="en-US" b="1" dirty="0">
              <a:solidFill>
                <a:srgbClr val="000000"/>
              </a:solidFill>
              <a:latin typeface="Calibri" panose="020F0502020204030204" pitchFamily="34" charset="0"/>
              <a:ea typeface="SimSun" panose="02010600030101010101" pitchFamily="2" charset="-122"/>
              <a:cs typeface="Calibri" panose="020F0502020204030204" pitchFamily="34" charset="0"/>
            </a:endParaRPr>
          </a:p>
          <a:p>
            <a:r>
              <a:rPr lang="en-US" b="1" dirty="0">
                <a:solidFill>
                  <a:srgbClr val="000000"/>
                </a:solidFill>
                <a:latin typeface="Calibri" panose="020F0502020204030204" pitchFamily="34" charset="0"/>
                <a:ea typeface="SimSun" panose="02010600030101010101" pitchFamily="2" charset="-122"/>
                <a:cs typeface="Calibri" panose="020F0502020204030204" pitchFamily="34" charset="0"/>
              </a:rPr>
              <a:t>P</a:t>
            </a:r>
            <a:r>
              <a:rPr lang="en-US" altLang="zh-CN" b="1" dirty="0">
                <a:solidFill>
                  <a:srgbClr val="000000"/>
                </a:solidFill>
                <a:latin typeface="Calibri" panose="020F0502020204030204" pitchFamily="34" charset="0"/>
                <a:ea typeface="SimSun" panose="02010600030101010101" pitchFamily="2" charset="-122"/>
                <a:cs typeface="Calibri" panose="020F0502020204030204" pitchFamily="34" charset="0"/>
              </a:rPr>
              <a:t>articipants</a:t>
            </a:r>
            <a:r>
              <a:rPr lang="zh-CN" altLang="en-US" b="1" dirty="0">
                <a:solidFill>
                  <a:srgbClr val="000000"/>
                </a:solidFill>
                <a:latin typeface="Calibri" panose="020F0502020204030204" pitchFamily="34" charset="0"/>
                <a:ea typeface="SimSun" panose="02010600030101010101" pitchFamily="2" charset="-122"/>
                <a:cs typeface="Calibri" panose="020F0502020204030204" pitchFamily="34" charset="0"/>
              </a:rPr>
              <a:t>：</a:t>
            </a:r>
            <a:endParaRPr lang="en-US" altLang="zh-CN" b="1" dirty="0">
              <a:solidFill>
                <a:srgbClr val="000000"/>
              </a:solidFill>
              <a:latin typeface="Calibri" panose="020F0502020204030204" pitchFamily="34" charset="0"/>
              <a:ea typeface="SimSun" panose="02010600030101010101" pitchFamily="2" charset="-122"/>
              <a:cs typeface="Calibri" panose="020F0502020204030204" pitchFamily="34" charset="0"/>
            </a:endParaRPr>
          </a:p>
          <a:p>
            <a:r>
              <a:rPr lang="en-US" altLang="zh-CN" dirty="0">
                <a:solidFill>
                  <a:srgbClr val="000000"/>
                </a:solidFill>
                <a:latin typeface="Calibri" panose="020F0502020204030204" pitchFamily="34" charset="0"/>
                <a:ea typeface="SimSun" panose="02010600030101010101" pitchFamily="2" charset="-122"/>
                <a:cs typeface="Calibri" panose="020F0502020204030204" pitchFamily="34" charset="0"/>
              </a:rPr>
              <a:t>         Experiment 1: 74 </a:t>
            </a:r>
            <a:r>
              <a:rPr lang="en-US" dirty="0">
                <a:solidFill>
                  <a:srgbClr val="000000"/>
                </a:solidFill>
                <a:latin typeface="Calibri" panose="020F0502020204030204" pitchFamily="34" charset="0"/>
                <a:ea typeface="SimSun" panose="02010600030101010101" pitchFamily="2" charset="-122"/>
                <a:cs typeface="Calibri" panose="020F0502020204030204" pitchFamily="34" charset="0"/>
              </a:rPr>
              <a:t>participants to achieve 80% power </a:t>
            </a:r>
          </a:p>
          <a:p>
            <a:r>
              <a:rPr lang="en-US" altLang="zh-CN" dirty="0">
                <a:solidFill>
                  <a:srgbClr val="000000"/>
                </a:solidFill>
                <a:latin typeface="Calibri" panose="020F0502020204030204" pitchFamily="34" charset="0"/>
                <a:ea typeface="SimSun" panose="02010600030101010101" pitchFamily="2" charset="-122"/>
                <a:cs typeface="Calibri" panose="020F0502020204030204" pitchFamily="34" charset="0"/>
              </a:rPr>
              <a:t>         Experiment 2: 72 </a:t>
            </a:r>
            <a:r>
              <a:rPr lang="en-US" dirty="0">
                <a:solidFill>
                  <a:srgbClr val="000000"/>
                </a:solidFill>
                <a:latin typeface="Calibri" panose="020F0502020204030204" pitchFamily="34" charset="0"/>
                <a:ea typeface="SimSun" panose="02010600030101010101" pitchFamily="2" charset="-122"/>
                <a:cs typeface="Calibri" panose="020F0502020204030204" pitchFamily="34" charset="0"/>
              </a:rPr>
              <a:t>participants to achieve 80% power</a:t>
            </a:r>
          </a:p>
          <a:p>
            <a:endParaRPr lang="en-US" dirty="0">
              <a:solidFill>
                <a:srgbClr val="000000"/>
              </a:solidFill>
              <a:latin typeface="Calibri" panose="020F0502020204030204" pitchFamily="34" charset="0"/>
              <a:ea typeface="SimSun" panose="02010600030101010101" pitchFamily="2" charset="-122"/>
              <a:cs typeface="Calibri" panose="020F0502020204030204" pitchFamily="34" charset="0"/>
            </a:endParaRPr>
          </a:p>
          <a:p>
            <a:endParaRPr lang="en-US" dirty="0">
              <a:solidFill>
                <a:srgbClr val="000000"/>
              </a:solidFill>
              <a:latin typeface="Calibri" panose="020F0502020204030204" pitchFamily="34" charset="0"/>
              <a:ea typeface="SimSun" panose="02010600030101010101" pitchFamily="2" charset="-122"/>
              <a:cs typeface="Calibri" panose="020F0502020204030204" pitchFamily="34" charset="0"/>
            </a:endParaRPr>
          </a:p>
          <a:p>
            <a:endParaRPr lang="en-US" altLang="zh-CN" dirty="0">
              <a:solidFill>
                <a:srgbClr val="000000"/>
              </a:solidFill>
              <a:latin typeface="Calibri" panose="020F0502020204030204" pitchFamily="34" charset="0"/>
              <a:ea typeface="SimSun" panose="02010600030101010101" pitchFamily="2" charset="-122"/>
              <a:cs typeface="Calibri" panose="020F0502020204030204" pitchFamily="34" charset="0"/>
            </a:endParaRPr>
          </a:p>
          <a:p>
            <a:endParaRPr lang="en-US" altLang="zh-CN" b="1" dirty="0">
              <a:solidFill>
                <a:srgbClr val="000000"/>
              </a:solidFill>
              <a:latin typeface="Calibri" panose="020F0502020204030204" pitchFamily="34" charset="0"/>
              <a:ea typeface="SimSun" panose="02010600030101010101" pitchFamily="2" charset="-122"/>
              <a:cs typeface="Calibri" panose="020F0502020204030204" pitchFamily="34" charset="0"/>
            </a:endParaRPr>
          </a:p>
          <a:p>
            <a:endParaRPr lang="en-US" b="1" dirty="0">
              <a:solidFill>
                <a:srgbClr val="000000"/>
              </a:solidFill>
              <a:latin typeface="Calibri" panose="020F0502020204030204" pitchFamily="34" charset="0"/>
              <a:ea typeface="SimSun" panose="02010600030101010101" pitchFamily="2" charset="-122"/>
              <a:cs typeface="Calibri" panose="020F0502020204030204" pitchFamily="34" charset="0"/>
            </a:endParaRPr>
          </a:p>
        </p:txBody>
      </p:sp>
    </p:spTree>
    <p:extLst>
      <p:ext uri="{BB962C8B-B14F-4D97-AF65-F5344CB8AC3E}">
        <p14:creationId xmlns:p14="http://schemas.microsoft.com/office/powerpoint/2010/main" val="78515623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420C031-F3DF-AA50-04F5-EF2F8E1546A4}"/>
              </a:ext>
            </a:extLst>
          </p:cNvPr>
          <p:cNvSpPr/>
          <p:nvPr/>
        </p:nvSpPr>
        <p:spPr>
          <a:xfrm>
            <a:off x="-574158" y="1032424"/>
            <a:ext cx="3789816" cy="707886"/>
          </a:xfrm>
          <a:prstGeom prst="rect">
            <a:avLst/>
          </a:prstGeom>
          <a:noFill/>
        </p:spPr>
        <p:txBody>
          <a:bodyPr wrap="square" lIns="91440" tIns="45720" rIns="91440" bIns="45720">
            <a:spAutoFit/>
          </a:bodyPr>
          <a:lstStyle/>
          <a:p>
            <a:pPr algn="ctr"/>
            <a:r>
              <a:rPr lang="en-US" sz="40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rPr>
              <a:t>Study 2</a:t>
            </a:r>
          </a:p>
        </p:txBody>
      </p:sp>
      <p:sp>
        <p:nvSpPr>
          <p:cNvPr id="5" name="TextBox 4">
            <a:extLst>
              <a:ext uri="{FF2B5EF4-FFF2-40B4-BE49-F238E27FC236}">
                <a16:creationId xmlns:a16="http://schemas.microsoft.com/office/drawing/2014/main" id="{1C3CE10E-37A7-4FD2-6FFE-C992EC920DC3}"/>
              </a:ext>
            </a:extLst>
          </p:cNvPr>
          <p:cNvSpPr txBox="1"/>
          <p:nvPr/>
        </p:nvSpPr>
        <p:spPr>
          <a:xfrm>
            <a:off x="888669" y="1914046"/>
            <a:ext cx="7992494" cy="369332"/>
          </a:xfrm>
          <a:prstGeom prst="rect">
            <a:avLst/>
          </a:prstGeom>
          <a:noFill/>
        </p:spPr>
        <p:txBody>
          <a:bodyPr wrap="square" rtlCol="0">
            <a:spAutoFit/>
          </a:bodyPr>
          <a:lstStyle/>
          <a:p>
            <a:endParaRPr lang="en-US" dirty="0">
              <a:solidFill>
                <a:srgbClr val="000000"/>
              </a:solidFill>
              <a:latin typeface="Calibri" panose="020F0502020204030204" pitchFamily="34" charset="0"/>
              <a:ea typeface="SimSun" panose="02010600030101010101" pitchFamily="2" charset="-122"/>
              <a:cs typeface="Calibri" panose="020F0502020204030204" pitchFamily="34" charset="0"/>
            </a:endParaRPr>
          </a:p>
        </p:txBody>
      </p:sp>
      <p:sp>
        <p:nvSpPr>
          <p:cNvPr id="3" name="Rectangle 2">
            <a:extLst>
              <a:ext uri="{FF2B5EF4-FFF2-40B4-BE49-F238E27FC236}">
                <a16:creationId xmlns:a16="http://schemas.microsoft.com/office/drawing/2014/main" id="{1757E57C-B4FF-B153-D2C7-358CD00F3128}"/>
              </a:ext>
            </a:extLst>
          </p:cNvPr>
          <p:cNvSpPr/>
          <p:nvPr/>
        </p:nvSpPr>
        <p:spPr>
          <a:xfrm>
            <a:off x="2772759" y="1970811"/>
            <a:ext cx="1836774" cy="101210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Instruction</a:t>
            </a:r>
          </a:p>
        </p:txBody>
      </p:sp>
      <p:sp>
        <p:nvSpPr>
          <p:cNvPr id="7" name="Rectangle 6">
            <a:extLst>
              <a:ext uri="{FF2B5EF4-FFF2-40B4-BE49-F238E27FC236}">
                <a16:creationId xmlns:a16="http://schemas.microsoft.com/office/drawing/2014/main" id="{A59F750C-58D3-89CE-5549-3C55F26EF75B}"/>
              </a:ext>
            </a:extLst>
          </p:cNvPr>
          <p:cNvSpPr/>
          <p:nvPr/>
        </p:nvSpPr>
        <p:spPr>
          <a:xfrm>
            <a:off x="3821271" y="2708427"/>
            <a:ext cx="1836774" cy="101210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blank</a:t>
            </a:r>
          </a:p>
        </p:txBody>
      </p:sp>
      <p:sp>
        <p:nvSpPr>
          <p:cNvPr id="8" name="Rectangle 7">
            <a:extLst>
              <a:ext uri="{FF2B5EF4-FFF2-40B4-BE49-F238E27FC236}">
                <a16:creationId xmlns:a16="http://schemas.microsoft.com/office/drawing/2014/main" id="{31B5086A-5F25-5E23-5E20-CCCE9891D5AC}"/>
              </a:ext>
            </a:extLst>
          </p:cNvPr>
          <p:cNvSpPr/>
          <p:nvPr/>
        </p:nvSpPr>
        <p:spPr>
          <a:xfrm>
            <a:off x="4884916" y="3491763"/>
            <a:ext cx="1836774" cy="101210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pic>
        <p:nvPicPr>
          <p:cNvPr id="10" name="Picture 9" descr="A drawing of two fish&#10;&#10;Description automatically generated">
            <a:extLst>
              <a:ext uri="{FF2B5EF4-FFF2-40B4-BE49-F238E27FC236}">
                <a16:creationId xmlns:a16="http://schemas.microsoft.com/office/drawing/2014/main" id="{9EABD272-B7EA-6423-8CC9-DCF2DC84379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248363" y="3720535"/>
            <a:ext cx="1109879" cy="624307"/>
          </a:xfrm>
          <a:prstGeom prst="rect">
            <a:avLst/>
          </a:prstGeom>
        </p:spPr>
      </p:pic>
      <p:sp>
        <p:nvSpPr>
          <p:cNvPr id="11" name="Rectangle 10">
            <a:extLst>
              <a:ext uri="{FF2B5EF4-FFF2-40B4-BE49-F238E27FC236}">
                <a16:creationId xmlns:a16="http://schemas.microsoft.com/office/drawing/2014/main" id="{E1912E04-2682-58F7-3C0B-5FCE42E32AFC}"/>
              </a:ext>
            </a:extLst>
          </p:cNvPr>
          <p:cNvSpPr/>
          <p:nvPr/>
        </p:nvSpPr>
        <p:spPr>
          <a:xfrm>
            <a:off x="6336816" y="4275099"/>
            <a:ext cx="1836774" cy="101210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pic>
        <p:nvPicPr>
          <p:cNvPr id="13" name="Picture 12" descr="A black and white image of a nice line&#10;&#10;Description automatically generated">
            <a:extLst>
              <a:ext uri="{FF2B5EF4-FFF2-40B4-BE49-F238E27FC236}">
                <a16:creationId xmlns:a16="http://schemas.microsoft.com/office/drawing/2014/main" id="{6393CB1C-175A-F2AA-1305-D2DDD9A2ED1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465613" y="4344842"/>
            <a:ext cx="1579180" cy="888289"/>
          </a:xfrm>
          <a:prstGeom prst="rect">
            <a:avLst/>
          </a:prstGeom>
        </p:spPr>
      </p:pic>
      <p:sp>
        <p:nvSpPr>
          <p:cNvPr id="14" name="TextBox 13">
            <a:extLst>
              <a:ext uri="{FF2B5EF4-FFF2-40B4-BE49-F238E27FC236}">
                <a16:creationId xmlns:a16="http://schemas.microsoft.com/office/drawing/2014/main" id="{26914F23-C2CD-EF25-3F1F-150E54B28F1D}"/>
              </a:ext>
            </a:extLst>
          </p:cNvPr>
          <p:cNvSpPr txBox="1"/>
          <p:nvPr/>
        </p:nvSpPr>
        <p:spPr>
          <a:xfrm>
            <a:off x="568381" y="2263816"/>
            <a:ext cx="2311731" cy="369332"/>
          </a:xfrm>
          <a:prstGeom prst="rect">
            <a:avLst/>
          </a:prstGeom>
          <a:noFill/>
        </p:spPr>
        <p:txBody>
          <a:bodyPr wrap="square" rtlCol="0">
            <a:spAutoFit/>
          </a:bodyPr>
          <a:lstStyle/>
          <a:p>
            <a:r>
              <a:rPr lang="en-US" sz="1800" dirty="0">
                <a:solidFill>
                  <a:srgbClr val="000000"/>
                </a:solidFill>
                <a:effectLst/>
                <a:latin typeface="Calibri" panose="020F0502020204030204" pitchFamily="34" charset="0"/>
                <a:ea typeface="SimSun" panose="02010600030101010101" pitchFamily="2" charset="-122"/>
                <a:cs typeface="Calibri" panose="020F0502020204030204" pitchFamily="34" charset="0"/>
              </a:rPr>
              <a:t>Agent</a:t>
            </a:r>
            <a:r>
              <a:rPr lang="en-US" dirty="0">
                <a:solidFill>
                  <a:srgbClr val="000000"/>
                </a:solidFill>
                <a:latin typeface="Calibri" panose="020F0502020204030204" pitchFamily="34" charset="0"/>
                <a:ea typeface="SimSun" panose="02010600030101010101" pitchFamily="2" charset="-122"/>
                <a:cs typeface="Calibri" panose="020F0502020204030204" pitchFamily="34" charset="0"/>
              </a:rPr>
              <a:t>/P</a:t>
            </a:r>
            <a:r>
              <a:rPr lang="en-US" altLang="zh-CN" dirty="0">
                <a:solidFill>
                  <a:srgbClr val="000000"/>
                </a:solidFill>
                <a:latin typeface="Calibri" panose="020F0502020204030204" pitchFamily="34" charset="0"/>
                <a:ea typeface="SimSun" panose="02010600030101010101" pitchFamily="2" charset="-122"/>
                <a:cs typeface="Calibri" panose="020F0502020204030204" pitchFamily="34" charset="0"/>
              </a:rPr>
              <a:t>atient Search</a:t>
            </a:r>
            <a:endParaRPr lang="en-US" dirty="0">
              <a:latin typeface="Calibri" panose="020F0502020204030204" pitchFamily="34" charset="0"/>
              <a:cs typeface="Calibri" panose="020F0502020204030204" pitchFamily="34" charset="0"/>
            </a:endParaRPr>
          </a:p>
        </p:txBody>
      </p:sp>
      <p:sp>
        <p:nvSpPr>
          <p:cNvPr id="15" name="TextBox 14">
            <a:extLst>
              <a:ext uri="{FF2B5EF4-FFF2-40B4-BE49-F238E27FC236}">
                <a16:creationId xmlns:a16="http://schemas.microsoft.com/office/drawing/2014/main" id="{27DA227D-2A90-E11B-DCFA-948A5B6E2820}"/>
              </a:ext>
            </a:extLst>
          </p:cNvPr>
          <p:cNvSpPr txBox="1"/>
          <p:nvPr/>
        </p:nvSpPr>
        <p:spPr>
          <a:xfrm>
            <a:off x="2418684" y="3173276"/>
            <a:ext cx="2028664" cy="369332"/>
          </a:xfrm>
          <a:prstGeom prst="rect">
            <a:avLst/>
          </a:prstGeom>
          <a:noFill/>
        </p:spPr>
        <p:txBody>
          <a:bodyPr wrap="square" rtlCol="0">
            <a:spAutoFit/>
          </a:bodyPr>
          <a:lstStyle/>
          <a:p>
            <a:r>
              <a:rPr lang="en-US" sz="1800" dirty="0">
                <a:solidFill>
                  <a:srgbClr val="000000"/>
                </a:solidFill>
                <a:effectLst/>
                <a:latin typeface="Calibri" panose="020F0502020204030204" pitchFamily="34" charset="0"/>
                <a:ea typeface="SimSun" panose="02010600030101010101" pitchFamily="2" charset="-122"/>
                <a:cs typeface="Calibri" panose="020F0502020204030204" pitchFamily="34" charset="0"/>
              </a:rPr>
              <a:t>500 </a:t>
            </a:r>
            <a:r>
              <a:rPr lang="en-US" sz="1800" dirty="0" err="1">
                <a:solidFill>
                  <a:srgbClr val="000000"/>
                </a:solidFill>
                <a:effectLst/>
                <a:latin typeface="Calibri" panose="020F0502020204030204" pitchFamily="34" charset="0"/>
                <a:ea typeface="SimSun" panose="02010600030101010101" pitchFamily="2" charset="-122"/>
                <a:cs typeface="Calibri" panose="020F0502020204030204" pitchFamily="34" charset="0"/>
              </a:rPr>
              <a:t>ms</a:t>
            </a:r>
            <a:endParaRPr lang="en-US" dirty="0">
              <a:latin typeface="Calibri" panose="020F0502020204030204" pitchFamily="34" charset="0"/>
              <a:cs typeface="Calibri" panose="020F0502020204030204" pitchFamily="34" charset="0"/>
            </a:endParaRPr>
          </a:p>
        </p:txBody>
      </p:sp>
      <p:sp>
        <p:nvSpPr>
          <p:cNvPr id="16" name="TextBox 15">
            <a:extLst>
              <a:ext uri="{FF2B5EF4-FFF2-40B4-BE49-F238E27FC236}">
                <a16:creationId xmlns:a16="http://schemas.microsoft.com/office/drawing/2014/main" id="{245F085F-DEC8-D744-8C2E-EF457AEF948F}"/>
              </a:ext>
            </a:extLst>
          </p:cNvPr>
          <p:cNvSpPr txBox="1"/>
          <p:nvPr/>
        </p:nvSpPr>
        <p:spPr>
          <a:xfrm>
            <a:off x="5159014" y="4781153"/>
            <a:ext cx="2028664" cy="369332"/>
          </a:xfrm>
          <a:prstGeom prst="rect">
            <a:avLst/>
          </a:prstGeom>
          <a:noFill/>
        </p:spPr>
        <p:txBody>
          <a:bodyPr wrap="square" rtlCol="0">
            <a:spAutoFit/>
          </a:bodyPr>
          <a:lstStyle/>
          <a:p>
            <a:r>
              <a:rPr lang="en-US" sz="1800" dirty="0">
                <a:solidFill>
                  <a:srgbClr val="000000"/>
                </a:solidFill>
                <a:effectLst/>
                <a:latin typeface="Calibri" panose="020F0502020204030204" pitchFamily="34" charset="0"/>
                <a:ea typeface="SimSun" panose="02010600030101010101" pitchFamily="2" charset="-122"/>
                <a:cs typeface="Calibri" panose="020F0502020204030204" pitchFamily="34" charset="0"/>
              </a:rPr>
              <a:t>500 </a:t>
            </a:r>
            <a:r>
              <a:rPr lang="en-US" sz="1800" dirty="0" err="1">
                <a:solidFill>
                  <a:srgbClr val="000000"/>
                </a:solidFill>
                <a:effectLst/>
                <a:latin typeface="Calibri" panose="020F0502020204030204" pitchFamily="34" charset="0"/>
                <a:ea typeface="SimSun" panose="02010600030101010101" pitchFamily="2" charset="-122"/>
                <a:cs typeface="Calibri" panose="020F0502020204030204" pitchFamily="34" charset="0"/>
              </a:rPr>
              <a:t>ms</a:t>
            </a:r>
            <a:endParaRPr lang="en-US" dirty="0">
              <a:latin typeface="Calibri" panose="020F0502020204030204" pitchFamily="34" charset="0"/>
              <a:cs typeface="Calibri" panose="020F0502020204030204" pitchFamily="34" charset="0"/>
            </a:endParaRPr>
          </a:p>
        </p:txBody>
      </p:sp>
      <p:sp>
        <p:nvSpPr>
          <p:cNvPr id="17" name="TextBox 16">
            <a:extLst>
              <a:ext uri="{FF2B5EF4-FFF2-40B4-BE49-F238E27FC236}">
                <a16:creationId xmlns:a16="http://schemas.microsoft.com/office/drawing/2014/main" id="{F8412D4D-A635-42CE-9976-E82D8C2421D8}"/>
              </a:ext>
            </a:extLst>
          </p:cNvPr>
          <p:cNvSpPr txBox="1"/>
          <p:nvPr/>
        </p:nvSpPr>
        <p:spPr>
          <a:xfrm>
            <a:off x="3338762" y="3953904"/>
            <a:ext cx="2028664" cy="369332"/>
          </a:xfrm>
          <a:prstGeom prst="rect">
            <a:avLst/>
          </a:prstGeom>
          <a:noFill/>
        </p:spPr>
        <p:txBody>
          <a:bodyPr wrap="square" rtlCol="0">
            <a:spAutoFit/>
          </a:bodyPr>
          <a:lstStyle/>
          <a:p>
            <a:r>
              <a:rPr lang="en-US" sz="1800" dirty="0">
                <a:solidFill>
                  <a:srgbClr val="000000"/>
                </a:solidFill>
                <a:effectLst/>
                <a:latin typeface="Calibri" panose="020F0502020204030204" pitchFamily="34" charset="0"/>
                <a:ea typeface="SimSun" panose="02010600030101010101" pitchFamily="2" charset="-122"/>
                <a:cs typeface="Calibri" panose="020F0502020204030204" pitchFamily="34" charset="0"/>
              </a:rPr>
              <a:t>Key response</a:t>
            </a:r>
            <a:endParaRPr lang="en-US" dirty="0">
              <a:latin typeface="Calibri" panose="020F0502020204030204" pitchFamily="34" charset="0"/>
              <a:cs typeface="Calibri" panose="020F0502020204030204" pitchFamily="34" charset="0"/>
            </a:endParaRPr>
          </a:p>
        </p:txBody>
      </p:sp>
      <p:sp>
        <p:nvSpPr>
          <p:cNvPr id="18" name="Rectangle 17">
            <a:extLst>
              <a:ext uri="{FF2B5EF4-FFF2-40B4-BE49-F238E27FC236}">
                <a16:creationId xmlns:a16="http://schemas.microsoft.com/office/drawing/2014/main" id="{014E33B9-0299-54F2-BC97-2FD032C96A59}"/>
              </a:ext>
            </a:extLst>
          </p:cNvPr>
          <p:cNvSpPr/>
          <p:nvPr/>
        </p:nvSpPr>
        <p:spPr>
          <a:xfrm>
            <a:off x="1305682" y="5727068"/>
            <a:ext cx="1037342" cy="330414"/>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dirty="0"/>
              <a:t>Practice</a:t>
            </a:r>
          </a:p>
        </p:txBody>
      </p:sp>
      <p:sp>
        <p:nvSpPr>
          <p:cNvPr id="19" name="Rectangle 18">
            <a:extLst>
              <a:ext uri="{FF2B5EF4-FFF2-40B4-BE49-F238E27FC236}">
                <a16:creationId xmlns:a16="http://schemas.microsoft.com/office/drawing/2014/main" id="{2364F321-6CCE-6750-8056-D68BB87D387F}"/>
              </a:ext>
            </a:extLst>
          </p:cNvPr>
          <p:cNvSpPr/>
          <p:nvPr/>
        </p:nvSpPr>
        <p:spPr>
          <a:xfrm>
            <a:off x="5364083" y="5731600"/>
            <a:ext cx="1037341" cy="330414"/>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dirty="0"/>
              <a:t>patient</a:t>
            </a:r>
          </a:p>
        </p:txBody>
      </p:sp>
      <p:sp>
        <p:nvSpPr>
          <p:cNvPr id="20" name="Rectangle 19">
            <a:extLst>
              <a:ext uri="{FF2B5EF4-FFF2-40B4-BE49-F238E27FC236}">
                <a16:creationId xmlns:a16="http://schemas.microsoft.com/office/drawing/2014/main" id="{8D703085-D15B-9E90-B815-1236A2101CA7}"/>
              </a:ext>
            </a:extLst>
          </p:cNvPr>
          <p:cNvSpPr/>
          <p:nvPr/>
        </p:nvSpPr>
        <p:spPr>
          <a:xfrm>
            <a:off x="2649146" y="5727068"/>
            <a:ext cx="1037341" cy="330414"/>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dirty="0"/>
              <a:t>agent</a:t>
            </a:r>
          </a:p>
        </p:txBody>
      </p:sp>
      <p:sp>
        <p:nvSpPr>
          <p:cNvPr id="21" name="Rectangle 20">
            <a:extLst>
              <a:ext uri="{FF2B5EF4-FFF2-40B4-BE49-F238E27FC236}">
                <a16:creationId xmlns:a16="http://schemas.microsoft.com/office/drawing/2014/main" id="{A1B5FBA7-5CAA-E03F-634D-6E005923DDD0}"/>
              </a:ext>
            </a:extLst>
          </p:cNvPr>
          <p:cNvSpPr/>
          <p:nvPr/>
        </p:nvSpPr>
        <p:spPr>
          <a:xfrm>
            <a:off x="4006614" y="5727068"/>
            <a:ext cx="1037342" cy="330414"/>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dirty="0"/>
              <a:t>practice</a:t>
            </a:r>
          </a:p>
        </p:txBody>
      </p:sp>
      <p:cxnSp>
        <p:nvCxnSpPr>
          <p:cNvPr id="22" name="Straight Arrow Connector 21">
            <a:extLst>
              <a:ext uri="{FF2B5EF4-FFF2-40B4-BE49-F238E27FC236}">
                <a16:creationId xmlns:a16="http://schemas.microsoft.com/office/drawing/2014/main" id="{46645C4A-A522-2FD1-7BCA-C9916C87D13B}"/>
              </a:ext>
            </a:extLst>
          </p:cNvPr>
          <p:cNvCxnSpPr>
            <a:cxnSpLocks/>
          </p:cNvCxnSpPr>
          <p:nvPr/>
        </p:nvCxnSpPr>
        <p:spPr>
          <a:xfrm>
            <a:off x="2401315" y="5930127"/>
            <a:ext cx="190772" cy="0"/>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cxnSp>
        <p:nvCxnSpPr>
          <p:cNvPr id="23" name="Straight Arrow Connector 22">
            <a:extLst>
              <a:ext uri="{FF2B5EF4-FFF2-40B4-BE49-F238E27FC236}">
                <a16:creationId xmlns:a16="http://schemas.microsoft.com/office/drawing/2014/main" id="{84F3D715-EAD7-D72F-A1F5-A25A97DA504F}"/>
              </a:ext>
            </a:extLst>
          </p:cNvPr>
          <p:cNvCxnSpPr>
            <a:cxnSpLocks/>
          </p:cNvCxnSpPr>
          <p:nvPr/>
        </p:nvCxnSpPr>
        <p:spPr>
          <a:xfrm>
            <a:off x="3776757" y="5930127"/>
            <a:ext cx="190772" cy="0"/>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cxnSp>
        <p:nvCxnSpPr>
          <p:cNvPr id="24" name="Straight Arrow Connector 23">
            <a:extLst>
              <a:ext uri="{FF2B5EF4-FFF2-40B4-BE49-F238E27FC236}">
                <a16:creationId xmlns:a16="http://schemas.microsoft.com/office/drawing/2014/main" id="{2F3C5286-F47D-950A-5F3F-73FC464796C7}"/>
              </a:ext>
            </a:extLst>
          </p:cNvPr>
          <p:cNvCxnSpPr>
            <a:cxnSpLocks/>
          </p:cNvCxnSpPr>
          <p:nvPr/>
        </p:nvCxnSpPr>
        <p:spPr>
          <a:xfrm>
            <a:off x="5101636" y="5930127"/>
            <a:ext cx="190772" cy="0"/>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spTree>
    <p:extLst>
      <p:ext uri="{BB962C8B-B14F-4D97-AF65-F5344CB8AC3E}">
        <p14:creationId xmlns:p14="http://schemas.microsoft.com/office/powerpoint/2010/main" val="310486122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D077336-FF10-8534-C647-70152F8018C0}"/>
              </a:ext>
            </a:extLst>
          </p:cNvPr>
          <p:cNvSpPr/>
          <p:nvPr/>
        </p:nvSpPr>
        <p:spPr>
          <a:xfrm>
            <a:off x="-662328" y="1032424"/>
            <a:ext cx="3877986" cy="707886"/>
          </a:xfrm>
          <a:prstGeom prst="rect">
            <a:avLst/>
          </a:prstGeom>
          <a:noFill/>
        </p:spPr>
        <p:txBody>
          <a:bodyPr wrap="square" lIns="91440" tIns="45720" rIns="91440" bIns="45720">
            <a:spAutoFit/>
          </a:bodyPr>
          <a:lstStyle/>
          <a:p>
            <a:pPr algn="ctr"/>
            <a:r>
              <a:rPr lang="en-US" sz="40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rPr>
              <a:t>R</a:t>
            </a:r>
            <a:r>
              <a:rPr lang="en-US" altLang="zh-CN" sz="40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rPr>
              <a:t>esults</a:t>
            </a:r>
            <a:endParaRPr lang="en-US" sz="40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2" name="TextBox 1">
            <a:extLst>
              <a:ext uri="{FF2B5EF4-FFF2-40B4-BE49-F238E27FC236}">
                <a16:creationId xmlns:a16="http://schemas.microsoft.com/office/drawing/2014/main" id="{7C5EF815-94CA-D89B-9E71-477E08EC414E}"/>
              </a:ext>
            </a:extLst>
          </p:cNvPr>
          <p:cNvSpPr txBox="1"/>
          <p:nvPr/>
        </p:nvSpPr>
        <p:spPr>
          <a:xfrm>
            <a:off x="502920" y="2830911"/>
            <a:ext cx="3024219" cy="1200329"/>
          </a:xfrm>
          <a:prstGeom prst="rect">
            <a:avLst/>
          </a:prstGeom>
          <a:noFill/>
        </p:spPr>
        <p:txBody>
          <a:bodyPr wrap="square" rtlCol="0">
            <a:spAutoFit/>
          </a:bodyPr>
          <a:lstStyle/>
          <a:p>
            <a:r>
              <a:rPr lang="en-US" b="1" dirty="0">
                <a:solidFill>
                  <a:srgbClr val="000000"/>
                </a:solidFill>
                <a:latin typeface="Calibri" panose="020F0502020204030204" pitchFamily="34" charset="0"/>
                <a:ea typeface="SimSun" panose="02010600030101010101" pitchFamily="2" charset="-122"/>
                <a:cs typeface="Calibri" panose="020F0502020204030204" pitchFamily="34" charset="0"/>
              </a:rPr>
              <a:t>Exp 1</a:t>
            </a:r>
            <a:r>
              <a:rPr lang="zh-CN" altLang="en-US" b="1" dirty="0">
                <a:solidFill>
                  <a:srgbClr val="000000"/>
                </a:solidFill>
                <a:latin typeface="Calibri" panose="020F0502020204030204" pitchFamily="34" charset="0"/>
                <a:ea typeface="SimSun" panose="02010600030101010101" pitchFamily="2" charset="-122"/>
                <a:cs typeface="Calibri" panose="020F0502020204030204" pitchFamily="34" charset="0"/>
              </a:rPr>
              <a:t>：</a:t>
            </a:r>
            <a:r>
              <a:rPr lang="en-US" dirty="0">
                <a:effectLst/>
                <a:latin typeface="Calibri" panose="020F0502020204030204" pitchFamily="34" charset="0"/>
                <a:ea typeface="Times New Roman" panose="02020603050405020304" pitchFamily="18" charset="0"/>
                <a:cs typeface="Calibri" panose="020F0502020204030204" pitchFamily="34" charset="0"/>
              </a:rPr>
              <a:t>parallel motion lines </a:t>
            </a:r>
            <a:endParaRPr lang="en-US" dirty="0">
              <a:latin typeface="Calibri" panose="020F0502020204030204" pitchFamily="34" charset="0"/>
              <a:cs typeface="Calibri" panose="020F0502020204030204" pitchFamily="34" charset="0"/>
            </a:endParaRPr>
          </a:p>
          <a:p>
            <a:endParaRPr lang="en-US" b="1" dirty="0">
              <a:solidFill>
                <a:srgbClr val="000000"/>
              </a:solidFill>
              <a:latin typeface="Calibri" panose="020F0502020204030204" pitchFamily="34" charset="0"/>
              <a:ea typeface="SimSun" panose="02010600030101010101" pitchFamily="2" charset="-122"/>
              <a:cs typeface="Calibri" panose="020F0502020204030204" pitchFamily="34" charset="0"/>
            </a:endParaRPr>
          </a:p>
          <a:p>
            <a:br>
              <a:rPr lang="en-US" b="1" dirty="0">
                <a:solidFill>
                  <a:srgbClr val="000000"/>
                </a:solidFill>
                <a:latin typeface="Calibri" panose="020F0502020204030204" pitchFamily="34" charset="0"/>
                <a:ea typeface="SimSun" panose="02010600030101010101" pitchFamily="2" charset="-122"/>
                <a:cs typeface="Calibri" panose="020F0502020204030204" pitchFamily="34" charset="0"/>
              </a:rPr>
            </a:br>
            <a:endParaRPr lang="en-US" b="1" dirty="0">
              <a:solidFill>
                <a:srgbClr val="000000"/>
              </a:solidFill>
              <a:latin typeface="Calibri" panose="020F0502020204030204" pitchFamily="34" charset="0"/>
              <a:ea typeface="SimSun" panose="02010600030101010101" pitchFamily="2" charset="-122"/>
              <a:cs typeface="Calibri" panose="020F0502020204030204" pitchFamily="34" charset="0"/>
            </a:endParaRPr>
          </a:p>
        </p:txBody>
      </p:sp>
      <p:sp>
        <p:nvSpPr>
          <p:cNvPr id="6" name="TextBox 5">
            <a:extLst>
              <a:ext uri="{FF2B5EF4-FFF2-40B4-BE49-F238E27FC236}">
                <a16:creationId xmlns:a16="http://schemas.microsoft.com/office/drawing/2014/main" id="{9BF6EAF0-51AE-EE48-F3BE-70214C7232C7}"/>
              </a:ext>
            </a:extLst>
          </p:cNvPr>
          <p:cNvSpPr txBox="1"/>
          <p:nvPr/>
        </p:nvSpPr>
        <p:spPr>
          <a:xfrm>
            <a:off x="384048" y="1740310"/>
            <a:ext cx="8513064" cy="1200329"/>
          </a:xfrm>
          <a:prstGeom prst="rect">
            <a:avLst/>
          </a:prstGeom>
          <a:noFill/>
        </p:spPr>
        <p:txBody>
          <a:bodyPr wrap="square">
            <a:spAutoFit/>
          </a:bodyPr>
          <a:lstStyle/>
          <a:p>
            <a:r>
              <a:rPr lang="en-US" dirty="0">
                <a:solidFill>
                  <a:srgbClr val="000000"/>
                </a:solidFill>
                <a:latin typeface="Calibri" panose="020F0502020204030204" pitchFamily="34" charset="0"/>
                <a:ea typeface="SimSun" panose="02010600030101010101" pitchFamily="2" charset="-122"/>
                <a:cs typeface="Calibri" panose="020F0502020204030204" pitchFamily="34" charset="0"/>
              </a:rPr>
              <a:t>To investigate hypothesis 1, we ran a paired t-test with the dependent variable response time and the independent variable search task (agent search, patient search) for the stimuli without motion lines.</a:t>
            </a:r>
          </a:p>
          <a:p>
            <a:endParaRPr lang="en-US" dirty="0">
              <a:solidFill>
                <a:srgbClr val="000000"/>
              </a:solidFill>
              <a:latin typeface="Calibri" panose="020F0502020204030204" pitchFamily="34" charset="0"/>
              <a:ea typeface="SimSun" panose="02010600030101010101" pitchFamily="2" charset="-122"/>
              <a:cs typeface="Calibri" panose="020F0502020204030204" pitchFamily="34" charset="0"/>
            </a:endParaRPr>
          </a:p>
        </p:txBody>
      </p:sp>
      <p:sp>
        <p:nvSpPr>
          <p:cNvPr id="9" name="TextBox 8">
            <a:extLst>
              <a:ext uri="{FF2B5EF4-FFF2-40B4-BE49-F238E27FC236}">
                <a16:creationId xmlns:a16="http://schemas.microsoft.com/office/drawing/2014/main" id="{0932D142-051F-B988-A098-78092EEDDD93}"/>
              </a:ext>
            </a:extLst>
          </p:cNvPr>
          <p:cNvSpPr txBox="1"/>
          <p:nvPr/>
        </p:nvSpPr>
        <p:spPr>
          <a:xfrm>
            <a:off x="5054187" y="2836325"/>
            <a:ext cx="3547722" cy="1200329"/>
          </a:xfrm>
          <a:prstGeom prst="rect">
            <a:avLst/>
          </a:prstGeom>
          <a:noFill/>
        </p:spPr>
        <p:txBody>
          <a:bodyPr wrap="square" rtlCol="0">
            <a:spAutoFit/>
          </a:bodyPr>
          <a:lstStyle/>
          <a:p>
            <a:r>
              <a:rPr lang="en-US" b="1" dirty="0">
                <a:solidFill>
                  <a:srgbClr val="000000"/>
                </a:solidFill>
                <a:latin typeface="Calibri" panose="020F0502020204030204" pitchFamily="34" charset="0"/>
                <a:ea typeface="SimSun" panose="02010600030101010101" pitchFamily="2" charset="-122"/>
                <a:cs typeface="Calibri" panose="020F0502020204030204" pitchFamily="34" charset="0"/>
              </a:rPr>
              <a:t>Exp 2: </a:t>
            </a:r>
            <a:r>
              <a:rPr lang="en-US" dirty="0">
                <a:effectLst/>
                <a:latin typeface="Calibri" panose="020F0502020204030204" pitchFamily="34" charset="0"/>
                <a:ea typeface="Times New Roman" panose="02020603050405020304" pitchFamily="18" charset="0"/>
                <a:cs typeface="Calibri" panose="020F0502020204030204" pitchFamily="34" charset="0"/>
              </a:rPr>
              <a:t>orthogonal motion lines </a:t>
            </a:r>
            <a:endParaRPr lang="en-US" dirty="0">
              <a:latin typeface="Calibri" panose="020F0502020204030204" pitchFamily="34" charset="0"/>
              <a:cs typeface="Calibri" panose="020F0502020204030204" pitchFamily="34" charset="0"/>
            </a:endParaRPr>
          </a:p>
          <a:p>
            <a:endParaRPr lang="en-US" b="1" dirty="0">
              <a:solidFill>
                <a:srgbClr val="000000"/>
              </a:solidFill>
              <a:latin typeface="Calibri" panose="020F0502020204030204" pitchFamily="34" charset="0"/>
              <a:ea typeface="SimSun" panose="02010600030101010101" pitchFamily="2" charset="-122"/>
              <a:cs typeface="Calibri" panose="020F0502020204030204" pitchFamily="34" charset="0"/>
            </a:endParaRPr>
          </a:p>
          <a:p>
            <a:br>
              <a:rPr lang="en-US" b="1" dirty="0">
                <a:solidFill>
                  <a:srgbClr val="000000"/>
                </a:solidFill>
                <a:latin typeface="Calibri" panose="020F0502020204030204" pitchFamily="34" charset="0"/>
                <a:ea typeface="SimSun" panose="02010600030101010101" pitchFamily="2" charset="-122"/>
                <a:cs typeface="Calibri" panose="020F0502020204030204" pitchFamily="34" charset="0"/>
              </a:rPr>
            </a:br>
            <a:endParaRPr lang="en-US" b="1" dirty="0">
              <a:solidFill>
                <a:srgbClr val="000000"/>
              </a:solidFill>
              <a:latin typeface="Calibri" panose="020F0502020204030204" pitchFamily="34" charset="0"/>
              <a:ea typeface="SimSun" panose="02010600030101010101" pitchFamily="2" charset="-122"/>
              <a:cs typeface="Calibri" panose="020F0502020204030204" pitchFamily="34" charset="0"/>
            </a:endParaRPr>
          </a:p>
        </p:txBody>
      </p:sp>
      <p:pic>
        <p:nvPicPr>
          <p:cNvPr id="11" name="Picture 10">
            <a:extLst>
              <a:ext uri="{FF2B5EF4-FFF2-40B4-BE49-F238E27FC236}">
                <a16:creationId xmlns:a16="http://schemas.microsoft.com/office/drawing/2014/main" id="{FD122738-AD45-4E77-705D-491B589BD8CB}"/>
              </a:ext>
            </a:extLst>
          </p:cNvPr>
          <p:cNvPicPr>
            <a:picLocks noChangeAspect="1"/>
          </p:cNvPicPr>
          <p:nvPr/>
        </p:nvPicPr>
        <p:blipFill>
          <a:blip r:embed="rId3"/>
          <a:stretch>
            <a:fillRect/>
          </a:stretch>
        </p:blipFill>
        <p:spPr>
          <a:xfrm>
            <a:off x="542091" y="3282696"/>
            <a:ext cx="2825496" cy="2532389"/>
          </a:xfrm>
          <a:prstGeom prst="rect">
            <a:avLst/>
          </a:prstGeom>
        </p:spPr>
      </p:pic>
      <p:pic>
        <p:nvPicPr>
          <p:cNvPr id="12" name="Picture 11">
            <a:extLst>
              <a:ext uri="{FF2B5EF4-FFF2-40B4-BE49-F238E27FC236}">
                <a16:creationId xmlns:a16="http://schemas.microsoft.com/office/drawing/2014/main" id="{83B58959-317E-5427-138F-B6CD75320985}"/>
              </a:ext>
            </a:extLst>
          </p:cNvPr>
          <p:cNvPicPr>
            <a:picLocks noChangeAspect="1"/>
          </p:cNvPicPr>
          <p:nvPr/>
        </p:nvPicPr>
        <p:blipFill>
          <a:blip r:embed="rId4"/>
          <a:stretch>
            <a:fillRect/>
          </a:stretch>
        </p:blipFill>
        <p:spPr>
          <a:xfrm>
            <a:off x="5054187" y="3250066"/>
            <a:ext cx="2861155" cy="2565019"/>
          </a:xfrm>
          <a:prstGeom prst="rect">
            <a:avLst/>
          </a:prstGeom>
        </p:spPr>
      </p:pic>
      <p:sp>
        <p:nvSpPr>
          <p:cNvPr id="14" name="矩形 15">
            <a:extLst>
              <a:ext uri="{FF2B5EF4-FFF2-40B4-BE49-F238E27FC236}">
                <a16:creationId xmlns:a16="http://schemas.microsoft.com/office/drawing/2014/main" id="{4AC3CF3E-9B1F-7F6C-E403-EBE0E5B261F1}"/>
              </a:ext>
            </a:extLst>
          </p:cNvPr>
          <p:cNvSpPr>
            <a:spLocks noChangeArrowheads="1"/>
          </p:cNvSpPr>
          <p:nvPr/>
        </p:nvSpPr>
        <p:spPr bwMode="auto">
          <a:xfrm>
            <a:off x="1313085" y="5805442"/>
            <a:ext cx="2897802"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911225">
              <a:defRPr>
                <a:solidFill>
                  <a:schemeClr val="tx1"/>
                </a:solidFill>
                <a:latin typeface="Calibri" panose="020F0502020204030204" pitchFamily="34" charset="0"/>
                <a:ea typeface="宋体" panose="02010600030101010101" pitchFamily="2" charset="-122"/>
              </a:defRPr>
            </a:lvl1pPr>
            <a:lvl2pPr marL="742950" indent="-285750" defTabSz="911225">
              <a:defRPr>
                <a:solidFill>
                  <a:schemeClr val="tx1"/>
                </a:solidFill>
                <a:latin typeface="Calibri" panose="020F0502020204030204" pitchFamily="34" charset="0"/>
                <a:ea typeface="宋体" panose="02010600030101010101" pitchFamily="2" charset="-122"/>
              </a:defRPr>
            </a:lvl2pPr>
            <a:lvl3pPr marL="1143000" indent="-228600" defTabSz="911225">
              <a:defRPr>
                <a:solidFill>
                  <a:schemeClr val="tx1"/>
                </a:solidFill>
                <a:latin typeface="Calibri" panose="020F0502020204030204" pitchFamily="34" charset="0"/>
                <a:ea typeface="宋体" panose="02010600030101010101" pitchFamily="2" charset="-122"/>
              </a:defRPr>
            </a:lvl3pPr>
            <a:lvl4pPr marL="1600200" indent="-228600" defTabSz="911225">
              <a:defRPr>
                <a:solidFill>
                  <a:schemeClr val="tx1"/>
                </a:solidFill>
                <a:latin typeface="Calibri" panose="020F0502020204030204" pitchFamily="34" charset="0"/>
                <a:ea typeface="宋体" panose="02010600030101010101" pitchFamily="2" charset="-122"/>
              </a:defRPr>
            </a:lvl4pPr>
            <a:lvl5pPr marL="2057400" indent="-228600" defTabSz="911225">
              <a:defRPr>
                <a:solidFill>
                  <a:schemeClr val="tx1"/>
                </a:solidFill>
                <a:latin typeface="Calibri" panose="020F0502020204030204" pitchFamily="34" charset="0"/>
                <a:ea typeface="宋体" panose="02010600030101010101" pitchFamily="2" charset="-122"/>
              </a:defRPr>
            </a:lvl5pPr>
            <a:lvl6pPr marL="25146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l"/>
            <a:r>
              <a:rPr lang="en-US" altLang="zh-CN" sz="1400" b="1" i="1" dirty="0">
                <a:effectLst>
                  <a:innerShdw blurRad="63500" dist="50800">
                    <a:prstClr val="black">
                      <a:alpha val="50000"/>
                    </a:prstClr>
                  </a:innerShdw>
                </a:effectLst>
                <a:latin typeface="open sans" panose="020B0606030504020204" pitchFamily="34" charset="0"/>
              </a:rPr>
              <a:t>t</a:t>
            </a:r>
            <a:r>
              <a:rPr lang="en-US" altLang="zh-CN" sz="1400" b="1" dirty="0">
                <a:effectLst>
                  <a:innerShdw blurRad="63500" dist="50800">
                    <a:prstClr val="black">
                      <a:alpha val="50000"/>
                    </a:prstClr>
                  </a:innerShdw>
                </a:effectLst>
                <a:latin typeface="open sans" panose="020B0606030504020204" pitchFamily="34" charset="0"/>
              </a:rPr>
              <a:t>(73) = -9.33</a:t>
            </a:r>
            <a:r>
              <a:rPr lang="en-US" altLang="zh-CN" sz="1400" b="1" dirty="0">
                <a:solidFill>
                  <a:srgbClr val="FF0000"/>
                </a:solidFill>
                <a:effectLst>
                  <a:innerShdw blurRad="63500" dist="50800">
                    <a:prstClr val="black">
                      <a:alpha val="50000"/>
                    </a:prstClr>
                  </a:innerShdw>
                </a:effectLst>
                <a:latin typeface="open sans" panose="020B0606030504020204" pitchFamily="34" charset="0"/>
              </a:rPr>
              <a:t>, </a:t>
            </a:r>
            <a:r>
              <a:rPr lang="en-US" altLang="zh-CN" sz="1400" b="1" i="1" dirty="0">
                <a:solidFill>
                  <a:srgbClr val="FF0000"/>
                </a:solidFill>
                <a:effectLst>
                  <a:innerShdw blurRad="63500" dist="50800">
                    <a:prstClr val="black">
                      <a:alpha val="50000"/>
                    </a:prstClr>
                  </a:innerShdw>
                </a:effectLst>
                <a:latin typeface="open sans" panose="020B0606030504020204" pitchFamily="34" charset="0"/>
              </a:rPr>
              <a:t>p</a:t>
            </a:r>
            <a:r>
              <a:rPr lang="en-US" altLang="zh-CN" sz="1400" b="1" dirty="0">
                <a:solidFill>
                  <a:srgbClr val="FF0000"/>
                </a:solidFill>
                <a:effectLst>
                  <a:innerShdw blurRad="63500" dist="50800">
                    <a:prstClr val="black">
                      <a:alpha val="50000"/>
                    </a:prstClr>
                  </a:innerShdw>
                </a:effectLst>
                <a:latin typeface="open sans" panose="020B0606030504020204" pitchFamily="34" charset="0"/>
              </a:rPr>
              <a:t> &lt; .001</a:t>
            </a:r>
          </a:p>
        </p:txBody>
      </p:sp>
      <p:sp>
        <p:nvSpPr>
          <p:cNvPr id="15" name="TextBox 14">
            <a:extLst>
              <a:ext uri="{FF2B5EF4-FFF2-40B4-BE49-F238E27FC236}">
                <a16:creationId xmlns:a16="http://schemas.microsoft.com/office/drawing/2014/main" id="{E48ADF10-7B3F-D54C-43F2-D003B9462952}"/>
              </a:ext>
            </a:extLst>
          </p:cNvPr>
          <p:cNvSpPr txBox="1"/>
          <p:nvPr/>
        </p:nvSpPr>
        <p:spPr>
          <a:xfrm>
            <a:off x="758953" y="6020886"/>
            <a:ext cx="2655212" cy="307777"/>
          </a:xfrm>
          <a:prstGeom prst="rect">
            <a:avLst/>
          </a:prstGeom>
          <a:noFill/>
        </p:spPr>
        <p:txBody>
          <a:bodyPr wrap="square">
            <a:spAutoFit/>
          </a:bodyPr>
          <a:lstStyle/>
          <a:p>
            <a:r>
              <a:rPr lang="en-US" sz="1400" dirty="0">
                <a:solidFill>
                  <a:srgbClr val="000000"/>
                </a:solidFill>
                <a:effectLst/>
                <a:latin typeface="Calibri" panose="020F0502020204030204" pitchFamily="34" charset="0"/>
                <a:ea typeface="SimSun" panose="02010600030101010101" pitchFamily="2" charset="-122"/>
                <a:cs typeface="Calibri" panose="020F0502020204030204" pitchFamily="34" charset="0"/>
              </a:rPr>
              <a:t>reaction time benefit </a:t>
            </a:r>
            <a:r>
              <a:rPr lang="en-US" sz="1400" dirty="0">
                <a:solidFill>
                  <a:srgbClr val="000000"/>
                </a:solidFill>
                <a:latin typeface="Calibri" panose="020F0502020204030204" pitchFamily="34" charset="0"/>
                <a:ea typeface="SimSun" panose="02010600030101010101" pitchFamily="2" charset="-122"/>
                <a:cs typeface="Calibri" panose="020F0502020204030204" pitchFamily="34" charset="0"/>
              </a:rPr>
              <a:t>=</a:t>
            </a:r>
            <a:r>
              <a:rPr lang="en-US" sz="1400" dirty="0">
                <a:solidFill>
                  <a:srgbClr val="000000"/>
                </a:solidFill>
                <a:effectLst/>
                <a:latin typeface="Calibri" panose="020F0502020204030204" pitchFamily="34" charset="0"/>
                <a:ea typeface="SimSun" panose="02010600030101010101" pitchFamily="2" charset="-122"/>
                <a:cs typeface="Calibri" panose="020F0502020204030204" pitchFamily="34" charset="0"/>
              </a:rPr>
              <a:t> -127.9 </a:t>
            </a:r>
            <a:r>
              <a:rPr lang="en-US" sz="1400" dirty="0" err="1">
                <a:solidFill>
                  <a:srgbClr val="000000"/>
                </a:solidFill>
                <a:effectLst/>
                <a:latin typeface="Calibri" panose="020F0502020204030204" pitchFamily="34" charset="0"/>
                <a:ea typeface="SimSun" panose="02010600030101010101" pitchFamily="2" charset="-122"/>
                <a:cs typeface="Calibri" panose="020F0502020204030204" pitchFamily="34" charset="0"/>
              </a:rPr>
              <a:t>ms</a:t>
            </a:r>
            <a:endParaRPr lang="en-US" sz="1400" dirty="0">
              <a:latin typeface="Calibri" panose="020F0502020204030204" pitchFamily="34" charset="0"/>
              <a:cs typeface="Calibri" panose="020F0502020204030204" pitchFamily="34" charset="0"/>
            </a:endParaRPr>
          </a:p>
        </p:txBody>
      </p:sp>
      <p:sp>
        <p:nvSpPr>
          <p:cNvPr id="16" name="矩形 15">
            <a:extLst>
              <a:ext uri="{FF2B5EF4-FFF2-40B4-BE49-F238E27FC236}">
                <a16:creationId xmlns:a16="http://schemas.microsoft.com/office/drawing/2014/main" id="{A4F23D4A-9E94-3B03-DFE7-BC3B0F7283BF}"/>
              </a:ext>
            </a:extLst>
          </p:cNvPr>
          <p:cNvSpPr>
            <a:spLocks noChangeArrowheads="1"/>
          </p:cNvSpPr>
          <p:nvPr/>
        </p:nvSpPr>
        <p:spPr bwMode="auto">
          <a:xfrm>
            <a:off x="5704107" y="5805442"/>
            <a:ext cx="2897802"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911225">
              <a:defRPr>
                <a:solidFill>
                  <a:schemeClr val="tx1"/>
                </a:solidFill>
                <a:latin typeface="Calibri" panose="020F0502020204030204" pitchFamily="34" charset="0"/>
                <a:ea typeface="宋体" panose="02010600030101010101" pitchFamily="2" charset="-122"/>
              </a:defRPr>
            </a:lvl1pPr>
            <a:lvl2pPr marL="742950" indent="-285750" defTabSz="911225">
              <a:defRPr>
                <a:solidFill>
                  <a:schemeClr val="tx1"/>
                </a:solidFill>
                <a:latin typeface="Calibri" panose="020F0502020204030204" pitchFamily="34" charset="0"/>
                <a:ea typeface="宋体" panose="02010600030101010101" pitchFamily="2" charset="-122"/>
              </a:defRPr>
            </a:lvl2pPr>
            <a:lvl3pPr marL="1143000" indent="-228600" defTabSz="911225">
              <a:defRPr>
                <a:solidFill>
                  <a:schemeClr val="tx1"/>
                </a:solidFill>
                <a:latin typeface="Calibri" panose="020F0502020204030204" pitchFamily="34" charset="0"/>
                <a:ea typeface="宋体" panose="02010600030101010101" pitchFamily="2" charset="-122"/>
              </a:defRPr>
            </a:lvl3pPr>
            <a:lvl4pPr marL="1600200" indent="-228600" defTabSz="911225">
              <a:defRPr>
                <a:solidFill>
                  <a:schemeClr val="tx1"/>
                </a:solidFill>
                <a:latin typeface="Calibri" panose="020F0502020204030204" pitchFamily="34" charset="0"/>
                <a:ea typeface="宋体" panose="02010600030101010101" pitchFamily="2" charset="-122"/>
              </a:defRPr>
            </a:lvl4pPr>
            <a:lvl5pPr marL="2057400" indent="-228600" defTabSz="911225">
              <a:defRPr>
                <a:solidFill>
                  <a:schemeClr val="tx1"/>
                </a:solidFill>
                <a:latin typeface="Calibri" panose="020F0502020204030204" pitchFamily="34" charset="0"/>
                <a:ea typeface="宋体" panose="02010600030101010101" pitchFamily="2" charset="-122"/>
              </a:defRPr>
            </a:lvl5pPr>
            <a:lvl6pPr marL="25146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l"/>
            <a:r>
              <a:rPr lang="en-US" altLang="zh-CN" sz="1400" b="1" i="1" dirty="0">
                <a:effectLst>
                  <a:innerShdw blurRad="63500" dist="50800">
                    <a:prstClr val="black">
                      <a:alpha val="50000"/>
                    </a:prstClr>
                  </a:innerShdw>
                </a:effectLst>
                <a:latin typeface="open sans" panose="020B0606030504020204" pitchFamily="34" charset="0"/>
              </a:rPr>
              <a:t>t</a:t>
            </a:r>
            <a:r>
              <a:rPr lang="en-US" altLang="zh-CN" sz="1400" b="1" dirty="0">
                <a:effectLst>
                  <a:innerShdw blurRad="63500" dist="50800">
                    <a:prstClr val="black">
                      <a:alpha val="50000"/>
                    </a:prstClr>
                  </a:innerShdw>
                </a:effectLst>
                <a:latin typeface="open sans" panose="020B0606030504020204" pitchFamily="34" charset="0"/>
              </a:rPr>
              <a:t>(73) = -4.71, </a:t>
            </a:r>
            <a:r>
              <a:rPr lang="en-US" altLang="zh-CN" sz="1400" b="1" i="1" dirty="0">
                <a:solidFill>
                  <a:srgbClr val="FF0000"/>
                </a:solidFill>
                <a:effectLst>
                  <a:innerShdw blurRad="63500" dist="50800">
                    <a:prstClr val="black">
                      <a:alpha val="50000"/>
                    </a:prstClr>
                  </a:innerShdw>
                </a:effectLst>
                <a:latin typeface="open sans" panose="020B0606030504020204" pitchFamily="34" charset="0"/>
              </a:rPr>
              <a:t>p</a:t>
            </a:r>
            <a:r>
              <a:rPr lang="en-US" altLang="zh-CN" sz="1400" b="1" dirty="0">
                <a:solidFill>
                  <a:srgbClr val="FF0000"/>
                </a:solidFill>
                <a:effectLst>
                  <a:innerShdw blurRad="63500" dist="50800">
                    <a:prstClr val="black">
                      <a:alpha val="50000"/>
                    </a:prstClr>
                  </a:innerShdw>
                </a:effectLst>
                <a:latin typeface="open sans" panose="020B0606030504020204" pitchFamily="34" charset="0"/>
              </a:rPr>
              <a:t> &lt; .001</a:t>
            </a:r>
          </a:p>
        </p:txBody>
      </p:sp>
      <p:sp>
        <p:nvSpPr>
          <p:cNvPr id="17" name="TextBox 16">
            <a:extLst>
              <a:ext uri="{FF2B5EF4-FFF2-40B4-BE49-F238E27FC236}">
                <a16:creationId xmlns:a16="http://schemas.microsoft.com/office/drawing/2014/main" id="{BFC3E269-1023-25CF-09CD-989262C50C53}"/>
              </a:ext>
            </a:extLst>
          </p:cNvPr>
          <p:cNvSpPr txBox="1"/>
          <p:nvPr/>
        </p:nvSpPr>
        <p:spPr>
          <a:xfrm>
            <a:off x="5414997" y="6020886"/>
            <a:ext cx="2655212" cy="307777"/>
          </a:xfrm>
          <a:prstGeom prst="rect">
            <a:avLst/>
          </a:prstGeom>
          <a:noFill/>
        </p:spPr>
        <p:txBody>
          <a:bodyPr wrap="square">
            <a:spAutoFit/>
          </a:bodyPr>
          <a:lstStyle/>
          <a:p>
            <a:r>
              <a:rPr lang="en-US" sz="1400" dirty="0">
                <a:solidFill>
                  <a:srgbClr val="000000"/>
                </a:solidFill>
                <a:effectLst/>
                <a:latin typeface="Calibri" panose="020F0502020204030204" pitchFamily="34" charset="0"/>
                <a:ea typeface="SimSun" panose="02010600030101010101" pitchFamily="2" charset="-122"/>
                <a:cs typeface="Calibri" panose="020F0502020204030204" pitchFamily="34" charset="0"/>
              </a:rPr>
              <a:t>reaction time benefit </a:t>
            </a:r>
            <a:r>
              <a:rPr lang="en-US" sz="1400" dirty="0">
                <a:solidFill>
                  <a:srgbClr val="000000"/>
                </a:solidFill>
                <a:latin typeface="Calibri" panose="020F0502020204030204" pitchFamily="34" charset="0"/>
                <a:ea typeface="SimSun" panose="02010600030101010101" pitchFamily="2" charset="-122"/>
                <a:cs typeface="Calibri" panose="020F0502020204030204" pitchFamily="34" charset="0"/>
              </a:rPr>
              <a:t>=</a:t>
            </a:r>
            <a:r>
              <a:rPr lang="en-US" sz="1400" dirty="0">
                <a:solidFill>
                  <a:srgbClr val="000000"/>
                </a:solidFill>
                <a:effectLst/>
                <a:latin typeface="Calibri" panose="020F0502020204030204" pitchFamily="34" charset="0"/>
                <a:ea typeface="SimSun" panose="02010600030101010101" pitchFamily="2" charset="-122"/>
                <a:cs typeface="Calibri" panose="020F0502020204030204" pitchFamily="34" charset="0"/>
              </a:rPr>
              <a:t> -90.1 </a:t>
            </a:r>
            <a:r>
              <a:rPr lang="en-US" sz="1400" dirty="0" err="1">
                <a:solidFill>
                  <a:srgbClr val="000000"/>
                </a:solidFill>
                <a:effectLst/>
                <a:latin typeface="Calibri" panose="020F0502020204030204" pitchFamily="34" charset="0"/>
                <a:ea typeface="SimSun" panose="02010600030101010101" pitchFamily="2" charset="-122"/>
                <a:cs typeface="Calibri" panose="020F0502020204030204" pitchFamily="34" charset="0"/>
              </a:rPr>
              <a:t>ms</a:t>
            </a: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94527470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D077336-FF10-8534-C647-70152F8018C0}"/>
              </a:ext>
            </a:extLst>
          </p:cNvPr>
          <p:cNvSpPr/>
          <p:nvPr/>
        </p:nvSpPr>
        <p:spPr>
          <a:xfrm>
            <a:off x="-884964" y="1032424"/>
            <a:ext cx="3877986" cy="707886"/>
          </a:xfrm>
          <a:prstGeom prst="rect">
            <a:avLst/>
          </a:prstGeom>
          <a:noFill/>
        </p:spPr>
        <p:txBody>
          <a:bodyPr wrap="square" lIns="91440" tIns="45720" rIns="91440" bIns="45720">
            <a:spAutoFit/>
          </a:bodyPr>
          <a:lstStyle/>
          <a:p>
            <a:pPr algn="ctr"/>
            <a:r>
              <a:rPr lang="en-US" sz="40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rPr>
              <a:t>R</a:t>
            </a:r>
            <a:r>
              <a:rPr lang="en-US" altLang="zh-CN" sz="40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rPr>
              <a:t>esults</a:t>
            </a:r>
            <a:endParaRPr lang="en-US" sz="40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2" name="TextBox 1">
            <a:extLst>
              <a:ext uri="{FF2B5EF4-FFF2-40B4-BE49-F238E27FC236}">
                <a16:creationId xmlns:a16="http://schemas.microsoft.com/office/drawing/2014/main" id="{7C5EF815-94CA-D89B-9E71-477E08EC414E}"/>
              </a:ext>
            </a:extLst>
          </p:cNvPr>
          <p:cNvSpPr txBox="1"/>
          <p:nvPr/>
        </p:nvSpPr>
        <p:spPr>
          <a:xfrm>
            <a:off x="277268" y="2496922"/>
            <a:ext cx="3024219" cy="1200329"/>
          </a:xfrm>
          <a:prstGeom prst="rect">
            <a:avLst/>
          </a:prstGeom>
          <a:noFill/>
        </p:spPr>
        <p:txBody>
          <a:bodyPr wrap="square" rtlCol="0">
            <a:spAutoFit/>
          </a:bodyPr>
          <a:lstStyle/>
          <a:p>
            <a:r>
              <a:rPr lang="en-US" b="1" dirty="0">
                <a:solidFill>
                  <a:srgbClr val="000000"/>
                </a:solidFill>
                <a:latin typeface="Calibri" panose="020F0502020204030204" pitchFamily="34" charset="0"/>
                <a:ea typeface="SimSun" panose="02010600030101010101" pitchFamily="2" charset="-122"/>
                <a:cs typeface="Calibri" panose="020F0502020204030204" pitchFamily="34" charset="0"/>
              </a:rPr>
              <a:t>Exp 1</a:t>
            </a:r>
            <a:r>
              <a:rPr lang="zh-CN" altLang="en-US" b="1" dirty="0">
                <a:solidFill>
                  <a:srgbClr val="000000"/>
                </a:solidFill>
                <a:latin typeface="Calibri" panose="020F0502020204030204" pitchFamily="34" charset="0"/>
                <a:ea typeface="SimSun" panose="02010600030101010101" pitchFamily="2" charset="-122"/>
                <a:cs typeface="Calibri" panose="020F0502020204030204" pitchFamily="34" charset="0"/>
              </a:rPr>
              <a:t>：</a:t>
            </a:r>
            <a:r>
              <a:rPr lang="en-US" dirty="0">
                <a:effectLst/>
                <a:latin typeface="Calibri" panose="020F0502020204030204" pitchFamily="34" charset="0"/>
                <a:ea typeface="Times New Roman" panose="02020603050405020304" pitchFamily="18" charset="0"/>
                <a:cs typeface="Calibri" panose="020F0502020204030204" pitchFamily="34" charset="0"/>
              </a:rPr>
              <a:t>parallel motion lines </a:t>
            </a:r>
            <a:endParaRPr lang="en-US" dirty="0">
              <a:latin typeface="Calibri" panose="020F0502020204030204" pitchFamily="34" charset="0"/>
              <a:cs typeface="Calibri" panose="020F0502020204030204" pitchFamily="34" charset="0"/>
            </a:endParaRPr>
          </a:p>
          <a:p>
            <a:endParaRPr lang="en-US" b="1" dirty="0">
              <a:solidFill>
                <a:srgbClr val="000000"/>
              </a:solidFill>
              <a:latin typeface="Calibri" panose="020F0502020204030204" pitchFamily="34" charset="0"/>
              <a:ea typeface="SimSun" panose="02010600030101010101" pitchFamily="2" charset="-122"/>
              <a:cs typeface="Calibri" panose="020F0502020204030204" pitchFamily="34" charset="0"/>
            </a:endParaRPr>
          </a:p>
          <a:p>
            <a:br>
              <a:rPr lang="en-US" b="1" dirty="0">
                <a:solidFill>
                  <a:srgbClr val="000000"/>
                </a:solidFill>
                <a:latin typeface="Calibri" panose="020F0502020204030204" pitchFamily="34" charset="0"/>
                <a:ea typeface="SimSun" panose="02010600030101010101" pitchFamily="2" charset="-122"/>
                <a:cs typeface="Calibri" panose="020F0502020204030204" pitchFamily="34" charset="0"/>
              </a:rPr>
            </a:br>
            <a:endParaRPr lang="en-US" b="1" dirty="0">
              <a:solidFill>
                <a:srgbClr val="000000"/>
              </a:solidFill>
              <a:latin typeface="Calibri" panose="020F0502020204030204" pitchFamily="34" charset="0"/>
              <a:ea typeface="SimSun" panose="02010600030101010101" pitchFamily="2" charset="-122"/>
              <a:cs typeface="Calibri" panose="020F0502020204030204" pitchFamily="34" charset="0"/>
            </a:endParaRPr>
          </a:p>
        </p:txBody>
      </p:sp>
      <p:sp>
        <p:nvSpPr>
          <p:cNvPr id="6" name="TextBox 5">
            <a:extLst>
              <a:ext uri="{FF2B5EF4-FFF2-40B4-BE49-F238E27FC236}">
                <a16:creationId xmlns:a16="http://schemas.microsoft.com/office/drawing/2014/main" id="{9BF6EAF0-51AE-EE48-F3BE-70214C7232C7}"/>
              </a:ext>
            </a:extLst>
          </p:cNvPr>
          <p:cNvSpPr txBox="1"/>
          <p:nvPr/>
        </p:nvSpPr>
        <p:spPr>
          <a:xfrm>
            <a:off x="280284" y="1602754"/>
            <a:ext cx="8513064" cy="923330"/>
          </a:xfrm>
          <a:prstGeom prst="rect">
            <a:avLst/>
          </a:prstGeom>
          <a:noFill/>
        </p:spPr>
        <p:txBody>
          <a:bodyPr wrap="square">
            <a:spAutoFit/>
          </a:bodyPr>
          <a:lstStyle/>
          <a:p>
            <a:r>
              <a:rPr lang="en-US" dirty="0">
                <a:solidFill>
                  <a:srgbClr val="000000"/>
                </a:solidFill>
                <a:latin typeface="Calibri" panose="020F0502020204030204" pitchFamily="34" charset="0"/>
                <a:ea typeface="SimSun" panose="02010600030101010101" pitchFamily="2" charset="-122"/>
                <a:cs typeface="Calibri" panose="020F0502020204030204" pitchFamily="34" charset="0"/>
              </a:rPr>
              <a:t>To investigate hypotheses 2 and 3, we ran a repeated-measures 2 (search-task: agent search, patient search) x 2 (agent motion lines: with, without) x 2 (patient motion lines: with, without) ANOVA with the dependent measure response time. </a:t>
            </a:r>
          </a:p>
        </p:txBody>
      </p:sp>
      <p:pic>
        <p:nvPicPr>
          <p:cNvPr id="3" name="Picture 2">
            <a:extLst>
              <a:ext uri="{FF2B5EF4-FFF2-40B4-BE49-F238E27FC236}">
                <a16:creationId xmlns:a16="http://schemas.microsoft.com/office/drawing/2014/main" id="{1E548D1D-4ADC-4DF9-CB37-88BFAEDFBE4F}"/>
              </a:ext>
            </a:extLst>
          </p:cNvPr>
          <p:cNvPicPr>
            <a:picLocks noChangeAspect="1"/>
          </p:cNvPicPr>
          <p:nvPr/>
        </p:nvPicPr>
        <p:blipFill>
          <a:blip r:embed="rId3"/>
          <a:stretch>
            <a:fillRect/>
          </a:stretch>
        </p:blipFill>
        <p:spPr>
          <a:xfrm>
            <a:off x="5941765" y="2892096"/>
            <a:ext cx="3202235" cy="3128631"/>
          </a:xfrm>
          <a:prstGeom prst="rect">
            <a:avLst/>
          </a:prstGeom>
        </p:spPr>
      </p:pic>
      <p:pic>
        <p:nvPicPr>
          <p:cNvPr id="5" name="Picture 4">
            <a:extLst>
              <a:ext uri="{FF2B5EF4-FFF2-40B4-BE49-F238E27FC236}">
                <a16:creationId xmlns:a16="http://schemas.microsoft.com/office/drawing/2014/main" id="{9839A5AF-7F9B-8676-3909-04B5A8EB451E}"/>
              </a:ext>
            </a:extLst>
          </p:cNvPr>
          <p:cNvPicPr>
            <a:picLocks noChangeAspect="1"/>
          </p:cNvPicPr>
          <p:nvPr/>
        </p:nvPicPr>
        <p:blipFill>
          <a:blip r:embed="rId4"/>
          <a:stretch>
            <a:fillRect/>
          </a:stretch>
        </p:blipFill>
        <p:spPr>
          <a:xfrm>
            <a:off x="326004" y="3282696"/>
            <a:ext cx="5550240" cy="2458146"/>
          </a:xfrm>
          <a:prstGeom prst="rect">
            <a:avLst/>
          </a:prstGeom>
        </p:spPr>
      </p:pic>
      <p:pic>
        <p:nvPicPr>
          <p:cNvPr id="8" name="Picture 7" descr="A drawing of two fish&#10;&#10;Description automatically generated">
            <a:extLst>
              <a:ext uri="{FF2B5EF4-FFF2-40B4-BE49-F238E27FC236}">
                <a16:creationId xmlns:a16="http://schemas.microsoft.com/office/drawing/2014/main" id="{6C77E56F-9141-2C12-0795-ED8BCBF57DCE}"/>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l="17217" r="17044"/>
          <a:stretch/>
        </p:blipFill>
        <p:spPr>
          <a:xfrm>
            <a:off x="7303064" y="245977"/>
            <a:ext cx="1402819" cy="1200329"/>
          </a:xfrm>
          <a:prstGeom prst="rect">
            <a:avLst/>
          </a:prstGeom>
        </p:spPr>
      </p:pic>
    </p:spTree>
    <p:extLst>
      <p:ext uri="{BB962C8B-B14F-4D97-AF65-F5344CB8AC3E}">
        <p14:creationId xmlns:p14="http://schemas.microsoft.com/office/powerpoint/2010/main" val="148939347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D077336-FF10-8534-C647-70152F8018C0}"/>
              </a:ext>
            </a:extLst>
          </p:cNvPr>
          <p:cNvSpPr/>
          <p:nvPr/>
        </p:nvSpPr>
        <p:spPr>
          <a:xfrm>
            <a:off x="-884964" y="1032424"/>
            <a:ext cx="3877986" cy="707886"/>
          </a:xfrm>
          <a:prstGeom prst="rect">
            <a:avLst/>
          </a:prstGeom>
          <a:noFill/>
        </p:spPr>
        <p:txBody>
          <a:bodyPr wrap="square" lIns="91440" tIns="45720" rIns="91440" bIns="45720">
            <a:spAutoFit/>
          </a:bodyPr>
          <a:lstStyle/>
          <a:p>
            <a:pPr algn="ctr"/>
            <a:r>
              <a:rPr lang="en-US" sz="40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rPr>
              <a:t>R</a:t>
            </a:r>
            <a:r>
              <a:rPr lang="en-US" altLang="zh-CN" sz="40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rPr>
              <a:t>esults</a:t>
            </a:r>
            <a:endParaRPr lang="en-US" sz="40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2" name="TextBox 1">
            <a:extLst>
              <a:ext uri="{FF2B5EF4-FFF2-40B4-BE49-F238E27FC236}">
                <a16:creationId xmlns:a16="http://schemas.microsoft.com/office/drawing/2014/main" id="{7C5EF815-94CA-D89B-9E71-477E08EC414E}"/>
              </a:ext>
            </a:extLst>
          </p:cNvPr>
          <p:cNvSpPr txBox="1"/>
          <p:nvPr/>
        </p:nvSpPr>
        <p:spPr>
          <a:xfrm>
            <a:off x="261365" y="1740310"/>
            <a:ext cx="3024219" cy="1200329"/>
          </a:xfrm>
          <a:prstGeom prst="rect">
            <a:avLst/>
          </a:prstGeom>
          <a:noFill/>
        </p:spPr>
        <p:txBody>
          <a:bodyPr wrap="square" rtlCol="0">
            <a:spAutoFit/>
          </a:bodyPr>
          <a:lstStyle/>
          <a:p>
            <a:r>
              <a:rPr lang="en-US" b="1" dirty="0">
                <a:solidFill>
                  <a:srgbClr val="000000"/>
                </a:solidFill>
                <a:latin typeface="Calibri" panose="020F0502020204030204" pitchFamily="34" charset="0"/>
                <a:ea typeface="SimSun" panose="02010600030101010101" pitchFamily="2" charset="-122"/>
                <a:cs typeface="Calibri" panose="020F0502020204030204" pitchFamily="34" charset="0"/>
              </a:rPr>
              <a:t>Exp 1</a:t>
            </a:r>
            <a:r>
              <a:rPr lang="zh-CN" altLang="en-US" b="1" dirty="0">
                <a:solidFill>
                  <a:srgbClr val="000000"/>
                </a:solidFill>
                <a:latin typeface="Calibri" panose="020F0502020204030204" pitchFamily="34" charset="0"/>
                <a:ea typeface="SimSun" panose="02010600030101010101" pitchFamily="2" charset="-122"/>
                <a:cs typeface="Calibri" panose="020F0502020204030204" pitchFamily="34" charset="0"/>
              </a:rPr>
              <a:t>：</a:t>
            </a:r>
            <a:r>
              <a:rPr lang="en-US" dirty="0">
                <a:effectLst/>
                <a:latin typeface="Calibri" panose="020F0502020204030204" pitchFamily="34" charset="0"/>
                <a:ea typeface="Times New Roman" panose="02020603050405020304" pitchFamily="18" charset="0"/>
                <a:cs typeface="Calibri" panose="020F0502020204030204" pitchFamily="34" charset="0"/>
              </a:rPr>
              <a:t>parallel motion lines </a:t>
            </a:r>
            <a:endParaRPr lang="en-US" dirty="0">
              <a:latin typeface="Calibri" panose="020F0502020204030204" pitchFamily="34" charset="0"/>
              <a:cs typeface="Calibri" panose="020F0502020204030204" pitchFamily="34" charset="0"/>
            </a:endParaRPr>
          </a:p>
          <a:p>
            <a:endParaRPr lang="en-US" b="1" dirty="0">
              <a:solidFill>
                <a:srgbClr val="000000"/>
              </a:solidFill>
              <a:latin typeface="Calibri" panose="020F0502020204030204" pitchFamily="34" charset="0"/>
              <a:ea typeface="SimSun" panose="02010600030101010101" pitchFamily="2" charset="-122"/>
              <a:cs typeface="Calibri" panose="020F0502020204030204" pitchFamily="34" charset="0"/>
            </a:endParaRPr>
          </a:p>
          <a:p>
            <a:br>
              <a:rPr lang="en-US" b="1" dirty="0">
                <a:solidFill>
                  <a:srgbClr val="000000"/>
                </a:solidFill>
                <a:latin typeface="Calibri" panose="020F0502020204030204" pitchFamily="34" charset="0"/>
                <a:ea typeface="SimSun" panose="02010600030101010101" pitchFamily="2" charset="-122"/>
                <a:cs typeface="Calibri" panose="020F0502020204030204" pitchFamily="34" charset="0"/>
              </a:rPr>
            </a:br>
            <a:endParaRPr lang="en-US" b="1" dirty="0">
              <a:solidFill>
                <a:srgbClr val="000000"/>
              </a:solidFill>
              <a:latin typeface="Calibri" panose="020F0502020204030204" pitchFamily="34" charset="0"/>
              <a:ea typeface="SimSun" panose="02010600030101010101" pitchFamily="2" charset="-122"/>
              <a:cs typeface="Calibri" panose="020F0502020204030204" pitchFamily="34" charset="0"/>
            </a:endParaRPr>
          </a:p>
        </p:txBody>
      </p:sp>
      <p:pic>
        <p:nvPicPr>
          <p:cNvPr id="7" name="Picture 6">
            <a:extLst>
              <a:ext uri="{FF2B5EF4-FFF2-40B4-BE49-F238E27FC236}">
                <a16:creationId xmlns:a16="http://schemas.microsoft.com/office/drawing/2014/main" id="{61348AA0-3B5A-231E-10D6-D1E2F669752C}"/>
              </a:ext>
            </a:extLst>
          </p:cNvPr>
          <p:cNvPicPr>
            <a:picLocks noChangeAspect="1"/>
          </p:cNvPicPr>
          <p:nvPr/>
        </p:nvPicPr>
        <p:blipFill rotWithShape="1">
          <a:blip r:embed="rId3"/>
          <a:srcRect t="1113"/>
          <a:stretch/>
        </p:blipFill>
        <p:spPr>
          <a:xfrm>
            <a:off x="261365" y="2340474"/>
            <a:ext cx="5559751" cy="3282718"/>
          </a:xfrm>
          <a:prstGeom prst="rect">
            <a:avLst/>
          </a:prstGeom>
        </p:spPr>
      </p:pic>
      <p:sp>
        <p:nvSpPr>
          <p:cNvPr id="9" name="TextBox 8">
            <a:extLst>
              <a:ext uri="{FF2B5EF4-FFF2-40B4-BE49-F238E27FC236}">
                <a16:creationId xmlns:a16="http://schemas.microsoft.com/office/drawing/2014/main" id="{8E781921-016E-6FC1-E578-DD8EBC1B73D7}"/>
              </a:ext>
            </a:extLst>
          </p:cNvPr>
          <p:cNvSpPr txBox="1"/>
          <p:nvPr/>
        </p:nvSpPr>
        <p:spPr>
          <a:xfrm>
            <a:off x="6150980" y="1740310"/>
            <a:ext cx="2077278" cy="375552"/>
          </a:xfrm>
          <a:prstGeom prst="rect">
            <a:avLst/>
          </a:prstGeom>
          <a:noFill/>
        </p:spPr>
        <p:txBody>
          <a:bodyPr wrap="square">
            <a:spAutoFit/>
          </a:bodyPr>
          <a:lstStyle/>
          <a:p>
            <a:pPr marL="0" marR="0">
              <a:lnSpc>
                <a:spcPct val="107000"/>
              </a:lnSpc>
              <a:spcBef>
                <a:spcPts val="0"/>
              </a:spcBef>
              <a:spcAft>
                <a:spcPts val="800"/>
              </a:spcAft>
            </a:pPr>
            <a:r>
              <a:rPr lang="en-US" sz="1800" kern="100" dirty="0">
                <a:effectLst/>
                <a:latin typeface="Calibri" panose="020F0502020204030204" pitchFamily="34" charset="0"/>
                <a:ea typeface="DengXian" panose="02010600030101010101" pitchFamily="2" charset="-122"/>
                <a:cs typeface="Arial" panose="020B0604020202020204" pitchFamily="34" charset="0"/>
              </a:rPr>
              <a:t>Agent condition</a:t>
            </a:r>
          </a:p>
        </p:txBody>
      </p:sp>
      <p:pic>
        <p:nvPicPr>
          <p:cNvPr id="10" name="Picture 9">
            <a:extLst>
              <a:ext uri="{FF2B5EF4-FFF2-40B4-BE49-F238E27FC236}">
                <a16:creationId xmlns:a16="http://schemas.microsoft.com/office/drawing/2014/main" id="{E1406B02-101D-9A36-883B-48025EEB840C}"/>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258170" y="2267093"/>
            <a:ext cx="6702950" cy="1347091"/>
          </a:xfrm>
          <a:prstGeom prst="rect">
            <a:avLst/>
          </a:prstGeom>
        </p:spPr>
      </p:pic>
      <p:sp>
        <p:nvSpPr>
          <p:cNvPr id="12" name="TextBox 11">
            <a:extLst>
              <a:ext uri="{FF2B5EF4-FFF2-40B4-BE49-F238E27FC236}">
                <a16:creationId xmlns:a16="http://schemas.microsoft.com/office/drawing/2014/main" id="{AC3A4903-9BEE-7FAA-4C30-C7B657B47FC1}"/>
              </a:ext>
            </a:extLst>
          </p:cNvPr>
          <p:cNvSpPr txBox="1"/>
          <p:nvPr/>
        </p:nvSpPr>
        <p:spPr>
          <a:xfrm>
            <a:off x="6150980" y="3765415"/>
            <a:ext cx="2315817" cy="375552"/>
          </a:xfrm>
          <a:prstGeom prst="rect">
            <a:avLst/>
          </a:prstGeom>
          <a:noFill/>
        </p:spPr>
        <p:txBody>
          <a:bodyPr wrap="square">
            <a:spAutoFit/>
          </a:bodyPr>
          <a:lstStyle/>
          <a:p>
            <a:pPr marL="0" marR="0">
              <a:lnSpc>
                <a:spcPct val="107000"/>
              </a:lnSpc>
              <a:spcBef>
                <a:spcPts val="0"/>
              </a:spcBef>
              <a:spcAft>
                <a:spcPts val="800"/>
              </a:spcAft>
            </a:pPr>
            <a:r>
              <a:rPr lang="en-US" sz="1800" kern="100" dirty="0">
                <a:effectLst/>
                <a:latin typeface="Calibri" panose="020F0502020204030204" pitchFamily="34" charset="0"/>
                <a:ea typeface="DengXian" panose="02010600030101010101" pitchFamily="2" charset="-122"/>
                <a:cs typeface="Arial" panose="020B0604020202020204" pitchFamily="34" charset="0"/>
              </a:rPr>
              <a:t>Patient condition</a:t>
            </a:r>
          </a:p>
        </p:txBody>
      </p:sp>
      <p:pic>
        <p:nvPicPr>
          <p:cNvPr id="13" name="Picture 12">
            <a:extLst>
              <a:ext uri="{FF2B5EF4-FFF2-40B4-BE49-F238E27FC236}">
                <a16:creationId xmlns:a16="http://schemas.microsoft.com/office/drawing/2014/main" id="{5F763C63-ED1F-552F-74A8-A14F59D89B3B}"/>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231232" y="4202737"/>
            <a:ext cx="6729888" cy="1200329"/>
          </a:xfrm>
          <a:prstGeom prst="rect">
            <a:avLst/>
          </a:prstGeom>
        </p:spPr>
      </p:pic>
      <p:pic>
        <p:nvPicPr>
          <p:cNvPr id="14" name="Picture 13" descr="A drawing of two fish&#10;&#10;Description automatically generated">
            <a:extLst>
              <a:ext uri="{FF2B5EF4-FFF2-40B4-BE49-F238E27FC236}">
                <a16:creationId xmlns:a16="http://schemas.microsoft.com/office/drawing/2014/main" id="{C15A4893-AE84-275D-6E69-8CA705E0E616}"/>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17217" r="17044"/>
          <a:stretch/>
        </p:blipFill>
        <p:spPr>
          <a:xfrm>
            <a:off x="7303064" y="245977"/>
            <a:ext cx="1402819" cy="1200329"/>
          </a:xfrm>
          <a:prstGeom prst="rect">
            <a:avLst/>
          </a:prstGeom>
        </p:spPr>
      </p:pic>
    </p:spTree>
    <p:extLst>
      <p:ext uri="{BB962C8B-B14F-4D97-AF65-F5344CB8AC3E}">
        <p14:creationId xmlns:p14="http://schemas.microsoft.com/office/powerpoint/2010/main" val="19247884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3"/>
                                        </p:tgtEl>
                                        <p:attrNameLst>
                                          <p:attrName>style.visibility</p:attrName>
                                        </p:attrNameLst>
                                      </p:cBhvr>
                                      <p:to>
                                        <p:strVal val="visible"/>
                                      </p:to>
                                    </p:set>
                                    <p:anim calcmode="lin" valueType="num">
                                      <p:cBhvr additive="base">
                                        <p:cTn id="13" dur="500" fill="hold"/>
                                        <p:tgtEl>
                                          <p:spTgt spid="13"/>
                                        </p:tgtEl>
                                        <p:attrNameLst>
                                          <p:attrName>ppt_x</p:attrName>
                                        </p:attrNameLst>
                                      </p:cBhvr>
                                      <p:tavLst>
                                        <p:tav tm="0">
                                          <p:val>
                                            <p:strVal val="#ppt_x"/>
                                          </p:val>
                                        </p:tav>
                                        <p:tav tm="100000">
                                          <p:val>
                                            <p:strVal val="#ppt_x"/>
                                          </p:val>
                                        </p:tav>
                                      </p:tavLst>
                                    </p:anim>
                                    <p:anim calcmode="lin" valueType="num">
                                      <p:cBhvr additive="base">
                                        <p:cTn id="14"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D077336-FF10-8534-C647-70152F8018C0}"/>
              </a:ext>
            </a:extLst>
          </p:cNvPr>
          <p:cNvSpPr/>
          <p:nvPr/>
        </p:nvSpPr>
        <p:spPr>
          <a:xfrm>
            <a:off x="-884964" y="1032424"/>
            <a:ext cx="3877986" cy="707886"/>
          </a:xfrm>
          <a:prstGeom prst="rect">
            <a:avLst/>
          </a:prstGeom>
          <a:noFill/>
        </p:spPr>
        <p:txBody>
          <a:bodyPr wrap="square" lIns="91440" tIns="45720" rIns="91440" bIns="45720">
            <a:spAutoFit/>
          </a:bodyPr>
          <a:lstStyle/>
          <a:p>
            <a:pPr algn="ctr"/>
            <a:r>
              <a:rPr lang="en-US" sz="40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rPr>
              <a:t>R</a:t>
            </a:r>
            <a:r>
              <a:rPr lang="en-US" altLang="zh-CN" sz="40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rPr>
              <a:t>esults</a:t>
            </a:r>
            <a:endParaRPr lang="en-US" sz="40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2" name="TextBox 1">
            <a:extLst>
              <a:ext uri="{FF2B5EF4-FFF2-40B4-BE49-F238E27FC236}">
                <a16:creationId xmlns:a16="http://schemas.microsoft.com/office/drawing/2014/main" id="{7C5EF815-94CA-D89B-9E71-477E08EC414E}"/>
              </a:ext>
            </a:extLst>
          </p:cNvPr>
          <p:cNvSpPr txBox="1"/>
          <p:nvPr/>
        </p:nvSpPr>
        <p:spPr>
          <a:xfrm>
            <a:off x="277268" y="2496922"/>
            <a:ext cx="3968729" cy="1200329"/>
          </a:xfrm>
          <a:prstGeom prst="rect">
            <a:avLst/>
          </a:prstGeom>
          <a:noFill/>
        </p:spPr>
        <p:txBody>
          <a:bodyPr wrap="square" rtlCol="0">
            <a:spAutoFit/>
          </a:bodyPr>
          <a:lstStyle/>
          <a:p>
            <a:r>
              <a:rPr lang="en-US" b="1" dirty="0">
                <a:solidFill>
                  <a:srgbClr val="000000"/>
                </a:solidFill>
                <a:latin typeface="Calibri" panose="020F0502020204030204" pitchFamily="34" charset="0"/>
                <a:ea typeface="SimSun" panose="02010600030101010101" pitchFamily="2" charset="-122"/>
                <a:cs typeface="Calibri" panose="020F0502020204030204" pitchFamily="34" charset="0"/>
              </a:rPr>
              <a:t>Exp 2</a:t>
            </a:r>
            <a:r>
              <a:rPr lang="zh-CN" altLang="en-US" b="1" dirty="0">
                <a:solidFill>
                  <a:srgbClr val="000000"/>
                </a:solidFill>
                <a:latin typeface="Calibri" panose="020F0502020204030204" pitchFamily="34" charset="0"/>
                <a:ea typeface="SimSun" panose="02010600030101010101" pitchFamily="2" charset="-122"/>
                <a:cs typeface="Calibri" panose="020F0502020204030204" pitchFamily="34" charset="0"/>
              </a:rPr>
              <a:t>：</a:t>
            </a:r>
            <a:r>
              <a:rPr lang="en-US" dirty="0">
                <a:effectLst/>
                <a:latin typeface="Calibri" panose="020F0502020204030204" pitchFamily="34" charset="0"/>
                <a:ea typeface="Times New Roman" panose="02020603050405020304" pitchFamily="18" charset="0"/>
                <a:cs typeface="Calibri" panose="020F0502020204030204" pitchFamily="34" charset="0"/>
              </a:rPr>
              <a:t> orthogonal motion lines </a:t>
            </a:r>
            <a:endParaRPr lang="en-US" dirty="0">
              <a:latin typeface="Calibri" panose="020F0502020204030204" pitchFamily="34" charset="0"/>
              <a:cs typeface="Calibri" panose="020F0502020204030204" pitchFamily="34" charset="0"/>
            </a:endParaRPr>
          </a:p>
          <a:p>
            <a:endParaRPr lang="en-US" b="1" dirty="0">
              <a:solidFill>
                <a:srgbClr val="000000"/>
              </a:solidFill>
              <a:latin typeface="Calibri" panose="020F0502020204030204" pitchFamily="34" charset="0"/>
              <a:ea typeface="SimSun" panose="02010600030101010101" pitchFamily="2" charset="-122"/>
              <a:cs typeface="Calibri" panose="020F0502020204030204" pitchFamily="34" charset="0"/>
            </a:endParaRPr>
          </a:p>
          <a:p>
            <a:br>
              <a:rPr lang="en-US" b="1" dirty="0">
                <a:solidFill>
                  <a:srgbClr val="000000"/>
                </a:solidFill>
                <a:latin typeface="Calibri" panose="020F0502020204030204" pitchFamily="34" charset="0"/>
                <a:ea typeface="SimSun" panose="02010600030101010101" pitchFamily="2" charset="-122"/>
                <a:cs typeface="Calibri" panose="020F0502020204030204" pitchFamily="34" charset="0"/>
              </a:rPr>
            </a:br>
            <a:endParaRPr lang="en-US" b="1" dirty="0">
              <a:solidFill>
                <a:srgbClr val="000000"/>
              </a:solidFill>
              <a:latin typeface="Calibri" panose="020F0502020204030204" pitchFamily="34" charset="0"/>
              <a:ea typeface="SimSun" panose="02010600030101010101" pitchFamily="2" charset="-122"/>
              <a:cs typeface="Calibri" panose="020F0502020204030204" pitchFamily="34" charset="0"/>
            </a:endParaRPr>
          </a:p>
        </p:txBody>
      </p:sp>
      <p:sp>
        <p:nvSpPr>
          <p:cNvPr id="6" name="TextBox 5">
            <a:extLst>
              <a:ext uri="{FF2B5EF4-FFF2-40B4-BE49-F238E27FC236}">
                <a16:creationId xmlns:a16="http://schemas.microsoft.com/office/drawing/2014/main" id="{9BF6EAF0-51AE-EE48-F3BE-70214C7232C7}"/>
              </a:ext>
            </a:extLst>
          </p:cNvPr>
          <p:cNvSpPr txBox="1"/>
          <p:nvPr/>
        </p:nvSpPr>
        <p:spPr>
          <a:xfrm>
            <a:off x="280284" y="1602754"/>
            <a:ext cx="8513064" cy="923330"/>
          </a:xfrm>
          <a:prstGeom prst="rect">
            <a:avLst/>
          </a:prstGeom>
          <a:noFill/>
        </p:spPr>
        <p:txBody>
          <a:bodyPr wrap="square">
            <a:spAutoFit/>
          </a:bodyPr>
          <a:lstStyle/>
          <a:p>
            <a:r>
              <a:rPr lang="en-US" dirty="0">
                <a:solidFill>
                  <a:srgbClr val="000000"/>
                </a:solidFill>
                <a:latin typeface="Calibri" panose="020F0502020204030204" pitchFamily="34" charset="0"/>
                <a:ea typeface="SimSun" panose="02010600030101010101" pitchFamily="2" charset="-122"/>
                <a:cs typeface="Calibri" panose="020F0502020204030204" pitchFamily="34" charset="0"/>
              </a:rPr>
              <a:t>To investigate hypotheses 2 and 3, we ran a repeated-measures 2 (search-task: agent search, patient search) x 2 (agent motion lines: with, without) x 2 (patient motion lines: with, without) ANOVA with the dependent measure response time. </a:t>
            </a:r>
          </a:p>
        </p:txBody>
      </p:sp>
      <p:pic>
        <p:nvPicPr>
          <p:cNvPr id="3" name="Picture 2">
            <a:extLst>
              <a:ext uri="{FF2B5EF4-FFF2-40B4-BE49-F238E27FC236}">
                <a16:creationId xmlns:a16="http://schemas.microsoft.com/office/drawing/2014/main" id="{1E548D1D-4ADC-4DF9-CB37-88BFAEDFBE4F}"/>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05377" y="2826065"/>
            <a:ext cx="3138624" cy="2608685"/>
          </a:xfrm>
          <a:prstGeom prst="rect">
            <a:avLst/>
          </a:prstGeom>
        </p:spPr>
      </p:pic>
      <p:pic>
        <p:nvPicPr>
          <p:cNvPr id="7" name="Picture 6">
            <a:extLst>
              <a:ext uri="{FF2B5EF4-FFF2-40B4-BE49-F238E27FC236}">
                <a16:creationId xmlns:a16="http://schemas.microsoft.com/office/drawing/2014/main" id="{FF83060D-B690-C25D-FF32-8A8213EBE2C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0242" y="3041218"/>
            <a:ext cx="5881523" cy="1550201"/>
          </a:xfrm>
          <a:prstGeom prst="rect">
            <a:avLst/>
          </a:prstGeom>
        </p:spPr>
      </p:pic>
      <p:pic>
        <p:nvPicPr>
          <p:cNvPr id="9" name="Picture 8" descr="A black and white drawing of two fish&#10;&#10;Description automatically generated">
            <a:extLst>
              <a:ext uri="{FF2B5EF4-FFF2-40B4-BE49-F238E27FC236}">
                <a16:creationId xmlns:a16="http://schemas.microsoft.com/office/drawing/2014/main" id="{328F2980-DAEA-0980-15BB-8A67EC6519B5}"/>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l="18087" r="19044"/>
          <a:stretch/>
        </p:blipFill>
        <p:spPr>
          <a:xfrm>
            <a:off x="7211832" y="171112"/>
            <a:ext cx="1432477" cy="1281651"/>
          </a:xfrm>
          <a:prstGeom prst="rect">
            <a:avLst/>
          </a:prstGeom>
        </p:spPr>
      </p:pic>
    </p:spTree>
    <p:extLst>
      <p:ext uri="{BB962C8B-B14F-4D97-AF65-F5344CB8AC3E}">
        <p14:creationId xmlns:p14="http://schemas.microsoft.com/office/powerpoint/2010/main" val="56255638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420C031-F3DF-AA50-04F5-EF2F8E1546A4}"/>
              </a:ext>
            </a:extLst>
          </p:cNvPr>
          <p:cNvSpPr/>
          <p:nvPr/>
        </p:nvSpPr>
        <p:spPr>
          <a:xfrm>
            <a:off x="-662328" y="1032424"/>
            <a:ext cx="3877986" cy="707886"/>
          </a:xfrm>
          <a:prstGeom prst="rect">
            <a:avLst/>
          </a:prstGeom>
          <a:noFill/>
        </p:spPr>
        <p:txBody>
          <a:bodyPr wrap="square" lIns="91440" tIns="45720" rIns="91440" bIns="45720">
            <a:spAutoFit/>
          </a:bodyPr>
          <a:lstStyle/>
          <a:p>
            <a:pPr algn="ctr"/>
            <a:r>
              <a:rPr lang="en-US" sz="40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rPr>
              <a:t>Study 2</a:t>
            </a:r>
          </a:p>
        </p:txBody>
      </p:sp>
      <p:sp>
        <p:nvSpPr>
          <p:cNvPr id="5" name="TextBox 4">
            <a:extLst>
              <a:ext uri="{FF2B5EF4-FFF2-40B4-BE49-F238E27FC236}">
                <a16:creationId xmlns:a16="http://schemas.microsoft.com/office/drawing/2014/main" id="{1C3CE10E-37A7-4FD2-6FFE-C992EC920DC3}"/>
              </a:ext>
            </a:extLst>
          </p:cNvPr>
          <p:cNvSpPr txBox="1"/>
          <p:nvPr/>
        </p:nvSpPr>
        <p:spPr>
          <a:xfrm>
            <a:off x="449757" y="1743260"/>
            <a:ext cx="7992494" cy="2739211"/>
          </a:xfrm>
          <a:prstGeom prst="rect">
            <a:avLst/>
          </a:prstGeom>
          <a:noFill/>
        </p:spPr>
        <p:txBody>
          <a:bodyPr wrap="square" rtlCol="0">
            <a:spAutoFit/>
          </a:bodyPr>
          <a:lstStyle/>
          <a:p>
            <a:r>
              <a:rPr lang="en-US" sz="2000" dirty="0">
                <a:solidFill>
                  <a:srgbClr val="000000"/>
                </a:solidFill>
                <a:latin typeface="Calibri" panose="020F0502020204030204" pitchFamily="34" charset="0"/>
                <a:ea typeface="SimSun" panose="02010600030101010101" pitchFamily="2" charset="-122"/>
                <a:cs typeface="Calibri" panose="020F0502020204030204" pitchFamily="34" charset="0"/>
              </a:rPr>
              <a:t>Conclusion of study 2:</a:t>
            </a:r>
          </a:p>
          <a:p>
            <a:br>
              <a:rPr lang="en-US" sz="2000" dirty="0">
                <a:solidFill>
                  <a:srgbClr val="000000"/>
                </a:solidFill>
                <a:latin typeface="Calibri" panose="020F0502020204030204" pitchFamily="34" charset="0"/>
                <a:ea typeface="SimSun" panose="02010600030101010101" pitchFamily="2" charset="-122"/>
                <a:cs typeface="Calibri" panose="020F0502020204030204" pitchFamily="34" charset="0"/>
              </a:rPr>
            </a:br>
            <a:r>
              <a:rPr lang="en-GB" dirty="0">
                <a:solidFill>
                  <a:srgbClr val="000000"/>
                </a:solidFill>
                <a:latin typeface="Calibri" panose="020F0502020204030204" pitchFamily="34" charset="0"/>
                <a:ea typeface="SimSun" panose="02010600030101010101" pitchFamily="2" charset="-122"/>
                <a:cs typeface="Calibri" panose="020F0502020204030204" pitchFamily="34" charset="0"/>
              </a:rPr>
              <a:t>W</a:t>
            </a:r>
            <a:r>
              <a:rPr lang="en-GB" sz="1800" dirty="0">
                <a:effectLst/>
                <a:latin typeface="Calibri" panose="020F0502020204030204" pitchFamily="34" charset="0"/>
                <a:ea typeface="SimSun" panose="02010600030101010101" pitchFamily="2" charset="-122"/>
                <a:cs typeface="Calibri" panose="020F0502020204030204" pitchFamily="34" charset="0"/>
              </a:rPr>
              <a:t>e replicated the </a:t>
            </a:r>
            <a:r>
              <a:rPr lang="en-GB" sz="1800" dirty="0">
                <a:solidFill>
                  <a:srgbClr val="000000"/>
                </a:solidFill>
                <a:effectLst/>
                <a:latin typeface="Calibri" panose="020F0502020204030204" pitchFamily="34" charset="0"/>
                <a:ea typeface="SimSun" panose="02010600030101010101" pitchFamily="2" charset="-122"/>
                <a:cs typeface="Calibri" panose="020F0502020204030204" pitchFamily="34" charset="0"/>
              </a:rPr>
              <a:t>agent advantage effect </a:t>
            </a:r>
            <a:r>
              <a:rPr lang="en-GB" sz="1800" dirty="0">
                <a:effectLst/>
                <a:latin typeface="Calibri" panose="020F0502020204030204" pitchFamily="34" charset="0"/>
                <a:ea typeface="SimSun" panose="02010600030101010101" pitchFamily="2" charset="-122"/>
                <a:cs typeface="Calibri" panose="020F0502020204030204" pitchFamily="34" charset="0"/>
              </a:rPr>
              <a:t>when there were no motion lines within the pictures.</a:t>
            </a:r>
            <a:endParaRPr lang="en-GB" sz="1800" dirty="0">
              <a:solidFill>
                <a:srgbClr val="000000"/>
              </a:solidFill>
              <a:effectLst/>
              <a:latin typeface="Calibri" panose="020F0502020204030204" pitchFamily="34" charset="0"/>
              <a:ea typeface="SimSun" panose="02010600030101010101" pitchFamily="2" charset="-122"/>
              <a:cs typeface="Calibri" panose="020F0502020204030204" pitchFamily="34" charset="0"/>
            </a:endParaRPr>
          </a:p>
          <a:p>
            <a:endParaRPr lang="en-GB" sz="2000" dirty="0">
              <a:solidFill>
                <a:srgbClr val="000000"/>
              </a:solidFill>
              <a:latin typeface="Calibri" panose="020F0502020204030204" pitchFamily="34" charset="0"/>
              <a:ea typeface="SimSun" panose="02010600030101010101" pitchFamily="2" charset="-122"/>
              <a:cs typeface="Calibri" panose="020F0502020204030204" pitchFamily="34" charset="0"/>
            </a:endParaRPr>
          </a:p>
          <a:p>
            <a:r>
              <a:rPr lang="en-GB" dirty="0">
                <a:solidFill>
                  <a:srgbClr val="000000"/>
                </a:solidFill>
                <a:latin typeface="Calibri" panose="020F0502020204030204" pitchFamily="34" charset="0"/>
                <a:ea typeface="SimSun" panose="02010600030101010101" pitchFamily="2" charset="-122"/>
                <a:cs typeface="Calibri" panose="020F0502020204030204" pitchFamily="34" charset="0"/>
              </a:rPr>
              <a:t>Although </a:t>
            </a:r>
            <a:r>
              <a:rPr lang="en-US" dirty="0">
                <a:solidFill>
                  <a:srgbClr val="000000"/>
                </a:solidFill>
                <a:latin typeface="Calibri" panose="020F0502020204030204" pitchFamily="34" charset="0"/>
                <a:ea typeface="SimSun" panose="02010600030101010101" pitchFamily="2" charset="-122"/>
                <a:cs typeface="Calibri" panose="020F0502020204030204" pitchFamily="34" charset="0"/>
              </a:rPr>
              <a:t>motion lines have been shown to influence the processing of comics (Cohn &amp; Maher,  2015), t</a:t>
            </a:r>
            <a:r>
              <a:rPr lang="en-GB" dirty="0">
                <a:solidFill>
                  <a:srgbClr val="000000"/>
                </a:solidFill>
                <a:latin typeface="Calibri" panose="020F0502020204030204" pitchFamily="34" charset="0"/>
                <a:ea typeface="SimSun" panose="02010600030101010101" pitchFamily="2" charset="-122"/>
                <a:cs typeface="Calibri" panose="020F0502020204030204" pitchFamily="34" charset="0"/>
              </a:rPr>
              <a:t>he motion lines do not impact the agent advantage effect.</a:t>
            </a:r>
          </a:p>
          <a:p>
            <a:br>
              <a:rPr lang="en-US" sz="2000" dirty="0">
                <a:solidFill>
                  <a:srgbClr val="000000"/>
                </a:solidFill>
                <a:latin typeface="Calibri" panose="020F0502020204030204" pitchFamily="34" charset="0"/>
                <a:ea typeface="SimSun" panose="02010600030101010101" pitchFamily="2" charset="-122"/>
                <a:cs typeface="Calibri" panose="020F0502020204030204" pitchFamily="34" charset="0"/>
              </a:rPr>
            </a:br>
            <a:endParaRPr lang="en-US" sz="2000" dirty="0">
              <a:solidFill>
                <a:srgbClr val="000000"/>
              </a:solidFill>
              <a:latin typeface="Calibri" panose="020F0502020204030204" pitchFamily="34" charset="0"/>
              <a:ea typeface="SimSun" panose="02010600030101010101" pitchFamily="2" charset="-122"/>
              <a:cs typeface="Calibri" panose="020F0502020204030204" pitchFamily="34" charset="0"/>
            </a:endParaRPr>
          </a:p>
        </p:txBody>
      </p:sp>
    </p:spTree>
    <p:extLst>
      <p:ext uri="{BB962C8B-B14F-4D97-AF65-F5344CB8AC3E}">
        <p14:creationId xmlns:p14="http://schemas.microsoft.com/office/powerpoint/2010/main" val="63952105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420C031-F3DF-AA50-04F5-EF2F8E1546A4}"/>
              </a:ext>
            </a:extLst>
          </p:cNvPr>
          <p:cNvSpPr/>
          <p:nvPr/>
        </p:nvSpPr>
        <p:spPr>
          <a:xfrm>
            <a:off x="-662328" y="1032424"/>
            <a:ext cx="3877986" cy="707886"/>
          </a:xfrm>
          <a:prstGeom prst="rect">
            <a:avLst/>
          </a:prstGeom>
          <a:noFill/>
        </p:spPr>
        <p:txBody>
          <a:bodyPr wrap="square" lIns="91440" tIns="45720" rIns="91440" bIns="45720">
            <a:spAutoFit/>
          </a:bodyPr>
          <a:lstStyle/>
          <a:p>
            <a:pPr algn="ctr"/>
            <a:r>
              <a:rPr lang="en-US" sz="40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rPr>
              <a:t>Study </a:t>
            </a:r>
            <a:r>
              <a:rPr lang="en-US" sz="4000"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rPr>
              <a:t>3</a:t>
            </a:r>
            <a:endParaRPr lang="en-US" sz="40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1C3CE10E-37A7-4FD2-6FFE-C992EC920DC3}"/>
              </a:ext>
            </a:extLst>
          </p:cNvPr>
          <p:cNvSpPr txBox="1"/>
          <p:nvPr/>
        </p:nvSpPr>
        <p:spPr>
          <a:xfrm>
            <a:off x="449757" y="1743260"/>
            <a:ext cx="7992494" cy="4247317"/>
          </a:xfrm>
          <a:prstGeom prst="rect">
            <a:avLst/>
          </a:prstGeom>
          <a:noFill/>
        </p:spPr>
        <p:txBody>
          <a:bodyPr wrap="square" rtlCol="0">
            <a:spAutoFit/>
          </a:bodyPr>
          <a:lstStyle/>
          <a:p>
            <a:r>
              <a:rPr lang="en-US" dirty="0">
                <a:solidFill>
                  <a:srgbClr val="000000"/>
                </a:solidFill>
                <a:latin typeface="Calibri" panose="020F0502020204030204" pitchFamily="34" charset="0"/>
                <a:ea typeface="SimSun" panose="02010600030101010101" pitchFamily="2" charset="-122"/>
                <a:cs typeface="Calibri" panose="020F0502020204030204" pitchFamily="34" charset="0"/>
              </a:rPr>
              <a:t>Research question:</a:t>
            </a:r>
          </a:p>
          <a:p>
            <a:r>
              <a:rPr lang="en-US" dirty="0">
                <a:solidFill>
                  <a:srgbClr val="000000"/>
                </a:solidFill>
                <a:latin typeface="Calibri" panose="020F0502020204030204" pitchFamily="34" charset="0"/>
                <a:ea typeface="SimSun" panose="02010600030101010101" pitchFamily="2" charset="-122"/>
                <a:cs typeface="Calibri" panose="020F0502020204030204" pitchFamily="34" charset="0"/>
              </a:rPr>
              <a:t>In the present experiment, we investigate whether the early appearance of event roles (agent, patient) influences the agent advantage effect.</a:t>
            </a:r>
          </a:p>
          <a:p>
            <a:endParaRPr lang="en-US" dirty="0">
              <a:solidFill>
                <a:srgbClr val="000000"/>
              </a:solidFill>
              <a:latin typeface="Calibri" panose="020F0502020204030204" pitchFamily="34" charset="0"/>
              <a:ea typeface="SimSun" panose="02010600030101010101" pitchFamily="2" charset="-122"/>
              <a:cs typeface="Calibri" panose="020F0502020204030204" pitchFamily="34" charset="0"/>
            </a:endParaRPr>
          </a:p>
          <a:p>
            <a:r>
              <a:rPr lang="en-US" dirty="0">
                <a:solidFill>
                  <a:srgbClr val="000000"/>
                </a:solidFill>
                <a:latin typeface="Calibri" panose="020F0502020204030204" pitchFamily="34" charset="0"/>
                <a:ea typeface="SimSun" panose="02010600030101010101" pitchFamily="2" charset="-122"/>
                <a:cs typeface="Calibri" panose="020F0502020204030204" pitchFamily="34" charset="0"/>
              </a:rPr>
              <a:t>Hypotheses:</a:t>
            </a:r>
          </a:p>
          <a:p>
            <a:r>
              <a:rPr lang="en-US" dirty="0">
                <a:solidFill>
                  <a:srgbClr val="000000"/>
                </a:solidFill>
                <a:latin typeface="Calibri" panose="020F0502020204030204" pitchFamily="34" charset="0"/>
                <a:ea typeface="SimSun" panose="02010600030101010101" pitchFamily="2" charset="-122"/>
                <a:cs typeface="Calibri" panose="020F0502020204030204" pitchFamily="34" charset="0"/>
              </a:rPr>
              <a:t>1.) There should be a significant interaction between the early appearance of event roles (agent, patient) and search tasks (agent search, patient search).</a:t>
            </a:r>
            <a:br>
              <a:rPr lang="en-US" dirty="0">
                <a:solidFill>
                  <a:srgbClr val="000000"/>
                </a:solidFill>
                <a:latin typeface="Calibri" panose="020F0502020204030204" pitchFamily="34" charset="0"/>
                <a:ea typeface="SimSun" panose="02010600030101010101" pitchFamily="2" charset="-122"/>
                <a:cs typeface="Calibri" panose="020F0502020204030204" pitchFamily="34" charset="0"/>
              </a:rPr>
            </a:br>
            <a:endParaRPr lang="en-US" dirty="0">
              <a:solidFill>
                <a:srgbClr val="000000"/>
              </a:solidFill>
              <a:latin typeface="Calibri" panose="020F0502020204030204" pitchFamily="34" charset="0"/>
              <a:ea typeface="SimSun" panose="02010600030101010101" pitchFamily="2" charset="-122"/>
              <a:cs typeface="Calibri" panose="020F0502020204030204" pitchFamily="34" charset="0"/>
            </a:endParaRPr>
          </a:p>
          <a:p>
            <a:r>
              <a:rPr lang="en-US" dirty="0">
                <a:solidFill>
                  <a:srgbClr val="000000"/>
                </a:solidFill>
                <a:latin typeface="Calibri" panose="020F0502020204030204" pitchFamily="34" charset="0"/>
                <a:ea typeface="SimSun" panose="02010600030101010101" pitchFamily="2" charset="-122"/>
                <a:cs typeface="Calibri" panose="020F0502020204030204" pitchFamily="34" charset="0"/>
              </a:rPr>
              <a:t>2.) If the agent first shows up, we should see a significant main effect of the agent on the search task (agent search, patient search). When the agent first shows up, participants should respond faster when performing the agent search compared to the patient search. </a:t>
            </a:r>
            <a:br>
              <a:rPr lang="en-US" dirty="0">
                <a:solidFill>
                  <a:srgbClr val="000000"/>
                </a:solidFill>
                <a:latin typeface="Calibri" panose="020F0502020204030204" pitchFamily="34" charset="0"/>
                <a:ea typeface="SimSun" panose="02010600030101010101" pitchFamily="2" charset="-122"/>
                <a:cs typeface="Calibri" panose="020F0502020204030204" pitchFamily="34" charset="0"/>
              </a:rPr>
            </a:br>
            <a:endParaRPr lang="en-US" dirty="0">
              <a:solidFill>
                <a:srgbClr val="000000"/>
              </a:solidFill>
              <a:latin typeface="Calibri" panose="020F0502020204030204" pitchFamily="34" charset="0"/>
              <a:ea typeface="SimSun" panose="02010600030101010101" pitchFamily="2" charset="-122"/>
              <a:cs typeface="Calibri" panose="020F0502020204030204" pitchFamily="34" charset="0"/>
            </a:endParaRPr>
          </a:p>
          <a:p>
            <a:r>
              <a:rPr lang="en-US" dirty="0">
                <a:solidFill>
                  <a:srgbClr val="000000"/>
                </a:solidFill>
                <a:latin typeface="Calibri" panose="020F0502020204030204" pitchFamily="34" charset="0"/>
                <a:ea typeface="SimSun" panose="02010600030101010101" pitchFamily="2" charset="-122"/>
                <a:cs typeface="Calibri" panose="020F0502020204030204" pitchFamily="34" charset="0"/>
              </a:rPr>
              <a:t>3.) If the patient first shows up, we should see a non-significant main effect of the patient on the search task (agent search, patient search). </a:t>
            </a:r>
          </a:p>
        </p:txBody>
      </p:sp>
    </p:spTree>
    <p:extLst>
      <p:ext uri="{BB962C8B-B14F-4D97-AF65-F5344CB8AC3E}">
        <p14:creationId xmlns:p14="http://schemas.microsoft.com/office/powerpoint/2010/main" val="191857616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420C031-F3DF-AA50-04F5-EF2F8E1546A4}"/>
              </a:ext>
            </a:extLst>
          </p:cNvPr>
          <p:cNvSpPr/>
          <p:nvPr/>
        </p:nvSpPr>
        <p:spPr>
          <a:xfrm>
            <a:off x="-662328" y="1032424"/>
            <a:ext cx="3877986" cy="707886"/>
          </a:xfrm>
          <a:prstGeom prst="rect">
            <a:avLst/>
          </a:prstGeom>
          <a:noFill/>
        </p:spPr>
        <p:txBody>
          <a:bodyPr wrap="square" lIns="91440" tIns="45720" rIns="91440" bIns="45720">
            <a:spAutoFit/>
          </a:bodyPr>
          <a:lstStyle/>
          <a:p>
            <a:pPr algn="ctr"/>
            <a:r>
              <a:rPr lang="en-US" sz="40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rPr>
              <a:t>Study </a:t>
            </a:r>
            <a:r>
              <a:rPr lang="en-US" sz="4000"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rPr>
              <a:t>3</a:t>
            </a:r>
            <a:endParaRPr lang="en-US" sz="40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pic>
        <p:nvPicPr>
          <p:cNvPr id="2" name="Picture 1" descr="A diagram of a fish&#10;&#10;Description automatically generated">
            <a:extLst>
              <a:ext uri="{FF2B5EF4-FFF2-40B4-BE49-F238E27FC236}">
                <a16:creationId xmlns:a16="http://schemas.microsoft.com/office/drawing/2014/main" id="{7BB8EFB3-1488-43E5-AC4E-0C0EB55972A9}"/>
              </a:ext>
            </a:extLst>
          </p:cNvPr>
          <p:cNvPicPr>
            <a:picLocks noChangeAspect="1"/>
          </p:cNvPicPr>
          <p:nvPr/>
        </p:nvPicPr>
        <p:blipFill rotWithShape="1">
          <a:blip r:embed="rId2">
            <a:extLst>
              <a:ext uri="{28A0092B-C50C-407E-A947-70E740481C1C}">
                <a14:useLocalDpi xmlns:a14="http://schemas.microsoft.com/office/drawing/2010/main" val="0"/>
              </a:ext>
            </a:extLst>
          </a:blip>
          <a:srcRect b="5905"/>
          <a:stretch/>
        </p:blipFill>
        <p:spPr>
          <a:xfrm>
            <a:off x="990957" y="2738338"/>
            <a:ext cx="7016006" cy="3551143"/>
          </a:xfrm>
          <a:prstGeom prst="rect">
            <a:avLst/>
          </a:prstGeom>
        </p:spPr>
      </p:pic>
      <p:sp>
        <p:nvSpPr>
          <p:cNvPr id="6" name="TextBox 5">
            <a:extLst>
              <a:ext uri="{FF2B5EF4-FFF2-40B4-BE49-F238E27FC236}">
                <a16:creationId xmlns:a16="http://schemas.microsoft.com/office/drawing/2014/main" id="{7ED0A1C2-CB12-91E3-2B52-05A4964C9E98}"/>
              </a:ext>
            </a:extLst>
          </p:cNvPr>
          <p:cNvSpPr txBox="1"/>
          <p:nvPr/>
        </p:nvSpPr>
        <p:spPr>
          <a:xfrm>
            <a:off x="477078" y="1698546"/>
            <a:ext cx="8345622" cy="963790"/>
          </a:xfrm>
          <a:prstGeom prst="rect">
            <a:avLst/>
          </a:prstGeom>
          <a:noFill/>
        </p:spPr>
        <p:txBody>
          <a:bodyPr wrap="square">
            <a:spAutoFit/>
          </a:bodyPr>
          <a:lstStyle/>
          <a:p>
            <a:pPr marL="0" marR="0">
              <a:lnSpc>
                <a:spcPct val="107000"/>
              </a:lnSpc>
              <a:spcBef>
                <a:spcPts val="0"/>
              </a:spcBef>
              <a:spcAft>
                <a:spcPts val="800"/>
              </a:spcAft>
            </a:pPr>
            <a:r>
              <a:rPr lang="en-US" dirty="0">
                <a:solidFill>
                  <a:srgbClr val="000000"/>
                </a:solidFill>
                <a:latin typeface="Calibri" panose="020F0502020204030204" pitchFamily="34" charset="0"/>
                <a:ea typeface="SimSun" panose="02010600030101010101" pitchFamily="2" charset="-122"/>
                <a:cs typeface="Calibri" panose="020F0502020204030204" pitchFamily="34" charset="0"/>
              </a:rPr>
              <a:t>The experiment consists of a 2 (early appearance of event roles: agent, patient) x 2 (search-task: agent search, patient search) design. Participants are assigned to all conditions (within-participants des</a:t>
            </a:r>
            <a:r>
              <a:rPr lang="en-US" sz="1800" dirty="0">
                <a:effectLst/>
                <a:latin typeface="Times New Roman" panose="02020603050405020304" pitchFamily="18" charset="0"/>
                <a:ea typeface="Times New Roman" panose="02020603050405020304" pitchFamily="18" charset="0"/>
                <a:cs typeface="Arial" panose="020B0604020202020204" pitchFamily="34" charset="0"/>
              </a:rPr>
              <a:t>ign)</a:t>
            </a:r>
            <a:r>
              <a:rPr lang="en-US" sz="1800" dirty="0">
                <a:effectLst/>
                <a:latin typeface="SimSun" panose="02010600030101010101" pitchFamily="2" charset="-122"/>
                <a:ea typeface="SimSun" panose="02010600030101010101" pitchFamily="2" charset="-122"/>
                <a:cs typeface="SimSun" panose="02010600030101010101" pitchFamily="2" charset="-122"/>
              </a:rPr>
              <a:t>.</a:t>
            </a:r>
            <a:endParaRPr lang="en-US" sz="1600" dirty="0">
              <a:effectLst/>
              <a:latin typeface="Calibri" panose="020F0502020204030204" pitchFamily="34" charset="0"/>
              <a:ea typeface="SimSun" panose="02010600030101010101" pitchFamily="2" charset="-122"/>
              <a:cs typeface="Arial" panose="020B0604020202020204" pitchFamily="34" charset="0"/>
            </a:endParaRPr>
          </a:p>
        </p:txBody>
      </p:sp>
    </p:spTree>
    <p:extLst>
      <p:ext uri="{BB962C8B-B14F-4D97-AF65-F5344CB8AC3E}">
        <p14:creationId xmlns:p14="http://schemas.microsoft.com/office/powerpoint/2010/main" val="165650542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id="{C34754CA-7D83-55E2-AD75-CC19BB216A1C}"/>
              </a:ext>
            </a:extLst>
          </p:cNvPr>
          <p:cNvGraphicFramePr/>
          <p:nvPr/>
        </p:nvGraphicFramePr>
        <p:xfrm>
          <a:off x="218409" y="1872797"/>
          <a:ext cx="8266371" cy="406399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Rectangle 4">
            <a:extLst>
              <a:ext uri="{FF2B5EF4-FFF2-40B4-BE49-F238E27FC236}">
                <a16:creationId xmlns:a16="http://schemas.microsoft.com/office/drawing/2014/main" id="{0B2B45F9-239D-FD61-5C80-CC5C4B7D2647}"/>
              </a:ext>
            </a:extLst>
          </p:cNvPr>
          <p:cNvSpPr/>
          <p:nvPr/>
        </p:nvSpPr>
        <p:spPr>
          <a:xfrm>
            <a:off x="5845693" y="1961286"/>
            <a:ext cx="2133600" cy="74294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Key: reaction time</a:t>
            </a:r>
            <a:br>
              <a:rPr lang="en-US" dirty="0"/>
            </a:br>
            <a:r>
              <a:rPr lang="en-US" dirty="0"/>
              <a:t>and search task</a:t>
            </a:r>
          </a:p>
        </p:txBody>
      </p:sp>
      <p:sp>
        <p:nvSpPr>
          <p:cNvPr id="2" name="Rectangle 1">
            <a:extLst>
              <a:ext uri="{FF2B5EF4-FFF2-40B4-BE49-F238E27FC236}">
                <a16:creationId xmlns:a16="http://schemas.microsoft.com/office/drawing/2014/main" id="{FE23B5B8-4ADB-3FB7-F708-2ABA9F4FC0E3}"/>
              </a:ext>
            </a:extLst>
          </p:cNvPr>
          <p:cNvSpPr/>
          <p:nvPr/>
        </p:nvSpPr>
        <p:spPr>
          <a:xfrm>
            <a:off x="-311454" y="1043057"/>
            <a:ext cx="4883454" cy="707886"/>
          </a:xfrm>
          <a:prstGeom prst="rect">
            <a:avLst/>
          </a:prstGeom>
          <a:noFill/>
        </p:spPr>
        <p:txBody>
          <a:bodyPr wrap="square" lIns="91440" tIns="45720" rIns="91440" bIns="45720">
            <a:spAutoFit/>
          </a:bodyPr>
          <a:lstStyle/>
          <a:p>
            <a:pPr algn="ctr"/>
            <a:r>
              <a:rPr lang="en-US" sz="40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rPr>
              <a:t>Ph.D. Project Plan</a:t>
            </a:r>
          </a:p>
        </p:txBody>
      </p:sp>
    </p:spTree>
    <p:extLst>
      <p:ext uri="{BB962C8B-B14F-4D97-AF65-F5344CB8AC3E}">
        <p14:creationId xmlns:p14="http://schemas.microsoft.com/office/powerpoint/2010/main" val="248675916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DBFC73C-FFBE-5F13-4C7F-AC0495329FEF}"/>
              </a:ext>
            </a:extLst>
          </p:cNvPr>
          <p:cNvSpPr>
            <a:spLocks noGrp="1"/>
          </p:cNvSpPr>
          <p:nvPr>
            <p:ph type="body" sz="quarter" idx="11"/>
          </p:nvPr>
        </p:nvSpPr>
        <p:spPr/>
        <p:txBody>
          <a:bodyPr/>
          <a:lstStyle/>
          <a:p>
            <a:endParaRPr lang="en-US"/>
          </a:p>
        </p:txBody>
      </p:sp>
      <p:sp>
        <p:nvSpPr>
          <p:cNvPr id="4" name="Rectangle 3">
            <a:extLst>
              <a:ext uri="{FF2B5EF4-FFF2-40B4-BE49-F238E27FC236}">
                <a16:creationId xmlns:a16="http://schemas.microsoft.com/office/drawing/2014/main" id="{30CF2047-2307-CC69-C5A3-BEBCC461A13A}"/>
              </a:ext>
            </a:extLst>
          </p:cNvPr>
          <p:cNvSpPr/>
          <p:nvPr/>
        </p:nvSpPr>
        <p:spPr>
          <a:xfrm>
            <a:off x="963484" y="2967335"/>
            <a:ext cx="7401288" cy="769441"/>
          </a:xfrm>
          <a:prstGeom prst="rect">
            <a:avLst/>
          </a:prstGeom>
          <a:noFill/>
        </p:spPr>
        <p:txBody>
          <a:bodyPr wrap="square" lIns="91440" tIns="45720" rIns="91440" bIns="45720">
            <a:spAutoFit/>
          </a:bodyPr>
          <a:lstStyle/>
          <a:p>
            <a:pPr algn="ctr"/>
            <a:r>
              <a:rPr lang="en-US" sz="4400" dirty="0">
                <a:ln w="0"/>
                <a:effectLst>
                  <a:outerShdw blurRad="38100" dist="19050" dir="2700000" algn="tl" rotWithShape="0">
                    <a:schemeClr val="dk1">
                      <a:alpha val="40000"/>
                    </a:schemeClr>
                  </a:outerShdw>
                </a:effectLst>
              </a:rPr>
              <a:t>Thank you for your attention.</a:t>
            </a:r>
            <a:endParaRPr lang="en-US" sz="4400" b="0" cap="none" spc="0"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280864698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4696B02-DE51-EAD1-6AC5-61EA39C80AB7}"/>
              </a:ext>
            </a:extLst>
          </p:cNvPr>
          <p:cNvSpPr>
            <a:spLocks noGrp="1"/>
          </p:cNvSpPr>
          <p:nvPr>
            <p:ph type="body" sz="quarter" idx="10"/>
          </p:nvPr>
        </p:nvSpPr>
        <p:spPr>
          <a:xfrm>
            <a:off x="319014" y="940635"/>
            <a:ext cx="8428037" cy="430887"/>
          </a:xfrm>
        </p:spPr>
        <p:txBody>
          <a:bodyPr/>
          <a:lstStyle/>
          <a:p>
            <a:r>
              <a:rPr lang="en-US" dirty="0"/>
              <a:t>Reference:</a:t>
            </a:r>
          </a:p>
        </p:txBody>
      </p:sp>
      <p:sp>
        <p:nvSpPr>
          <p:cNvPr id="4" name="TextBox 3">
            <a:extLst>
              <a:ext uri="{FF2B5EF4-FFF2-40B4-BE49-F238E27FC236}">
                <a16:creationId xmlns:a16="http://schemas.microsoft.com/office/drawing/2014/main" id="{D3147BF6-2AA5-B587-3608-FB4D9D519822}"/>
              </a:ext>
            </a:extLst>
          </p:cNvPr>
          <p:cNvSpPr txBox="1"/>
          <p:nvPr/>
        </p:nvSpPr>
        <p:spPr>
          <a:xfrm>
            <a:off x="235677" y="1323816"/>
            <a:ext cx="8908323" cy="5632311"/>
          </a:xfrm>
          <a:prstGeom prst="rect">
            <a:avLst/>
          </a:prstGeom>
          <a:noFill/>
        </p:spPr>
        <p:txBody>
          <a:bodyPr wrap="square" rtlCol="0">
            <a:spAutoFit/>
          </a:bodyPr>
          <a:lstStyle/>
          <a:p>
            <a:pPr marL="457200" marR="0" indent="-457200">
              <a:spcBef>
                <a:spcPts val="0"/>
              </a:spcBef>
              <a:spcAft>
                <a:spcPts val="0"/>
              </a:spcAft>
            </a:pPr>
            <a:r>
              <a:rPr lang="en-US" sz="1200" dirty="0">
                <a:solidFill>
                  <a:srgbClr val="222222"/>
                </a:solidFill>
                <a:effectLst/>
                <a:latin typeface="Times New Roman" panose="02020603050405020304" pitchFamily="18" charset="0"/>
                <a:ea typeface="SimSun" panose="02010600030101010101" pitchFamily="2" charset="-122"/>
              </a:rPr>
              <a:t>Clark, H. H. (1965). Some structural properties of simple active and passive sentences. </a:t>
            </a:r>
            <a:r>
              <a:rPr lang="en-US" sz="1200" i="1" dirty="0">
                <a:solidFill>
                  <a:srgbClr val="222222"/>
                </a:solidFill>
                <a:effectLst/>
                <a:latin typeface="Times New Roman" panose="02020603050405020304" pitchFamily="18" charset="0"/>
                <a:ea typeface="SimSun" panose="02010600030101010101" pitchFamily="2" charset="-122"/>
              </a:rPr>
              <a:t>Journal of Verbal Learning and Verbal Behavior</a:t>
            </a:r>
            <a:r>
              <a:rPr lang="en-US" sz="1200" dirty="0">
                <a:solidFill>
                  <a:srgbClr val="222222"/>
                </a:solidFill>
                <a:effectLst/>
                <a:latin typeface="Times New Roman" panose="02020603050405020304" pitchFamily="18" charset="0"/>
                <a:ea typeface="SimSun" panose="02010600030101010101" pitchFamily="2" charset="-122"/>
              </a:rPr>
              <a:t>, </a:t>
            </a:r>
            <a:r>
              <a:rPr lang="en-US" sz="1200" i="1" dirty="0">
                <a:solidFill>
                  <a:srgbClr val="222222"/>
                </a:solidFill>
                <a:effectLst/>
                <a:latin typeface="Times New Roman" panose="02020603050405020304" pitchFamily="18" charset="0"/>
                <a:ea typeface="SimSun" panose="02010600030101010101" pitchFamily="2" charset="-122"/>
              </a:rPr>
              <a:t>4</a:t>
            </a:r>
            <a:r>
              <a:rPr lang="en-US" sz="1200" dirty="0">
                <a:solidFill>
                  <a:srgbClr val="222222"/>
                </a:solidFill>
                <a:effectLst/>
                <a:latin typeface="Times New Roman" panose="02020603050405020304" pitchFamily="18" charset="0"/>
                <a:ea typeface="SimSun" panose="02010600030101010101" pitchFamily="2" charset="-122"/>
              </a:rPr>
              <a:t>(5), 365-370.</a:t>
            </a:r>
            <a:r>
              <a:rPr lang="en-US" sz="1200" dirty="0">
                <a:effectLst/>
                <a:latin typeface="Times New Roman" panose="02020603050405020304" pitchFamily="18" charset="0"/>
                <a:ea typeface="SimSun" panose="02010600030101010101" pitchFamily="2" charset="-122"/>
              </a:rPr>
              <a:t> </a:t>
            </a:r>
            <a:r>
              <a:rPr lang="en-US" sz="1200" dirty="0">
                <a:solidFill>
                  <a:srgbClr val="222222"/>
                </a:solidFill>
                <a:effectLst/>
                <a:latin typeface="Times New Roman" panose="02020603050405020304" pitchFamily="18" charset="0"/>
                <a:ea typeface="SimSun" panose="02010600030101010101" pitchFamily="2" charset="-122"/>
              </a:rPr>
              <a:t>https://doi.org/10.1016/S0022-5371(65)80073-1</a:t>
            </a:r>
            <a:endParaRPr lang="en-US" sz="1200" dirty="0">
              <a:effectLst/>
              <a:latin typeface="Times New Roman" panose="02020603050405020304" pitchFamily="18" charset="0"/>
              <a:ea typeface="SimSun" panose="02010600030101010101" pitchFamily="2" charset="-122"/>
            </a:endParaRPr>
          </a:p>
          <a:p>
            <a:pPr marL="457200" marR="0" indent="-457200">
              <a:spcBef>
                <a:spcPts val="0"/>
              </a:spcBef>
              <a:spcAft>
                <a:spcPts val="0"/>
              </a:spcAft>
            </a:pPr>
            <a:r>
              <a:rPr lang="en-US" sz="1200" dirty="0">
                <a:effectLst/>
                <a:latin typeface="Times New Roman" panose="02020603050405020304" pitchFamily="18" charset="0"/>
                <a:ea typeface="Times New Roman" panose="02020603050405020304" pitchFamily="18" charset="0"/>
              </a:rPr>
              <a:t>Cohn, N., &amp; Maher, S. (2015). The notion of the motion: The neurocognition of motion lines in visual narratives. </a:t>
            </a:r>
            <a:r>
              <a:rPr lang="en-US" sz="1200" i="1" dirty="0">
                <a:effectLst/>
                <a:latin typeface="Times New Roman" panose="02020603050405020304" pitchFamily="18" charset="0"/>
                <a:ea typeface="Times New Roman" panose="02020603050405020304" pitchFamily="18" charset="0"/>
              </a:rPr>
              <a:t>Brain Research</a:t>
            </a:r>
            <a:r>
              <a:rPr lang="en-US" sz="1200" dirty="0">
                <a:effectLst/>
                <a:latin typeface="Times New Roman" panose="02020603050405020304" pitchFamily="18" charset="0"/>
                <a:ea typeface="Times New Roman" panose="02020603050405020304" pitchFamily="18" charset="0"/>
              </a:rPr>
              <a:t>, 1601, 73-84.</a:t>
            </a:r>
            <a:endParaRPr lang="en-US" sz="1200" dirty="0">
              <a:effectLst/>
              <a:latin typeface="Times New Roman" panose="02020603050405020304" pitchFamily="18" charset="0"/>
              <a:ea typeface="SimSun" panose="02010600030101010101" pitchFamily="2" charset="-122"/>
            </a:endParaRPr>
          </a:p>
          <a:p>
            <a:pPr marL="457200" marR="0" indent="-457200">
              <a:spcBef>
                <a:spcPts val="0"/>
              </a:spcBef>
              <a:spcAft>
                <a:spcPts val="0"/>
              </a:spcAft>
            </a:pPr>
            <a:r>
              <a:rPr lang="en-US" sz="1200" dirty="0">
                <a:solidFill>
                  <a:srgbClr val="222222"/>
                </a:solidFill>
                <a:effectLst/>
                <a:latin typeface="Times New Roman" panose="02020603050405020304" pitchFamily="18" charset="0"/>
                <a:ea typeface="SimSun" panose="02010600030101010101" pitchFamily="2" charset="-122"/>
              </a:rPr>
              <a:t>Cohn, N., &amp; </a:t>
            </a:r>
            <a:r>
              <a:rPr lang="en-US" sz="1200" dirty="0" err="1">
                <a:solidFill>
                  <a:srgbClr val="222222"/>
                </a:solidFill>
                <a:effectLst/>
                <a:latin typeface="Times New Roman" panose="02020603050405020304" pitchFamily="18" charset="0"/>
                <a:ea typeface="SimSun" panose="02010600030101010101" pitchFamily="2" charset="-122"/>
              </a:rPr>
              <a:t>Paczynski</a:t>
            </a:r>
            <a:r>
              <a:rPr lang="en-US" sz="1200" dirty="0">
                <a:solidFill>
                  <a:srgbClr val="222222"/>
                </a:solidFill>
                <a:effectLst/>
                <a:latin typeface="Times New Roman" panose="02020603050405020304" pitchFamily="18" charset="0"/>
                <a:ea typeface="SimSun" panose="02010600030101010101" pitchFamily="2" charset="-122"/>
              </a:rPr>
              <a:t>, M. (2013). Prediction, events, and the advantage of Agents: The processing of semantic roles in visual narrative. </a:t>
            </a:r>
            <a:r>
              <a:rPr lang="de-DE" sz="1200" i="1" dirty="0">
                <a:solidFill>
                  <a:srgbClr val="222222"/>
                </a:solidFill>
                <a:effectLst/>
                <a:latin typeface="Times New Roman" panose="02020603050405020304" pitchFamily="18" charset="0"/>
                <a:ea typeface="SimSun" panose="02010600030101010101" pitchFamily="2" charset="-122"/>
              </a:rPr>
              <a:t>Cognitive Psychology</a:t>
            </a:r>
            <a:r>
              <a:rPr lang="de-DE" sz="1200" dirty="0">
                <a:solidFill>
                  <a:srgbClr val="222222"/>
                </a:solidFill>
                <a:effectLst/>
                <a:latin typeface="Times New Roman" panose="02020603050405020304" pitchFamily="18" charset="0"/>
                <a:ea typeface="SimSun" panose="02010600030101010101" pitchFamily="2" charset="-122"/>
              </a:rPr>
              <a:t>, </a:t>
            </a:r>
            <a:r>
              <a:rPr lang="de-DE" sz="1200" i="1" dirty="0">
                <a:solidFill>
                  <a:srgbClr val="222222"/>
                </a:solidFill>
                <a:effectLst/>
                <a:latin typeface="Times New Roman" panose="02020603050405020304" pitchFamily="18" charset="0"/>
                <a:ea typeface="SimSun" panose="02010600030101010101" pitchFamily="2" charset="-122"/>
              </a:rPr>
              <a:t>67</a:t>
            </a:r>
            <a:r>
              <a:rPr lang="de-DE" sz="1200" dirty="0">
                <a:solidFill>
                  <a:srgbClr val="222222"/>
                </a:solidFill>
                <a:effectLst/>
                <a:latin typeface="Times New Roman" panose="02020603050405020304" pitchFamily="18" charset="0"/>
                <a:ea typeface="SimSun" panose="02010600030101010101" pitchFamily="2" charset="-122"/>
              </a:rPr>
              <a:t>(3), 73-97.</a:t>
            </a:r>
            <a:r>
              <a:rPr lang="de-DE" sz="1200" dirty="0">
                <a:effectLst/>
                <a:latin typeface="Times New Roman" panose="02020603050405020304" pitchFamily="18" charset="0"/>
                <a:ea typeface="SimSun" panose="02010600030101010101" pitchFamily="2" charset="-122"/>
              </a:rPr>
              <a:t> </a:t>
            </a:r>
            <a:r>
              <a:rPr lang="de-DE" sz="1200" dirty="0">
                <a:solidFill>
                  <a:srgbClr val="222222"/>
                </a:solidFill>
                <a:effectLst/>
                <a:latin typeface="Times New Roman" panose="02020603050405020304" pitchFamily="18" charset="0"/>
                <a:ea typeface="SimSun" panose="02010600030101010101" pitchFamily="2" charset="-122"/>
              </a:rPr>
              <a:t>https://doi.org/10.1016/j.cogpsych.2013.07.002</a:t>
            </a:r>
            <a:endParaRPr lang="en-US" sz="1200" dirty="0">
              <a:effectLst/>
              <a:latin typeface="Times New Roman" panose="02020603050405020304" pitchFamily="18" charset="0"/>
              <a:ea typeface="SimSun" panose="02010600030101010101" pitchFamily="2" charset="-122"/>
            </a:endParaRPr>
          </a:p>
          <a:p>
            <a:pPr marL="457200" marR="0" indent="-457200">
              <a:spcBef>
                <a:spcPts val="0"/>
              </a:spcBef>
              <a:spcAft>
                <a:spcPts val="0"/>
              </a:spcAft>
            </a:pPr>
            <a:r>
              <a:rPr lang="de-DE" sz="1200" dirty="0">
                <a:solidFill>
                  <a:srgbClr val="222222"/>
                </a:solidFill>
                <a:effectLst/>
                <a:latin typeface="Times New Roman" panose="02020603050405020304" pitchFamily="18" charset="0"/>
                <a:ea typeface="SimSun" panose="02010600030101010101" pitchFamily="2" charset="-122"/>
              </a:rPr>
              <a:t>Hafri, A., Papafragou, A., &amp; Trueswell, J. C. (2013). </a:t>
            </a:r>
            <a:r>
              <a:rPr lang="en-US" sz="1200" dirty="0">
                <a:solidFill>
                  <a:srgbClr val="222222"/>
                </a:solidFill>
                <a:effectLst/>
                <a:latin typeface="Times New Roman" panose="02020603050405020304" pitchFamily="18" charset="0"/>
                <a:ea typeface="SimSun" panose="02010600030101010101" pitchFamily="2" charset="-122"/>
              </a:rPr>
              <a:t>Getting the gist of events: recognition of two-participant actions from brief displays. </a:t>
            </a:r>
            <a:r>
              <a:rPr lang="en-US" sz="1200" i="1" dirty="0">
                <a:solidFill>
                  <a:srgbClr val="222222"/>
                </a:solidFill>
                <a:effectLst/>
                <a:latin typeface="Times New Roman" panose="02020603050405020304" pitchFamily="18" charset="0"/>
                <a:ea typeface="SimSun" panose="02010600030101010101" pitchFamily="2" charset="-122"/>
              </a:rPr>
              <a:t>Journal of Experimental Psychology: General</a:t>
            </a:r>
            <a:r>
              <a:rPr lang="en-US" sz="1200" dirty="0">
                <a:solidFill>
                  <a:srgbClr val="222222"/>
                </a:solidFill>
                <a:effectLst/>
                <a:latin typeface="Times New Roman" panose="02020603050405020304" pitchFamily="18" charset="0"/>
                <a:ea typeface="SimSun" panose="02010600030101010101" pitchFamily="2" charset="-122"/>
              </a:rPr>
              <a:t>, </a:t>
            </a:r>
            <a:r>
              <a:rPr lang="en-US" sz="1200" i="1" dirty="0">
                <a:solidFill>
                  <a:srgbClr val="222222"/>
                </a:solidFill>
                <a:effectLst/>
                <a:latin typeface="Times New Roman" panose="02020603050405020304" pitchFamily="18" charset="0"/>
                <a:ea typeface="SimSun" panose="02010600030101010101" pitchFamily="2" charset="-122"/>
              </a:rPr>
              <a:t>142</a:t>
            </a:r>
            <a:r>
              <a:rPr lang="en-US" sz="1200" dirty="0">
                <a:solidFill>
                  <a:srgbClr val="222222"/>
                </a:solidFill>
                <a:effectLst/>
                <a:latin typeface="Times New Roman" panose="02020603050405020304" pitchFamily="18" charset="0"/>
                <a:ea typeface="SimSun" panose="02010600030101010101" pitchFamily="2" charset="-122"/>
              </a:rPr>
              <a:t>(3), 880.</a:t>
            </a:r>
            <a:r>
              <a:rPr lang="en-US" sz="1200" dirty="0">
                <a:effectLst/>
                <a:latin typeface="Times New Roman" panose="02020603050405020304" pitchFamily="18" charset="0"/>
                <a:ea typeface="SimSun" panose="02010600030101010101" pitchFamily="2" charset="-122"/>
              </a:rPr>
              <a:t> </a:t>
            </a:r>
            <a:r>
              <a:rPr lang="en-US" sz="1200" dirty="0">
                <a:solidFill>
                  <a:srgbClr val="222222"/>
                </a:solidFill>
                <a:effectLst/>
                <a:latin typeface="Times New Roman" panose="02020603050405020304" pitchFamily="18" charset="0"/>
                <a:ea typeface="SimSun" panose="02010600030101010101" pitchFamily="2" charset="-122"/>
              </a:rPr>
              <a:t>https://doi.org/10.1037/a0030045</a:t>
            </a:r>
            <a:endParaRPr lang="en-US" sz="1200" dirty="0">
              <a:effectLst/>
              <a:latin typeface="Times New Roman" panose="02020603050405020304" pitchFamily="18" charset="0"/>
              <a:ea typeface="SimSun" panose="02010600030101010101" pitchFamily="2" charset="-122"/>
            </a:endParaRPr>
          </a:p>
          <a:p>
            <a:pPr marL="457200" marR="0" indent="-457200">
              <a:spcBef>
                <a:spcPts val="0"/>
              </a:spcBef>
              <a:spcAft>
                <a:spcPts val="0"/>
              </a:spcAft>
            </a:pPr>
            <a:r>
              <a:rPr lang="de-DE" sz="1200" dirty="0">
                <a:solidFill>
                  <a:srgbClr val="222222"/>
                </a:solidFill>
                <a:effectLst/>
                <a:latin typeface="Times New Roman" panose="02020603050405020304" pitchFamily="18" charset="0"/>
                <a:ea typeface="SimSun" panose="02010600030101010101" pitchFamily="2" charset="-122"/>
              </a:rPr>
              <a:t>Huff, M., Meitz, T. G., &amp; Papenmeier, F. (2014). </a:t>
            </a:r>
            <a:r>
              <a:rPr lang="en-US" sz="1200" dirty="0">
                <a:solidFill>
                  <a:srgbClr val="222222"/>
                </a:solidFill>
                <a:effectLst/>
                <a:latin typeface="Times New Roman" panose="02020603050405020304" pitchFamily="18" charset="0"/>
                <a:ea typeface="SimSun" panose="02010600030101010101" pitchFamily="2" charset="-122"/>
              </a:rPr>
              <a:t>Changes in situation models modulate processes of event perception in audiovisual narratives. </a:t>
            </a:r>
            <a:r>
              <a:rPr lang="en-US" sz="1200" i="1" dirty="0">
                <a:solidFill>
                  <a:srgbClr val="222222"/>
                </a:solidFill>
                <a:effectLst/>
                <a:latin typeface="Times New Roman" panose="02020603050405020304" pitchFamily="18" charset="0"/>
                <a:ea typeface="SimSun" panose="02010600030101010101" pitchFamily="2" charset="-122"/>
              </a:rPr>
              <a:t>Journal of Experimental Psychology: Learning, Memory, and Cognition</a:t>
            </a:r>
            <a:r>
              <a:rPr lang="en-US" sz="1200" dirty="0">
                <a:solidFill>
                  <a:srgbClr val="222222"/>
                </a:solidFill>
                <a:effectLst/>
                <a:latin typeface="Times New Roman" panose="02020603050405020304" pitchFamily="18" charset="0"/>
                <a:ea typeface="SimSun" panose="02010600030101010101" pitchFamily="2" charset="-122"/>
              </a:rPr>
              <a:t>, </a:t>
            </a:r>
            <a:r>
              <a:rPr lang="en-US" sz="1200" i="1" dirty="0">
                <a:solidFill>
                  <a:srgbClr val="222222"/>
                </a:solidFill>
                <a:effectLst/>
                <a:latin typeface="Times New Roman" panose="02020603050405020304" pitchFamily="18" charset="0"/>
                <a:ea typeface="SimSun" panose="02010600030101010101" pitchFamily="2" charset="-122"/>
              </a:rPr>
              <a:t>40</a:t>
            </a:r>
            <a:r>
              <a:rPr lang="en-US" sz="1200" dirty="0">
                <a:solidFill>
                  <a:srgbClr val="222222"/>
                </a:solidFill>
                <a:effectLst/>
                <a:latin typeface="Times New Roman" panose="02020603050405020304" pitchFamily="18" charset="0"/>
                <a:ea typeface="SimSun" panose="02010600030101010101" pitchFamily="2" charset="-122"/>
              </a:rPr>
              <a:t>(5), 1377. </a:t>
            </a:r>
            <a:r>
              <a:rPr lang="en-US" sz="1200" dirty="0">
                <a:effectLst/>
                <a:latin typeface="Times New Roman" panose="02020603050405020304" pitchFamily="18" charset="0"/>
                <a:ea typeface="Times New Roman" panose="02020603050405020304" pitchFamily="18" charset="0"/>
              </a:rPr>
              <a:t>https://doi.org/10.1037/a0036780</a:t>
            </a:r>
            <a:endParaRPr lang="en-US" sz="1200" dirty="0">
              <a:effectLst/>
              <a:latin typeface="Times New Roman" panose="02020603050405020304" pitchFamily="18" charset="0"/>
              <a:ea typeface="SimSun" panose="02010600030101010101" pitchFamily="2" charset="-122"/>
            </a:endParaRPr>
          </a:p>
          <a:p>
            <a:pPr marL="457200" marR="0" indent="-457200">
              <a:spcBef>
                <a:spcPts val="0"/>
              </a:spcBef>
              <a:spcAft>
                <a:spcPts val="0"/>
              </a:spcAft>
            </a:pPr>
            <a:r>
              <a:rPr lang="de-DE" sz="1200" dirty="0">
                <a:solidFill>
                  <a:srgbClr val="222222"/>
                </a:solidFill>
                <a:effectLst/>
                <a:latin typeface="Times New Roman" panose="02020603050405020304" pitchFamily="18" charset="0"/>
                <a:ea typeface="SimSun" panose="02010600030101010101" pitchFamily="2" charset="-122"/>
              </a:rPr>
              <a:t>Isasi-Isasmendi, A., Andrews, C., Flecken, M., Laka, I., Daum, M. M., Meyer, M., ... &amp; Sauppe, S. (2023). </a:t>
            </a:r>
            <a:r>
              <a:rPr lang="en-US" sz="1200" dirty="0">
                <a:solidFill>
                  <a:srgbClr val="222222"/>
                </a:solidFill>
                <a:effectLst/>
                <a:latin typeface="Times New Roman" panose="02020603050405020304" pitchFamily="18" charset="0"/>
                <a:ea typeface="SimSun" panose="02010600030101010101" pitchFamily="2" charset="-122"/>
              </a:rPr>
              <a:t>The Agent Preference in Visual Event Apprehension. </a:t>
            </a:r>
            <a:r>
              <a:rPr lang="en-US" sz="1200" i="1" dirty="0">
                <a:solidFill>
                  <a:srgbClr val="222222"/>
                </a:solidFill>
                <a:effectLst/>
                <a:latin typeface="Times New Roman" panose="02020603050405020304" pitchFamily="18" charset="0"/>
                <a:ea typeface="SimSun" panose="02010600030101010101" pitchFamily="2" charset="-122"/>
              </a:rPr>
              <a:t>Open Mind</a:t>
            </a:r>
            <a:r>
              <a:rPr lang="en-US" sz="1200" dirty="0">
                <a:solidFill>
                  <a:srgbClr val="222222"/>
                </a:solidFill>
                <a:effectLst/>
                <a:latin typeface="Times New Roman" panose="02020603050405020304" pitchFamily="18" charset="0"/>
                <a:ea typeface="SimSun" panose="02010600030101010101" pitchFamily="2" charset="-122"/>
              </a:rPr>
              <a:t>, 1-43.</a:t>
            </a:r>
            <a:r>
              <a:rPr lang="en-US" sz="1200" dirty="0">
                <a:effectLst/>
                <a:latin typeface="Times New Roman" panose="02020603050405020304" pitchFamily="18" charset="0"/>
                <a:ea typeface="SimSun" panose="02010600030101010101" pitchFamily="2" charset="-122"/>
              </a:rPr>
              <a:t> </a:t>
            </a:r>
            <a:r>
              <a:rPr lang="en-US" sz="1200" dirty="0">
                <a:solidFill>
                  <a:srgbClr val="222222"/>
                </a:solidFill>
                <a:effectLst/>
                <a:latin typeface="Times New Roman" panose="02020603050405020304" pitchFamily="18" charset="0"/>
                <a:ea typeface="SimSun" panose="02010600030101010101" pitchFamily="2" charset="-122"/>
              </a:rPr>
              <a:t>https://doi.org/10.1162/opmi_a_00083</a:t>
            </a:r>
            <a:endParaRPr lang="en-US" sz="1200" dirty="0">
              <a:effectLst/>
              <a:latin typeface="Times New Roman" panose="02020603050405020304" pitchFamily="18" charset="0"/>
              <a:ea typeface="SimSun" panose="02010600030101010101" pitchFamily="2" charset="-122"/>
            </a:endParaRPr>
          </a:p>
          <a:p>
            <a:pPr marL="457200" marR="0" indent="-457200">
              <a:spcBef>
                <a:spcPts val="0"/>
              </a:spcBef>
              <a:spcAft>
                <a:spcPts val="0"/>
              </a:spcAft>
            </a:pPr>
            <a:r>
              <a:rPr lang="en-US" sz="1200" dirty="0" err="1">
                <a:solidFill>
                  <a:srgbClr val="222222"/>
                </a:solidFill>
                <a:effectLst/>
                <a:latin typeface="Times New Roman" panose="02020603050405020304" pitchFamily="18" charset="0"/>
                <a:ea typeface="SimSun" panose="02010600030101010101" pitchFamily="2" charset="-122"/>
              </a:rPr>
              <a:t>Jackendoff</a:t>
            </a:r>
            <a:r>
              <a:rPr lang="en-US" sz="1200" dirty="0">
                <a:solidFill>
                  <a:srgbClr val="222222"/>
                </a:solidFill>
                <a:effectLst/>
                <a:latin typeface="Times New Roman" panose="02020603050405020304" pitchFamily="18" charset="0"/>
                <a:ea typeface="SimSun" panose="02010600030101010101" pitchFamily="2" charset="-122"/>
              </a:rPr>
              <a:t>, R. S. (1972). Semantic interpretation in generative grammar.</a:t>
            </a:r>
            <a:r>
              <a:rPr lang="en-US" sz="1200" dirty="0">
                <a:effectLst/>
                <a:latin typeface="Times New Roman" panose="02020603050405020304" pitchFamily="18" charset="0"/>
                <a:ea typeface="SimSun" panose="02010600030101010101" pitchFamily="2" charset="-122"/>
              </a:rPr>
              <a:t> </a:t>
            </a:r>
            <a:r>
              <a:rPr lang="en-US" sz="1200" dirty="0">
                <a:solidFill>
                  <a:srgbClr val="222222"/>
                </a:solidFill>
                <a:effectLst/>
                <a:latin typeface="Times New Roman" panose="02020603050405020304" pitchFamily="18" charset="0"/>
                <a:ea typeface="SimSun" panose="02010600030101010101" pitchFamily="2" charset="-122"/>
              </a:rPr>
              <a:t>https://doi.org/10.2307/413161</a:t>
            </a:r>
            <a:endParaRPr lang="en-US" sz="1200" dirty="0">
              <a:effectLst/>
              <a:latin typeface="Times New Roman" panose="02020603050405020304" pitchFamily="18" charset="0"/>
              <a:ea typeface="SimSun" panose="02010600030101010101" pitchFamily="2" charset="-122"/>
            </a:endParaRPr>
          </a:p>
          <a:p>
            <a:pPr marL="457200" marR="0" indent="-457200">
              <a:spcBef>
                <a:spcPts val="0"/>
              </a:spcBef>
              <a:spcAft>
                <a:spcPts val="0"/>
              </a:spcAft>
            </a:pPr>
            <a:r>
              <a:rPr lang="en-US" sz="1200" dirty="0">
                <a:solidFill>
                  <a:srgbClr val="222222"/>
                </a:solidFill>
                <a:effectLst/>
                <a:latin typeface="Times New Roman" panose="02020603050405020304" pitchFamily="18" charset="0"/>
                <a:ea typeface="SimSun" panose="02010600030101010101" pitchFamily="2" charset="-122"/>
              </a:rPr>
              <a:t>Keenan, E. L. (1976). Towards a universal definition of subject. In C. N. Li (Ed.), </a:t>
            </a:r>
            <a:r>
              <a:rPr lang="en-US" sz="1200" i="1" dirty="0">
                <a:solidFill>
                  <a:srgbClr val="222222"/>
                </a:solidFill>
                <a:effectLst/>
                <a:latin typeface="Times New Roman" panose="02020603050405020304" pitchFamily="18" charset="0"/>
                <a:ea typeface="SimSun" panose="02010600030101010101" pitchFamily="2" charset="-122"/>
              </a:rPr>
              <a:t>Subject and topic</a:t>
            </a:r>
            <a:r>
              <a:rPr lang="en-US" sz="1200" dirty="0">
                <a:solidFill>
                  <a:srgbClr val="222222"/>
                </a:solidFill>
                <a:effectLst/>
                <a:latin typeface="Times New Roman" panose="02020603050405020304" pitchFamily="18" charset="0"/>
                <a:ea typeface="SimSun" panose="02010600030101010101" pitchFamily="2" charset="-122"/>
              </a:rPr>
              <a:t> (pp. 303–333). Academic Press.</a:t>
            </a:r>
            <a:endParaRPr lang="en-US" sz="1200" dirty="0">
              <a:effectLst/>
              <a:latin typeface="Times New Roman" panose="02020603050405020304" pitchFamily="18" charset="0"/>
              <a:ea typeface="SimSun" panose="02010600030101010101" pitchFamily="2" charset="-122"/>
            </a:endParaRPr>
          </a:p>
          <a:p>
            <a:pPr marL="457200" marR="0" indent="-457200">
              <a:spcBef>
                <a:spcPts val="0"/>
              </a:spcBef>
              <a:spcAft>
                <a:spcPts val="0"/>
              </a:spcAft>
            </a:pPr>
            <a:r>
              <a:rPr lang="de-DE" sz="1200" dirty="0">
                <a:solidFill>
                  <a:srgbClr val="222222"/>
                </a:solidFill>
                <a:effectLst/>
                <a:latin typeface="Times New Roman" panose="02020603050405020304" pitchFamily="18" charset="0"/>
                <a:ea typeface="SimSun" panose="02010600030101010101" pitchFamily="2" charset="-122"/>
              </a:rPr>
              <a:t>Papenmeier, F., Boss, A., &amp; Mahlke, A. K. (2019). </a:t>
            </a:r>
            <a:r>
              <a:rPr lang="en-US" sz="1200" dirty="0">
                <a:solidFill>
                  <a:srgbClr val="222222"/>
                </a:solidFill>
                <a:effectLst/>
                <a:latin typeface="Times New Roman" panose="02020603050405020304" pitchFamily="18" charset="0"/>
                <a:ea typeface="SimSun" panose="02010600030101010101" pitchFamily="2" charset="-122"/>
              </a:rPr>
              <a:t>Action goal changes caused by agents and patients both induce global updating of event models. </a:t>
            </a:r>
            <a:r>
              <a:rPr lang="en-US" sz="1200" i="1" dirty="0">
                <a:solidFill>
                  <a:srgbClr val="222222"/>
                </a:solidFill>
                <a:effectLst/>
                <a:latin typeface="Times New Roman" panose="02020603050405020304" pitchFamily="18" charset="0"/>
                <a:ea typeface="SimSun" panose="02010600030101010101" pitchFamily="2" charset="-122"/>
              </a:rPr>
              <a:t>Journal of Experimental Psychology: Learning, Memory, and Cognition</a:t>
            </a:r>
            <a:r>
              <a:rPr lang="en-US" sz="1200" dirty="0">
                <a:solidFill>
                  <a:srgbClr val="222222"/>
                </a:solidFill>
                <a:effectLst/>
                <a:latin typeface="Times New Roman" panose="02020603050405020304" pitchFamily="18" charset="0"/>
                <a:ea typeface="SimSun" panose="02010600030101010101" pitchFamily="2" charset="-122"/>
              </a:rPr>
              <a:t>, </a:t>
            </a:r>
            <a:r>
              <a:rPr lang="en-US" sz="1200" i="1" dirty="0">
                <a:solidFill>
                  <a:srgbClr val="222222"/>
                </a:solidFill>
                <a:effectLst/>
                <a:latin typeface="Times New Roman" panose="02020603050405020304" pitchFamily="18" charset="0"/>
                <a:ea typeface="SimSun" panose="02010600030101010101" pitchFamily="2" charset="-122"/>
              </a:rPr>
              <a:t>45</a:t>
            </a:r>
            <a:r>
              <a:rPr lang="en-US" sz="1200" dirty="0">
                <a:solidFill>
                  <a:srgbClr val="222222"/>
                </a:solidFill>
                <a:effectLst/>
                <a:latin typeface="Times New Roman" panose="02020603050405020304" pitchFamily="18" charset="0"/>
                <a:ea typeface="SimSun" panose="02010600030101010101" pitchFamily="2" charset="-122"/>
              </a:rPr>
              <a:t>(8), 1441.</a:t>
            </a:r>
            <a:r>
              <a:rPr lang="en-US" sz="1200" dirty="0">
                <a:effectLst/>
                <a:latin typeface="Times New Roman" panose="02020603050405020304" pitchFamily="18" charset="0"/>
                <a:ea typeface="SimSun" panose="02010600030101010101" pitchFamily="2" charset="-122"/>
              </a:rPr>
              <a:t> </a:t>
            </a:r>
            <a:r>
              <a:rPr lang="en-US" sz="1200" dirty="0">
                <a:solidFill>
                  <a:srgbClr val="222222"/>
                </a:solidFill>
                <a:effectLst/>
                <a:latin typeface="Times New Roman" panose="02020603050405020304" pitchFamily="18" charset="0"/>
                <a:ea typeface="SimSun" panose="02010600030101010101" pitchFamily="2" charset="-122"/>
              </a:rPr>
              <a:t>https://doi.org/10.1037/xlm0000651</a:t>
            </a:r>
            <a:endParaRPr lang="en-US" sz="1200" dirty="0">
              <a:effectLst/>
              <a:latin typeface="Times New Roman" panose="02020603050405020304" pitchFamily="18" charset="0"/>
              <a:ea typeface="SimSun" panose="02010600030101010101" pitchFamily="2" charset="-122"/>
            </a:endParaRPr>
          </a:p>
          <a:p>
            <a:pPr marL="457200" marR="0" indent="-457200">
              <a:spcBef>
                <a:spcPts val="0"/>
              </a:spcBef>
              <a:spcAft>
                <a:spcPts val="0"/>
              </a:spcAft>
            </a:pPr>
            <a:r>
              <a:rPr lang="en-US" sz="1200" dirty="0" err="1">
                <a:solidFill>
                  <a:srgbClr val="222222"/>
                </a:solidFill>
                <a:effectLst/>
                <a:latin typeface="Times New Roman" panose="02020603050405020304" pitchFamily="18" charset="0"/>
                <a:ea typeface="SimSun" panose="02010600030101010101" pitchFamily="2" charset="-122"/>
              </a:rPr>
              <a:t>Radvansky</a:t>
            </a:r>
            <a:r>
              <a:rPr lang="en-US" sz="1200" dirty="0">
                <a:solidFill>
                  <a:srgbClr val="222222"/>
                </a:solidFill>
                <a:effectLst/>
                <a:latin typeface="Times New Roman" panose="02020603050405020304" pitchFamily="18" charset="0"/>
                <a:ea typeface="SimSun" panose="02010600030101010101" pitchFamily="2" charset="-122"/>
              </a:rPr>
              <a:t>, G. A., &amp; Zacks, J. M. (2017). Event boundaries in memory and cognition. </a:t>
            </a:r>
            <a:r>
              <a:rPr lang="en-US" sz="1200" i="1" dirty="0">
                <a:solidFill>
                  <a:srgbClr val="222222"/>
                </a:solidFill>
                <a:effectLst/>
                <a:latin typeface="Times New Roman" panose="02020603050405020304" pitchFamily="18" charset="0"/>
                <a:ea typeface="SimSun" panose="02010600030101010101" pitchFamily="2" charset="-122"/>
              </a:rPr>
              <a:t>Current Opinion in Behavioral Sciences</a:t>
            </a:r>
            <a:r>
              <a:rPr lang="en-US" sz="1200" dirty="0">
                <a:solidFill>
                  <a:srgbClr val="222222"/>
                </a:solidFill>
                <a:effectLst/>
                <a:latin typeface="Times New Roman" panose="02020603050405020304" pitchFamily="18" charset="0"/>
                <a:ea typeface="SimSun" panose="02010600030101010101" pitchFamily="2" charset="-122"/>
              </a:rPr>
              <a:t>, </a:t>
            </a:r>
            <a:r>
              <a:rPr lang="en-US" sz="1200" i="1" dirty="0">
                <a:solidFill>
                  <a:srgbClr val="222222"/>
                </a:solidFill>
                <a:effectLst/>
                <a:latin typeface="Times New Roman" panose="02020603050405020304" pitchFamily="18" charset="0"/>
                <a:ea typeface="SimSun" panose="02010600030101010101" pitchFamily="2" charset="-122"/>
              </a:rPr>
              <a:t>17</a:t>
            </a:r>
            <a:r>
              <a:rPr lang="en-US" sz="1200" dirty="0">
                <a:solidFill>
                  <a:srgbClr val="222222"/>
                </a:solidFill>
                <a:effectLst/>
                <a:latin typeface="Times New Roman" panose="02020603050405020304" pitchFamily="18" charset="0"/>
                <a:ea typeface="SimSun" panose="02010600030101010101" pitchFamily="2" charset="-122"/>
              </a:rPr>
              <a:t>, 133-140.</a:t>
            </a:r>
            <a:r>
              <a:rPr lang="en-US" sz="1200" dirty="0">
                <a:effectLst/>
                <a:latin typeface="Times New Roman" panose="02020603050405020304" pitchFamily="18" charset="0"/>
                <a:ea typeface="SimSun" panose="02010600030101010101" pitchFamily="2" charset="-122"/>
              </a:rPr>
              <a:t> </a:t>
            </a:r>
            <a:r>
              <a:rPr lang="en-US" sz="1200" dirty="0">
                <a:solidFill>
                  <a:srgbClr val="222222"/>
                </a:solidFill>
                <a:effectLst/>
                <a:latin typeface="Times New Roman" panose="02020603050405020304" pitchFamily="18" charset="0"/>
                <a:ea typeface="SimSun" panose="02010600030101010101" pitchFamily="2" charset="-122"/>
              </a:rPr>
              <a:t>https://doi.org/10.1016/j.cobeha.2017.08.006</a:t>
            </a:r>
            <a:endParaRPr lang="en-US" sz="1200" dirty="0">
              <a:effectLst/>
              <a:latin typeface="Times New Roman" panose="02020603050405020304" pitchFamily="18" charset="0"/>
              <a:ea typeface="SimSun" panose="02010600030101010101" pitchFamily="2" charset="-122"/>
            </a:endParaRPr>
          </a:p>
          <a:p>
            <a:pPr marL="457200" marR="0" indent="-457200">
              <a:spcBef>
                <a:spcPts val="0"/>
              </a:spcBef>
              <a:spcAft>
                <a:spcPts val="0"/>
              </a:spcAft>
            </a:pPr>
            <a:r>
              <a:rPr lang="de-DE" sz="1200" dirty="0">
                <a:solidFill>
                  <a:srgbClr val="222222"/>
                </a:solidFill>
                <a:effectLst/>
                <a:latin typeface="Times New Roman" panose="02020603050405020304" pitchFamily="18" charset="0"/>
                <a:ea typeface="SimSun" panose="02010600030101010101" pitchFamily="2" charset="-122"/>
              </a:rPr>
              <a:t>Salvucci</a:t>
            </a:r>
            <a:r>
              <a:rPr lang="de-DE" sz="1200" dirty="0">
                <a:effectLst/>
                <a:latin typeface="Times New Roman" panose="02020603050405020304" pitchFamily="18" charset="0"/>
                <a:ea typeface="Times New Roman" panose="02020603050405020304" pitchFamily="18" charset="0"/>
              </a:rPr>
              <a:t>, D. D., &amp; Goldberg, J. H. (2000). </a:t>
            </a:r>
            <a:r>
              <a:rPr lang="en-US" sz="1200" dirty="0">
                <a:effectLst/>
                <a:latin typeface="Times New Roman" panose="02020603050405020304" pitchFamily="18" charset="0"/>
                <a:ea typeface="Times New Roman" panose="02020603050405020304" pitchFamily="18" charset="0"/>
              </a:rPr>
              <a:t>Identifying fixations and saccades in eye-tracking protocols. </a:t>
            </a:r>
            <a:r>
              <a:rPr lang="en-US" sz="1200" i="1" dirty="0">
                <a:effectLst/>
                <a:latin typeface="Times New Roman" panose="02020603050405020304" pitchFamily="18" charset="0"/>
                <a:ea typeface="Times New Roman" panose="02020603050405020304" pitchFamily="18" charset="0"/>
              </a:rPr>
              <a:t>Proceedings of the 2000 Symposium on Eye Tracking Research &amp; Applications</a:t>
            </a:r>
            <a:r>
              <a:rPr lang="en-US" sz="1200" dirty="0">
                <a:effectLst/>
                <a:latin typeface="Times New Roman" panose="02020603050405020304" pitchFamily="18" charset="0"/>
                <a:ea typeface="Times New Roman" panose="02020603050405020304" pitchFamily="18" charset="0"/>
              </a:rPr>
              <a:t>, 71–78. https://doi.org/10.1145/355017.355028</a:t>
            </a:r>
            <a:endParaRPr lang="en-US" sz="1200" dirty="0">
              <a:effectLst/>
              <a:latin typeface="Times New Roman" panose="02020603050405020304" pitchFamily="18" charset="0"/>
              <a:ea typeface="SimSun" panose="02010600030101010101" pitchFamily="2" charset="-122"/>
            </a:endParaRPr>
          </a:p>
          <a:p>
            <a:pPr marL="457200" marR="0" indent="-457200">
              <a:spcBef>
                <a:spcPts val="0"/>
              </a:spcBef>
              <a:spcAft>
                <a:spcPts val="0"/>
              </a:spcAft>
            </a:pPr>
            <a:r>
              <a:rPr lang="en-US" sz="1200" dirty="0" err="1">
                <a:solidFill>
                  <a:srgbClr val="222222"/>
                </a:solidFill>
                <a:effectLst/>
                <a:latin typeface="Times New Roman" panose="02020603050405020304" pitchFamily="18" charset="0"/>
                <a:ea typeface="SimSun" panose="02010600030101010101" pitchFamily="2" charset="-122"/>
              </a:rPr>
              <a:t>Segalowitz</a:t>
            </a:r>
            <a:r>
              <a:rPr lang="en-US" sz="1200" dirty="0">
                <a:solidFill>
                  <a:srgbClr val="222222"/>
                </a:solidFill>
                <a:effectLst/>
                <a:latin typeface="Times New Roman" panose="02020603050405020304" pitchFamily="18" charset="0"/>
                <a:ea typeface="SimSun" panose="02010600030101010101" pitchFamily="2" charset="-122"/>
              </a:rPr>
              <a:t>, N. S. (1982). The perception of semantic relations in pictures. </a:t>
            </a:r>
            <a:r>
              <a:rPr lang="en-US" sz="1200" i="1" dirty="0">
                <a:solidFill>
                  <a:srgbClr val="222222"/>
                </a:solidFill>
                <a:effectLst/>
                <a:latin typeface="Times New Roman" panose="02020603050405020304" pitchFamily="18" charset="0"/>
                <a:ea typeface="SimSun" panose="02010600030101010101" pitchFamily="2" charset="-122"/>
              </a:rPr>
              <a:t>Memory &amp; Cognition</a:t>
            </a:r>
            <a:r>
              <a:rPr lang="en-US" sz="1200" dirty="0">
                <a:solidFill>
                  <a:srgbClr val="222222"/>
                </a:solidFill>
                <a:effectLst/>
                <a:latin typeface="Times New Roman" panose="02020603050405020304" pitchFamily="18" charset="0"/>
                <a:ea typeface="SimSun" panose="02010600030101010101" pitchFamily="2" charset="-122"/>
              </a:rPr>
              <a:t>, </a:t>
            </a:r>
            <a:r>
              <a:rPr lang="en-US" sz="1200" i="1" dirty="0">
                <a:solidFill>
                  <a:srgbClr val="222222"/>
                </a:solidFill>
                <a:effectLst/>
                <a:latin typeface="Times New Roman" panose="02020603050405020304" pitchFamily="18" charset="0"/>
                <a:ea typeface="SimSun" panose="02010600030101010101" pitchFamily="2" charset="-122"/>
              </a:rPr>
              <a:t>10</a:t>
            </a:r>
            <a:r>
              <a:rPr lang="en-US" sz="1200" dirty="0">
                <a:solidFill>
                  <a:srgbClr val="222222"/>
                </a:solidFill>
                <a:effectLst/>
                <a:latin typeface="Times New Roman" panose="02020603050405020304" pitchFamily="18" charset="0"/>
                <a:ea typeface="SimSun" panose="02010600030101010101" pitchFamily="2" charset="-122"/>
              </a:rPr>
              <a:t>(4), 381-388.</a:t>
            </a:r>
            <a:r>
              <a:rPr lang="en-US" sz="1200" dirty="0">
                <a:effectLst/>
                <a:latin typeface="Times New Roman" panose="02020603050405020304" pitchFamily="18" charset="0"/>
                <a:ea typeface="SimSun" panose="02010600030101010101" pitchFamily="2" charset="-122"/>
              </a:rPr>
              <a:t> </a:t>
            </a:r>
            <a:r>
              <a:rPr lang="en-US" sz="1200" dirty="0">
                <a:solidFill>
                  <a:srgbClr val="222222"/>
                </a:solidFill>
                <a:effectLst/>
                <a:latin typeface="Times New Roman" panose="02020603050405020304" pitchFamily="18" charset="0"/>
                <a:ea typeface="SimSun" panose="02010600030101010101" pitchFamily="2" charset="-122"/>
              </a:rPr>
              <a:t>https://doi.org/10.3758/BF03202430</a:t>
            </a:r>
            <a:endParaRPr lang="en-US" sz="1200" dirty="0">
              <a:effectLst/>
              <a:latin typeface="Times New Roman" panose="02020603050405020304" pitchFamily="18" charset="0"/>
              <a:ea typeface="SimSun" panose="02010600030101010101" pitchFamily="2" charset="-122"/>
            </a:endParaRPr>
          </a:p>
          <a:p>
            <a:pPr marL="457200" marR="0" indent="-457200">
              <a:spcBef>
                <a:spcPts val="0"/>
              </a:spcBef>
              <a:spcAft>
                <a:spcPts val="0"/>
              </a:spcAft>
            </a:pPr>
            <a:r>
              <a:rPr lang="en-US" sz="1200" dirty="0" err="1">
                <a:solidFill>
                  <a:srgbClr val="222222"/>
                </a:solidFill>
                <a:effectLst/>
                <a:latin typeface="Times New Roman" panose="02020603050405020304" pitchFamily="18" charset="0"/>
                <a:ea typeface="SimSun" panose="02010600030101010101" pitchFamily="2" charset="-122"/>
              </a:rPr>
              <a:t>Segalowitz</a:t>
            </a:r>
            <a:r>
              <a:rPr lang="en-US" sz="1200" dirty="0">
                <a:solidFill>
                  <a:srgbClr val="222222"/>
                </a:solidFill>
                <a:effectLst/>
                <a:latin typeface="Times New Roman" panose="02020603050405020304" pitchFamily="18" charset="0"/>
                <a:ea typeface="SimSun" panose="02010600030101010101" pitchFamily="2" charset="-122"/>
              </a:rPr>
              <a:t>, N., &amp; Hansson, P. (1979). Hemispheric functions in the processing of agent-patient information. </a:t>
            </a:r>
            <a:r>
              <a:rPr lang="en-US" sz="1200" i="1" dirty="0">
                <a:solidFill>
                  <a:srgbClr val="222222"/>
                </a:solidFill>
                <a:effectLst/>
                <a:latin typeface="Times New Roman" panose="02020603050405020304" pitchFamily="18" charset="0"/>
                <a:ea typeface="SimSun" panose="02010600030101010101" pitchFamily="2" charset="-122"/>
              </a:rPr>
              <a:t>Brain and Language</a:t>
            </a:r>
            <a:r>
              <a:rPr lang="en-US" sz="1200" dirty="0">
                <a:solidFill>
                  <a:srgbClr val="222222"/>
                </a:solidFill>
                <a:effectLst/>
                <a:latin typeface="Times New Roman" panose="02020603050405020304" pitchFamily="18" charset="0"/>
                <a:ea typeface="SimSun" panose="02010600030101010101" pitchFamily="2" charset="-122"/>
              </a:rPr>
              <a:t>, </a:t>
            </a:r>
            <a:r>
              <a:rPr lang="en-US" sz="1200" i="1" dirty="0">
                <a:solidFill>
                  <a:srgbClr val="222222"/>
                </a:solidFill>
                <a:effectLst/>
                <a:latin typeface="Times New Roman" panose="02020603050405020304" pitchFamily="18" charset="0"/>
                <a:ea typeface="SimSun" panose="02010600030101010101" pitchFamily="2" charset="-122"/>
              </a:rPr>
              <a:t>8</a:t>
            </a:r>
            <a:r>
              <a:rPr lang="en-US" sz="1200" dirty="0">
                <a:solidFill>
                  <a:srgbClr val="222222"/>
                </a:solidFill>
                <a:effectLst/>
                <a:latin typeface="Times New Roman" panose="02020603050405020304" pitchFamily="18" charset="0"/>
                <a:ea typeface="SimSun" panose="02010600030101010101" pitchFamily="2" charset="-122"/>
              </a:rPr>
              <a:t>(1), 51-61.</a:t>
            </a:r>
            <a:r>
              <a:rPr lang="en-US" sz="1200" dirty="0">
                <a:effectLst/>
                <a:latin typeface="Times New Roman" panose="02020603050405020304" pitchFamily="18" charset="0"/>
                <a:ea typeface="SimSun" panose="02010600030101010101" pitchFamily="2" charset="-122"/>
              </a:rPr>
              <a:t> </a:t>
            </a:r>
            <a:r>
              <a:rPr lang="en-US" sz="1200" dirty="0">
                <a:solidFill>
                  <a:srgbClr val="222222"/>
                </a:solidFill>
                <a:effectLst/>
                <a:latin typeface="Times New Roman" panose="02020603050405020304" pitchFamily="18" charset="0"/>
                <a:ea typeface="SimSun" panose="02010600030101010101" pitchFamily="2" charset="-122"/>
              </a:rPr>
              <a:t>https://doi.org/10.1016/0093-934X(79)90039-7</a:t>
            </a:r>
            <a:endParaRPr lang="en-US" sz="1200" dirty="0">
              <a:effectLst/>
              <a:latin typeface="Times New Roman" panose="02020603050405020304" pitchFamily="18" charset="0"/>
              <a:ea typeface="SimSun" panose="02010600030101010101" pitchFamily="2" charset="-122"/>
            </a:endParaRPr>
          </a:p>
          <a:p>
            <a:pPr marL="457200" marR="0" indent="-457200">
              <a:spcBef>
                <a:spcPts val="0"/>
              </a:spcBef>
              <a:spcAft>
                <a:spcPts val="0"/>
              </a:spcAft>
            </a:pPr>
            <a:r>
              <a:rPr lang="en-US" sz="1200" dirty="0">
                <a:solidFill>
                  <a:srgbClr val="000000"/>
                </a:solidFill>
                <a:effectLst/>
                <a:latin typeface="Times New Roman" panose="02020603050405020304" pitchFamily="18" charset="0"/>
                <a:ea typeface="SimSun" panose="02010600030101010101" pitchFamily="2" charset="-122"/>
              </a:rPr>
              <a:t>Zacks, J. M. (2020). Event perception and memory. </a:t>
            </a:r>
            <a:r>
              <a:rPr lang="en-US" sz="1200" i="1" dirty="0">
                <a:solidFill>
                  <a:srgbClr val="000000"/>
                </a:solidFill>
                <a:effectLst/>
                <a:latin typeface="Times New Roman" panose="02020603050405020304" pitchFamily="18" charset="0"/>
                <a:ea typeface="SimSun" panose="02010600030101010101" pitchFamily="2" charset="-122"/>
              </a:rPr>
              <a:t>Annual Review of Psychology</a:t>
            </a:r>
            <a:r>
              <a:rPr lang="en-US" sz="1200" dirty="0">
                <a:solidFill>
                  <a:srgbClr val="000000"/>
                </a:solidFill>
                <a:effectLst/>
                <a:latin typeface="Times New Roman" panose="02020603050405020304" pitchFamily="18" charset="0"/>
                <a:ea typeface="SimSun" panose="02010600030101010101" pitchFamily="2" charset="-122"/>
              </a:rPr>
              <a:t>, </a:t>
            </a:r>
            <a:r>
              <a:rPr lang="en-US" sz="1200" i="1" dirty="0">
                <a:solidFill>
                  <a:srgbClr val="000000"/>
                </a:solidFill>
                <a:effectLst/>
                <a:latin typeface="Times New Roman" panose="02020603050405020304" pitchFamily="18" charset="0"/>
                <a:ea typeface="SimSun" panose="02010600030101010101" pitchFamily="2" charset="-122"/>
              </a:rPr>
              <a:t>71</a:t>
            </a:r>
            <a:r>
              <a:rPr lang="en-US" sz="1200" dirty="0">
                <a:solidFill>
                  <a:srgbClr val="000000"/>
                </a:solidFill>
                <a:effectLst/>
                <a:latin typeface="Times New Roman" panose="02020603050405020304" pitchFamily="18" charset="0"/>
                <a:ea typeface="SimSun" panose="02010600030101010101" pitchFamily="2" charset="-122"/>
              </a:rPr>
              <a:t>, 165. https://doi.org/10.1146/annurev-psych-010419-051101</a:t>
            </a:r>
            <a:endParaRPr lang="en-US" sz="1200" dirty="0">
              <a:effectLst/>
              <a:latin typeface="Times New Roman" panose="02020603050405020304" pitchFamily="18" charset="0"/>
              <a:ea typeface="SimSun" panose="02010600030101010101" pitchFamily="2" charset="-122"/>
            </a:endParaRPr>
          </a:p>
          <a:p>
            <a:pPr marL="457200" marR="0" indent="-457200">
              <a:spcBef>
                <a:spcPts val="0"/>
              </a:spcBef>
              <a:spcAft>
                <a:spcPts val="0"/>
              </a:spcAft>
            </a:pPr>
            <a:r>
              <a:rPr lang="en-US" sz="1200" dirty="0">
                <a:solidFill>
                  <a:srgbClr val="000000"/>
                </a:solidFill>
                <a:effectLst/>
                <a:latin typeface="Times New Roman" panose="02020603050405020304" pitchFamily="18" charset="0"/>
                <a:ea typeface="SimSun" panose="02010600030101010101" pitchFamily="2" charset="-122"/>
              </a:rPr>
              <a:t>Zacks, J. M., Speer, N. K., Swallow, K. M., Braver, T. S., &amp; Reynolds, J. R. (2007). Event perception: a mind-brain perspective. </a:t>
            </a:r>
            <a:r>
              <a:rPr lang="en-US" sz="1200" i="1" dirty="0">
                <a:solidFill>
                  <a:srgbClr val="000000"/>
                </a:solidFill>
                <a:effectLst/>
                <a:latin typeface="Times New Roman" panose="02020603050405020304" pitchFamily="18" charset="0"/>
                <a:ea typeface="SimSun" panose="02010600030101010101" pitchFamily="2" charset="-122"/>
              </a:rPr>
              <a:t>Psychological Bulletin</a:t>
            </a:r>
            <a:r>
              <a:rPr lang="en-US" sz="1200" dirty="0">
                <a:solidFill>
                  <a:srgbClr val="000000"/>
                </a:solidFill>
                <a:effectLst/>
                <a:latin typeface="Times New Roman" panose="02020603050405020304" pitchFamily="18" charset="0"/>
                <a:ea typeface="SimSun" panose="02010600030101010101" pitchFamily="2" charset="-122"/>
              </a:rPr>
              <a:t>, </a:t>
            </a:r>
            <a:r>
              <a:rPr lang="en-US" sz="1200" i="1" dirty="0">
                <a:solidFill>
                  <a:srgbClr val="000000"/>
                </a:solidFill>
                <a:effectLst/>
                <a:latin typeface="Times New Roman" panose="02020603050405020304" pitchFamily="18" charset="0"/>
                <a:ea typeface="SimSun" panose="02010600030101010101" pitchFamily="2" charset="-122"/>
              </a:rPr>
              <a:t>133</a:t>
            </a:r>
            <a:r>
              <a:rPr lang="en-US" sz="1200" dirty="0">
                <a:solidFill>
                  <a:srgbClr val="000000"/>
                </a:solidFill>
                <a:effectLst/>
                <a:latin typeface="Times New Roman" panose="02020603050405020304" pitchFamily="18" charset="0"/>
                <a:ea typeface="SimSun" panose="02010600030101010101" pitchFamily="2" charset="-122"/>
              </a:rPr>
              <a:t>(2), 273.</a:t>
            </a:r>
            <a:r>
              <a:rPr lang="en-US" sz="1200" dirty="0">
                <a:effectLst/>
                <a:latin typeface="Times New Roman" panose="02020603050405020304" pitchFamily="18" charset="0"/>
                <a:ea typeface="SimSun" panose="02010600030101010101" pitchFamily="2" charset="-122"/>
              </a:rPr>
              <a:t> </a:t>
            </a:r>
            <a:r>
              <a:rPr lang="en-US" sz="1200" dirty="0">
                <a:solidFill>
                  <a:srgbClr val="000000"/>
                </a:solidFill>
                <a:effectLst/>
                <a:latin typeface="Times New Roman" panose="02020603050405020304" pitchFamily="18" charset="0"/>
                <a:ea typeface="SimSun" panose="02010600030101010101" pitchFamily="2" charset="-122"/>
              </a:rPr>
              <a:t>https://doi.org/10.1037/0033-2909.133.2.273</a:t>
            </a:r>
            <a:endParaRPr lang="en-US" sz="1200" dirty="0">
              <a:effectLst/>
              <a:latin typeface="Times New Roman" panose="02020603050405020304" pitchFamily="18" charset="0"/>
              <a:ea typeface="SimSun" panose="02010600030101010101" pitchFamily="2" charset="-122"/>
            </a:endParaRPr>
          </a:p>
          <a:p>
            <a:pPr marL="0" marR="0" indent="457200">
              <a:spcBef>
                <a:spcPts val="0"/>
              </a:spcBef>
              <a:spcAft>
                <a:spcPts val="0"/>
              </a:spcAft>
            </a:pPr>
            <a:r>
              <a:rPr lang="en-US" sz="1200" dirty="0">
                <a:effectLst/>
                <a:latin typeface="Times New Roman" panose="02020603050405020304" pitchFamily="18" charset="0"/>
                <a:ea typeface="SimSun" panose="02010600030101010101" pitchFamily="2" charset="-122"/>
              </a:rPr>
              <a:t> </a:t>
            </a:r>
          </a:p>
          <a:p>
            <a:endParaRPr lang="en-US" sz="1200" dirty="0"/>
          </a:p>
        </p:txBody>
      </p:sp>
    </p:spTree>
    <p:extLst>
      <p:ext uri="{BB962C8B-B14F-4D97-AF65-F5344CB8AC3E}">
        <p14:creationId xmlns:p14="http://schemas.microsoft.com/office/powerpoint/2010/main" val="160671795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83AB43-74D4-3D94-15BB-70DA0165910B}"/>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53E0C12C-9F99-335A-E69B-863FB11D2D42}"/>
              </a:ext>
            </a:extLst>
          </p:cNvPr>
          <p:cNvSpPr/>
          <p:nvPr/>
        </p:nvSpPr>
        <p:spPr>
          <a:xfrm>
            <a:off x="1079385" y="107139"/>
            <a:ext cx="5137051" cy="707886"/>
          </a:xfrm>
          <a:prstGeom prst="rect">
            <a:avLst/>
          </a:prstGeom>
          <a:noFill/>
        </p:spPr>
        <p:txBody>
          <a:bodyPr wrap="square" lIns="91440" tIns="45720" rIns="91440" bIns="45720">
            <a:spAutoFit/>
          </a:bodyPr>
          <a:lstStyle/>
          <a:p>
            <a:pPr algn="ctr"/>
            <a:r>
              <a:rPr lang="en-US" sz="40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rPr>
              <a:t>Study 3: Exp 1</a:t>
            </a:r>
          </a:p>
        </p:txBody>
      </p:sp>
      <p:sp>
        <p:nvSpPr>
          <p:cNvPr id="37" name="TextBox 36">
            <a:extLst>
              <a:ext uri="{FF2B5EF4-FFF2-40B4-BE49-F238E27FC236}">
                <a16:creationId xmlns:a16="http://schemas.microsoft.com/office/drawing/2014/main" id="{384252A5-2F57-82BA-D621-2E062C412177}"/>
              </a:ext>
            </a:extLst>
          </p:cNvPr>
          <p:cNvSpPr txBox="1"/>
          <p:nvPr/>
        </p:nvSpPr>
        <p:spPr>
          <a:xfrm>
            <a:off x="272376" y="992971"/>
            <a:ext cx="8611947" cy="180805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Calibri" panose="020F0502020204030204" pitchFamily="34" charset="0"/>
                <a:ea typeface="SimSun" panose="02010600030101010101" pitchFamily="2" charset="-122"/>
                <a:cs typeface="Calibri" panose="020F0502020204030204" pitchFamily="34" charset="0"/>
              </a:rPr>
              <a:t>Hypotheses:</a:t>
            </a:r>
          </a:p>
          <a:p>
            <a:pPr>
              <a:lnSpc>
                <a:spcPct val="107000"/>
              </a:lnSpc>
              <a:spcAft>
                <a:spcPts val="800"/>
              </a:spcAft>
            </a:pPr>
            <a:br>
              <a:rPr lang="en-US" sz="1400" dirty="0">
                <a:solidFill>
                  <a:srgbClr val="000000"/>
                </a:solidFill>
                <a:latin typeface="Calibri" panose="020F0502020204030204" pitchFamily="34" charset="0"/>
                <a:ea typeface="SimSun" panose="02010600030101010101" pitchFamily="2" charset="-122"/>
                <a:cs typeface="Calibri" panose="020F0502020204030204" pitchFamily="34" charset="0"/>
              </a:rPr>
            </a:br>
            <a:r>
              <a:rPr lang="en-US" sz="1400" dirty="0">
                <a:effectLst/>
                <a:latin typeface="Calibri" panose="020F0502020204030204" pitchFamily="34" charset="0"/>
                <a:ea typeface="Times New Roman" panose="02020603050405020304" pitchFamily="18" charset="0"/>
                <a:cs typeface="Calibri" panose="020F0502020204030204" pitchFamily="34" charset="0"/>
              </a:rPr>
              <a:t>1. For trials without preview (i.e., the 0 </a:t>
            </a:r>
            <a:r>
              <a:rPr lang="en-US" sz="1400" dirty="0" err="1">
                <a:effectLst/>
                <a:latin typeface="Calibri" panose="020F0502020204030204" pitchFamily="34" charset="0"/>
                <a:ea typeface="Times New Roman" panose="02020603050405020304" pitchFamily="18" charset="0"/>
                <a:cs typeface="Calibri" panose="020F0502020204030204" pitchFamily="34" charset="0"/>
              </a:rPr>
              <a:t>ms</a:t>
            </a:r>
            <a:r>
              <a:rPr lang="en-US" sz="1400" dirty="0">
                <a:effectLst/>
                <a:latin typeface="Calibri" panose="020F0502020204030204" pitchFamily="34" charset="0"/>
                <a:ea typeface="Times New Roman" panose="02020603050405020304" pitchFamily="18" charset="0"/>
                <a:cs typeface="Calibri" panose="020F0502020204030204" pitchFamily="34" charset="0"/>
              </a:rPr>
              <a:t> preview phase conditions)</a:t>
            </a:r>
            <a:r>
              <a:rPr lang="en-US" sz="1100" dirty="0">
                <a:solidFill>
                  <a:srgbClr val="000000"/>
                </a:solidFill>
                <a:latin typeface="Calibri" panose="020F0502020204030204" pitchFamily="34" charset="0"/>
                <a:ea typeface="SimSun" panose="02010600030101010101" pitchFamily="2" charset="-122"/>
                <a:cs typeface="Calibri" panose="020F0502020204030204" pitchFamily="34" charset="0"/>
              </a:rPr>
              <a:t> :</a:t>
            </a:r>
            <a:br>
              <a:rPr lang="en-US" sz="1100" dirty="0">
                <a:solidFill>
                  <a:srgbClr val="000000"/>
                </a:solidFill>
                <a:latin typeface="Calibri" panose="020F0502020204030204" pitchFamily="34" charset="0"/>
                <a:ea typeface="SimSun" panose="02010600030101010101" pitchFamily="2" charset="-122"/>
                <a:cs typeface="Calibri" panose="020F0502020204030204" pitchFamily="34" charset="0"/>
              </a:rPr>
            </a:br>
            <a:r>
              <a:rPr lang="en-US" dirty="0">
                <a:solidFill>
                  <a:srgbClr val="000000"/>
                </a:solidFill>
                <a:latin typeface="Calibri" panose="020F0502020204030204" pitchFamily="34" charset="0"/>
                <a:ea typeface="SimSun" panose="02010600030101010101" pitchFamily="2" charset="-122"/>
                <a:cs typeface="Calibri" panose="020F0502020204030204" pitchFamily="34" charset="0"/>
              </a:rPr>
              <a:t>                                                   RT </a:t>
            </a:r>
            <a:r>
              <a:rPr lang="en-US" baseline="-25000" dirty="0">
                <a:solidFill>
                  <a:srgbClr val="000000"/>
                </a:solidFill>
                <a:latin typeface="Calibri" panose="020F0502020204030204" pitchFamily="34" charset="0"/>
                <a:ea typeface="SimSun" panose="02010600030101010101" pitchFamily="2" charset="-122"/>
                <a:cs typeface="Calibri" panose="020F0502020204030204" pitchFamily="34" charset="0"/>
              </a:rPr>
              <a:t>agent search</a:t>
            </a:r>
            <a:r>
              <a:rPr lang="en-US" dirty="0">
                <a:solidFill>
                  <a:srgbClr val="000000"/>
                </a:solidFill>
                <a:latin typeface="Calibri" panose="020F0502020204030204" pitchFamily="34" charset="0"/>
                <a:ea typeface="SimSun" panose="02010600030101010101" pitchFamily="2" charset="-122"/>
                <a:cs typeface="Calibri" panose="020F0502020204030204" pitchFamily="34" charset="0"/>
              </a:rPr>
              <a:t>       &lt;          </a:t>
            </a:r>
            <a:r>
              <a:rPr kumimoji="0" lang="en-US" b="0" i="0" u="none" strike="noStrike" kern="1200" cap="none" spc="0" normalizeH="0" baseline="0" noProof="0" dirty="0">
                <a:ln>
                  <a:noFill/>
                </a:ln>
                <a:solidFill>
                  <a:srgbClr val="000000"/>
                </a:solidFill>
                <a:effectLst/>
                <a:uLnTx/>
                <a:uFillTx/>
                <a:latin typeface="Calibri" panose="020F0502020204030204" pitchFamily="34" charset="0"/>
                <a:ea typeface="SimSun" panose="02010600030101010101" pitchFamily="2" charset="-122"/>
                <a:cs typeface="Calibri" panose="020F0502020204030204" pitchFamily="34" charset="0"/>
              </a:rPr>
              <a:t>RT </a:t>
            </a:r>
            <a:r>
              <a:rPr kumimoji="0" lang="en-US" b="0" i="0" u="none" strike="noStrike" kern="1200" cap="none" spc="0" normalizeH="0" baseline="-25000" noProof="0" dirty="0">
                <a:ln>
                  <a:noFill/>
                </a:ln>
                <a:solidFill>
                  <a:srgbClr val="000000"/>
                </a:solidFill>
                <a:effectLst/>
                <a:uLnTx/>
                <a:uFillTx/>
                <a:latin typeface="Calibri" panose="020F0502020204030204" pitchFamily="34" charset="0"/>
                <a:ea typeface="SimSun" panose="02010600030101010101" pitchFamily="2" charset="-122"/>
                <a:cs typeface="Calibri" panose="020F0502020204030204" pitchFamily="34" charset="0"/>
              </a:rPr>
              <a:t>patient search</a:t>
            </a:r>
            <a:br>
              <a:rPr lang="en-US" sz="1400" dirty="0">
                <a:effectLst/>
                <a:latin typeface="Calibri" panose="020F0502020204030204" pitchFamily="34" charset="0"/>
                <a:ea typeface="Times New Roman" panose="02020603050405020304" pitchFamily="18" charset="0"/>
                <a:cs typeface="Calibri" panose="020F0502020204030204" pitchFamily="34" charset="0"/>
              </a:rPr>
            </a:br>
            <a:br>
              <a:rPr lang="en-US" sz="1400" dirty="0">
                <a:effectLst/>
                <a:latin typeface="Calibri" panose="020F0502020204030204" pitchFamily="34" charset="0"/>
                <a:ea typeface="Times New Roman" panose="02020603050405020304" pitchFamily="18" charset="0"/>
                <a:cs typeface="Calibri" panose="020F0502020204030204" pitchFamily="34" charset="0"/>
              </a:rPr>
            </a:br>
            <a:r>
              <a:rPr lang="en-US" sz="1400" dirty="0">
                <a:effectLst/>
                <a:latin typeface="Calibri" panose="020F0502020204030204" pitchFamily="34" charset="0"/>
                <a:ea typeface="Times New Roman" panose="02020603050405020304" pitchFamily="18" charset="0"/>
                <a:cs typeface="Calibri" panose="020F0502020204030204" pitchFamily="34" charset="0"/>
              </a:rPr>
              <a:t>2. </a:t>
            </a:r>
            <a:r>
              <a:rPr lang="en-US" sz="1400" b="1" dirty="0">
                <a:effectLst/>
                <a:latin typeface="Calibri" panose="020F0502020204030204" pitchFamily="34" charset="0"/>
                <a:ea typeface="Times New Roman" panose="02020603050405020304" pitchFamily="18" charset="0"/>
                <a:cs typeface="Calibri" panose="020F0502020204030204" pitchFamily="34" charset="0"/>
              </a:rPr>
              <a:t>Bottom-up</a:t>
            </a:r>
            <a:r>
              <a:rPr lang="en-US" sz="1400" dirty="0">
                <a:effectLst/>
                <a:latin typeface="Calibri" panose="020F0502020204030204" pitchFamily="34" charset="0"/>
                <a:ea typeface="Times New Roman" panose="02020603050405020304" pitchFamily="18" charset="0"/>
                <a:cs typeface="Calibri" panose="020F0502020204030204" pitchFamily="34" charset="0"/>
              </a:rPr>
              <a:t> (</a:t>
            </a:r>
            <a:r>
              <a:rPr lang="en-US" sz="1400" dirty="0">
                <a:solidFill>
                  <a:srgbClr val="FF0000"/>
                </a:solidFill>
                <a:effectLst/>
                <a:latin typeface="Calibri" panose="020F0502020204030204" pitchFamily="34" charset="0"/>
                <a:ea typeface="Times New Roman" panose="02020603050405020304" pitchFamily="18" charset="0"/>
                <a:cs typeface="Calibri" panose="020F0502020204030204" pitchFamily="34" charset="0"/>
              </a:rPr>
              <a:t>default event role</a:t>
            </a:r>
            <a:r>
              <a:rPr lang="en-US" sz="1400" dirty="0">
                <a:latin typeface="Calibri" panose="020F0502020204030204" pitchFamily="34" charset="0"/>
                <a:ea typeface="Times New Roman" panose="02020603050405020304" pitchFamily="18" charset="0"/>
                <a:cs typeface="Calibri" panose="020F0502020204030204" pitchFamily="34" charset="0"/>
              </a:rPr>
              <a:t>):</a:t>
            </a:r>
            <a:br>
              <a:rPr lang="en-US" sz="1400" dirty="0">
                <a:effectLst/>
                <a:latin typeface="Calibri" panose="020F0502020204030204" pitchFamily="34" charset="0"/>
                <a:ea typeface="Times New Roman" panose="02020603050405020304" pitchFamily="18" charset="0"/>
                <a:cs typeface="Calibri" panose="020F0502020204030204" pitchFamily="34" charset="0"/>
              </a:rPr>
            </a:br>
            <a:endParaRPr lang="en-US" sz="1400" dirty="0">
              <a:effectLst/>
              <a:latin typeface="Calibri" panose="020F0502020204030204" pitchFamily="34" charset="0"/>
              <a:ea typeface="SimSun" panose="02010600030101010101" pitchFamily="2" charset="-122"/>
              <a:cs typeface="Calibri" panose="020F0502020204030204" pitchFamily="34" charset="0"/>
            </a:endParaRPr>
          </a:p>
        </p:txBody>
      </p:sp>
      <p:sp>
        <p:nvSpPr>
          <p:cNvPr id="38" name="TextBox 13">
            <a:extLst>
              <a:ext uri="{FF2B5EF4-FFF2-40B4-BE49-F238E27FC236}">
                <a16:creationId xmlns:a16="http://schemas.microsoft.com/office/drawing/2014/main" id="{41345817-7DEA-21C7-848E-A72A3D37A837}"/>
              </a:ext>
            </a:extLst>
          </p:cNvPr>
          <p:cNvSpPr txBox="1">
            <a:spLocks noChangeArrowheads="1"/>
          </p:cNvSpPr>
          <p:nvPr/>
        </p:nvSpPr>
        <p:spPr bwMode="auto">
          <a:xfrm>
            <a:off x="477966" y="3979237"/>
            <a:ext cx="147230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911225">
              <a:defRPr>
                <a:solidFill>
                  <a:schemeClr val="tx1"/>
                </a:solidFill>
                <a:latin typeface="Calibri" panose="020F0502020204030204" pitchFamily="34" charset="0"/>
                <a:ea typeface="宋体" panose="02010600030101010101" pitchFamily="2" charset="-122"/>
              </a:defRPr>
            </a:lvl1pPr>
            <a:lvl2pPr marL="742950" indent="-285750" defTabSz="911225">
              <a:defRPr>
                <a:solidFill>
                  <a:schemeClr val="tx1"/>
                </a:solidFill>
                <a:latin typeface="Calibri" panose="020F0502020204030204" pitchFamily="34" charset="0"/>
                <a:ea typeface="宋体" panose="02010600030101010101" pitchFamily="2" charset="-122"/>
              </a:defRPr>
            </a:lvl2pPr>
            <a:lvl3pPr marL="1143000" indent="-228600" defTabSz="911225">
              <a:defRPr>
                <a:solidFill>
                  <a:schemeClr val="tx1"/>
                </a:solidFill>
                <a:latin typeface="Calibri" panose="020F0502020204030204" pitchFamily="34" charset="0"/>
                <a:ea typeface="宋体" panose="02010600030101010101" pitchFamily="2" charset="-122"/>
              </a:defRPr>
            </a:lvl3pPr>
            <a:lvl4pPr marL="1600200" indent="-228600" defTabSz="911225">
              <a:defRPr>
                <a:solidFill>
                  <a:schemeClr val="tx1"/>
                </a:solidFill>
                <a:latin typeface="Calibri" panose="020F0502020204030204" pitchFamily="34" charset="0"/>
                <a:ea typeface="宋体" panose="02010600030101010101" pitchFamily="2" charset="-122"/>
              </a:defRPr>
            </a:lvl4pPr>
            <a:lvl5pPr marL="2057400" indent="-228600" defTabSz="911225">
              <a:defRPr>
                <a:solidFill>
                  <a:schemeClr val="tx1"/>
                </a:solidFill>
                <a:latin typeface="Calibri" panose="020F0502020204030204" pitchFamily="34" charset="0"/>
                <a:ea typeface="宋体" panose="02010600030101010101" pitchFamily="2" charset="-122"/>
              </a:defRPr>
            </a:lvl5pPr>
            <a:lvl6pPr marL="25146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spcBef>
                <a:spcPct val="20000"/>
              </a:spcBef>
            </a:pPr>
            <a:r>
              <a:rPr lang="en-US" altLang="zh-CN" sz="2400" b="1" dirty="0">
                <a:latin typeface="Times New Roman" panose="02020603050405020304" pitchFamily="18" charset="0"/>
                <a:cs typeface="Arial" panose="020B0604020202020204" pitchFamily="34" charset="0"/>
                <a:sym typeface="Arial" panose="020B0604020202020204" pitchFamily="34" charset="0"/>
              </a:rPr>
              <a:t>Bottom-up</a:t>
            </a:r>
            <a:endParaRPr lang="en-US" sz="2400" b="1" dirty="0">
              <a:ea typeface="微软雅黑" panose="020B0503020204020204" pitchFamily="34" charset="-122"/>
              <a:cs typeface="Calibri" panose="020F0502020204030204" pitchFamily="34" charset="0"/>
              <a:sym typeface="Arial" panose="020B0604020202020204" pitchFamily="34" charset="0"/>
            </a:endParaRPr>
          </a:p>
        </p:txBody>
      </p:sp>
      <p:sp>
        <p:nvSpPr>
          <p:cNvPr id="39" name="Rectangle 38">
            <a:extLst>
              <a:ext uri="{FF2B5EF4-FFF2-40B4-BE49-F238E27FC236}">
                <a16:creationId xmlns:a16="http://schemas.microsoft.com/office/drawing/2014/main" id="{E92F69C1-97EF-EDBC-946E-ED96A505BE85}"/>
              </a:ext>
            </a:extLst>
          </p:cNvPr>
          <p:cNvSpPr/>
          <p:nvPr/>
        </p:nvSpPr>
        <p:spPr>
          <a:xfrm>
            <a:off x="424206" y="4488392"/>
            <a:ext cx="1441447" cy="1246487"/>
          </a:xfrm>
          <a:prstGeom prst="rect">
            <a:avLst/>
          </a:prstGeom>
          <a:noFill/>
          <a:ln>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err="1">
              <a:latin typeface="Open Sans" panose="020B0606030504020204" pitchFamily="34" charset="0"/>
              <a:ea typeface="Open Sans" panose="020B0606030504020204" pitchFamily="34" charset="0"/>
              <a:cs typeface="Open Sans" panose="020B0606030504020204" pitchFamily="34" charset="0"/>
            </a:endParaRPr>
          </a:p>
        </p:txBody>
      </p:sp>
      <p:sp>
        <p:nvSpPr>
          <p:cNvPr id="40" name="TextBox 13">
            <a:extLst>
              <a:ext uri="{FF2B5EF4-FFF2-40B4-BE49-F238E27FC236}">
                <a16:creationId xmlns:a16="http://schemas.microsoft.com/office/drawing/2014/main" id="{86B8E785-CF32-92C2-C00F-FA7A4448B28A}"/>
              </a:ext>
            </a:extLst>
          </p:cNvPr>
          <p:cNvSpPr txBox="1">
            <a:spLocks noChangeArrowheads="1"/>
          </p:cNvSpPr>
          <p:nvPr/>
        </p:nvSpPr>
        <p:spPr bwMode="auto">
          <a:xfrm>
            <a:off x="547833" y="4549752"/>
            <a:ext cx="1472309"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911225">
              <a:defRPr>
                <a:solidFill>
                  <a:schemeClr val="tx1"/>
                </a:solidFill>
                <a:latin typeface="Calibri" panose="020F0502020204030204" pitchFamily="34" charset="0"/>
                <a:ea typeface="宋体" panose="02010600030101010101" pitchFamily="2" charset="-122"/>
              </a:defRPr>
            </a:lvl1pPr>
            <a:lvl2pPr marL="742950" indent="-285750" defTabSz="911225">
              <a:defRPr>
                <a:solidFill>
                  <a:schemeClr val="tx1"/>
                </a:solidFill>
                <a:latin typeface="Calibri" panose="020F0502020204030204" pitchFamily="34" charset="0"/>
                <a:ea typeface="宋体" panose="02010600030101010101" pitchFamily="2" charset="-122"/>
              </a:defRPr>
            </a:lvl2pPr>
            <a:lvl3pPr marL="1143000" indent="-228600" defTabSz="911225">
              <a:defRPr>
                <a:solidFill>
                  <a:schemeClr val="tx1"/>
                </a:solidFill>
                <a:latin typeface="Calibri" panose="020F0502020204030204" pitchFamily="34" charset="0"/>
                <a:ea typeface="宋体" panose="02010600030101010101" pitchFamily="2" charset="-122"/>
              </a:defRPr>
            </a:lvl3pPr>
            <a:lvl4pPr marL="1600200" indent="-228600" defTabSz="911225">
              <a:defRPr>
                <a:solidFill>
                  <a:schemeClr val="tx1"/>
                </a:solidFill>
                <a:latin typeface="Calibri" panose="020F0502020204030204" pitchFamily="34" charset="0"/>
                <a:ea typeface="宋体" panose="02010600030101010101" pitchFamily="2" charset="-122"/>
              </a:defRPr>
            </a:lvl4pPr>
            <a:lvl5pPr marL="2057400" indent="-228600" defTabSz="911225">
              <a:defRPr>
                <a:solidFill>
                  <a:schemeClr val="tx1"/>
                </a:solidFill>
                <a:latin typeface="Calibri" panose="020F0502020204030204" pitchFamily="34" charset="0"/>
                <a:ea typeface="宋体" panose="02010600030101010101" pitchFamily="2" charset="-122"/>
              </a:defRPr>
            </a:lvl5pPr>
            <a:lvl6pPr marL="25146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spcBef>
                <a:spcPct val="20000"/>
              </a:spcBef>
            </a:pPr>
            <a:r>
              <a:rPr lang="en-US" altLang="zh-CN" sz="1400" b="1" dirty="0">
                <a:latin typeface="Times New Roman" panose="02020603050405020304" pitchFamily="18" charset="0"/>
                <a:cs typeface="Arial" panose="020B0604020202020204" pitchFamily="34" charset="0"/>
                <a:sym typeface="Arial" panose="020B0604020202020204" pitchFamily="34" charset="0"/>
              </a:rPr>
              <a:t>Preview Object:</a:t>
            </a:r>
            <a:endParaRPr lang="en-US" sz="1400" b="1" dirty="0">
              <a:ea typeface="微软雅黑" panose="020B0503020204020204" pitchFamily="34" charset="-122"/>
              <a:cs typeface="Calibri" panose="020F0502020204030204" pitchFamily="34" charset="0"/>
              <a:sym typeface="Arial" panose="020B0604020202020204" pitchFamily="34" charset="0"/>
            </a:endParaRPr>
          </a:p>
        </p:txBody>
      </p:sp>
      <p:sp>
        <p:nvSpPr>
          <p:cNvPr id="41" name="TextBox 13">
            <a:extLst>
              <a:ext uri="{FF2B5EF4-FFF2-40B4-BE49-F238E27FC236}">
                <a16:creationId xmlns:a16="http://schemas.microsoft.com/office/drawing/2014/main" id="{BA4D6D89-2CBC-7D8F-170D-DBA2DF31FD57}"/>
              </a:ext>
            </a:extLst>
          </p:cNvPr>
          <p:cNvSpPr txBox="1">
            <a:spLocks noChangeArrowheads="1"/>
          </p:cNvSpPr>
          <p:nvPr/>
        </p:nvSpPr>
        <p:spPr bwMode="auto">
          <a:xfrm>
            <a:off x="547833" y="4940277"/>
            <a:ext cx="1472309"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911225">
              <a:defRPr>
                <a:solidFill>
                  <a:schemeClr val="tx1"/>
                </a:solidFill>
                <a:latin typeface="Calibri" panose="020F0502020204030204" pitchFamily="34" charset="0"/>
                <a:ea typeface="宋体" panose="02010600030101010101" pitchFamily="2" charset="-122"/>
              </a:defRPr>
            </a:lvl1pPr>
            <a:lvl2pPr marL="742950" indent="-285750" defTabSz="911225">
              <a:defRPr>
                <a:solidFill>
                  <a:schemeClr val="tx1"/>
                </a:solidFill>
                <a:latin typeface="Calibri" panose="020F0502020204030204" pitchFamily="34" charset="0"/>
                <a:ea typeface="宋体" panose="02010600030101010101" pitchFamily="2" charset="-122"/>
              </a:defRPr>
            </a:lvl2pPr>
            <a:lvl3pPr marL="1143000" indent="-228600" defTabSz="911225">
              <a:defRPr>
                <a:solidFill>
                  <a:schemeClr val="tx1"/>
                </a:solidFill>
                <a:latin typeface="Calibri" panose="020F0502020204030204" pitchFamily="34" charset="0"/>
                <a:ea typeface="宋体" panose="02010600030101010101" pitchFamily="2" charset="-122"/>
              </a:defRPr>
            </a:lvl3pPr>
            <a:lvl4pPr marL="1600200" indent="-228600" defTabSz="911225">
              <a:defRPr>
                <a:solidFill>
                  <a:schemeClr val="tx1"/>
                </a:solidFill>
                <a:latin typeface="Calibri" panose="020F0502020204030204" pitchFamily="34" charset="0"/>
                <a:ea typeface="宋体" panose="02010600030101010101" pitchFamily="2" charset="-122"/>
              </a:defRPr>
            </a:lvl4pPr>
            <a:lvl5pPr marL="2057400" indent="-228600" defTabSz="911225">
              <a:defRPr>
                <a:solidFill>
                  <a:schemeClr val="tx1"/>
                </a:solidFill>
                <a:latin typeface="Calibri" panose="020F0502020204030204" pitchFamily="34" charset="0"/>
                <a:ea typeface="宋体" panose="02010600030101010101" pitchFamily="2" charset="-122"/>
              </a:defRPr>
            </a:lvl5pPr>
            <a:lvl6pPr marL="25146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spcBef>
                <a:spcPct val="20000"/>
              </a:spcBef>
            </a:pPr>
            <a:r>
              <a:rPr lang="en-US" sz="1400" b="1" dirty="0">
                <a:latin typeface="Times New Roman" panose="02020603050405020304" pitchFamily="18" charset="0"/>
                <a:ea typeface="微软雅黑" panose="020B0503020204020204" pitchFamily="34" charset="-122"/>
                <a:cs typeface="Arial" panose="020B0604020202020204" pitchFamily="34" charset="0"/>
                <a:sym typeface="Arial" panose="020B0604020202020204" pitchFamily="34" charset="0"/>
              </a:rPr>
              <a:t>a: agent</a:t>
            </a:r>
            <a:br>
              <a:rPr lang="en-US" sz="1400" b="1" dirty="0">
                <a:latin typeface="Times New Roman" panose="02020603050405020304" pitchFamily="18" charset="0"/>
                <a:ea typeface="微软雅黑" panose="020B0503020204020204" pitchFamily="34" charset="-122"/>
                <a:cs typeface="Arial" panose="020B0604020202020204" pitchFamily="34" charset="0"/>
                <a:sym typeface="Arial" panose="020B0604020202020204" pitchFamily="34" charset="0"/>
              </a:rPr>
            </a:br>
            <a:br>
              <a:rPr lang="en-US" sz="1400" b="1" dirty="0">
                <a:latin typeface="Times New Roman" panose="02020603050405020304" pitchFamily="18" charset="0"/>
                <a:ea typeface="微软雅黑" panose="020B0503020204020204" pitchFamily="34" charset="-122"/>
                <a:cs typeface="Arial" panose="020B0604020202020204" pitchFamily="34" charset="0"/>
                <a:sym typeface="Arial" panose="020B0604020202020204" pitchFamily="34" charset="0"/>
              </a:rPr>
            </a:br>
            <a:r>
              <a:rPr lang="en-US" sz="1400" b="1" dirty="0">
                <a:latin typeface="Times New Roman" panose="02020603050405020304" pitchFamily="18" charset="0"/>
                <a:ea typeface="微软雅黑" panose="020B0503020204020204" pitchFamily="34" charset="-122"/>
                <a:cs typeface="Arial" panose="020B0604020202020204" pitchFamily="34" charset="0"/>
                <a:sym typeface="Arial" panose="020B0604020202020204" pitchFamily="34" charset="0"/>
              </a:rPr>
              <a:t>p: patient</a:t>
            </a:r>
            <a:endParaRPr lang="en-US" sz="1400" b="1" dirty="0">
              <a:ea typeface="微软雅黑" panose="020B0503020204020204" pitchFamily="34" charset="-122"/>
              <a:cs typeface="Calibri" panose="020F0502020204030204" pitchFamily="34" charset="0"/>
              <a:sym typeface="Arial" panose="020B0604020202020204" pitchFamily="34" charset="0"/>
            </a:endParaRPr>
          </a:p>
        </p:txBody>
      </p:sp>
      <p:cxnSp>
        <p:nvCxnSpPr>
          <p:cNvPr id="42" name="Connector: Elbow 41">
            <a:extLst>
              <a:ext uri="{FF2B5EF4-FFF2-40B4-BE49-F238E27FC236}">
                <a16:creationId xmlns:a16="http://schemas.microsoft.com/office/drawing/2014/main" id="{C592FB1A-35FC-C203-53DE-509AED33B623}"/>
              </a:ext>
            </a:extLst>
          </p:cNvPr>
          <p:cNvCxnSpPr>
            <a:cxnSpLocks/>
          </p:cNvCxnSpPr>
          <p:nvPr/>
        </p:nvCxnSpPr>
        <p:spPr>
          <a:xfrm>
            <a:off x="2650602" y="4314164"/>
            <a:ext cx="1677134" cy="1443391"/>
          </a:xfrm>
          <a:prstGeom prst="bentConnector3">
            <a:avLst>
              <a:gd name="adj1" fmla="val -230"/>
            </a:avLst>
          </a:prstGeom>
          <a:ln w="19050">
            <a:solidFill>
              <a:srgbClr val="000000"/>
            </a:solidFill>
            <a:headEnd type="triangle"/>
            <a:tailEnd type="triangle"/>
          </a:ln>
          <a:effectLst/>
        </p:spPr>
        <p:style>
          <a:lnRef idx="2">
            <a:schemeClr val="accent1"/>
          </a:lnRef>
          <a:fillRef idx="0">
            <a:schemeClr val="accent1"/>
          </a:fillRef>
          <a:effectRef idx="1">
            <a:schemeClr val="accent1"/>
          </a:effectRef>
          <a:fontRef idx="minor">
            <a:schemeClr val="tx1"/>
          </a:fontRef>
        </p:style>
      </p:cxnSp>
      <p:sp>
        <p:nvSpPr>
          <p:cNvPr id="43" name="TextBox 13">
            <a:extLst>
              <a:ext uri="{FF2B5EF4-FFF2-40B4-BE49-F238E27FC236}">
                <a16:creationId xmlns:a16="http://schemas.microsoft.com/office/drawing/2014/main" id="{EEF31A07-F41D-A4ED-E1B5-2E583CD8BE39}"/>
              </a:ext>
            </a:extLst>
          </p:cNvPr>
          <p:cNvSpPr txBox="1">
            <a:spLocks noChangeArrowheads="1"/>
          </p:cNvSpPr>
          <p:nvPr/>
        </p:nvSpPr>
        <p:spPr bwMode="auto">
          <a:xfrm>
            <a:off x="2809378" y="4115276"/>
            <a:ext cx="1570999"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911225">
              <a:defRPr>
                <a:solidFill>
                  <a:schemeClr val="tx1"/>
                </a:solidFill>
                <a:latin typeface="Calibri" panose="020F0502020204030204" pitchFamily="34" charset="0"/>
                <a:ea typeface="宋体" panose="02010600030101010101" pitchFamily="2" charset="-122"/>
              </a:defRPr>
            </a:lvl1pPr>
            <a:lvl2pPr marL="742950" indent="-285750" defTabSz="911225">
              <a:defRPr>
                <a:solidFill>
                  <a:schemeClr val="tx1"/>
                </a:solidFill>
                <a:latin typeface="Calibri" panose="020F0502020204030204" pitchFamily="34" charset="0"/>
                <a:ea typeface="宋体" panose="02010600030101010101" pitchFamily="2" charset="-122"/>
              </a:defRPr>
            </a:lvl2pPr>
            <a:lvl3pPr marL="1143000" indent="-228600" defTabSz="911225">
              <a:defRPr>
                <a:solidFill>
                  <a:schemeClr val="tx1"/>
                </a:solidFill>
                <a:latin typeface="Calibri" panose="020F0502020204030204" pitchFamily="34" charset="0"/>
                <a:ea typeface="宋体" panose="02010600030101010101" pitchFamily="2" charset="-122"/>
              </a:defRPr>
            </a:lvl3pPr>
            <a:lvl4pPr marL="1600200" indent="-228600" defTabSz="911225">
              <a:defRPr>
                <a:solidFill>
                  <a:schemeClr val="tx1"/>
                </a:solidFill>
                <a:latin typeface="Calibri" panose="020F0502020204030204" pitchFamily="34" charset="0"/>
                <a:ea typeface="宋体" panose="02010600030101010101" pitchFamily="2" charset="-122"/>
              </a:defRPr>
            </a:lvl4pPr>
            <a:lvl5pPr marL="2057400" indent="-228600" defTabSz="911225">
              <a:defRPr>
                <a:solidFill>
                  <a:schemeClr val="tx1"/>
                </a:solidFill>
                <a:latin typeface="Calibri" panose="020F0502020204030204" pitchFamily="34" charset="0"/>
                <a:ea typeface="宋体" panose="02010600030101010101" pitchFamily="2" charset="-122"/>
              </a:defRPr>
            </a:lvl5pPr>
            <a:lvl6pPr marL="25146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spcBef>
                <a:spcPct val="20000"/>
              </a:spcBef>
            </a:pPr>
            <a:r>
              <a:rPr lang="en-US" altLang="zh-CN" sz="1400" b="1" dirty="0">
                <a:latin typeface="Times New Roman" panose="02020603050405020304" pitchFamily="18" charset="0"/>
                <a:cs typeface="Arial" panose="020B0604020202020204" pitchFamily="34" charset="0"/>
                <a:sym typeface="Arial" panose="020B0604020202020204" pitchFamily="34" charset="0"/>
              </a:rPr>
              <a:t>Without Preview</a:t>
            </a:r>
            <a:endParaRPr lang="en-US" sz="1400" b="1" dirty="0">
              <a:ea typeface="微软雅黑" panose="020B0503020204020204" pitchFamily="34" charset="-122"/>
              <a:cs typeface="Calibri" panose="020F0502020204030204" pitchFamily="34" charset="0"/>
              <a:sym typeface="Arial" panose="020B0604020202020204" pitchFamily="34" charset="0"/>
            </a:endParaRPr>
          </a:p>
        </p:txBody>
      </p:sp>
      <p:sp>
        <p:nvSpPr>
          <p:cNvPr id="44" name="TextBox 13">
            <a:extLst>
              <a:ext uri="{FF2B5EF4-FFF2-40B4-BE49-F238E27FC236}">
                <a16:creationId xmlns:a16="http://schemas.microsoft.com/office/drawing/2014/main" id="{4CF86613-DBB9-B546-94A7-C84F91CE4A74}"/>
              </a:ext>
            </a:extLst>
          </p:cNvPr>
          <p:cNvSpPr txBox="1">
            <a:spLocks noChangeArrowheads="1"/>
          </p:cNvSpPr>
          <p:nvPr/>
        </p:nvSpPr>
        <p:spPr bwMode="auto">
          <a:xfrm>
            <a:off x="2848611" y="5854736"/>
            <a:ext cx="558092" cy="3673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911225">
              <a:defRPr>
                <a:solidFill>
                  <a:schemeClr val="tx1"/>
                </a:solidFill>
                <a:latin typeface="Calibri" panose="020F0502020204030204" pitchFamily="34" charset="0"/>
                <a:ea typeface="宋体" panose="02010600030101010101" pitchFamily="2" charset="-122"/>
              </a:defRPr>
            </a:lvl1pPr>
            <a:lvl2pPr marL="742950" indent="-285750" defTabSz="911225">
              <a:defRPr>
                <a:solidFill>
                  <a:schemeClr val="tx1"/>
                </a:solidFill>
                <a:latin typeface="Calibri" panose="020F0502020204030204" pitchFamily="34" charset="0"/>
                <a:ea typeface="宋体" panose="02010600030101010101" pitchFamily="2" charset="-122"/>
              </a:defRPr>
            </a:lvl2pPr>
            <a:lvl3pPr marL="1143000" indent="-228600" defTabSz="911225">
              <a:defRPr>
                <a:solidFill>
                  <a:schemeClr val="tx1"/>
                </a:solidFill>
                <a:latin typeface="Calibri" panose="020F0502020204030204" pitchFamily="34" charset="0"/>
                <a:ea typeface="宋体" panose="02010600030101010101" pitchFamily="2" charset="-122"/>
              </a:defRPr>
            </a:lvl3pPr>
            <a:lvl4pPr marL="1600200" indent="-228600" defTabSz="911225">
              <a:defRPr>
                <a:solidFill>
                  <a:schemeClr val="tx1"/>
                </a:solidFill>
                <a:latin typeface="Calibri" panose="020F0502020204030204" pitchFamily="34" charset="0"/>
                <a:ea typeface="宋体" panose="02010600030101010101" pitchFamily="2" charset="-122"/>
              </a:defRPr>
            </a:lvl4pPr>
            <a:lvl5pPr marL="2057400" indent="-228600" defTabSz="911225">
              <a:defRPr>
                <a:solidFill>
                  <a:schemeClr val="tx1"/>
                </a:solidFill>
                <a:latin typeface="Calibri" panose="020F0502020204030204" pitchFamily="34" charset="0"/>
                <a:ea typeface="宋体" panose="02010600030101010101" pitchFamily="2" charset="-122"/>
              </a:defRPr>
            </a:lvl5pPr>
            <a:lvl6pPr marL="25146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spcBef>
                <a:spcPct val="20000"/>
              </a:spcBef>
            </a:pPr>
            <a:r>
              <a:rPr lang="en-US" altLang="zh-CN" sz="1400" b="1" dirty="0">
                <a:latin typeface="Times New Roman" panose="02020603050405020304" pitchFamily="18" charset="0"/>
                <a:cs typeface="Arial" panose="020B0604020202020204" pitchFamily="34" charset="0"/>
                <a:sym typeface="Arial" panose="020B0604020202020204" pitchFamily="34" charset="0"/>
              </a:rPr>
              <a:t>Agent </a:t>
            </a:r>
            <a:br>
              <a:rPr lang="en-US" altLang="zh-CN" sz="1400" b="1" dirty="0">
                <a:latin typeface="Times New Roman" panose="02020603050405020304" pitchFamily="18" charset="0"/>
                <a:cs typeface="Arial" panose="020B0604020202020204" pitchFamily="34" charset="0"/>
                <a:sym typeface="Arial" panose="020B0604020202020204" pitchFamily="34" charset="0"/>
              </a:rPr>
            </a:br>
            <a:r>
              <a:rPr lang="en-US" altLang="zh-CN" sz="1400" b="1" dirty="0">
                <a:latin typeface="Times New Roman" panose="02020603050405020304" pitchFamily="18" charset="0"/>
                <a:cs typeface="Arial" panose="020B0604020202020204" pitchFamily="34" charset="0"/>
                <a:sym typeface="Arial" panose="020B0604020202020204" pitchFamily="34" charset="0"/>
              </a:rPr>
              <a:t>Search</a:t>
            </a:r>
            <a:endParaRPr lang="en-US" sz="1400" b="1" dirty="0">
              <a:ea typeface="微软雅黑" panose="020B0503020204020204" pitchFamily="34" charset="-122"/>
              <a:cs typeface="Calibri" panose="020F0502020204030204" pitchFamily="34" charset="0"/>
              <a:sym typeface="Arial" panose="020B0604020202020204" pitchFamily="34" charset="0"/>
            </a:endParaRPr>
          </a:p>
        </p:txBody>
      </p:sp>
      <p:sp>
        <p:nvSpPr>
          <p:cNvPr id="45" name="TextBox 13">
            <a:extLst>
              <a:ext uri="{FF2B5EF4-FFF2-40B4-BE49-F238E27FC236}">
                <a16:creationId xmlns:a16="http://schemas.microsoft.com/office/drawing/2014/main" id="{6E8434E6-70F1-DD69-18B6-2D5C1F77E76A}"/>
              </a:ext>
            </a:extLst>
          </p:cNvPr>
          <p:cNvSpPr txBox="1">
            <a:spLocks noChangeArrowheads="1"/>
          </p:cNvSpPr>
          <p:nvPr/>
        </p:nvSpPr>
        <p:spPr bwMode="auto">
          <a:xfrm>
            <a:off x="3590930" y="5854736"/>
            <a:ext cx="558092" cy="3673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911225">
              <a:defRPr>
                <a:solidFill>
                  <a:schemeClr val="tx1"/>
                </a:solidFill>
                <a:latin typeface="Calibri" panose="020F0502020204030204" pitchFamily="34" charset="0"/>
                <a:ea typeface="宋体" panose="02010600030101010101" pitchFamily="2" charset="-122"/>
              </a:defRPr>
            </a:lvl1pPr>
            <a:lvl2pPr marL="742950" indent="-285750" defTabSz="911225">
              <a:defRPr>
                <a:solidFill>
                  <a:schemeClr val="tx1"/>
                </a:solidFill>
                <a:latin typeface="Calibri" panose="020F0502020204030204" pitchFamily="34" charset="0"/>
                <a:ea typeface="宋体" panose="02010600030101010101" pitchFamily="2" charset="-122"/>
              </a:defRPr>
            </a:lvl2pPr>
            <a:lvl3pPr marL="1143000" indent="-228600" defTabSz="911225">
              <a:defRPr>
                <a:solidFill>
                  <a:schemeClr val="tx1"/>
                </a:solidFill>
                <a:latin typeface="Calibri" panose="020F0502020204030204" pitchFamily="34" charset="0"/>
                <a:ea typeface="宋体" panose="02010600030101010101" pitchFamily="2" charset="-122"/>
              </a:defRPr>
            </a:lvl3pPr>
            <a:lvl4pPr marL="1600200" indent="-228600" defTabSz="911225">
              <a:defRPr>
                <a:solidFill>
                  <a:schemeClr val="tx1"/>
                </a:solidFill>
                <a:latin typeface="Calibri" panose="020F0502020204030204" pitchFamily="34" charset="0"/>
                <a:ea typeface="宋体" panose="02010600030101010101" pitchFamily="2" charset="-122"/>
              </a:defRPr>
            </a:lvl4pPr>
            <a:lvl5pPr marL="2057400" indent="-228600" defTabSz="911225">
              <a:defRPr>
                <a:solidFill>
                  <a:schemeClr val="tx1"/>
                </a:solidFill>
                <a:latin typeface="Calibri" panose="020F0502020204030204" pitchFamily="34" charset="0"/>
                <a:ea typeface="宋体" panose="02010600030101010101" pitchFamily="2" charset="-122"/>
              </a:defRPr>
            </a:lvl5pPr>
            <a:lvl6pPr marL="25146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spcBef>
                <a:spcPct val="20000"/>
              </a:spcBef>
            </a:pPr>
            <a:r>
              <a:rPr lang="en-US" altLang="zh-CN" sz="1400" b="1" dirty="0">
                <a:latin typeface="Times New Roman" panose="02020603050405020304" pitchFamily="18" charset="0"/>
                <a:cs typeface="Arial" panose="020B0604020202020204" pitchFamily="34" charset="0"/>
                <a:sym typeface="Arial" panose="020B0604020202020204" pitchFamily="34" charset="0"/>
              </a:rPr>
              <a:t>Patient Search</a:t>
            </a:r>
            <a:endParaRPr lang="en-US" sz="1400" b="1" dirty="0">
              <a:ea typeface="微软雅黑" panose="020B0503020204020204" pitchFamily="34" charset="-122"/>
              <a:cs typeface="Calibri" panose="020F0502020204030204" pitchFamily="34" charset="0"/>
              <a:sym typeface="Arial" panose="020B0604020202020204" pitchFamily="34" charset="0"/>
            </a:endParaRPr>
          </a:p>
        </p:txBody>
      </p:sp>
      <p:sp>
        <p:nvSpPr>
          <p:cNvPr id="46" name="TextBox 45">
            <a:extLst>
              <a:ext uri="{FF2B5EF4-FFF2-40B4-BE49-F238E27FC236}">
                <a16:creationId xmlns:a16="http://schemas.microsoft.com/office/drawing/2014/main" id="{022B2F75-DFBE-75CA-8F62-4362EF0932E7}"/>
              </a:ext>
            </a:extLst>
          </p:cNvPr>
          <p:cNvSpPr txBox="1"/>
          <p:nvPr/>
        </p:nvSpPr>
        <p:spPr>
          <a:xfrm rot="10800000">
            <a:off x="2239081" y="4184654"/>
            <a:ext cx="400110" cy="1316842"/>
          </a:xfrm>
          <a:prstGeom prst="rect">
            <a:avLst/>
          </a:prstGeom>
          <a:noFill/>
        </p:spPr>
        <p:txBody>
          <a:bodyPr vert="eaVert" wrap="square" rtlCol="0">
            <a:spAutoFit/>
          </a:bodyPr>
          <a:lstStyle/>
          <a:p>
            <a:r>
              <a:rPr lang="en-US" sz="1400" b="1" dirty="0">
                <a:latin typeface="Times New Roman" panose="02020603050405020304" pitchFamily="18" charset="0"/>
                <a:ea typeface="宋体" panose="02010600030101010101" pitchFamily="2" charset="-122"/>
                <a:cs typeface="Arial" panose="020B0604020202020204" pitchFamily="34" charset="0"/>
              </a:rPr>
              <a:t>Reaction Time</a:t>
            </a:r>
          </a:p>
        </p:txBody>
      </p:sp>
      <p:sp>
        <p:nvSpPr>
          <p:cNvPr id="47" name="TextBox 13">
            <a:extLst>
              <a:ext uri="{FF2B5EF4-FFF2-40B4-BE49-F238E27FC236}">
                <a16:creationId xmlns:a16="http://schemas.microsoft.com/office/drawing/2014/main" id="{F3BA8B64-0CAE-BD7C-8313-086087898606}"/>
              </a:ext>
            </a:extLst>
          </p:cNvPr>
          <p:cNvSpPr txBox="1">
            <a:spLocks noChangeArrowheads="1"/>
          </p:cNvSpPr>
          <p:nvPr/>
        </p:nvSpPr>
        <p:spPr bwMode="auto">
          <a:xfrm>
            <a:off x="2964849" y="5299275"/>
            <a:ext cx="238256" cy="1836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911225">
              <a:defRPr>
                <a:solidFill>
                  <a:schemeClr val="tx1"/>
                </a:solidFill>
                <a:latin typeface="Calibri" panose="020F0502020204030204" pitchFamily="34" charset="0"/>
                <a:ea typeface="宋体" panose="02010600030101010101" pitchFamily="2" charset="-122"/>
              </a:defRPr>
            </a:lvl1pPr>
            <a:lvl2pPr marL="742950" indent="-285750" defTabSz="911225">
              <a:defRPr>
                <a:solidFill>
                  <a:schemeClr val="tx1"/>
                </a:solidFill>
                <a:latin typeface="Calibri" panose="020F0502020204030204" pitchFamily="34" charset="0"/>
                <a:ea typeface="宋体" panose="02010600030101010101" pitchFamily="2" charset="-122"/>
              </a:defRPr>
            </a:lvl2pPr>
            <a:lvl3pPr marL="1143000" indent="-228600" defTabSz="911225">
              <a:defRPr>
                <a:solidFill>
                  <a:schemeClr val="tx1"/>
                </a:solidFill>
                <a:latin typeface="Calibri" panose="020F0502020204030204" pitchFamily="34" charset="0"/>
                <a:ea typeface="宋体" panose="02010600030101010101" pitchFamily="2" charset="-122"/>
              </a:defRPr>
            </a:lvl3pPr>
            <a:lvl4pPr marL="1600200" indent="-228600" defTabSz="911225">
              <a:defRPr>
                <a:solidFill>
                  <a:schemeClr val="tx1"/>
                </a:solidFill>
                <a:latin typeface="Calibri" panose="020F0502020204030204" pitchFamily="34" charset="0"/>
                <a:ea typeface="宋体" panose="02010600030101010101" pitchFamily="2" charset="-122"/>
              </a:defRPr>
            </a:lvl4pPr>
            <a:lvl5pPr marL="2057400" indent="-228600" defTabSz="911225">
              <a:defRPr>
                <a:solidFill>
                  <a:schemeClr val="tx1"/>
                </a:solidFill>
                <a:latin typeface="Calibri" panose="020F0502020204030204" pitchFamily="34" charset="0"/>
                <a:ea typeface="宋体" panose="02010600030101010101" pitchFamily="2" charset="-122"/>
              </a:defRPr>
            </a:lvl5pPr>
            <a:lvl6pPr marL="25146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spcBef>
                <a:spcPct val="20000"/>
              </a:spcBef>
            </a:pPr>
            <a:r>
              <a:rPr lang="en-US" sz="1400" b="1" dirty="0">
                <a:latin typeface="Times New Roman" panose="02020603050405020304" pitchFamily="18" charset="0"/>
                <a:ea typeface="微软雅黑" panose="020B0503020204020204" pitchFamily="34" charset="-122"/>
                <a:cs typeface="Arial" panose="020B0604020202020204" pitchFamily="34" charset="0"/>
                <a:sym typeface="Arial" panose="020B0604020202020204" pitchFamily="34" charset="0"/>
              </a:rPr>
              <a:t>a/p</a:t>
            </a:r>
            <a:endParaRPr lang="en-US" sz="1400" b="1" dirty="0">
              <a:ea typeface="微软雅黑" panose="020B0503020204020204" pitchFamily="34" charset="-122"/>
              <a:cs typeface="Calibri" panose="020F0502020204030204" pitchFamily="34" charset="0"/>
              <a:sym typeface="Arial" panose="020B0604020202020204" pitchFamily="34" charset="0"/>
            </a:endParaRPr>
          </a:p>
        </p:txBody>
      </p:sp>
      <p:sp>
        <p:nvSpPr>
          <p:cNvPr id="48" name="TextBox 13">
            <a:extLst>
              <a:ext uri="{FF2B5EF4-FFF2-40B4-BE49-F238E27FC236}">
                <a16:creationId xmlns:a16="http://schemas.microsoft.com/office/drawing/2014/main" id="{EA4D6B9B-21C4-2091-7D39-659DD79402B7}"/>
              </a:ext>
            </a:extLst>
          </p:cNvPr>
          <p:cNvSpPr txBox="1">
            <a:spLocks noChangeArrowheads="1"/>
          </p:cNvSpPr>
          <p:nvPr/>
        </p:nvSpPr>
        <p:spPr bwMode="auto">
          <a:xfrm>
            <a:off x="3768847" y="4838425"/>
            <a:ext cx="238256" cy="1836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911225">
              <a:defRPr>
                <a:solidFill>
                  <a:schemeClr val="tx1"/>
                </a:solidFill>
                <a:latin typeface="Calibri" panose="020F0502020204030204" pitchFamily="34" charset="0"/>
                <a:ea typeface="宋体" panose="02010600030101010101" pitchFamily="2" charset="-122"/>
              </a:defRPr>
            </a:lvl1pPr>
            <a:lvl2pPr marL="742950" indent="-285750" defTabSz="911225">
              <a:defRPr>
                <a:solidFill>
                  <a:schemeClr val="tx1"/>
                </a:solidFill>
                <a:latin typeface="Calibri" panose="020F0502020204030204" pitchFamily="34" charset="0"/>
                <a:ea typeface="宋体" panose="02010600030101010101" pitchFamily="2" charset="-122"/>
              </a:defRPr>
            </a:lvl2pPr>
            <a:lvl3pPr marL="1143000" indent="-228600" defTabSz="911225">
              <a:defRPr>
                <a:solidFill>
                  <a:schemeClr val="tx1"/>
                </a:solidFill>
                <a:latin typeface="Calibri" panose="020F0502020204030204" pitchFamily="34" charset="0"/>
                <a:ea typeface="宋体" panose="02010600030101010101" pitchFamily="2" charset="-122"/>
              </a:defRPr>
            </a:lvl3pPr>
            <a:lvl4pPr marL="1600200" indent="-228600" defTabSz="911225">
              <a:defRPr>
                <a:solidFill>
                  <a:schemeClr val="tx1"/>
                </a:solidFill>
                <a:latin typeface="Calibri" panose="020F0502020204030204" pitchFamily="34" charset="0"/>
                <a:ea typeface="宋体" panose="02010600030101010101" pitchFamily="2" charset="-122"/>
              </a:defRPr>
            </a:lvl4pPr>
            <a:lvl5pPr marL="2057400" indent="-228600" defTabSz="911225">
              <a:defRPr>
                <a:solidFill>
                  <a:schemeClr val="tx1"/>
                </a:solidFill>
                <a:latin typeface="Calibri" panose="020F0502020204030204" pitchFamily="34" charset="0"/>
                <a:ea typeface="宋体" panose="02010600030101010101" pitchFamily="2" charset="-122"/>
              </a:defRPr>
            </a:lvl5pPr>
            <a:lvl6pPr marL="25146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spcBef>
                <a:spcPct val="20000"/>
              </a:spcBef>
            </a:pPr>
            <a:r>
              <a:rPr lang="en-US" sz="1400" b="1" dirty="0">
                <a:latin typeface="Times New Roman" panose="02020603050405020304" pitchFamily="18" charset="0"/>
                <a:ea typeface="微软雅黑" panose="020B0503020204020204" pitchFamily="34" charset="-122"/>
                <a:cs typeface="Arial" panose="020B0604020202020204" pitchFamily="34" charset="0"/>
                <a:sym typeface="Arial" panose="020B0604020202020204" pitchFamily="34" charset="0"/>
              </a:rPr>
              <a:t>a/p</a:t>
            </a:r>
            <a:endParaRPr lang="en-US" sz="1400" b="1" dirty="0">
              <a:ea typeface="微软雅黑" panose="020B0503020204020204" pitchFamily="34" charset="-122"/>
              <a:cs typeface="Calibri" panose="020F0502020204030204" pitchFamily="34" charset="0"/>
              <a:sym typeface="Arial" panose="020B0604020202020204" pitchFamily="34" charset="0"/>
            </a:endParaRPr>
          </a:p>
        </p:txBody>
      </p:sp>
      <p:grpSp>
        <p:nvGrpSpPr>
          <p:cNvPr id="49" name="Group 48">
            <a:extLst>
              <a:ext uri="{FF2B5EF4-FFF2-40B4-BE49-F238E27FC236}">
                <a16:creationId xmlns:a16="http://schemas.microsoft.com/office/drawing/2014/main" id="{B61FBAD5-313B-2CD9-D784-DE01C89C2B1C}"/>
              </a:ext>
            </a:extLst>
          </p:cNvPr>
          <p:cNvGrpSpPr/>
          <p:nvPr/>
        </p:nvGrpSpPr>
        <p:grpSpPr>
          <a:xfrm>
            <a:off x="4991734" y="4115276"/>
            <a:ext cx="2089546" cy="2106801"/>
            <a:chOff x="5593179" y="3707689"/>
            <a:chExt cx="2634011" cy="2471254"/>
          </a:xfrm>
        </p:grpSpPr>
        <p:cxnSp>
          <p:nvCxnSpPr>
            <p:cNvPr id="50" name="Connector: Elbow 49">
              <a:extLst>
                <a:ext uri="{FF2B5EF4-FFF2-40B4-BE49-F238E27FC236}">
                  <a16:creationId xmlns:a16="http://schemas.microsoft.com/office/drawing/2014/main" id="{D3231798-2924-67FB-3EF4-EFE2659F399E}"/>
                </a:ext>
              </a:extLst>
            </p:cNvPr>
            <p:cNvCxnSpPr>
              <a:cxnSpLocks/>
            </p:cNvCxnSpPr>
            <p:nvPr/>
          </p:nvCxnSpPr>
          <p:spPr>
            <a:xfrm>
              <a:off x="6160261" y="3940982"/>
              <a:ext cx="2066929" cy="1693082"/>
            </a:xfrm>
            <a:prstGeom prst="bentConnector3">
              <a:avLst>
                <a:gd name="adj1" fmla="val -230"/>
              </a:avLst>
            </a:prstGeom>
            <a:ln w="19050">
              <a:solidFill>
                <a:srgbClr val="000000"/>
              </a:solidFill>
              <a:headEnd type="triangle"/>
              <a:tailEnd type="triangle"/>
            </a:ln>
            <a:effectLst/>
          </p:spPr>
          <p:style>
            <a:lnRef idx="2">
              <a:schemeClr val="accent1"/>
            </a:lnRef>
            <a:fillRef idx="0">
              <a:schemeClr val="accent1"/>
            </a:fillRef>
            <a:effectRef idx="1">
              <a:schemeClr val="accent1"/>
            </a:effectRef>
            <a:fontRef idx="minor">
              <a:schemeClr val="tx1"/>
            </a:fontRef>
          </p:style>
        </p:cxnSp>
        <p:sp>
          <p:nvSpPr>
            <p:cNvPr id="51" name="TextBox 13">
              <a:extLst>
                <a:ext uri="{FF2B5EF4-FFF2-40B4-BE49-F238E27FC236}">
                  <a16:creationId xmlns:a16="http://schemas.microsoft.com/office/drawing/2014/main" id="{CB230FD4-9F1C-2C2F-B39B-7116A8C76850}"/>
                </a:ext>
              </a:extLst>
            </p:cNvPr>
            <p:cNvSpPr txBox="1">
              <a:spLocks noChangeArrowheads="1"/>
            </p:cNvSpPr>
            <p:nvPr/>
          </p:nvSpPr>
          <p:spPr bwMode="auto">
            <a:xfrm>
              <a:off x="6457570" y="3707689"/>
              <a:ext cx="1472309"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911225">
                <a:defRPr>
                  <a:solidFill>
                    <a:schemeClr val="tx1"/>
                  </a:solidFill>
                  <a:latin typeface="Calibri" panose="020F0502020204030204" pitchFamily="34" charset="0"/>
                  <a:ea typeface="宋体" panose="02010600030101010101" pitchFamily="2" charset="-122"/>
                </a:defRPr>
              </a:lvl1pPr>
              <a:lvl2pPr marL="742950" indent="-285750" defTabSz="911225">
                <a:defRPr>
                  <a:solidFill>
                    <a:schemeClr val="tx1"/>
                  </a:solidFill>
                  <a:latin typeface="Calibri" panose="020F0502020204030204" pitchFamily="34" charset="0"/>
                  <a:ea typeface="宋体" panose="02010600030101010101" pitchFamily="2" charset="-122"/>
                </a:defRPr>
              </a:lvl2pPr>
              <a:lvl3pPr marL="1143000" indent="-228600" defTabSz="911225">
                <a:defRPr>
                  <a:solidFill>
                    <a:schemeClr val="tx1"/>
                  </a:solidFill>
                  <a:latin typeface="Calibri" panose="020F0502020204030204" pitchFamily="34" charset="0"/>
                  <a:ea typeface="宋体" panose="02010600030101010101" pitchFamily="2" charset="-122"/>
                </a:defRPr>
              </a:lvl3pPr>
              <a:lvl4pPr marL="1600200" indent="-228600" defTabSz="911225">
                <a:defRPr>
                  <a:solidFill>
                    <a:schemeClr val="tx1"/>
                  </a:solidFill>
                  <a:latin typeface="Calibri" panose="020F0502020204030204" pitchFamily="34" charset="0"/>
                  <a:ea typeface="宋体" panose="02010600030101010101" pitchFamily="2" charset="-122"/>
                </a:defRPr>
              </a:lvl4pPr>
              <a:lvl5pPr marL="2057400" indent="-228600" defTabSz="911225">
                <a:defRPr>
                  <a:solidFill>
                    <a:schemeClr val="tx1"/>
                  </a:solidFill>
                  <a:latin typeface="Calibri" panose="020F0502020204030204" pitchFamily="34" charset="0"/>
                  <a:ea typeface="宋体" panose="02010600030101010101" pitchFamily="2" charset="-122"/>
                </a:defRPr>
              </a:lvl5pPr>
              <a:lvl6pPr marL="25146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spcBef>
                  <a:spcPct val="20000"/>
                </a:spcBef>
              </a:pPr>
              <a:r>
                <a:rPr lang="en-US" altLang="zh-CN" sz="1400" b="1" dirty="0">
                  <a:latin typeface="Times New Roman" panose="02020603050405020304" pitchFamily="18" charset="0"/>
                  <a:cs typeface="Arial" panose="020B0604020202020204" pitchFamily="34" charset="0"/>
                  <a:sym typeface="Arial" panose="020B0604020202020204" pitchFamily="34" charset="0"/>
                </a:rPr>
                <a:t>With Preview</a:t>
              </a:r>
              <a:endParaRPr lang="en-US" sz="1400" b="1" dirty="0">
                <a:ea typeface="微软雅黑" panose="020B0503020204020204" pitchFamily="34" charset="-122"/>
                <a:cs typeface="Calibri" panose="020F0502020204030204" pitchFamily="34" charset="0"/>
                <a:sym typeface="Arial" panose="020B0604020202020204" pitchFamily="34" charset="0"/>
              </a:endParaRPr>
            </a:p>
          </p:txBody>
        </p:sp>
        <p:sp>
          <p:nvSpPr>
            <p:cNvPr id="52" name="TextBox 13">
              <a:extLst>
                <a:ext uri="{FF2B5EF4-FFF2-40B4-BE49-F238E27FC236}">
                  <a16:creationId xmlns:a16="http://schemas.microsoft.com/office/drawing/2014/main" id="{DE51357F-56B5-0712-3958-6E2F1838A8F5}"/>
                </a:ext>
              </a:extLst>
            </p:cNvPr>
            <p:cNvSpPr txBox="1">
              <a:spLocks noChangeArrowheads="1"/>
            </p:cNvSpPr>
            <p:nvPr/>
          </p:nvSpPr>
          <p:spPr bwMode="auto">
            <a:xfrm>
              <a:off x="6471377" y="5748056"/>
              <a:ext cx="687802"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911225">
                <a:defRPr>
                  <a:solidFill>
                    <a:schemeClr val="tx1"/>
                  </a:solidFill>
                  <a:latin typeface="Calibri" panose="020F0502020204030204" pitchFamily="34" charset="0"/>
                  <a:ea typeface="宋体" panose="02010600030101010101" pitchFamily="2" charset="-122"/>
                </a:defRPr>
              </a:lvl1pPr>
              <a:lvl2pPr marL="742950" indent="-285750" defTabSz="911225">
                <a:defRPr>
                  <a:solidFill>
                    <a:schemeClr val="tx1"/>
                  </a:solidFill>
                  <a:latin typeface="Calibri" panose="020F0502020204030204" pitchFamily="34" charset="0"/>
                  <a:ea typeface="宋体" panose="02010600030101010101" pitchFamily="2" charset="-122"/>
                </a:defRPr>
              </a:lvl2pPr>
              <a:lvl3pPr marL="1143000" indent="-228600" defTabSz="911225">
                <a:defRPr>
                  <a:solidFill>
                    <a:schemeClr val="tx1"/>
                  </a:solidFill>
                  <a:latin typeface="Calibri" panose="020F0502020204030204" pitchFamily="34" charset="0"/>
                  <a:ea typeface="宋体" panose="02010600030101010101" pitchFamily="2" charset="-122"/>
                </a:defRPr>
              </a:lvl3pPr>
              <a:lvl4pPr marL="1600200" indent="-228600" defTabSz="911225">
                <a:defRPr>
                  <a:solidFill>
                    <a:schemeClr val="tx1"/>
                  </a:solidFill>
                  <a:latin typeface="Calibri" panose="020F0502020204030204" pitchFamily="34" charset="0"/>
                  <a:ea typeface="宋体" panose="02010600030101010101" pitchFamily="2" charset="-122"/>
                </a:defRPr>
              </a:lvl4pPr>
              <a:lvl5pPr marL="2057400" indent="-228600" defTabSz="911225">
                <a:defRPr>
                  <a:solidFill>
                    <a:schemeClr val="tx1"/>
                  </a:solidFill>
                  <a:latin typeface="Calibri" panose="020F0502020204030204" pitchFamily="34" charset="0"/>
                  <a:ea typeface="宋体" panose="02010600030101010101" pitchFamily="2" charset="-122"/>
                </a:defRPr>
              </a:lvl5pPr>
              <a:lvl6pPr marL="25146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spcBef>
                  <a:spcPct val="20000"/>
                </a:spcBef>
              </a:pPr>
              <a:r>
                <a:rPr lang="en-US" altLang="zh-CN" sz="1400" b="1" dirty="0">
                  <a:latin typeface="Times New Roman" panose="02020603050405020304" pitchFamily="18" charset="0"/>
                  <a:cs typeface="Arial" panose="020B0604020202020204" pitchFamily="34" charset="0"/>
                  <a:sym typeface="Arial" panose="020B0604020202020204" pitchFamily="34" charset="0"/>
                </a:rPr>
                <a:t>Agent </a:t>
              </a:r>
              <a:br>
                <a:rPr lang="en-US" altLang="zh-CN" sz="1400" b="1" dirty="0">
                  <a:latin typeface="Times New Roman" panose="02020603050405020304" pitchFamily="18" charset="0"/>
                  <a:cs typeface="Arial" panose="020B0604020202020204" pitchFamily="34" charset="0"/>
                  <a:sym typeface="Arial" panose="020B0604020202020204" pitchFamily="34" charset="0"/>
                </a:rPr>
              </a:br>
              <a:r>
                <a:rPr lang="en-US" altLang="zh-CN" sz="1400" b="1" dirty="0">
                  <a:latin typeface="Times New Roman" panose="02020603050405020304" pitchFamily="18" charset="0"/>
                  <a:cs typeface="Arial" panose="020B0604020202020204" pitchFamily="34" charset="0"/>
                  <a:sym typeface="Arial" panose="020B0604020202020204" pitchFamily="34" charset="0"/>
                </a:rPr>
                <a:t>Search</a:t>
              </a:r>
              <a:endParaRPr lang="en-US" sz="1400" b="1" dirty="0">
                <a:ea typeface="微软雅黑" panose="020B0503020204020204" pitchFamily="34" charset="-122"/>
                <a:cs typeface="Calibri" panose="020F0502020204030204" pitchFamily="34" charset="0"/>
                <a:sym typeface="Arial" panose="020B0604020202020204" pitchFamily="34" charset="0"/>
              </a:endParaRPr>
            </a:p>
          </p:txBody>
        </p:sp>
        <p:sp>
          <p:nvSpPr>
            <p:cNvPr id="53" name="TextBox 13">
              <a:extLst>
                <a:ext uri="{FF2B5EF4-FFF2-40B4-BE49-F238E27FC236}">
                  <a16:creationId xmlns:a16="http://schemas.microsoft.com/office/drawing/2014/main" id="{D203B338-1B87-89A4-B888-85CF18DAFA89}"/>
                </a:ext>
              </a:extLst>
            </p:cNvPr>
            <p:cNvSpPr txBox="1">
              <a:spLocks noChangeArrowheads="1"/>
            </p:cNvSpPr>
            <p:nvPr/>
          </p:nvSpPr>
          <p:spPr bwMode="auto">
            <a:xfrm>
              <a:off x="7386223" y="5748056"/>
              <a:ext cx="687802"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911225">
                <a:defRPr>
                  <a:solidFill>
                    <a:schemeClr val="tx1"/>
                  </a:solidFill>
                  <a:latin typeface="Calibri" panose="020F0502020204030204" pitchFamily="34" charset="0"/>
                  <a:ea typeface="宋体" panose="02010600030101010101" pitchFamily="2" charset="-122"/>
                </a:defRPr>
              </a:lvl1pPr>
              <a:lvl2pPr marL="742950" indent="-285750" defTabSz="911225">
                <a:defRPr>
                  <a:solidFill>
                    <a:schemeClr val="tx1"/>
                  </a:solidFill>
                  <a:latin typeface="Calibri" panose="020F0502020204030204" pitchFamily="34" charset="0"/>
                  <a:ea typeface="宋体" panose="02010600030101010101" pitchFamily="2" charset="-122"/>
                </a:defRPr>
              </a:lvl2pPr>
              <a:lvl3pPr marL="1143000" indent="-228600" defTabSz="911225">
                <a:defRPr>
                  <a:solidFill>
                    <a:schemeClr val="tx1"/>
                  </a:solidFill>
                  <a:latin typeface="Calibri" panose="020F0502020204030204" pitchFamily="34" charset="0"/>
                  <a:ea typeface="宋体" panose="02010600030101010101" pitchFamily="2" charset="-122"/>
                </a:defRPr>
              </a:lvl3pPr>
              <a:lvl4pPr marL="1600200" indent="-228600" defTabSz="911225">
                <a:defRPr>
                  <a:solidFill>
                    <a:schemeClr val="tx1"/>
                  </a:solidFill>
                  <a:latin typeface="Calibri" panose="020F0502020204030204" pitchFamily="34" charset="0"/>
                  <a:ea typeface="宋体" panose="02010600030101010101" pitchFamily="2" charset="-122"/>
                </a:defRPr>
              </a:lvl4pPr>
              <a:lvl5pPr marL="2057400" indent="-228600" defTabSz="911225">
                <a:defRPr>
                  <a:solidFill>
                    <a:schemeClr val="tx1"/>
                  </a:solidFill>
                  <a:latin typeface="Calibri" panose="020F0502020204030204" pitchFamily="34" charset="0"/>
                  <a:ea typeface="宋体" panose="02010600030101010101" pitchFamily="2" charset="-122"/>
                </a:defRPr>
              </a:lvl5pPr>
              <a:lvl6pPr marL="25146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spcBef>
                  <a:spcPct val="20000"/>
                </a:spcBef>
              </a:pPr>
              <a:r>
                <a:rPr lang="en-US" altLang="zh-CN" sz="1400" b="1" dirty="0">
                  <a:latin typeface="Times New Roman" panose="02020603050405020304" pitchFamily="18" charset="0"/>
                  <a:cs typeface="Arial" panose="020B0604020202020204" pitchFamily="34" charset="0"/>
                  <a:sym typeface="Arial" panose="020B0604020202020204" pitchFamily="34" charset="0"/>
                </a:rPr>
                <a:t>Patient Search</a:t>
              </a:r>
              <a:endParaRPr lang="en-US" sz="1400" b="1" dirty="0">
                <a:ea typeface="微软雅黑" panose="020B0503020204020204" pitchFamily="34" charset="-122"/>
                <a:cs typeface="Calibri" panose="020F0502020204030204" pitchFamily="34" charset="0"/>
                <a:sym typeface="Arial" panose="020B0604020202020204" pitchFamily="34" charset="0"/>
              </a:endParaRPr>
            </a:p>
          </p:txBody>
        </p:sp>
        <p:sp>
          <p:nvSpPr>
            <p:cNvPr id="54" name="TextBox 53">
              <a:extLst>
                <a:ext uri="{FF2B5EF4-FFF2-40B4-BE49-F238E27FC236}">
                  <a16:creationId xmlns:a16="http://schemas.microsoft.com/office/drawing/2014/main" id="{842AFB52-DC97-76FE-0646-9D0A242083F4}"/>
                </a:ext>
              </a:extLst>
            </p:cNvPr>
            <p:cNvSpPr txBox="1"/>
            <p:nvPr/>
          </p:nvSpPr>
          <p:spPr>
            <a:xfrm rot="10800000">
              <a:off x="5593179" y="3780520"/>
              <a:ext cx="504365" cy="1553190"/>
            </a:xfrm>
            <a:prstGeom prst="rect">
              <a:avLst/>
            </a:prstGeom>
            <a:noFill/>
          </p:spPr>
          <p:txBody>
            <a:bodyPr vert="eaVert" wrap="square" rtlCol="0">
              <a:spAutoFit/>
            </a:bodyPr>
            <a:lstStyle/>
            <a:p>
              <a:r>
                <a:rPr lang="en-US" sz="1400" b="1" dirty="0">
                  <a:latin typeface="Times New Roman" panose="02020603050405020304" pitchFamily="18" charset="0"/>
                  <a:ea typeface="宋体" panose="02010600030101010101" pitchFamily="2" charset="-122"/>
                  <a:cs typeface="Arial" panose="020B0604020202020204" pitchFamily="34" charset="0"/>
                </a:rPr>
                <a:t>Reaction Time</a:t>
              </a:r>
            </a:p>
          </p:txBody>
        </p:sp>
        <p:sp>
          <p:nvSpPr>
            <p:cNvPr id="55" name="TextBox 13">
              <a:extLst>
                <a:ext uri="{FF2B5EF4-FFF2-40B4-BE49-F238E27FC236}">
                  <a16:creationId xmlns:a16="http://schemas.microsoft.com/office/drawing/2014/main" id="{A47938EF-7F91-D514-4470-7194A2BFBBBA}"/>
                </a:ext>
              </a:extLst>
            </p:cNvPr>
            <p:cNvSpPr txBox="1">
              <a:spLocks noChangeArrowheads="1"/>
            </p:cNvSpPr>
            <p:nvPr/>
          </p:nvSpPr>
          <p:spPr bwMode="auto">
            <a:xfrm>
              <a:off x="6589562" y="5042159"/>
              <a:ext cx="29363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911225">
                <a:defRPr>
                  <a:solidFill>
                    <a:schemeClr val="tx1"/>
                  </a:solidFill>
                  <a:latin typeface="Calibri" panose="020F0502020204030204" pitchFamily="34" charset="0"/>
                  <a:ea typeface="宋体" panose="02010600030101010101" pitchFamily="2" charset="-122"/>
                </a:defRPr>
              </a:lvl1pPr>
              <a:lvl2pPr marL="742950" indent="-285750" defTabSz="911225">
                <a:defRPr>
                  <a:solidFill>
                    <a:schemeClr val="tx1"/>
                  </a:solidFill>
                  <a:latin typeface="Calibri" panose="020F0502020204030204" pitchFamily="34" charset="0"/>
                  <a:ea typeface="宋体" panose="02010600030101010101" pitchFamily="2" charset="-122"/>
                </a:defRPr>
              </a:lvl2pPr>
              <a:lvl3pPr marL="1143000" indent="-228600" defTabSz="911225">
                <a:defRPr>
                  <a:solidFill>
                    <a:schemeClr val="tx1"/>
                  </a:solidFill>
                  <a:latin typeface="Calibri" panose="020F0502020204030204" pitchFamily="34" charset="0"/>
                  <a:ea typeface="宋体" panose="02010600030101010101" pitchFamily="2" charset="-122"/>
                </a:defRPr>
              </a:lvl3pPr>
              <a:lvl4pPr marL="1600200" indent="-228600" defTabSz="911225">
                <a:defRPr>
                  <a:solidFill>
                    <a:schemeClr val="tx1"/>
                  </a:solidFill>
                  <a:latin typeface="Calibri" panose="020F0502020204030204" pitchFamily="34" charset="0"/>
                  <a:ea typeface="宋体" panose="02010600030101010101" pitchFamily="2" charset="-122"/>
                </a:defRPr>
              </a:lvl4pPr>
              <a:lvl5pPr marL="2057400" indent="-228600" defTabSz="911225">
                <a:defRPr>
                  <a:solidFill>
                    <a:schemeClr val="tx1"/>
                  </a:solidFill>
                  <a:latin typeface="Calibri" panose="020F0502020204030204" pitchFamily="34" charset="0"/>
                  <a:ea typeface="宋体" panose="02010600030101010101" pitchFamily="2" charset="-122"/>
                </a:defRPr>
              </a:lvl5pPr>
              <a:lvl6pPr marL="25146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spcBef>
                  <a:spcPct val="20000"/>
                </a:spcBef>
              </a:pPr>
              <a:r>
                <a:rPr lang="en-US" sz="1400" b="1" dirty="0">
                  <a:latin typeface="Times New Roman" panose="02020603050405020304" pitchFamily="18" charset="0"/>
                  <a:ea typeface="微软雅黑" panose="020B0503020204020204" pitchFamily="34" charset="-122"/>
                  <a:cs typeface="Arial" panose="020B0604020202020204" pitchFamily="34" charset="0"/>
                  <a:sym typeface="Arial" panose="020B0604020202020204" pitchFamily="34" charset="0"/>
                </a:rPr>
                <a:t>a</a:t>
              </a:r>
              <a:endParaRPr lang="en-US" sz="1400" b="1" dirty="0">
                <a:ea typeface="微软雅黑" panose="020B0503020204020204" pitchFamily="34" charset="-122"/>
                <a:cs typeface="Calibri" panose="020F0502020204030204" pitchFamily="34" charset="0"/>
                <a:sym typeface="Arial" panose="020B0604020202020204" pitchFamily="34" charset="0"/>
              </a:endParaRPr>
            </a:p>
          </p:txBody>
        </p:sp>
        <p:sp>
          <p:nvSpPr>
            <p:cNvPr id="56" name="TextBox 13">
              <a:extLst>
                <a:ext uri="{FF2B5EF4-FFF2-40B4-BE49-F238E27FC236}">
                  <a16:creationId xmlns:a16="http://schemas.microsoft.com/office/drawing/2014/main" id="{F3F98272-DD6B-9B2F-F9DA-2672F32CAD8A}"/>
                </a:ext>
              </a:extLst>
            </p:cNvPr>
            <p:cNvSpPr txBox="1">
              <a:spLocks noChangeArrowheads="1"/>
            </p:cNvSpPr>
            <p:nvPr/>
          </p:nvSpPr>
          <p:spPr bwMode="auto">
            <a:xfrm>
              <a:off x="6589563" y="4739244"/>
              <a:ext cx="29363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911225">
                <a:defRPr>
                  <a:solidFill>
                    <a:schemeClr val="tx1"/>
                  </a:solidFill>
                  <a:latin typeface="Calibri" panose="020F0502020204030204" pitchFamily="34" charset="0"/>
                  <a:ea typeface="宋体" panose="02010600030101010101" pitchFamily="2" charset="-122"/>
                </a:defRPr>
              </a:lvl1pPr>
              <a:lvl2pPr marL="742950" indent="-285750" defTabSz="911225">
                <a:defRPr>
                  <a:solidFill>
                    <a:schemeClr val="tx1"/>
                  </a:solidFill>
                  <a:latin typeface="Calibri" panose="020F0502020204030204" pitchFamily="34" charset="0"/>
                  <a:ea typeface="宋体" panose="02010600030101010101" pitchFamily="2" charset="-122"/>
                </a:defRPr>
              </a:lvl2pPr>
              <a:lvl3pPr marL="1143000" indent="-228600" defTabSz="911225">
                <a:defRPr>
                  <a:solidFill>
                    <a:schemeClr val="tx1"/>
                  </a:solidFill>
                  <a:latin typeface="Calibri" panose="020F0502020204030204" pitchFamily="34" charset="0"/>
                  <a:ea typeface="宋体" panose="02010600030101010101" pitchFamily="2" charset="-122"/>
                </a:defRPr>
              </a:lvl3pPr>
              <a:lvl4pPr marL="1600200" indent="-228600" defTabSz="911225">
                <a:defRPr>
                  <a:solidFill>
                    <a:schemeClr val="tx1"/>
                  </a:solidFill>
                  <a:latin typeface="Calibri" panose="020F0502020204030204" pitchFamily="34" charset="0"/>
                  <a:ea typeface="宋体" panose="02010600030101010101" pitchFamily="2" charset="-122"/>
                </a:defRPr>
              </a:lvl4pPr>
              <a:lvl5pPr marL="2057400" indent="-228600" defTabSz="911225">
                <a:defRPr>
                  <a:solidFill>
                    <a:schemeClr val="tx1"/>
                  </a:solidFill>
                  <a:latin typeface="Calibri" panose="020F0502020204030204" pitchFamily="34" charset="0"/>
                  <a:ea typeface="宋体" panose="02010600030101010101" pitchFamily="2" charset="-122"/>
                </a:defRPr>
              </a:lvl5pPr>
              <a:lvl6pPr marL="25146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spcBef>
                  <a:spcPct val="20000"/>
                </a:spcBef>
              </a:pPr>
              <a:r>
                <a:rPr lang="en-US" sz="1400" b="1" dirty="0">
                  <a:latin typeface="Times New Roman" panose="02020603050405020304" pitchFamily="18" charset="0"/>
                  <a:ea typeface="微软雅黑" panose="020B0503020204020204" pitchFamily="34" charset="-122"/>
                  <a:cs typeface="Arial" panose="020B0604020202020204" pitchFamily="34" charset="0"/>
                  <a:sym typeface="Arial" panose="020B0604020202020204" pitchFamily="34" charset="0"/>
                </a:rPr>
                <a:t>p</a:t>
              </a:r>
              <a:endParaRPr lang="en-US" sz="1400" b="1" dirty="0">
                <a:ea typeface="微软雅黑" panose="020B0503020204020204" pitchFamily="34" charset="-122"/>
                <a:cs typeface="Calibri" panose="020F0502020204030204" pitchFamily="34" charset="0"/>
                <a:sym typeface="Arial" panose="020B0604020202020204" pitchFamily="34" charset="0"/>
              </a:endParaRPr>
            </a:p>
          </p:txBody>
        </p:sp>
        <p:sp>
          <p:nvSpPr>
            <p:cNvPr id="57" name="TextBox 13">
              <a:extLst>
                <a:ext uri="{FF2B5EF4-FFF2-40B4-BE49-F238E27FC236}">
                  <a16:creationId xmlns:a16="http://schemas.microsoft.com/office/drawing/2014/main" id="{ACFD2C70-746D-F805-674C-2207E6CC830A}"/>
                </a:ext>
              </a:extLst>
            </p:cNvPr>
            <p:cNvSpPr txBox="1">
              <a:spLocks noChangeArrowheads="1"/>
            </p:cNvSpPr>
            <p:nvPr/>
          </p:nvSpPr>
          <p:spPr bwMode="auto">
            <a:xfrm>
              <a:off x="7783063" y="4383720"/>
              <a:ext cx="29363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911225">
                <a:defRPr>
                  <a:solidFill>
                    <a:schemeClr val="tx1"/>
                  </a:solidFill>
                  <a:latin typeface="Calibri" panose="020F0502020204030204" pitchFamily="34" charset="0"/>
                  <a:ea typeface="宋体" panose="02010600030101010101" pitchFamily="2" charset="-122"/>
                </a:defRPr>
              </a:lvl1pPr>
              <a:lvl2pPr marL="742950" indent="-285750" defTabSz="911225">
                <a:defRPr>
                  <a:solidFill>
                    <a:schemeClr val="tx1"/>
                  </a:solidFill>
                  <a:latin typeface="Calibri" panose="020F0502020204030204" pitchFamily="34" charset="0"/>
                  <a:ea typeface="宋体" panose="02010600030101010101" pitchFamily="2" charset="-122"/>
                </a:defRPr>
              </a:lvl2pPr>
              <a:lvl3pPr marL="1143000" indent="-228600" defTabSz="911225">
                <a:defRPr>
                  <a:solidFill>
                    <a:schemeClr val="tx1"/>
                  </a:solidFill>
                  <a:latin typeface="Calibri" panose="020F0502020204030204" pitchFamily="34" charset="0"/>
                  <a:ea typeface="宋体" panose="02010600030101010101" pitchFamily="2" charset="-122"/>
                </a:defRPr>
              </a:lvl3pPr>
              <a:lvl4pPr marL="1600200" indent="-228600" defTabSz="911225">
                <a:defRPr>
                  <a:solidFill>
                    <a:schemeClr val="tx1"/>
                  </a:solidFill>
                  <a:latin typeface="Calibri" panose="020F0502020204030204" pitchFamily="34" charset="0"/>
                  <a:ea typeface="宋体" panose="02010600030101010101" pitchFamily="2" charset="-122"/>
                </a:defRPr>
              </a:lvl4pPr>
              <a:lvl5pPr marL="2057400" indent="-228600" defTabSz="911225">
                <a:defRPr>
                  <a:solidFill>
                    <a:schemeClr val="tx1"/>
                  </a:solidFill>
                  <a:latin typeface="Calibri" panose="020F0502020204030204" pitchFamily="34" charset="0"/>
                  <a:ea typeface="宋体" panose="02010600030101010101" pitchFamily="2" charset="-122"/>
                </a:defRPr>
              </a:lvl5pPr>
              <a:lvl6pPr marL="25146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spcBef>
                  <a:spcPct val="20000"/>
                </a:spcBef>
              </a:pPr>
              <a:r>
                <a:rPr lang="en-US" sz="1400" b="1" dirty="0">
                  <a:latin typeface="Times New Roman" panose="02020603050405020304" pitchFamily="18" charset="0"/>
                  <a:ea typeface="微软雅黑" panose="020B0503020204020204" pitchFamily="34" charset="-122"/>
                  <a:cs typeface="Arial" panose="020B0604020202020204" pitchFamily="34" charset="0"/>
                  <a:sym typeface="Arial" panose="020B0604020202020204" pitchFamily="34" charset="0"/>
                </a:rPr>
                <a:t>a</a:t>
              </a:r>
              <a:endParaRPr lang="en-US" sz="1400" b="1" dirty="0">
                <a:ea typeface="微软雅黑" panose="020B0503020204020204" pitchFamily="34" charset="-122"/>
                <a:cs typeface="Calibri" panose="020F0502020204030204" pitchFamily="34" charset="0"/>
                <a:sym typeface="Arial" panose="020B0604020202020204" pitchFamily="34" charset="0"/>
              </a:endParaRPr>
            </a:p>
          </p:txBody>
        </p:sp>
        <p:sp>
          <p:nvSpPr>
            <p:cNvPr id="58" name="TextBox 13">
              <a:extLst>
                <a:ext uri="{FF2B5EF4-FFF2-40B4-BE49-F238E27FC236}">
                  <a16:creationId xmlns:a16="http://schemas.microsoft.com/office/drawing/2014/main" id="{E7E359A7-83A1-BCCB-CAF0-1BB2A2577E56}"/>
                </a:ext>
              </a:extLst>
            </p:cNvPr>
            <p:cNvSpPr txBox="1">
              <a:spLocks noChangeArrowheads="1"/>
            </p:cNvSpPr>
            <p:nvPr/>
          </p:nvSpPr>
          <p:spPr bwMode="auto">
            <a:xfrm>
              <a:off x="7783063" y="4080805"/>
              <a:ext cx="29363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911225">
                <a:defRPr>
                  <a:solidFill>
                    <a:schemeClr val="tx1"/>
                  </a:solidFill>
                  <a:latin typeface="Calibri" panose="020F0502020204030204" pitchFamily="34" charset="0"/>
                  <a:ea typeface="宋体" panose="02010600030101010101" pitchFamily="2" charset="-122"/>
                </a:defRPr>
              </a:lvl1pPr>
              <a:lvl2pPr marL="742950" indent="-285750" defTabSz="911225">
                <a:defRPr>
                  <a:solidFill>
                    <a:schemeClr val="tx1"/>
                  </a:solidFill>
                  <a:latin typeface="Calibri" panose="020F0502020204030204" pitchFamily="34" charset="0"/>
                  <a:ea typeface="宋体" panose="02010600030101010101" pitchFamily="2" charset="-122"/>
                </a:defRPr>
              </a:lvl2pPr>
              <a:lvl3pPr marL="1143000" indent="-228600" defTabSz="911225">
                <a:defRPr>
                  <a:solidFill>
                    <a:schemeClr val="tx1"/>
                  </a:solidFill>
                  <a:latin typeface="Calibri" panose="020F0502020204030204" pitchFamily="34" charset="0"/>
                  <a:ea typeface="宋体" panose="02010600030101010101" pitchFamily="2" charset="-122"/>
                </a:defRPr>
              </a:lvl3pPr>
              <a:lvl4pPr marL="1600200" indent="-228600" defTabSz="911225">
                <a:defRPr>
                  <a:solidFill>
                    <a:schemeClr val="tx1"/>
                  </a:solidFill>
                  <a:latin typeface="Calibri" panose="020F0502020204030204" pitchFamily="34" charset="0"/>
                  <a:ea typeface="宋体" panose="02010600030101010101" pitchFamily="2" charset="-122"/>
                </a:defRPr>
              </a:lvl4pPr>
              <a:lvl5pPr marL="2057400" indent="-228600" defTabSz="911225">
                <a:defRPr>
                  <a:solidFill>
                    <a:schemeClr val="tx1"/>
                  </a:solidFill>
                  <a:latin typeface="Calibri" panose="020F0502020204030204" pitchFamily="34" charset="0"/>
                  <a:ea typeface="宋体" panose="02010600030101010101" pitchFamily="2" charset="-122"/>
                </a:defRPr>
              </a:lvl5pPr>
              <a:lvl6pPr marL="25146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spcBef>
                  <a:spcPct val="20000"/>
                </a:spcBef>
              </a:pPr>
              <a:r>
                <a:rPr lang="en-US" sz="1400" b="1" dirty="0">
                  <a:latin typeface="Times New Roman" panose="02020603050405020304" pitchFamily="18" charset="0"/>
                  <a:ea typeface="微软雅黑" panose="020B0503020204020204" pitchFamily="34" charset="-122"/>
                  <a:cs typeface="Arial" panose="020B0604020202020204" pitchFamily="34" charset="0"/>
                  <a:sym typeface="Arial" panose="020B0604020202020204" pitchFamily="34" charset="0"/>
                </a:rPr>
                <a:t>p</a:t>
              </a:r>
              <a:endParaRPr lang="en-US" sz="1400" b="1" dirty="0">
                <a:ea typeface="微软雅黑" panose="020B0503020204020204" pitchFamily="34" charset="-122"/>
                <a:cs typeface="Calibri" panose="020F0502020204030204" pitchFamily="34" charset="0"/>
                <a:sym typeface="Arial" panose="020B0604020202020204" pitchFamily="34" charset="0"/>
              </a:endParaRPr>
            </a:p>
          </p:txBody>
        </p:sp>
      </p:grpSp>
      <p:sp>
        <p:nvSpPr>
          <p:cNvPr id="59" name="TextBox 58">
            <a:extLst>
              <a:ext uri="{FF2B5EF4-FFF2-40B4-BE49-F238E27FC236}">
                <a16:creationId xmlns:a16="http://schemas.microsoft.com/office/drawing/2014/main" id="{1AF23259-CB33-4E40-4123-7307F811C037}"/>
              </a:ext>
            </a:extLst>
          </p:cNvPr>
          <p:cNvSpPr txBox="1"/>
          <p:nvPr/>
        </p:nvSpPr>
        <p:spPr>
          <a:xfrm>
            <a:off x="1377771" y="2535562"/>
            <a:ext cx="2612781" cy="492443"/>
          </a:xfrm>
          <a:prstGeom prst="rect">
            <a:avLst/>
          </a:prstGeom>
          <a:noFill/>
        </p:spPr>
        <p:txBody>
          <a:bodyPr wrap="square" rtlCol="0">
            <a:spAutoFit/>
          </a:bodyPr>
          <a:lstStyle/>
          <a:p>
            <a:pPr algn="ctr"/>
            <a:r>
              <a:rPr lang="en-US" sz="1400" b="1" dirty="0">
                <a:solidFill>
                  <a:srgbClr val="000000"/>
                </a:solidFill>
                <a:latin typeface="Calibri" panose="020F0502020204030204" pitchFamily="34" charset="0"/>
                <a:ea typeface="SimSun" panose="02010600030101010101" pitchFamily="2" charset="-122"/>
                <a:cs typeface="Calibri" panose="020F0502020204030204" pitchFamily="34" charset="0"/>
              </a:rPr>
              <a:t>duration of the preview phase </a:t>
            </a:r>
            <a:br>
              <a:rPr lang="en-US" dirty="0">
                <a:solidFill>
                  <a:srgbClr val="000000"/>
                </a:solidFill>
                <a:latin typeface="Calibri" panose="020F0502020204030204" pitchFamily="34" charset="0"/>
                <a:ea typeface="SimSun" panose="02010600030101010101" pitchFamily="2" charset="-122"/>
                <a:cs typeface="Calibri" panose="020F0502020204030204" pitchFamily="34" charset="0"/>
              </a:rPr>
            </a:br>
            <a:r>
              <a:rPr lang="en-US" sz="1200" dirty="0">
                <a:solidFill>
                  <a:srgbClr val="000000"/>
                </a:solidFill>
                <a:latin typeface="Calibri" panose="020F0502020204030204" pitchFamily="34" charset="0"/>
                <a:ea typeface="SimSun" panose="02010600030101010101" pitchFamily="2" charset="-122"/>
                <a:cs typeface="Calibri" panose="020F0502020204030204" pitchFamily="34" charset="0"/>
              </a:rPr>
              <a:t>(0 </a:t>
            </a:r>
            <a:r>
              <a:rPr lang="en-US" sz="1200" dirty="0" err="1">
                <a:solidFill>
                  <a:srgbClr val="000000"/>
                </a:solidFill>
                <a:latin typeface="Calibri" panose="020F0502020204030204" pitchFamily="34" charset="0"/>
                <a:ea typeface="SimSun" panose="02010600030101010101" pitchFamily="2" charset="-122"/>
                <a:cs typeface="Calibri" panose="020F0502020204030204" pitchFamily="34" charset="0"/>
              </a:rPr>
              <a:t>ms</a:t>
            </a:r>
            <a:r>
              <a:rPr lang="en-US" sz="1200" dirty="0">
                <a:solidFill>
                  <a:srgbClr val="000000"/>
                </a:solidFill>
                <a:latin typeface="Calibri" panose="020F0502020204030204" pitchFamily="34" charset="0"/>
                <a:ea typeface="SimSun" panose="02010600030101010101" pitchFamily="2" charset="-122"/>
                <a:cs typeface="Calibri" panose="020F0502020204030204" pitchFamily="34" charset="0"/>
              </a:rPr>
              <a:t>, 50 </a:t>
            </a:r>
            <a:r>
              <a:rPr lang="en-US" sz="1200" dirty="0" err="1">
                <a:solidFill>
                  <a:srgbClr val="000000"/>
                </a:solidFill>
                <a:latin typeface="Calibri" panose="020F0502020204030204" pitchFamily="34" charset="0"/>
                <a:ea typeface="SimSun" panose="02010600030101010101" pitchFamily="2" charset="-122"/>
                <a:cs typeface="Calibri" panose="020F0502020204030204" pitchFamily="34" charset="0"/>
              </a:rPr>
              <a:t>ms</a:t>
            </a:r>
            <a:r>
              <a:rPr lang="en-US" sz="1200" dirty="0">
                <a:solidFill>
                  <a:srgbClr val="000000"/>
                </a:solidFill>
                <a:latin typeface="Calibri" panose="020F0502020204030204" pitchFamily="34" charset="0"/>
                <a:ea typeface="SimSun" panose="02010600030101010101" pitchFamily="2" charset="-122"/>
                <a:cs typeface="Calibri" panose="020F0502020204030204" pitchFamily="34" charset="0"/>
              </a:rPr>
              <a:t>, 150 </a:t>
            </a:r>
            <a:r>
              <a:rPr lang="en-US" sz="1200" dirty="0" err="1">
                <a:solidFill>
                  <a:srgbClr val="000000"/>
                </a:solidFill>
                <a:latin typeface="Calibri" panose="020F0502020204030204" pitchFamily="34" charset="0"/>
                <a:ea typeface="SimSun" panose="02010600030101010101" pitchFamily="2" charset="-122"/>
                <a:cs typeface="Calibri" panose="020F0502020204030204" pitchFamily="34" charset="0"/>
              </a:rPr>
              <a:t>ms</a:t>
            </a:r>
            <a:r>
              <a:rPr lang="en-US" sz="1200" dirty="0">
                <a:solidFill>
                  <a:srgbClr val="000000"/>
                </a:solidFill>
                <a:latin typeface="Calibri" panose="020F0502020204030204" pitchFamily="34" charset="0"/>
                <a:ea typeface="SimSun" panose="02010600030101010101" pitchFamily="2" charset="-122"/>
                <a:cs typeface="Calibri" panose="020F0502020204030204" pitchFamily="34" charset="0"/>
              </a:rPr>
              <a:t>, 500 </a:t>
            </a:r>
            <a:r>
              <a:rPr lang="en-US" sz="1200" dirty="0" err="1">
                <a:solidFill>
                  <a:srgbClr val="000000"/>
                </a:solidFill>
                <a:latin typeface="Calibri" panose="020F0502020204030204" pitchFamily="34" charset="0"/>
                <a:ea typeface="SimSun" panose="02010600030101010101" pitchFamily="2" charset="-122"/>
                <a:cs typeface="Calibri" panose="020F0502020204030204" pitchFamily="34" charset="0"/>
              </a:rPr>
              <a:t>ms</a:t>
            </a:r>
            <a:r>
              <a:rPr lang="en-US" sz="1200" dirty="0">
                <a:solidFill>
                  <a:srgbClr val="000000"/>
                </a:solidFill>
                <a:latin typeface="Calibri" panose="020F0502020204030204" pitchFamily="34" charset="0"/>
                <a:ea typeface="SimSun" panose="02010600030101010101" pitchFamily="2" charset="-122"/>
                <a:cs typeface="Calibri" panose="020F0502020204030204" pitchFamily="34" charset="0"/>
              </a:rPr>
              <a:t>)</a:t>
            </a:r>
          </a:p>
        </p:txBody>
      </p:sp>
      <p:sp>
        <p:nvSpPr>
          <p:cNvPr id="60" name="TextBox 59">
            <a:extLst>
              <a:ext uri="{FF2B5EF4-FFF2-40B4-BE49-F238E27FC236}">
                <a16:creationId xmlns:a16="http://schemas.microsoft.com/office/drawing/2014/main" id="{60F24F56-4604-9890-6B7B-01DAE4BC048F}"/>
              </a:ext>
            </a:extLst>
          </p:cNvPr>
          <p:cNvSpPr txBox="1"/>
          <p:nvPr/>
        </p:nvSpPr>
        <p:spPr>
          <a:xfrm>
            <a:off x="4853870" y="2520173"/>
            <a:ext cx="2612781" cy="523220"/>
          </a:xfrm>
          <a:prstGeom prst="rect">
            <a:avLst/>
          </a:prstGeom>
          <a:noFill/>
        </p:spPr>
        <p:txBody>
          <a:bodyPr wrap="square" rtlCol="0">
            <a:spAutoFit/>
          </a:bodyPr>
          <a:lstStyle/>
          <a:p>
            <a:pPr algn="ctr"/>
            <a:r>
              <a:rPr lang="en-US" sz="1400" b="1" dirty="0">
                <a:effectLst/>
                <a:latin typeface="Calibri" panose="020F0502020204030204" pitchFamily="34" charset="0"/>
                <a:ea typeface="Times New Roman" panose="02020603050405020304" pitchFamily="18" charset="0"/>
                <a:cs typeface="Calibri" panose="020F0502020204030204" pitchFamily="34" charset="0"/>
              </a:rPr>
              <a:t>preview object </a:t>
            </a:r>
            <a:br>
              <a:rPr lang="en-US" sz="1400" dirty="0">
                <a:effectLst/>
                <a:latin typeface="Calibri" panose="020F0502020204030204" pitchFamily="34" charset="0"/>
                <a:ea typeface="Times New Roman" panose="02020603050405020304" pitchFamily="18" charset="0"/>
                <a:cs typeface="Calibri" panose="020F0502020204030204" pitchFamily="34" charset="0"/>
              </a:rPr>
            </a:br>
            <a:r>
              <a:rPr lang="en-US" sz="1400" dirty="0">
                <a:effectLst/>
                <a:latin typeface="Calibri" panose="020F0502020204030204" pitchFamily="34" charset="0"/>
                <a:ea typeface="Times New Roman" panose="02020603050405020304" pitchFamily="18" charset="0"/>
                <a:cs typeface="Calibri" panose="020F0502020204030204" pitchFamily="34" charset="0"/>
              </a:rPr>
              <a:t>(agent, patient)</a:t>
            </a:r>
            <a:endParaRPr lang="en-US" sz="1400" dirty="0">
              <a:solidFill>
                <a:srgbClr val="000000"/>
              </a:solidFill>
              <a:latin typeface="Calibri" panose="020F0502020204030204" pitchFamily="34" charset="0"/>
              <a:ea typeface="SimSun" panose="02010600030101010101" pitchFamily="2" charset="-122"/>
              <a:cs typeface="Calibri" panose="020F0502020204030204" pitchFamily="34" charset="0"/>
            </a:endParaRPr>
          </a:p>
        </p:txBody>
      </p:sp>
      <p:sp>
        <p:nvSpPr>
          <p:cNvPr id="61" name="TextBox 13">
            <a:extLst>
              <a:ext uri="{FF2B5EF4-FFF2-40B4-BE49-F238E27FC236}">
                <a16:creationId xmlns:a16="http://schemas.microsoft.com/office/drawing/2014/main" id="{5A017623-D242-AF85-4043-3D7EB710CE38}"/>
              </a:ext>
            </a:extLst>
          </p:cNvPr>
          <p:cNvSpPr txBox="1">
            <a:spLocks noChangeArrowheads="1"/>
          </p:cNvSpPr>
          <p:nvPr/>
        </p:nvSpPr>
        <p:spPr bwMode="auto">
          <a:xfrm>
            <a:off x="531113" y="3216491"/>
            <a:ext cx="1472309"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911225">
              <a:defRPr>
                <a:solidFill>
                  <a:schemeClr val="tx1"/>
                </a:solidFill>
                <a:latin typeface="Calibri" panose="020F0502020204030204" pitchFamily="34" charset="0"/>
                <a:ea typeface="宋体" panose="02010600030101010101" pitchFamily="2" charset="-122"/>
              </a:defRPr>
            </a:lvl1pPr>
            <a:lvl2pPr marL="742950" indent="-285750" defTabSz="911225">
              <a:defRPr>
                <a:solidFill>
                  <a:schemeClr val="tx1"/>
                </a:solidFill>
                <a:latin typeface="Calibri" panose="020F0502020204030204" pitchFamily="34" charset="0"/>
                <a:ea typeface="宋体" panose="02010600030101010101" pitchFamily="2" charset="-122"/>
              </a:defRPr>
            </a:lvl2pPr>
            <a:lvl3pPr marL="1143000" indent="-228600" defTabSz="911225">
              <a:defRPr>
                <a:solidFill>
                  <a:schemeClr val="tx1"/>
                </a:solidFill>
                <a:latin typeface="Calibri" panose="020F0502020204030204" pitchFamily="34" charset="0"/>
                <a:ea typeface="宋体" panose="02010600030101010101" pitchFamily="2" charset="-122"/>
              </a:defRPr>
            </a:lvl3pPr>
            <a:lvl4pPr marL="1600200" indent="-228600" defTabSz="911225">
              <a:defRPr>
                <a:solidFill>
                  <a:schemeClr val="tx1"/>
                </a:solidFill>
                <a:latin typeface="Calibri" panose="020F0502020204030204" pitchFamily="34" charset="0"/>
                <a:ea typeface="宋体" panose="02010600030101010101" pitchFamily="2" charset="-122"/>
              </a:defRPr>
            </a:lvl4pPr>
            <a:lvl5pPr marL="2057400" indent="-228600" defTabSz="911225">
              <a:defRPr>
                <a:solidFill>
                  <a:schemeClr val="tx1"/>
                </a:solidFill>
                <a:latin typeface="Calibri" panose="020F0502020204030204" pitchFamily="34" charset="0"/>
                <a:ea typeface="宋体" panose="02010600030101010101" pitchFamily="2" charset="-122"/>
              </a:defRPr>
            </a:lvl5pPr>
            <a:lvl6pPr marL="25146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spcBef>
                <a:spcPct val="20000"/>
              </a:spcBef>
            </a:pPr>
            <a:r>
              <a:rPr lang="en-US" altLang="zh-CN" sz="1400" dirty="0">
                <a:solidFill>
                  <a:srgbClr val="000000"/>
                </a:solidFill>
                <a:ea typeface="SimSun" panose="02010600030101010101" pitchFamily="2" charset="-122"/>
                <a:cs typeface="Calibri" panose="020F0502020204030204" pitchFamily="34" charset="0"/>
                <a:sym typeface="Arial" panose="020B0604020202020204" pitchFamily="34" charset="0"/>
              </a:rPr>
              <a:t>Without Preview</a:t>
            </a:r>
            <a:r>
              <a:rPr lang="zh-CN" altLang="en-US" sz="1400" dirty="0">
                <a:solidFill>
                  <a:srgbClr val="000000"/>
                </a:solidFill>
                <a:ea typeface="SimSun" panose="02010600030101010101" pitchFamily="2" charset="-122"/>
                <a:cs typeface="Calibri" panose="020F0502020204030204" pitchFamily="34" charset="0"/>
                <a:sym typeface="Arial" panose="020B0604020202020204" pitchFamily="34" charset="0"/>
              </a:rPr>
              <a:t>：</a:t>
            </a:r>
            <a:endParaRPr lang="en-US" sz="1400" dirty="0">
              <a:solidFill>
                <a:srgbClr val="000000"/>
              </a:solidFill>
              <a:ea typeface="SimSun" panose="02010600030101010101" pitchFamily="2" charset="-122"/>
              <a:cs typeface="Calibri" panose="020F0502020204030204" pitchFamily="34" charset="0"/>
              <a:sym typeface="Arial" panose="020B0604020202020204" pitchFamily="34" charset="0"/>
            </a:endParaRPr>
          </a:p>
        </p:txBody>
      </p:sp>
      <p:sp>
        <p:nvSpPr>
          <p:cNvPr id="62" name="TextBox 13">
            <a:extLst>
              <a:ext uri="{FF2B5EF4-FFF2-40B4-BE49-F238E27FC236}">
                <a16:creationId xmlns:a16="http://schemas.microsoft.com/office/drawing/2014/main" id="{93C2DE91-5E62-A2A0-9073-A16D17D4B260}"/>
              </a:ext>
            </a:extLst>
          </p:cNvPr>
          <p:cNvSpPr txBox="1">
            <a:spLocks noChangeArrowheads="1"/>
          </p:cNvSpPr>
          <p:nvPr/>
        </p:nvSpPr>
        <p:spPr bwMode="auto">
          <a:xfrm>
            <a:off x="531112" y="3571294"/>
            <a:ext cx="1472309"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911225">
              <a:defRPr>
                <a:solidFill>
                  <a:schemeClr val="tx1"/>
                </a:solidFill>
                <a:latin typeface="Calibri" panose="020F0502020204030204" pitchFamily="34" charset="0"/>
                <a:ea typeface="宋体" panose="02010600030101010101" pitchFamily="2" charset="-122"/>
              </a:defRPr>
            </a:lvl1pPr>
            <a:lvl2pPr marL="742950" indent="-285750" defTabSz="911225">
              <a:defRPr>
                <a:solidFill>
                  <a:schemeClr val="tx1"/>
                </a:solidFill>
                <a:latin typeface="Calibri" panose="020F0502020204030204" pitchFamily="34" charset="0"/>
                <a:ea typeface="宋体" panose="02010600030101010101" pitchFamily="2" charset="-122"/>
              </a:defRPr>
            </a:lvl2pPr>
            <a:lvl3pPr marL="1143000" indent="-228600" defTabSz="911225">
              <a:defRPr>
                <a:solidFill>
                  <a:schemeClr val="tx1"/>
                </a:solidFill>
                <a:latin typeface="Calibri" panose="020F0502020204030204" pitchFamily="34" charset="0"/>
                <a:ea typeface="宋体" panose="02010600030101010101" pitchFamily="2" charset="-122"/>
              </a:defRPr>
            </a:lvl3pPr>
            <a:lvl4pPr marL="1600200" indent="-228600" defTabSz="911225">
              <a:defRPr>
                <a:solidFill>
                  <a:schemeClr val="tx1"/>
                </a:solidFill>
                <a:latin typeface="Calibri" panose="020F0502020204030204" pitchFamily="34" charset="0"/>
                <a:ea typeface="宋体" panose="02010600030101010101" pitchFamily="2" charset="-122"/>
              </a:defRPr>
            </a:lvl4pPr>
            <a:lvl5pPr marL="2057400" indent="-228600" defTabSz="911225">
              <a:defRPr>
                <a:solidFill>
                  <a:schemeClr val="tx1"/>
                </a:solidFill>
                <a:latin typeface="Calibri" panose="020F0502020204030204" pitchFamily="34" charset="0"/>
                <a:ea typeface="宋体" panose="02010600030101010101" pitchFamily="2" charset="-122"/>
              </a:defRPr>
            </a:lvl5pPr>
            <a:lvl6pPr marL="25146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spcBef>
                <a:spcPct val="20000"/>
              </a:spcBef>
            </a:pPr>
            <a:r>
              <a:rPr lang="en-US" altLang="zh-CN" sz="1400" dirty="0">
                <a:solidFill>
                  <a:srgbClr val="000000"/>
                </a:solidFill>
                <a:ea typeface="SimSun" panose="02010600030101010101" pitchFamily="2" charset="-122"/>
                <a:cs typeface="Calibri" panose="020F0502020204030204" pitchFamily="34" charset="0"/>
                <a:sym typeface="Arial" panose="020B0604020202020204" pitchFamily="34" charset="0"/>
              </a:rPr>
              <a:t>With Preview</a:t>
            </a:r>
            <a:r>
              <a:rPr lang="zh-CN" altLang="en-US" sz="1400" dirty="0">
                <a:solidFill>
                  <a:srgbClr val="000000"/>
                </a:solidFill>
                <a:ea typeface="SimSun" panose="02010600030101010101" pitchFamily="2" charset="-122"/>
                <a:cs typeface="Calibri" panose="020F0502020204030204" pitchFamily="34" charset="0"/>
                <a:sym typeface="Arial" panose="020B0604020202020204" pitchFamily="34" charset="0"/>
              </a:rPr>
              <a:t>：</a:t>
            </a:r>
            <a:endParaRPr lang="en-US" sz="1400" dirty="0">
              <a:solidFill>
                <a:srgbClr val="000000"/>
              </a:solidFill>
              <a:ea typeface="SimSun" panose="02010600030101010101" pitchFamily="2" charset="-122"/>
              <a:cs typeface="Calibri" panose="020F0502020204030204" pitchFamily="34" charset="0"/>
              <a:sym typeface="Arial" panose="020B0604020202020204" pitchFamily="34" charset="0"/>
            </a:endParaRPr>
          </a:p>
        </p:txBody>
      </p:sp>
      <p:sp>
        <p:nvSpPr>
          <p:cNvPr id="63" name="TextBox 62">
            <a:extLst>
              <a:ext uri="{FF2B5EF4-FFF2-40B4-BE49-F238E27FC236}">
                <a16:creationId xmlns:a16="http://schemas.microsoft.com/office/drawing/2014/main" id="{8A8E5538-225B-20E9-6D03-099A63CFAF82}"/>
              </a:ext>
            </a:extLst>
          </p:cNvPr>
          <p:cNvSpPr txBox="1"/>
          <p:nvPr/>
        </p:nvSpPr>
        <p:spPr>
          <a:xfrm>
            <a:off x="3948672" y="2497237"/>
            <a:ext cx="1539403" cy="307777"/>
          </a:xfrm>
          <a:prstGeom prst="rect">
            <a:avLst/>
          </a:prstGeom>
          <a:noFill/>
        </p:spPr>
        <p:txBody>
          <a:bodyPr wrap="square" rtlCol="0">
            <a:spAutoFit/>
          </a:bodyPr>
          <a:lstStyle/>
          <a:p>
            <a:r>
              <a:rPr lang="en-US" sz="1400" dirty="0">
                <a:solidFill>
                  <a:srgbClr val="000000"/>
                </a:solidFill>
                <a:latin typeface="Calibri" panose="020F0502020204030204" pitchFamily="34" charset="0"/>
                <a:ea typeface="SimSun" panose="02010600030101010101" pitchFamily="2" charset="-122"/>
                <a:cs typeface="Calibri" panose="020F0502020204030204" pitchFamily="34" charset="0"/>
              </a:rPr>
              <a:t>2-way interaction</a:t>
            </a:r>
            <a:endParaRPr lang="en-US" sz="1400" dirty="0">
              <a:solidFill>
                <a:schemeClr val="tx2"/>
              </a:solidFill>
              <a:latin typeface="Open Sans" panose="020B0606030504020204" pitchFamily="34" charset="0"/>
              <a:ea typeface="Open Sans" panose="020B0606030504020204" pitchFamily="34" charset="0"/>
              <a:cs typeface="Open Sans" panose="020B0606030504020204" pitchFamily="34" charset="0"/>
            </a:endParaRPr>
          </a:p>
        </p:txBody>
      </p:sp>
      <p:cxnSp>
        <p:nvCxnSpPr>
          <p:cNvPr id="64" name="Straight Arrow Connector 63">
            <a:extLst>
              <a:ext uri="{FF2B5EF4-FFF2-40B4-BE49-F238E27FC236}">
                <a16:creationId xmlns:a16="http://schemas.microsoft.com/office/drawing/2014/main" id="{0FDE8D31-3739-FD29-8652-DFFECD6EB1DD}"/>
              </a:ext>
            </a:extLst>
          </p:cNvPr>
          <p:cNvCxnSpPr>
            <a:cxnSpLocks/>
          </p:cNvCxnSpPr>
          <p:nvPr/>
        </p:nvCxnSpPr>
        <p:spPr>
          <a:xfrm flipV="1">
            <a:off x="3900073" y="2781783"/>
            <a:ext cx="1588002" cy="1"/>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sp>
        <p:nvSpPr>
          <p:cNvPr id="65" name="TextBox 13">
            <a:extLst>
              <a:ext uri="{FF2B5EF4-FFF2-40B4-BE49-F238E27FC236}">
                <a16:creationId xmlns:a16="http://schemas.microsoft.com/office/drawing/2014/main" id="{CB149EE9-15B9-D451-3301-C4C1F6CDFAC4}"/>
              </a:ext>
            </a:extLst>
          </p:cNvPr>
          <p:cNvSpPr txBox="1">
            <a:spLocks noChangeArrowheads="1"/>
          </p:cNvSpPr>
          <p:nvPr/>
        </p:nvSpPr>
        <p:spPr bwMode="auto">
          <a:xfrm>
            <a:off x="2460861" y="3216491"/>
            <a:ext cx="153940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911225">
              <a:defRPr>
                <a:solidFill>
                  <a:schemeClr val="tx1"/>
                </a:solidFill>
                <a:latin typeface="Calibri" panose="020F0502020204030204" pitchFamily="34" charset="0"/>
                <a:ea typeface="宋体" panose="02010600030101010101" pitchFamily="2" charset="-122"/>
              </a:defRPr>
            </a:lvl1pPr>
            <a:lvl2pPr marL="742950" indent="-285750" defTabSz="911225">
              <a:defRPr>
                <a:solidFill>
                  <a:schemeClr val="tx1"/>
                </a:solidFill>
                <a:latin typeface="Calibri" panose="020F0502020204030204" pitchFamily="34" charset="0"/>
                <a:ea typeface="宋体" panose="02010600030101010101" pitchFamily="2" charset="-122"/>
              </a:defRPr>
            </a:lvl2pPr>
            <a:lvl3pPr marL="1143000" indent="-228600" defTabSz="911225">
              <a:defRPr>
                <a:solidFill>
                  <a:schemeClr val="tx1"/>
                </a:solidFill>
                <a:latin typeface="Calibri" panose="020F0502020204030204" pitchFamily="34" charset="0"/>
                <a:ea typeface="宋体" panose="02010600030101010101" pitchFamily="2" charset="-122"/>
              </a:defRPr>
            </a:lvl3pPr>
            <a:lvl4pPr marL="1600200" indent="-228600" defTabSz="911225">
              <a:defRPr>
                <a:solidFill>
                  <a:schemeClr val="tx1"/>
                </a:solidFill>
                <a:latin typeface="Calibri" panose="020F0502020204030204" pitchFamily="34" charset="0"/>
                <a:ea typeface="宋体" panose="02010600030101010101" pitchFamily="2" charset="-122"/>
              </a:defRPr>
            </a:lvl4pPr>
            <a:lvl5pPr marL="2057400" indent="-228600" defTabSz="911225">
              <a:defRPr>
                <a:solidFill>
                  <a:schemeClr val="tx1"/>
                </a:solidFill>
                <a:latin typeface="Calibri" panose="020F0502020204030204" pitchFamily="34" charset="0"/>
                <a:ea typeface="宋体" panose="02010600030101010101" pitchFamily="2" charset="-122"/>
              </a:defRPr>
            </a:lvl5pPr>
            <a:lvl6pPr marL="25146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spcBef>
                <a:spcPct val="20000"/>
              </a:spcBef>
            </a:pPr>
            <a:r>
              <a:rPr lang="en-US" altLang="zh-CN" dirty="0">
                <a:solidFill>
                  <a:srgbClr val="000000"/>
                </a:solidFill>
                <a:ea typeface="SimSun" panose="02010600030101010101" pitchFamily="2" charset="-122"/>
                <a:cs typeface="Calibri" panose="020F0502020204030204" pitchFamily="34" charset="0"/>
                <a:sym typeface="Arial" panose="020B0604020202020204" pitchFamily="34" charset="0"/>
              </a:rPr>
              <a:t>RT </a:t>
            </a:r>
            <a:r>
              <a:rPr lang="en-US" altLang="zh-CN" baseline="-25000" dirty="0">
                <a:solidFill>
                  <a:srgbClr val="000000"/>
                </a:solidFill>
                <a:ea typeface="SimSun" panose="02010600030101010101" pitchFamily="2" charset="-122"/>
                <a:cs typeface="Calibri" panose="020F0502020204030204" pitchFamily="34" charset="0"/>
                <a:sym typeface="Arial" panose="020B0604020202020204" pitchFamily="34" charset="0"/>
              </a:rPr>
              <a:t>agent preview</a:t>
            </a:r>
            <a:r>
              <a:rPr lang="en-US" altLang="zh-CN" dirty="0">
                <a:solidFill>
                  <a:srgbClr val="000000"/>
                </a:solidFill>
                <a:ea typeface="SimSun" panose="02010600030101010101" pitchFamily="2" charset="-122"/>
                <a:cs typeface="Calibri" panose="020F0502020204030204" pitchFamily="34" charset="0"/>
                <a:sym typeface="Arial" panose="020B0604020202020204" pitchFamily="34" charset="0"/>
              </a:rPr>
              <a:t> </a:t>
            </a:r>
            <a:endParaRPr lang="en-US" dirty="0">
              <a:solidFill>
                <a:srgbClr val="000000"/>
              </a:solidFill>
              <a:ea typeface="SimSun" panose="02010600030101010101" pitchFamily="2" charset="-122"/>
              <a:cs typeface="Calibri" panose="020F0502020204030204" pitchFamily="34" charset="0"/>
              <a:sym typeface="Arial" panose="020B0604020202020204" pitchFamily="34" charset="0"/>
            </a:endParaRPr>
          </a:p>
        </p:txBody>
      </p:sp>
      <p:sp>
        <p:nvSpPr>
          <p:cNvPr id="66" name="TextBox 65">
            <a:extLst>
              <a:ext uri="{FF2B5EF4-FFF2-40B4-BE49-F238E27FC236}">
                <a16:creationId xmlns:a16="http://schemas.microsoft.com/office/drawing/2014/main" id="{32DE1B31-6455-150A-DA88-CC864016466E}"/>
              </a:ext>
            </a:extLst>
          </p:cNvPr>
          <p:cNvSpPr txBox="1">
            <a:spLocks noChangeArrowheads="1"/>
          </p:cNvSpPr>
          <p:nvPr/>
        </p:nvSpPr>
        <p:spPr bwMode="auto">
          <a:xfrm>
            <a:off x="2474843" y="3582764"/>
            <a:ext cx="1914433"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911225">
              <a:defRPr>
                <a:solidFill>
                  <a:schemeClr val="tx1"/>
                </a:solidFill>
                <a:latin typeface="Calibri" panose="020F0502020204030204" pitchFamily="34" charset="0"/>
                <a:ea typeface="宋体" panose="02010600030101010101" pitchFamily="2" charset="-122"/>
              </a:defRPr>
            </a:lvl1pPr>
            <a:lvl2pPr marL="742950" indent="-285750" defTabSz="911225">
              <a:defRPr>
                <a:solidFill>
                  <a:schemeClr val="tx1"/>
                </a:solidFill>
                <a:latin typeface="Calibri" panose="020F0502020204030204" pitchFamily="34" charset="0"/>
                <a:ea typeface="宋体" panose="02010600030101010101" pitchFamily="2" charset="-122"/>
              </a:defRPr>
            </a:lvl2pPr>
            <a:lvl3pPr marL="1143000" indent="-228600" defTabSz="911225">
              <a:defRPr>
                <a:solidFill>
                  <a:schemeClr val="tx1"/>
                </a:solidFill>
                <a:latin typeface="Calibri" panose="020F0502020204030204" pitchFamily="34" charset="0"/>
                <a:ea typeface="宋体" panose="02010600030101010101" pitchFamily="2" charset="-122"/>
              </a:defRPr>
            </a:lvl3pPr>
            <a:lvl4pPr marL="1600200" indent="-228600" defTabSz="911225">
              <a:defRPr>
                <a:solidFill>
                  <a:schemeClr val="tx1"/>
                </a:solidFill>
                <a:latin typeface="Calibri" panose="020F0502020204030204" pitchFamily="34" charset="0"/>
                <a:ea typeface="宋体" panose="02010600030101010101" pitchFamily="2" charset="-122"/>
              </a:defRPr>
            </a:lvl4pPr>
            <a:lvl5pPr marL="2057400" indent="-228600" defTabSz="911225">
              <a:defRPr>
                <a:solidFill>
                  <a:schemeClr val="tx1"/>
                </a:solidFill>
                <a:latin typeface="Calibri" panose="020F0502020204030204" pitchFamily="34" charset="0"/>
                <a:ea typeface="宋体" panose="02010600030101010101" pitchFamily="2" charset="-122"/>
              </a:defRPr>
            </a:lvl5pPr>
            <a:lvl6pPr marL="25146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spcBef>
                <a:spcPct val="20000"/>
              </a:spcBef>
            </a:pPr>
            <a:r>
              <a:rPr lang="en-US" altLang="zh-CN" dirty="0">
                <a:solidFill>
                  <a:srgbClr val="000000"/>
                </a:solidFill>
                <a:ea typeface="SimSun" panose="02010600030101010101" pitchFamily="2" charset="-122"/>
                <a:cs typeface="Calibri" panose="020F0502020204030204" pitchFamily="34" charset="0"/>
                <a:sym typeface="Arial" panose="020B0604020202020204" pitchFamily="34" charset="0"/>
              </a:rPr>
              <a:t>RT </a:t>
            </a:r>
            <a:r>
              <a:rPr lang="en-US" altLang="zh-CN" baseline="-25000" dirty="0">
                <a:solidFill>
                  <a:srgbClr val="000000"/>
                </a:solidFill>
                <a:ea typeface="SimSun" panose="02010600030101010101" pitchFamily="2" charset="-122"/>
                <a:cs typeface="Calibri" panose="020F0502020204030204" pitchFamily="34" charset="0"/>
                <a:sym typeface="Arial" panose="020B0604020202020204" pitchFamily="34" charset="0"/>
              </a:rPr>
              <a:t>target match preview</a:t>
            </a:r>
            <a:endParaRPr lang="en-US" baseline="-25000" dirty="0">
              <a:solidFill>
                <a:srgbClr val="000000"/>
              </a:solidFill>
              <a:ea typeface="SimSun" panose="02010600030101010101" pitchFamily="2" charset="-122"/>
              <a:cs typeface="Calibri" panose="020F0502020204030204" pitchFamily="34" charset="0"/>
              <a:sym typeface="Arial" panose="020B0604020202020204" pitchFamily="34" charset="0"/>
            </a:endParaRPr>
          </a:p>
        </p:txBody>
      </p:sp>
      <p:sp>
        <p:nvSpPr>
          <p:cNvPr id="67" name="TextBox 66">
            <a:extLst>
              <a:ext uri="{FF2B5EF4-FFF2-40B4-BE49-F238E27FC236}">
                <a16:creationId xmlns:a16="http://schemas.microsoft.com/office/drawing/2014/main" id="{08FB3EE6-1EF2-9577-E1B3-5EBDDB84FD7D}"/>
              </a:ext>
            </a:extLst>
          </p:cNvPr>
          <p:cNvSpPr txBox="1">
            <a:spLocks noChangeArrowheads="1"/>
          </p:cNvSpPr>
          <p:nvPr/>
        </p:nvSpPr>
        <p:spPr bwMode="auto">
          <a:xfrm>
            <a:off x="5070653" y="3569957"/>
            <a:ext cx="2397673"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911225">
              <a:defRPr>
                <a:solidFill>
                  <a:schemeClr val="tx1"/>
                </a:solidFill>
                <a:latin typeface="Calibri" panose="020F0502020204030204" pitchFamily="34" charset="0"/>
                <a:ea typeface="宋体" panose="02010600030101010101" pitchFamily="2" charset="-122"/>
              </a:defRPr>
            </a:lvl1pPr>
            <a:lvl2pPr marL="742950" indent="-285750" defTabSz="911225">
              <a:defRPr>
                <a:solidFill>
                  <a:schemeClr val="tx1"/>
                </a:solidFill>
                <a:latin typeface="Calibri" panose="020F0502020204030204" pitchFamily="34" charset="0"/>
                <a:ea typeface="宋体" panose="02010600030101010101" pitchFamily="2" charset="-122"/>
              </a:defRPr>
            </a:lvl2pPr>
            <a:lvl3pPr marL="1143000" indent="-228600" defTabSz="911225">
              <a:defRPr>
                <a:solidFill>
                  <a:schemeClr val="tx1"/>
                </a:solidFill>
                <a:latin typeface="Calibri" panose="020F0502020204030204" pitchFamily="34" charset="0"/>
                <a:ea typeface="宋体" panose="02010600030101010101" pitchFamily="2" charset="-122"/>
              </a:defRPr>
            </a:lvl3pPr>
            <a:lvl4pPr marL="1600200" indent="-228600" defTabSz="911225">
              <a:defRPr>
                <a:solidFill>
                  <a:schemeClr val="tx1"/>
                </a:solidFill>
                <a:latin typeface="Calibri" panose="020F0502020204030204" pitchFamily="34" charset="0"/>
                <a:ea typeface="宋体" panose="02010600030101010101" pitchFamily="2" charset="-122"/>
              </a:defRPr>
            </a:lvl4pPr>
            <a:lvl5pPr marL="2057400" indent="-228600" defTabSz="911225">
              <a:defRPr>
                <a:solidFill>
                  <a:schemeClr val="tx1"/>
                </a:solidFill>
                <a:latin typeface="Calibri" panose="020F0502020204030204" pitchFamily="34" charset="0"/>
                <a:ea typeface="宋体" panose="02010600030101010101" pitchFamily="2" charset="-122"/>
              </a:defRPr>
            </a:lvl5pPr>
            <a:lvl6pPr marL="25146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spcBef>
                <a:spcPct val="20000"/>
              </a:spcBef>
            </a:pPr>
            <a:r>
              <a:rPr lang="en-US" altLang="zh-CN" dirty="0">
                <a:solidFill>
                  <a:srgbClr val="000000"/>
                </a:solidFill>
                <a:ea typeface="SimSun" panose="02010600030101010101" pitchFamily="2" charset="-122"/>
                <a:cs typeface="Calibri" panose="020F0502020204030204" pitchFamily="34" charset="0"/>
                <a:sym typeface="Arial" panose="020B0604020202020204" pitchFamily="34" charset="0"/>
              </a:rPr>
              <a:t>RT </a:t>
            </a:r>
            <a:r>
              <a:rPr lang="en-US" altLang="zh-CN" baseline="-25000" dirty="0">
                <a:solidFill>
                  <a:srgbClr val="000000"/>
                </a:solidFill>
                <a:ea typeface="SimSun" panose="02010600030101010101" pitchFamily="2" charset="-122"/>
                <a:cs typeface="Calibri" panose="020F0502020204030204" pitchFamily="34" charset="0"/>
                <a:sym typeface="Arial" panose="020B0604020202020204" pitchFamily="34" charset="0"/>
              </a:rPr>
              <a:t>target mismatch preview</a:t>
            </a:r>
            <a:endParaRPr lang="en-US" baseline="-25000" dirty="0">
              <a:solidFill>
                <a:srgbClr val="000000"/>
              </a:solidFill>
              <a:ea typeface="SimSun" panose="02010600030101010101" pitchFamily="2" charset="-122"/>
              <a:cs typeface="Calibri" panose="020F0502020204030204" pitchFamily="34" charset="0"/>
              <a:sym typeface="Arial" panose="020B0604020202020204" pitchFamily="34" charset="0"/>
            </a:endParaRPr>
          </a:p>
        </p:txBody>
      </p:sp>
      <p:sp>
        <p:nvSpPr>
          <p:cNvPr id="68" name="TextBox 67">
            <a:extLst>
              <a:ext uri="{FF2B5EF4-FFF2-40B4-BE49-F238E27FC236}">
                <a16:creationId xmlns:a16="http://schemas.microsoft.com/office/drawing/2014/main" id="{F560F40D-E6F6-3265-2CC4-37D08A8EE01A}"/>
              </a:ext>
            </a:extLst>
          </p:cNvPr>
          <p:cNvSpPr txBox="1"/>
          <p:nvPr/>
        </p:nvSpPr>
        <p:spPr>
          <a:xfrm>
            <a:off x="4989763" y="3177149"/>
            <a:ext cx="1999120" cy="369332"/>
          </a:xfrm>
          <a:prstGeom prst="rect">
            <a:avLst/>
          </a:prstGeom>
          <a:noFill/>
        </p:spPr>
        <p:txBody>
          <a:bodyPr wrap="square" rtlCol="0">
            <a:spAutoFit/>
          </a:bodyPr>
          <a:lstStyle/>
          <a:p>
            <a:pPr defTabSz="911225">
              <a:spcBef>
                <a:spcPct val="20000"/>
              </a:spcBef>
            </a:pPr>
            <a:r>
              <a:rPr lang="en-US" altLang="zh-CN" dirty="0">
                <a:solidFill>
                  <a:srgbClr val="000000"/>
                </a:solidFill>
                <a:latin typeface="Calibri" panose="020F0502020204030204" pitchFamily="34" charset="0"/>
                <a:ea typeface="SimSun" panose="02010600030101010101" pitchFamily="2" charset="-122"/>
                <a:cs typeface="Calibri" panose="020F0502020204030204" pitchFamily="34" charset="0"/>
                <a:sym typeface="Arial" panose="020B0604020202020204" pitchFamily="34" charset="0"/>
              </a:rPr>
              <a:t>RT </a:t>
            </a:r>
            <a:r>
              <a:rPr lang="en-US" altLang="zh-CN" baseline="-25000" dirty="0">
                <a:solidFill>
                  <a:srgbClr val="000000"/>
                </a:solidFill>
                <a:latin typeface="Calibri" panose="020F0502020204030204" pitchFamily="34" charset="0"/>
                <a:ea typeface="SimSun" panose="02010600030101010101" pitchFamily="2" charset="-122"/>
                <a:cs typeface="Calibri" panose="020F0502020204030204" pitchFamily="34" charset="0"/>
                <a:sym typeface="Arial" panose="020B0604020202020204" pitchFamily="34" charset="0"/>
              </a:rPr>
              <a:t>patient preview</a:t>
            </a:r>
            <a:endParaRPr lang="en-US" baseline="-25000" dirty="0">
              <a:solidFill>
                <a:srgbClr val="000000"/>
              </a:solidFill>
              <a:latin typeface="Calibri" panose="020F0502020204030204" pitchFamily="34" charset="0"/>
              <a:ea typeface="SimSun" panose="02010600030101010101" pitchFamily="2" charset="-122"/>
              <a:cs typeface="Calibri" panose="020F0502020204030204" pitchFamily="34" charset="0"/>
            </a:endParaRPr>
          </a:p>
        </p:txBody>
      </p:sp>
      <p:sp>
        <p:nvSpPr>
          <p:cNvPr id="69" name="TextBox 68">
            <a:extLst>
              <a:ext uri="{FF2B5EF4-FFF2-40B4-BE49-F238E27FC236}">
                <a16:creationId xmlns:a16="http://schemas.microsoft.com/office/drawing/2014/main" id="{68CF663B-4D25-3147-19C9-A456EF90ED87}"/>
              </a:ext>
            </a:extLst>
          </p:cNvPr>
          <p:cNvSpPr txBox="1"/>
          <p:nvPr/>
        </p:nvSpPr>
        <p:spPr>
          <a:xfrm>
            <a:off x="4400452" y="3156787"/>
            <a:ext cx="191401" cy="369332"/>
          </a:xfrm>
          <a:prstGeom prst="rect">
            <a:avLst/>
          </a:prstGeom>
          <a:noFill/>
        </p:spPr>
        <p:txBody>
          <a:bodyPr wrap="square" rtlCol="0">
            <a:spAutoFit/>
          </a:bodyPr>
          <a:lstStyle/>
          <a:p>
            <a:r>
              <a:rPr lang="zh-CN" altLang="en-US" sz="1800" dirty="0">
                <a:solidFill>
                  <a:srgbClr val="000000"/>
                </a:solidFill>
                <a:ea typeface="SimSun" panose="02010600030101010101" pitchFamily="2" charset="-122"/>
                <a:cs typeface="Calibri" panose="020F0502020204030204" pitchFamily="34" charset="0"/>
                <a:sym typeface="Arial" panose="020B0604020202020204" pitchFamily="34" charset="0"/>
              </a:rPr>
              <a:t>≈</a:t>
            </a:r>
            <a:endParaRPr lang="en-US" dirty="0" err="1">
              <a:solidFill>
                <a:schemeClr val="tx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70" name="TextBox 69">
            <a:extLst>
              <a:ext uri="{FF2B5EF4-FFF2-40B4-BE49-F238E27FC236}">
                <a16:creationId xmlns:a16="http://schemas.microsoft.com/office/drawing/2014/main" id="{B1CD6B82-F73F-929A-364C-8BB2A6D22477}"/>
              </a:ext>
            </a:extLst>
          </p:cNvPr>
          <p:cNvSpPr txBox="1"/>
          <p:nvPr/>
        </p:nvSpPr>
        <p:spPr>
          <a:xfrm>
            <a:off x="4412973" y="3569957"/>
            <a:ext cx="191401" cy="369332"/>
          </a:xfrm>
          <a:prstGeom prst="rect">
            <a:avLst/>
          </a:prstGeom>
          <a:noFill/>
        </p:spPr>
        <p:txBody>
          <a:bodyPr wrap="square" rtlCol="0">
            <a:spAutoFit/>
          </a:bodyPr>
          <a:lstStyle/>
          <a:p>
            <a:r>
              <a:rPr lang="en-US" dirty="0">
                <a:solidFill>
                  <a:srgbClr val="000000"/>
                </a:solidFill>
                <a:latin typeface="Calibri" panose="020F0502020204030204" pitchFamily="34" charset="0"/>
                <a:ea typeface="SimSun" panose="02010600030101010101" pitchFamily="2" charset="-122"/>
                <a:cs typeface="Calibri" panose="020F0502020204030204" pitchFamily="34" charset="0"/>
                <a:sym typeface="Arial" panose="020B0604020202020204" pitchFamily="34" charset="0"/>
              </a:rPr>
              <a:t>&lt;</a:t>
            </a:r>
            <a:endParaRPr lang="en-US" dirty="0" err="1">
              <a:solidFill>
                <a:schemeClr val="tx2"/>
              </a:solidFill>
              <a:latin typeface="Calibri" panose="020F0502020204030204" pitchFamily="34" charset="0"/>
              <a:ea typeface="Open Sans" panose="020B0606030504020204" pitchFamily="34" charset="0"/>
              <a:cs typeface="Calibri" panose="020F0502020204030204" pitchFamily="34" charset="0"/>
            </a:endParaRPr>
          </a:p>
        </p:txBody>
      </p:sp>
    </p:spTree>
    <p:extLst>
      <p:ext uri="{BB962C8B-B14F-4D97-AF65-F5344CB8AC3E}">
        <p14:creationId xmlns:p14="http://schemas.microsoft.com/office/powerpoint/2010/main" val="395449840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F8AC75-F02B-E479-4A54-0BA9702A6171}"/>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2AC296FF-D25D-6828-0E6D-DCC1320FED6E}"/>
              </a:ext>
            </a:extLst>
          </p:cNvPr>
          <p:cNvSpPr/>
          <p:nvPr/>
        </p:nvSpPr>
        <p:spPr>
          <a:xfrm>
            <a:off x="1079385" y="107139"/>
            <a:ext cx="5137051" cy="707886"/>
          </a:xfrm>
          <a:prstGeom prst="rect">
            <a:avLst/>
          </a:prstGeom>
          <a:noFill/>
        </p:spPr>
        <p:txBody>
          <a:bodyPr wrap="square" lIns="91440" tIns="45720" rIns="91440" bIns="45720">
            <a:spAutoFit/>
          </a:bodyPr>
          <a:lstStyle/>
          <a:p>
            <a:pPr algn="ctr"/>
            <a:r>
              <a:rPr lang="en-US" sz="40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rPr>
              <a:t>Study 3: Exp 1</a:t>
            </a:r>
          </a:p>
        </p:txBody>
      </p:sp>
      <p:sp>
        <p:nvSpPr>
          <p:cNvPr id="3" name="TextBox 2">
            <a:extLst>
              <a:ext uri="{FF2B5EF4-FFF2-40B4-BE49-F238E27FC236}">
                <a16:creationId xmlns:a16="http://schemas.microsoft.com/office/drawing/2014/main" id="{A0D252C0-906C-3B53-D4CF-0AAB5466A70C}"/>
              </a:ext>
            </a:extLst>
          </p:cNvPr>
          <p:cNvSpPr txBox="1"/>
          <p:nvPr/>
        </p:nvSpPr>
        <p:spPr>
          <a:xfrm>
            <a:off x="272376" y="982088"/>
            <a:ext cx="8611947" cy="82016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Calibri" panose="020F0502020204030204" pitchFamily="34" charset="0"/>
                <a:ea typeface="SimSun" panose="02010600030101010101" pitchFamily="2" charset="-122"/>
                <a:cs typeface="Calibri" panose="020F0502020204030204" pitchFamily="34" charset="0"/>
              </a:rPr>
              <a:t>Hypotheses:</a:t>
            </a:r>
          </a:p>
          <a:p>
            <a:pPr>
              <a:lnSpc>
                <a:spcPct val="107000"/>
              </a:lnSpc>
              <a:spcAft>
                <a:spcPts val="800"/>
              </a:spcAft>
            </a:pPr>
            <a:br>
              <a:rPr lang="en-US" sz="1400" dirty="0">
                <a:solidFill>
                  <a:srgbClr val="000000"/>
                </a:solidFill>
                <a:latin typeface="Calibri" panose="020F0502020204030204" pitchFamily="34" charset="0"/>
                <a:ea typeface="SimSun" panose="02010600030101010101" pitchFamily="2" charset="-122"/>
                <a:cs typeface="Calibri" panose="020F0502020204030204" pitchFamily="34" charset="0"/>
              </a:rPr>
            </a:br>
            <a:r>
              <a:rPr lang="en-US" sz="1400" dirty="0">
                <a:effectLst/>
                <a:latin typeface="Calibri" panose="020F0502020204030204" pitchFamily="34" charset="0"/>
                <a:ea typeface="Times New Roman" panose="02020603050405020304" pitchFamily="18" charset="0"/>
                <a:cs typeface="Calibri" panose="020F0502020204030204" pitchFamily="34" charset="0"/>
              </a:rPr>
              <a:t>3. </a:t>
            </a:r>
            <a:r>
              <a:rPr lang="en-US" sz="1400" b="1" dirty="0">
                <a:latin typeface="Calibri" panose="020F0502020204030204" pitchFamily="34" charset="0"/>
                <a:ea typeface="Times New Roman" panose="02020603050405020304" pitchFamily="18" charset="0"/>
                <a:cs typeface="Calibri" panose="020F0502020204030204" pitchFamily="34" charset="0"/>
              </a:rPr>
              <a:t>T</a:t>
            </a:r>
            <a:r>
              <a:rPr lang="en-US" sz="1400" b="1" dirty="0">
                <a:effectLst/>
                <a:latin typeface="Calibri" panose="020F0502020204030204" pitchFamily="34" charset="0"/>
                <a:ea typeface="Times New Roman" panose="02020603050405020304" pitchFamily="18" charset="0"/>
                <a:cs typeface="Calibri" panose="020F0502020204030204" pitchFamily="34" charset="0"/>
              </a:rPr>
              <a:t>op-down</a:t>
            </a:r>
            <a:r>
              <a:rPr lang="en-US" sz="1400" dirty="0">
                <a:effectLst/>
                <a:latin typeface="Calibri" panose="020F0502020204030204" pitchFamily="34" charset="0"/>
                <a:ea typeface="Times New Roman" panose="02020603050405020304" pitchFamily="18" charset="0"/>
                <a:cs typeface="Calibri" panose="020F0502020204030204" pitchFamily="34" charset="0"/>
              </a:rPr>
              <a:t> (</a:t>
            </a:r>
            <a:r>
              <a:rPr lang="en-US" sz="1400" dirty="0">
                <a:solidFill>
                  <a:srgbClr val="FF0000"/>
                </a:solidFill>
                <a:effectLst/>
                <a:latin typeface="Calibri" panose="020F0502020204030204" pitchFamily="34" charset="0"/>
                <a:ea typeface="Times New Roman" panose="02020603050405020304" pitchFamily="18" charset="0"/>
                <a:cs typeface="Calibri" panose="020F0502020204030204" pitchFamily="34" charset="0"/>
              </a:rPr>
              <a:t>task-dependent</a:t>
            </a:r>
            <a:r>
              <a:rPr lang="en-US" sz="1400" dirty="0">
                <a:effectLst/>
                <a:latin typeface="Calibri" panose="020F0502020204030204" pitchFamily="34" charset="0"/>
                <a:ea typeface="Times New Roman" panose="02020603050405020304" pitchFamily="18" charset="0"/>
                <a:cs typeface="Calibri" panose="020F0502020204030204" pitchFamily="34" charset="0"/>
              </a:rPr>
              <a:t>) </a:t>
            </a:r>
            <a:r>
              <a:rPr lang="en-US" sz="1400" dirty="0">
                <a:latin typeface="Calibri" panose="020F0502020204030204" pitchFamily="34" charset="0"/>
                <a:ea typeface="Times New Roman" panose="02020603050405020304" pitchFamily="18" charset="0"/>
                <a:cs typeface="Calibri" panose="020F0502020204030204" pitchFamily="34" charset="0"/>
              </a:rPr>
              <a:t>:</a:t>
            </a:r>
            <a:endParaRPr lang="en-US" sz="1400" dirty="0">
              <a:effectLst/>
              <a:latin typeface="Calibri" panose="020F0502020204030204" pitchFamily="34" charset="0"/>
              <a:ea typeface="SimSun" panose="02010600030101010101" pitchFamily="2" charset="-122"/>
              <a:cs typeface="Calibri" panose="020F0502020204030204" pitchFamily="34" charset="0"/>
            </a:endParaRPr>
          </a:p>
        </p:txBody>
      </p:sp>
      <p:sp>
        <p:nvSpPr>
          <p:cNvPr id="5" name="TextBox 13">
            <a:extLst>
              <a:ext uri="{FF2B5EF4-FFF2-40B4-BE49-F238E27FC236}">
                <a16:creationId xmlns:a16="http://schemas.microsoft.com/office/drawing/2014/main" id="{791FA125-E24C-66E9-1C84-D26142B26031}"/>
              </a:ext>
            </a:extLst>
          </p:cNvPr>
          <p:cNvSpPr txBox="1">
            <a:spLocks noChangeArrowheads="1"/>
          </p:cNvSpPr>
          <p:nvPr/>
        </p:nvSpPr>
        <p:spPr bwMode="auto">
          <a:xfrm>
            <a:off x="436433" y="3998320"/>
            <a:ext cx="147230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911225">
              <a:defRPr>
                <a:solidFill>
                  <a:schemeClr val="tx1"/>
                </a:solidFill>
                <a:latin typeface="Calibri" panose="020F0502020204030204" pitchFamily="34" charset="0"/>
                <a:ea typeface="宋体" panose="02010600030101010101" pitchFamily="2" charset="-122"/>
              </a:defRPr>
            </a:lvl1pPr>
            <a:lvl2pPr marL="742950" indent="-285750" defTabSz="911225">
              <a:defRPr>
                <a:solidFill>
                  <a:schemeClr val="tx1"/>
                </a:solidFill>
                <a:latin typeface="Calibri" panose="020F0502020204030204" pitchFamily="34" charset="0"/>
                <a:ea typeface="宋体" panose="02010600030101010101" pitchFamily="2" charset="-122"/>
              </a:defRPr>
            </a:lvl2pPr>
            <a:lvl3pPr marL="1143000" indent="-228600" defTabSz="911225">
              <a:defRPr>
                <a:solidFill>
                  <a:schemeClr val="tx1"/>
                </a:solidFill>
                <a:latin typeface="Calibri" panose="020F0502020204030204" pitchFamily="34" charset="0"/>
                <a:ea typeface="宋体" panose="02010600030101010101" pitchFamily="2" charset="-122"/>
              </a:defRPr>
            </a:lvl3pPr>
            <a:lvl4pPr marL="1600200" indent="-228600" defTabSz="911225">
              <a:defRPr>
                <a:solidFill>
                  <a:schemeClr val="tx1"/>
                </a:solidFill>
                <a:latin typeface="Calibri" panose="020F0502020204030204" pitchFamily="34" charset="0"/>
                <a:ea typeface="宋体" panose="02010600030101010101" pitchFamily="2" charset="-122"/>
              </a:defRPr>
            </a:lvl4pPr>
            <a:lvl5pPr marL="2057400" indent="-228600" defTabSz="911225">
              <a:defRPr>
                <a:solidFill>
                  <a:schemeClr val="tx1"/>
                </a:solidFill>
                <a:latin typeface="Calibri" panose="020F0502020204030204" pitchFamily="34" charset="0"/>
                <a:ea typeface="宋体" panose="02010600030101010101" pitchFamily="2" charset="-122"/>
              </a:defRPr>
            </a:lvl5pPr>
            <a:lvl6pPr marL="25146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spcBef>
                <a:spcPct val="20000"/>
              </a:spcBef>
            </a:pPr>
            <a:r>
              <a:rPr lang="en-US" altLang="zh-CN" sz="2400" b="1" dirty="0">
                <a:latin typeface="Times New Roman" panose="02020603050405020304" pitchFamily="18" charset="0"/>
                <a:cs typeface="Arial" panose="020B0604020202020204" pitchFamily="34" charset="0"/>
                <a:sym typeface="Arial" panose="020B0604020202020204" pitchFamily="34" charset="0"/>
              </a:rPr>
              <a:t>Top-down</a:t>
            </a:r>
            <a:endParaRPr lang="en-US" sz="2400" b="1" dirty="0">
              <a:ea typeface="微软雅黑" panose="020B0503020204020204" pitchFamily="34" charset="-122"/>
              <a:cs typeface="Calibri" panose="020F0502020204030204" pitchFamily="34" charset="0"/>
              <a:sym typeface="Arial" panose="020B0604020202020204" pitchFamily="34" charset="0"/>
            </a:endParaRPr>
          </a:p>
        </p:txBody>
      </p:sp>
      <p:sp>
        <p:nvSpPr>
          <p:cNvPr id="6" name="TextBox 5">
            <a:extLst>
              <a:ext uri="{FF2B5EF4-FFF2-40B4-BE49-F238E27FC236}">
                <a16:creationId xmlns:a16="http://schemas.microsoft.com/office/drawing/2014/main" id="{02C4B658-6112-8D1E-737B-D296ABD0E3FF}"/>
              </a:ext>
            </a:extLst>
          </p:cNvPr>
          <p:cNvSpPr txBox="1"/>
          <p:nvPr/>
        </p:nvSpPr>
        <p:spPr>
          <a:xfrm>
            <a:off x="731394" y="2219293"/>
            <a:ext cx="2612781" cy="492443"/>
          </a:xfrm>
          <a:prstGeom prst="rect">
            <a:avLst/>
          </a:prstGeom>
          <a:noFill/>
        </p:spPr>
        <p:txBody>
          <a:bodyPr wrap="square" rtlCol="0">
            <a:spAutoFit/>
          </a:bodyPr>
          <a:lstStyle/>
          <a:p>
            <a:pPr algn="ctr"/>
            <a:r>
              <a:rPr lang="en-US" sz="1400" b="1" dirty="0">
                <a:solidFill>
                  <a:srgbClr val="000000"/>
                </a:solidFill>
                <a:latin typeface="Calibri" panose="020F0502020204030204" pitchFamily="34" charset="0"/>
                <a:ea typeface="SimSun" panose="02010600030101010101" pitchFamily="2" charset="-122"/>
                <a:cs typeface="Calibri" panose="020F0502020204030204" pitchFamily="34" charset="0"/>
              </a:rPr>
              <a:t>duration of the preview phase </a:t>
            </a:r>
            <a:br>
              <a:rPr lang="en-US" dirty="0">
                <a:solidFill>
                  <a:srgbClr val="000000"/>
                </a:solidFill>
                <a:latin typeface="Calibri" panose="020F0502020204030204" pitchFamily="34" charset="0"/>
                <a:ea typeface="SimSun" panose="02010600030101010101" pitchFamily="2" charset="-122"/>
                <a:cs typeface="Calibri" panose="020F0502020204030204" pitchFamily="34" charset="0"/>
              </a:rPr>
            </a:br>
            <a:r>
              <a:rPr lang="en-US" sz="1200" dirty="0">
                <a:solidFill>
                  <a:srgbClr val="000000"/>
                </a:solidFill>
                <a:latin typeface="Calibri" panose="020F0502020204030204" pitchFamily="34" charset="0"/>
                <a:ea typeface="SimSun" panose="02010600030101010101" pitchFamily="2" charset="-122"/>
                <a:cs typeface="Calibri" panose="020F0502020204030204" pitchFamily="34" charset="0"/>
              </a:rPr>
              <a:t>(0 </a:t>
            </a:r>
            <a:r>
              <a:rPr lang="en-US" sz="1200" dirty="0" err="1">
                <a:solidFill>
                  <a:srgbClr val="000000"/>
                </a:solidFill>
                <a:latin typeface="Calibri" panose="020F0502020204030204" pitchFamily="34" charset="0"/>
                <a:ea typeface="SimSun" panose="02010600030101010101" pitchFamily="2" charset="-122"/>
                <a:cs typeface="Calibri" panose="020F0502020204030204" pitchFamily="34" charset="0"/>
              </a:rPr>
              <a:t>ms</a:t>
            </a:r>
            <a:r>
              <a:rPr lang="en-US" sz="1200" dirty="0">
                <a:solidFill>
                  <a:srgbClr val="000000"/>
                </a:solidFill>
                <a:latin typeface="Calibri" panose="020F0502020204030204" pitchFamily="34" charset="0"/>
                <a:ea typeface="SimSun" panose="02010600030101010101" pitchFamily="2" charset="-122"/>
                <a:cs typeface="Calibri" panose="020F0502020204030204" pitchFamily="34" charset="0"/>
              </a:rPr>
              <a:t>, 50 </a:t>
            </a:r>
            <a:r>
              <a:rPr lang="en-US" sz="1200" dirty="0" err="1">
                <a:solidFill>
                  <a:srgbClr val="000000"/>
                </a:solidFill>
                <a:latin typeface="Calibri" panose="020F0502020204030204" pitchFamily="34" charset="0"/>
                <a:ea typeface="SimSun" panose="02010600030101010101" pitchFamily="2" charset="-122"/>
                <a:cs typeface="Calibri" panose="020F0502020204030204" pitchFamily="34" charset="0"/>
              </a:rPr>
              <a:t>ms</a:t>
            </a:r>
            <a:r>
              <a:rPr lang="en-US" sz="1200" dirty="0">
                <a:solidFill>
                  <a:srgbClr val="000000"/>
                </a:solidFill>
                <a:latin typeface="Calibri" panose="020F0502020204030204" pitchFamily="34" charset="0"/>
                <a:ea typeface="SimSun" panose="02010600030101010101" pitchFamily="2" charset="-122"/>
                <a:cs typeface="Calibri" panose="020F0502020204030204" pitchFamily="34" charset="0"/>
              </a:rPr>
              <a:t>, 150 </a:t>
            </a:r>
            <a:r>
              <a:rPr lang="en-US" sz="1200" dirty="0" err="1">
                <a:solidFill>
                  <a:srgbClr val="000000"/>
                </a:solidFill>
                <a:latin typeface="Calibri" panose="020F0502020204030204" pitchFamily="34" charset="0"/>
                <a:ea typeface="SimSun" panose="02010600030101010101" pitchFamily="2" charset="-122"/>
                <a:cs typeface="Calibri" panose="020F0502020204030204" pitchFamily="34" charset="0"/>
              </a:rPr>
              <a:t>ms</a:t>
            </a:r>
            <a:r>
              <a:rPr lang="en-US" sz="1200" dirty="0">
                <a:solidFill>
                  <a:srgbClr val="000000"/>
                </a:solidFill>
                <a:latin typeface="Calibri" panose="020F0502020204030204" pitchFamily="34" charset="0"/>
                <a:ea typeface="SimSun" panose="02010600030101010101" pitchFamily="2" charset="-122"/>
                <a:cs typeface="Calibri" panose="020F0502020204030204" pitchFamily="34" charset="0"/>
              </a:rPr>
              <a:t>, 500 </a:t>
            </a:r>
            <a:r>
              <a:rPr lang="en-US" sz="1200" dirty="0" err="1">
                <a:solidFill>
                  <a:srgbClr val="000000"/>
                </a:solidFill>
                <a:latin typeface="Calibri" panose="020F0502020204030204" pitchFamily="34" charset="0"/>
                <a:ea typeface="SimSun" panose="02010600030101010101" pitchFamily="2" charset="-122"/>
                <a:cs typeface="Calibri" panose="020F0502020204030204" pitchFamily="34" charset="0"/>
              </a:rPr>
              <a:t>ms</a:t>
            </a:r>
            <a:r>
              <a:rPr lang="en-US" sz="1200" dirty="0">
                <a:solidFill>
                  <a:srgbClr val="000000"/>
                </a:solidFill>
                <a:latin typeface="Calibri" panose="020F0502020204030204" pitchFamily="34" charset="0"/>
                <a:ea typeface="SimSun" panose="02010600030101010101" pitchFamily="2" charset="-122"/>
                <a:cs typeface="Calibri" panose="020F0502020204030204" pitchFamily="34" charset="0"/>
              </a:rPr>
              <a:t>)</a:t>
            </a:r>
          </a:p>
        </p:txBody>
      </p:sp>
      <p:sp>
        <p:nvSpPr>
          <p:cNvPr id="7" name="TextBox 6">
            <a:extLst>
              <a:ext uri="{FF2B5EF4-FFF2-40B4-BE49-F238E27FC236}">
                <a16:creationId xmlns:a16="http://schemas.microsoft.com/office/drawing/2014/main" id="{A4ED2F21-83F1-FF5D-BE26-1FF129334155}"/>
              </a:ext>
            </a:extLst>
          </p:cNvPr>
          <p:cNvSpPr txBox="1"/>
          <p:nvPr/>
        </p:nvSpPr>
        <p:spPr>
          <a:xfrm>
            <a:off x="2873945" y="2202874"/>
            <a:ext cx="2612781" cy="523220"/>
          </a:xfrm>
          <a:prstGeom prst="rect">
            <a:avLst/>
          </a:prstGeom>
          <a:noFill/>
        </p:spPr>
        <p:txBody>
          <a:bodyPr wrap="square" rtlCol="0">
            <a:spAutoFit/>
          </a:bodyPr>
          <a:lstStyle/>
          <a:p>
            <a:pPr algn="ctr"/>
            <a:r>
              <a:rPr lang="en-US" sz="1400" b="1" dirty="0">
                <a:effectLst/>
                <a:latin typeface="Calibri" panose="020F0502020204030204" pitchFamily="34" charset="0"/>
                <a:ea typeface="Times New Roman" panose="02020603050405020304" pitchFamily="18" charset="0"/>
                <a:cs typeface="Calibri" panose="020F0502020204030204" pitchFamily="34" charset="0"/>
              </a:rPr>
              <a:t>preview object </a:t>
            </a:r>
            <a:br>
              <a:rPr lang="en-US" sz="1400" dirty="0">
                <a:effectLst/>
                <a:latin typeface="Calibri" panose="020F0502020204030204" pitchFamily="34" charset="0"/>
                <a:ea typeface="Times New Roman" panose="02020603050405020304" pitchFamily="18" charset="0"/>
                <a:cs typeface="Calibri" panose="020F0502020204030204" pitchFamily="34" charset="0"/>
              </a:rPr>
            </a:br>
            <a:r>
              <a:rPr lang="en-US" sz="1400" dirty="0">
                <a:effectLst/>
                <a:latin typeface="Calibri" panose="020F0502020204030204" pitchFamily="34" charset="0"/>
                <a:ea typeface="Times New Roman" panose="02020603050405020304" pitchFamily="18" charset="0"/>
                <a:cs typeface="Calibri" panose="020F0502020204030204" pitchFamily="34" charset="0"/>
              </a:rPr>
              <a:t>(agent, patient)</a:t>
            </a:r>
            <a:endParaRPr lang="en-US" sz="1400" dirty="0">
              <a:solidFill>
                <a:srgbClr val="000000"/>
              </a:solidFill>
              <a:latin typeface="Calibri" panose="020F0502020204030204" pitchFamily="34" charset="0"/>
              <a:ea typeface="SimSun" panose="02010600030101010101" pitchFamily="2" charset="-122"/>
              <a:cs typeface="Calibri" panose="020F0502020204030204" pitchFamily="34" charset="0"/>
            </a:endParaRPr>
          </a:p>
        </p:txBody>
      </p:sp>
      <p:sp>
        <p:nvSpPr>
          <p:cNvPr id="8" name="TextBox 7">
            <a:extLst>
              <a:ext uri="{FF2B5EF4-FFF2-40B4-BE49-F238E27FC236}">
                <a16:creationId xmlns:a16="http://schemas.microsoft.com/office/drawing/2014/main" id="{0B8CD1CC-B55D-2DA1-83A5-45CC7596BD84}"/>
              </a:ext>
            </a:extLst>
          </p:cNvPr>
          <p:cNvSpPr txBox="1"/>
          <p:nvPr/>
        </p:nvSpPr>
        <p:spPr>
          <a:xfrm>
            <a:off x="3422112" y="1531746"/>
            <a:ext cx="1591559" cy="307777"/>
          </a:xfrm>
          <a:prstGeom prst="rect">
            <a:avLst/>
          </a:prstGeom>
          <a:noFill/>
        </p:spPr>
        <p:txBody>
          <a:bodyPr wrap="square" rtlCol="0">
            <a:spAutoFit/>
          </a:bodyPr>
          <a:lstStyle/>
          <a:p>
            <a:r>
              <a:rPr lang="en-US" sz="1400" b="1" dirty="0">
                <a:solidFill>
                  <a:srgbClr val="000000"/>
                </a:solidFill>
                <a:latin typeface="Calibri" panose="020F0502020204030204" pitchFamily="34" charset="0"/>
                <a:ea typeface="SimSun" panose="02010600030101010101" pitchFamily="2" charset="-122"/>
                <a:cs typeface="Calibri" panose="020F0502020204030204" pitchFamily="34" charset="0"/>
              </a:rPr>
              <a:t>3-way interaction</a:t>
            </a:r>
            <a:endParaRPr lang="en-US" sz="1400" b="1" dirty="0">
              <a:solidFill>
                <a:schemeClr val="tx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9" name="TextBox 8">
            <a:extLst>
              <a:ext uri="{FF2B5EF4-FFF2-40B4-BE49-F238E27FC236}">
                <a16:creationId xmlns:a16="http://schemas.microsoft.com/office/drawing/2014/main" id="{CC819C59-5062-9FFB-1EA6-485CC965EEBF}"/>
              </a:ext>
            </a:extLst>
          </p:cNvPr>
          <p:cNvSpPr txBox="1"/>
          <p:nvPr/>
        </p:nvSpPr>
        <p:spPr>
          <a:xfrm>
            <a:off x="5013671" y="2160268"/>
            <a:ext cx="2612781" cy="523220"/>
          </a:xfrm>
          <a:prstGeom prst="rect">
            <a:avLst/>
          </a:prstGeom>
          <a:noFill/>
        </p:spPr>
        <p:txBody>
          <a:bodyPr wrap="square" rtlCol="0">
            <a:spAutoFit/>
          </a:bodyPr>
          <a:lstStyle/>
          <a:p>
            <a:pPr algn="ctr"/>
            <a:r>
              <a:rPr lang="en-US" sz="1400" b="1" dirty="0">
                <a:effectLst/>
                <a:latin typeface="Calibri" panose="020F0502020204030204" pitchFamily="34" charset="0"/>
                <a:ea typeface="Times New Roman" panose="02020603050405020304" pitchFamily="18" charset="0"/>
                <a:cs typeface="Calibri" panose="020F0502020204030204" pitchFamily="34" charset="0"/>
              </a:rPr>
              <a:t>search task </a:t>
            </a:r>
            <a:br>
              <a:rPr lang="en-US" sz="1400" dirty="0">
                <a:effectLst/>
                <a:latin typeface="Calibri" panose="020F0502020204030204" pitchFamily="34" charset="0"/>
                <a:ea typeface="Times New Roman" panose="02020603050405020304" pitchFamily="18" charset="0"/>
                <a:cs typeface="Calibri" panose="020F0502020204030204" pitchFamily="34" charset="0"/>
              </a:rPr>
            </a:br>
            <a:r>
              <a:rPr lang="en-US" sz="1400" dirty="0">
                <a:effectLst/>
                <a:latin typeface="Calibri" panose="020F0502020204030204" pitchFamily="34" charset="0"/>
                <a:ea typeface="Times New Roman" panose="02020603050405020304" pitchFamily="18" charset="0"/>
                <a:cs typeface="Calibri" panose="020F0502020204030204" pitchFamily="34" charset="0"/>
              </a:rPr>
              <a:t>(agent search, patient search)</a:t>
            </a:r>
            <a:endParaRPr lang="en-US" sz="1400" dirty="0">
              <a:solidFill>
                <a:srgbClr val="000000"/>
              </a:solidFill>
              <a:latin typeface="Calibri" panose="020F0502020204030204" pitchFamily="34" charset="0"/>
              <a:ea typeface="SimSun" panose="02010600030101010101" pitchFamily="2" charset="-122"/>
              <a:cs typeface="Calibri" panose="020F0502020204030204" pitchFamily="34" charset="0"/>
            </a:endParaRPr>
          </a:p>
        </p:txBody>
      </p:sp>
      <p:sp>
        <p:nvSpPr>
          <p:cNvPr id="10" name="TextBox 13">
            <a:extLst>
              <a:ext uri="{FF2B5EF4-FFF2-40B4-BE49-F238E27FC236}">
                <a16:creationId xmlns:a16="http://schemas.microsoft.com/office/drawing/2014/main" id="{CCE10AC4-C1B2-5744-8AF1-D83E52AF8DE5}"/>
              </a:ext>
            </a:extLst>
          </p:cNvPr>
          <p:cNvSpPr txBox="1">
            <a:spLocks noChangeArrowheads="1"/>
          </p:cNvSpPr>
          <p:nvPr/>
        </p:nvSpPr>
        <p:spPr bwMode="auto">
          <a:xfrm>
            <a:off x="516759" y="3011497"/>
            <a:ext cx="1472309"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911225">
              <a:defRPr>
                <a:solidFill>
                  <a:schemeClr val="tx1"/>
                </a:solidFill>
                <a:latin typeface="Calibri" panose="020F0502020204030204" pitchFamily="34" charset="0"/>
                <a:ea typeface="宋体" panose="02010600030101010101" pitchFamily="2" charset="-122"/>
              </a:defRPr>
            </a:lvl1pPr>
            <a:lvl2pPr marL="742950" indent="-285750" defTabSz="911225">
              <a:defRPr>
                <a:solidFill>
                  <a:schemeClr val="tx1"/>
                </a:solidFill>
                <a:latin typeface="Calibri" panose="020F0502020204030204" pitchFamily="34" charset="0"/>
                <a:ea typeface="宋体" panose="02010600030101010101" pitchFamily="2" charset="-122"/>
              </a:defRPr>
            </a:lvl2pPr>
            <a:lvl3pPr marL="1143000" indent="-228600" defTabSz="911225">
              <a:defRPr>
                <a:solidFill>
                  <a:schemeClr val="tx1"/>
                </a:solidFill>
                <a:latin typeface="Calibri" panose="020F0502020204030204" pitchFamily="34" charset="0"/>
                <a:ea typeface="宋体" panose="02010600030101010101" pitchFamily="2" charset="-122"/>
              </a:defRPr>
            </a:lvl3pPr>
            <a:lvl4pPr marL="1600200" indent="-228600" defTabSz="911225">
              <a:defRPr>
                <a:solidFill>
                  <a:schemeClr val="tx1"/>
                </a:solidFill>
                <a:latin typeface="Calibri" panose="020F0502020204030204" pitchFamily="34" charset="0"/>
                <a:ea typeface="宋体" panose="02010600030101010101" pitchFamily="2" charset="-122"/>
              </a:defRPr>
            </a:lvl4pPr>
            <a:lvl5pPr marL="2057400" indent="-228600" defTabSz="911225">
              <a:defRPr>
                <a:solidFill>
                  <a:schemeClr val="tx1"/>
                </a:solidFill>
                <a:latin typeface="Calibri" panose="020F0502020204030204" pitchFamily="34" charset="0"/>
                <a:ea typeface="宋体" panose="02010600030101010101" pitchFamily="2" charset="-122"/>
              </a:defRPr>
            </a:lvl5pPr>
            <a:lvl6pPr marL="25146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spcBef>
                <a:spcPct val="20000"/>
              </a:spcBef>
            </a:pPr>
            <a:r>
              <a:rPr lang="en-US" altLang="zh-CN" sz="1400" dirty="0">
                <a:solidFill>
                  <a:srgbClr val="000000"/>
                </a:solidFill>
                <a:ea typeface="SimSun" panose="02010600030101010101" pitchFamily="2" charset="-122"/>
                <a:cs typeface="Calibri" panose="020F0502020204030204" pitchFamily="34" charset="0"/>
                <a:sym typeface="Arial" panose="020B0604020202020204" pitchFamily="34" charset="0"/>
              </a:rPr>
              <a:t>Without Preview</a:t>
            </a:r>
            <a:endParaRPr lang="en-US" sz="1400" dirty="0">
              <a:solidFill>
                <a:srgbClr val="000000"/>
              </a:solidFill>
              <a:ea typeface="SimSun" panose="02010600030101010101" pitchFamily="2" charset="-122"/>
              <a:cs typeface="Calibri" panose="020F0502020204030204" pitchFamily="34" charset="0"/>
              <a:sym typeface="Arial" panose="020B0604020202020204" pitchFamily="34" charset="0"/>
            </a:endParaRPr>
          </a:p>
        </p:txBody>
      </p:sp>
      <p:sp>
        <p:nvSpPr>
          <p:cNvPr id="11" name="TextBox 13">
            <a:extLst>
              <a:ext uri="{FF2B5EF4-FFF2-40B4-BE49-F238E27FC236}">
                <a16:creationId xmlns:a16="http://schemas.microsoft.com/office/drawing/2014/main" id="{A43E4C63-BB80-0841-398A-110789F8364F}"/>
              </a:ext>
            </a:extLst>
          </p:cNvPr>
          <p:cNvSpPr txBox="1">
            <a:spLocks noChangeArrowheads="1"/>
          </p:cNvSpPr>
          <p:nvPr/>
        </p:nvSpPr>
        <p:spPr bwMode="auto">
          <a:xfrm>
            <a:off x="516760" y="3562355"/>
            <a:ext cx="1472309"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911225">
              <a:defRPr>
                <a:solidFill>
                  <a:schemeClr val="tx1"/>
                </a:solidFill>
                <a:latin typeface="Calibri" panose="020F0502020204030204" pitchFamily="34" charset="0"/>
                <a:ea typeface="宋体" panose="02010600030101010101" pitchFamily="2" charset="-122"/>
              </a:defRPr>
            </a:lvl1pPr>
            <a:lvl2pPr marL="742950" indent="-285750" defTabSz="911225">
              <a:defRPr>
                <a:solidFill>
                  <a:schemeClr val="tx1"/>
                </a:solidFill>
                <a:latin typeface="Calibri" panose="020F0502020204030204" pitchFamily="34" charset="0"/>
                <a:ea typeface="宋体" panose="02010600030101010101" pitchFamily="2" charset="-122"/>
              </a:defRPr>
            </a:lvl2pPr>
            <a:lvl3pPr marL="1143000" indent="-228600" defTabSz="911225">
              <a:defRPr>
                <a:solidFill>
                  <a:schemeClr val="tx1"/>
                </a:solidFill>
                <a:latin typeface="Calibri" panose="020F0502020204030204" pitchFamily="34" charset="0"/>
                <a:ea typeface="宋体" panose="02010600030101010101" pitchFamily="2" charset="-122"/>
              </a:defRPr>
            </a:lvl3pPr>
            <a:lvl4pPr marL="1600200" indent="-228600" defTabSz="911225">
              <a:defRPr>
                <a:solidFill>
                  <a:schemeClr val="tx1"/>
                </a:solidFill>
                <a:latin typeface="Calibri" panose="020F0502020204030204" pitchFamily="34" charset="0"/>
                <a:ea typeface="宋体" panose="02010600030101010101" pitchFamily="2" charset="-122"/>
              </a:defRPr>
            </a:lvl4pPr>
            <a:lvl5pPr marL="2057400" indent="-228600" defTabSz="911225">
              <a:defRPr>
                <a:solidFill>
                  <a:schemeClr val="tx1"/>
                </a:solidFill>
                <a:latin typeface="Calibri" panose="020F0502020204030204" pitchFamily="34" charset="0"/>
                <a:ea typeface="宋体" panose="02010600030101010101" pitchFamily="2" charset="-122"/>
              </a:defRPr>
            </a:lvl5pPr>
            <a:lvl6pPr marL="25146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spcBef>
                <a:spcPct val="20000"/>
              </a:spcBef>
            </a:pPr>
            <a:r>
              <a:rPr lang="en-US" altLang="zh-CN" sz="1400" dirty="0">
                <a:solidFill>
                  <a:srgbClr val="000000"/>
                </a:solidFill>
                <a:ea typeface="SimSun" panose="02010600030101010101" pitchFamily="2" charset="-122"/>
                <a:cs typeface="Calibri" panose="020F0502020204030204" pitchFamily="34" charset="0"/>
                <a:sym typeface="Arial" panose="020B0604020202020204" pitchFamily="34" charset="0"/>
              </a:rPr>
              <a:t>With Preview</a:t>
            </a:r>
            <a:endParaRPr lang="en-US" sz="1400" dirty="0">
              <a:solidFill>
                <a:srgbClr val="000000"/>
              </a:solidFill>
              <a:ea typeface="SimSun" panose="02010600030101010101" pitchFamily="2" charset="-122"/>
              <a:cs typeface="Calibri" panose="020F0502020204030204" pitchFamily="34" charset="0"/>
              <a:sym typeface="Arial" panose="020B0604020202020204" pitchFamily="34" charset="0"/>
            </a:endParaRPr>
          </a:p>
        </p:txBody>
      </p:sp>
      <p:sp>
        <p:nvSpPr>
          <p:cNvPr id="12" name="TextBox 13">
            <a:extLst>
              <a:ext uri="{FF2B5EF4-FFF2-40B4-BE49-F238E27FC236}">
                <a16:creationId xmlns:a16="http://schemas.microsoft.com/office/drawing/2014/main" id="{7139F1CD-6B1B-69C2-782F-017AA2A9E2CB}"/>
              </a:ext>
            </a:extLst>
          </p:cNvPr>
          <p:cNvSpPr txBox="1">
            <a:spLocks noChangeArrowheads="1"/>
          </p:cNvSpPr>
          <p:nvPr/>
        </p:nvSpPr>
        <p:spPr bwMode="auto">
          <a:xfrm>
            <a:off x="2446508" y="2952900"/>
            <a:ext cx="153940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911225">
              <a:defRPr>
                <a:solidFill>
                  <a:schemeClr val="tx1"/>
                </a:solidFill>
                <a:latin typeface="Calibri" panose="020F0502020204030204" pitchFamily="34" charset="0"/>
                <a:ea typeface="宋体" panose="02010600030101010101" pitchFamily="2" charset="-122"/>
              </a:defRPr>
            </a:lvl1pPr>
            <a:lvl2pPr marL="742950" indent="-285750" defTabSz="911225">
              <a:defRPr>
                <a:solidFill>
                  <a:schemeClr val="tx1"/>
                </a:solidFill>
                <a:latin typeface="Calibri" panose="020F0502020204030204" pitchFamily="34" charset="0"/>
                <a:ea typeface="宋体" panose="02010600030101010101" pitchFamily="2" charset="-122"/>
              </a:defRPr>
            </a:lvl2pPr>
            <a:lvl3pPr marL="1143000" indent="-228600" defTabSz="911225">
              <a:defRPr>
                <a:solidFill>
                  <a:schemeClr val="tx1"/>
                </a:solidFill>
                <a:latin typeface="Calibri" panose="020F0502020204030204" pitchFamily="34" charset="0"/>
                <a:ea typeface="宋体" panose="02010600030101010101" pitchFamily="2" charset="-122"/>
              </a:defRPr>
            </a:lvl3pPr>
            <a:lvl4pPr marL="1600200" indent="-228600" defTabSz="911225">
              <a:defRPr>
                <a:solidFill>
                  <a:schemeClr val="tx1"/>
                </a:solidFill>
                <a:latin typeface="Calibri" panose="020F0502020204030204" pitchFamily="34" charset="0"/>
                <a:ea typeface="宋体" panose="02010600030101010101" pitchFamily="2" charset="-122"/>
              </a:defRPr>
            </a:lvl4pPr>
            <a:lvl5pPr marL="2057400" indent="-228600" defTabSz="911225">
              <a:defRPr>
                <a:solidFill>
                  <a:schemeClr val="tx1"/>
                </a:solidFill>
                <a:latin typeface="Calibri" panose="020F0502020204030204" pitchFamily="34" charset="0"/>
                <a:ea typeface="宋体" panose="02010600030101010101" pitchFamily="2" charset="-122"/>
              </a:defRPr>
            </a:lvl5pPr>
            <a:lvl6pPr marL="25146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spcBef>
                <a:spcPct val="20000"/>
              </a:spcBef>
            </a:pPr>
            <a:r>
              <a:rPr lang="en-US" altLang="zh-CN" dirty="0">
                <a:solidFill>
                  <a:srgbClr val="000000"/>
                </a:solidFill>
                <a:ea typeface="SimSun" panose="02010600030101010101" pitchFamily="2" charset="-122"/>
                <a:cs typeface="Calibri" panose="020F0502020204030204" pitchFamily="34" charset="0"/>
                <a:sym typeface="Arial" panose="020B0604020202020204" pitchFamily="34" charset="0"/>
              </a:rPr>
              <a:t>RT </a:t>
            </a:r>
            <a:r>
              <a:rPr lang="en-US" altLang="zh-CN" baseline="-25000" dirty="0">
                <a:solidFill>
                  <a:srgbClr val="000000"/>
                </a:solidFill>
                <a:ea typeface="SimSun" panose="02010600030101010101" pitchFamily="2" charset="-122"/>
                <a:cs typeface="Calibri" panose="020F0502020204030204" pitchFamily="34" charset="0"/>
                <a:sym typeface="Arial" panose="020B0604020202020204" pitchFamily="34" charset="0"/>
              </a:rPr>
              <a:t>agent preview</a:t>
            </a:r>
            <a:endParaRPr lang="en-US" baseline="-25000" dirty="0">
              <a:solidFill>
                <a:srgbClr val="000000"/>
              </a:solidFill>
              <a:ea typeface="SimSun" panose="02010600030101010101" pitchFamily="2" charset="-122"/>
              <a:cs typeface="Calibri" panose="020F0502020204030204" pitchFamily="34" charset="0"/>
              <a:sym typeface="Arial" panose="020B0604020202020204" pitchFamily="34" charset="0"/>
            </a:endParaRPr>
          </a:p>
        </p:txBody>
      </p:sp>
      <p:sp>
        <p:nvSpPr>
          <p:cNvPr id="13" name="TextBox 12">
            <a:extLst>
              <a:ext uri="{FF2B5EF4-FFF2-40B4-BE49-F238E27FC236}">
                <a16:creationId xmlns:a16="http://schemas.microsoft.com/office/drawing/2014/main" id="{C24DB250-2665-C9E1-A38E-6FD70B5F4CD7}"/>
              </a:ext>
            </a:extLst>
          </p:cNvPr>
          <p:cNvSpPr txBox="1">
            <a:spLocks noChangeArrowheads="1"/>
          </p:cNvSpPr>
          <p:nvPr/>
        </p:nvSpPr>
        <p:spPr bwMode="auto">
          <a:xfrm>
            <a:off x="2460490" y="3456333"/>
            <a:ext cx="210186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911225">
              <a:defRPr>
                <a:solidFill>
                  <a:schemeClr val="tx1"/>
                </a:solidFill>
                <a:latin typeface="Calibri" panose="020F0502020204030204" pitchFamily="34" charset="0"/>
                <a:ea typeface="宋体" panose="02010600030101010101" pitchFamily="2" charset="-122"/>
              </a:defRPr>
            </a:lvl1pPr>
            <a:lvl2pPr marL="742950" indent="-285750" defTabSz="911225">
              <a:defRPr>
                <a:solidFill>
                  <a:schemeClr val="tx1"/>
                </a:solidFill>
                <a:latin typeface="Calibri" panose="020F0502020204030204" pitchFamily="34" charset="0"/>
                <a:ea typeface="宋体" panose="02010600030101010101" pitchFamily="2" charset="-122"/>
              </a:defRPr>
            </a:lvl2pPr>
            <a:lvl3pPr marL="1143000" indent="-228600" defTabSz="911225">
              <a:defRPr>
                <a:solidFill>
                  <a:schemeClr val="tx1"/>
                </a:solidFill>
                <a:latin typeface="Calibri" panose="020F0502020204030204" pitchFamily="34" charset="0"/>
                <a:ea typeface="宋体" panose="02010600030101010101" pitchFamily="2" charset="-122"/>
              </a:defRPr>
            </a:lvl3pPr>
            <a:lvl4pPr marL="1600200" indent="-228600" defTabSz="911225">
              <a:defRPr>
                <a:solidFill>
                  <a:schemeClr val="tx1"/>
                </a:solidFill>
                <a:latin typeface="Calibri" panose="020F0502020204030204" pitchFamily="34" charset="0"/>
                <a:ea typeface="宋体" panose="02010600030101010101" pitchFamily="2" charset="-122"/>
              </a:defRPr>
            </a:lvl4pPr>
            <a:lvl5pPr marL="2057400" indent="-228600" defTabSz="911225">
              <a:defRPr>
                <a:solidFill>
                  <a:schemeClr val="tx1"/>
                </a:solidFill>
                <a:latin typeface="Calibri" panose="020F0502020204030204" pitchFamily="34" charset="0"/>
                <a:ea typeface="宋体" panose="02010600030101010101" pitchFamily="2" charset="-122"/>
              </a:defRPr>
            </a:lvl5pPr>
            <a:lvl6pPr marL="25146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spcBef>
                <a:spcPct val="20000"/>
              </a:spcBef>
            </a:pPr>
            <a:r>
              <a:rPr lang="en-US" altLang="zh-CN" dirty="0">
                <a:solidFill>
                  <a:srgbClr val="000000"/>
                </a:solidFill>
                <a:ea typeface="SimSun" panose="02010600030101010101" pitchFamily="2" charset="-122"/>
                <a:cs typeface="Calibri" panose="020F0502020204030204" pitchFamily="34" charset="0"/>
                <a:sym typeface="Arial" panose="020B0604020202020204" pitchFamily="34" charset="0"/>
              </a:rPr>
              <a:t>RT </a:t>
            </a:r>
            <a:r>
              <a:rPr lang="en-US" altLang="zh-CN" baseline="-25000" dirty="0">
                <a:solidFill>
                  <a:srgbClr val="000000"/>
                </a:solidFill>
                <a:ea typeface="SimSun" panose="02010600030101010101" pitchFamily="2" charset="-122"/>
                <a:cs typeface="Calibri" panose="020F0502020204030204" pitchFamily="34" charset="0"/>
                <a:sym typeface="Arial" panose="020B0604020202020204" pitchFamily="34" charset="0"/>
              </a:rPr>
              <a:t>agent search difference</a:t>
            </a:r>
            <a:br>
              <a:rPr lang="en-US" altLang="zh-CN" baseline="-25000" dirty="0">
                <a:solidFill>
                  <a:srgbClr val="000000"/>
                </a:solidFill>
                <a:ea typeface="SimSun" panose="02010600030101010101" pitchFamily="2" charset="-122"/>
                <a:cs typeface="Calibri" panose="020F0502020204030204" pitchFamily="34" charset="0"/>
                <a:sym typeface="Arial" panose="020B0604020202020204" pitchFamily="34" charset="0"/>
              </a:rPr>
            </a:br>
            <a:r>
              <a:rPr lang="en-US" altLang="zh-CN" baseline="-25000" dirty="0">
                <a:solidFill>
                  <a:srgbClr val="000000"/>
                </a:solidFill>
                <a:ea typeface="SimSun" panose="02010600030101010101" pitchFamily="2" charset="-122"/>
                <a:cs typeface="Calibri" panose="020F0502020204030204" pitchFamily="34" charset="0"/>
                <a:sym typeface="Arial" panose="020B0604020202020204" pitchFamily="34" charset="0"/>
              </a:rPr>
              <a:t>(agent – RT patient)</a:t>
            </a:r>
            <a:endParaRPr lang="en-US" baseline="-25000" dirty="0">
              <a:solidFill>
                <a:srgbClr val="000000"/>
              </a:solidFill>
              <a:ea typeface="SimSun" panose="02010600030101010101" pitchFamily="2" charset="-122"/>
              <a:cs typeface="Calibri" panose="020F0502020204030204" pitchFamily="34" charset="0"/>
              <a:sym typeface="Arial" panose="020B0604020202020204" pitchFamily="34" charset="0"/>
            </a:endParaRPr>
          </a:p>
        </p:txBody>
      </p:sp>
      <p:sp>
        <p:nvSpPr>
          <p:cNvPr id="14" name="TextBox 13">
            <a:extLst>
              <a:ext uri="{FF2B5EF4-FFF2-40B4-BE49-F238E27FC236}">
                <a16:creationId xmlns:a16="http://schemas.microsoft.com/office/drawing/2014/main" id="{E3068EC5-2A20-2907-5551-AED8D32D6AA7}"/>
              </a:ext>
            </a:extLst>
          </p:cNvPr>
          <p:cNvSpPr txBox="1">
            <a:spLocks noChangeArrowheads="1"/>
          </p:cNvSpPr>
          <p:nvPr/>
        </p:nvSpPr>
        <p:spPr bwMode="auto">
          <a:xfrm>
            <a:off x="5196287" y="3462666"/>
            <a:ext cx="213076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911225">
              <a:defRPr>
                <a:solidFill>
                  <a:schemeClr val="tx1"/>
                </a:solidFill>
                <a:latin typeface="Calibri" panose="020F0502020204030204" pitchFamily="34" charset="0"/>
                <a:ea typeface="宋体" panose="02010600030101010101" pitchFamily="2" charset="-122"/>
              </a:defRPr>
            </a:lvl1pPr>
            <a:lvl2pPr marL="742950" indent="-285750" defTabSz="911225">
              <a:defRPr>
                <a:solidFill>
                  <a:schemeClr val="tx1"/>
                </a:solidFill>
                <a:latin typeface="Calibri" panose="020F0502020204030204" pitchFamily="34" charset="0"/>
                <a:ea typeface="宋体" panose="02010600030101010101" pitchFamily="2" charset="-122"/>
              </a:defRPr>
            </a:lvl2pPr>
            <a:lvl3pPr marL="1143000" indent="-228600" defTabSz="911225">
              <a:defRPr>
                <a:solidFill>
                  <a:schemeClr val="tx1"/>
                </a:solidFill>
                <a:latin typeface="Calibri" panose="020F0502020204030204" pitchFamily="34" charset="0"/>
                <a:ea typeface="宋体" panose="02010600030101010101" pitchFamily="2" charset="-122"/>
              </a:defRPr>
            </a:lvl3pPr>
            <a:lvl4pPr marL="1600200" indent="-228600" defTabSz="911225">
              <a:defRPr>
                <a:solidFill>
                  <a:schemeClr val="tx1"/>
                </a:solidFill>
                <a:latin typeface="Calibri" panose="020F0502020204030204" pitchFamily="34" charset="0"/>
                <a:ea typeface="宋体" panose="02010600030101010101" pitchFamily="2" charset="-122"/>
              </a:defRPr>
            </a:lvl4pPr>
            <a:lvl5pPr marL="2057400" indent="-228600" defTabSz="911225">
              <a:defRPr>
                <a:solidFill>
                  <a:schemeClr val="tx1"/>
                </a:solidFill>
                <a:latin typeface="Calibri" panose="020F0502020204030204" pitchFamily="34" charset="0"/>
                <a:ea typeface="宋体" panose="02010600030101010101" pitchFamily="2" charset="-122"/>
              </a:defRPr>
            </a:lvl5pPr>
            <a:lvl6pPr marL="25146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spcBef>
                <a:spcPct val="20000"/>
              </a:spcBef>
            </a:pPr>
            <a:r>
              <a:rPr lang="en-US" altLang="zh-CN" dirty="0">
                <a:solidFill>
                  <a:srgbClr val="000000"/>
                </a:solidFill>
                <a:ea typeface="SimSun" panose="02010600030101010101" pitchFamily="2" charset="-122"/>
                <a:cs typeface="Calibri" panose="020F0502020204030204" pitchFamily="34" charset="0"/>
                <a:sym typeface="Arial" panose="020B0604020202020204" pitchFamily="34" charset="0"/>
              </a:rPr>
              <a:t>RT </a:t>
            </a:r>
            <a:r>
              <a:rPr lang="en-US" altLang="zh-CN" baseline="-25000" dirty="0">
                <a:solidFill>
                  <a:srgbClr val="000000"/>
                </a:solidFill>
                <a:ea typeface="SimSun" panose="02010600030101010101" pitchFamily="2" charset="-122"/>
                <a:cs typeface="Calibri" panose="020F0502020204030204" pitchFamily="34" charset="0"/>
                <a:sym typeface="Arial" panose="020B0604020202020204" pitchFamily="34" charset="0"/>
              </a:rPr>
              <a:t>patient search difference</a:t>
            </a:r>
            <a:br>
              <a:rPr lang="en-US" altLang="zh-CN" baseline="-25000" dirty="0">
                <a:solidFill>
                  <a:srgbClr val="000000"/>
                </a:solidFill>
                <a:ea typeface="SimSun" panose="02010600030101010101" pitchFamily="2" charset="-122"/>
                <a:cs typeface="Calibri" panose="020F0502020204030204" pitchFamily="34" charset="0"/>
                <a:sym typeface="Arial" panose="020B0604020202020204" pitchFamily="34" charset="0"/>
              </a:rPr>
            </a:br>
            <a:r>
              <a:rPr lang="en-US" altLang="zh-CN" baseline="-25000" dirty="0">
                <a:solidFill>
                  <a:srgbClr val="000000"/>
                </a:solidFill>
                <a:ea typeface="SimSun" panose="02010600030101010101" pitchFamily="2" charset="-122"/>
                <a:cs typeface="Calibri" panose="020F0502020204030204" pitchFamily="34" charset="0"/>
                <a:sym typeface="Arial" panose="020B0604020202020204" pitchFamily="34" charset="0"/>
              </a:rPr>
              <a:t>(agent – RT patient)</a:t>
            </a:r>
            <a:endParaRPr lang="en-US" baseline="-25000" dirty="0">
              <a:solidFill>
                <a:srgbClr val="000000"/>
              </a:solidFill>
              <a:ea typeface="SimSun" panose="02010600030101010101" pitchFamily="2" charset="-122"/>
              <a:cs typeface="Calibri" panose="020F0502020204030204" pitchFamily="34" charset="0"/>
              <a:sym typeface="Arial" panose="020B0604020202020204" pitchFamily="34" charset="0"/>
            </a:endParaRPr>
          </a:p>
        </p:txBody>
      </p:sp>
      <p:sp>
        <p:nvSpPr>
          <p:cNvPr id="15" name="TextBox 14">
            <a:extLst>
              <a:ext uri="{FF2B5EF4-FFF2-40B4-BE49-F238E27FC236}">
                <a16:creationId xmlns:a16="http://schemas.microsoft.com/office/drawing/2014/main" id="{B338EC70-F31D-DF0F-6A9C-D31BE40BF4C0}"/>
              </a:ext>
            </a:extLst>
          </p:cNvPr>
          <p:cNvSpPr txBox="1"/>
          <p:nvPr/>
        </p:nvSpPr>
        <p:spPr>
          <a:xfrm>
            <a:off x="5097030" y="2913558"/>
            <a:ext cx="1999120" cy="369332"/>
          </a:xfrm>
          <a:prstGeom prst="rect">
            <a:avLst/>
          </a:prstGeom>
          <a:noFill/>
        </p:spPr>
        <p:txBody>
          <a:bodyPr wrap="square" rtlCol="0">
            <a:spAutoFit/>
          </a:bodyPr>
          <a:lstStyle/>
          <a:p>
            <a:pPr defTabSz="911225">
              <a:spcBef>
                <a:spcPct val="20000"/>
              </a:spcBef>
            </a:pPr>
            <a:r>
              <a:rPr lang="en-US" altLang="zh-CN" dirty="0">
                <a:solidFill>
                  <a:srgbClr val="000000"/>
                </a:solidFill>
                <a:latin typeface="Calibri" panose="020F0502020204030204" pitchFamily="34" charset="0"/>
                <a:ea typeface="SimSun" panose="02010600030101010101" pitchFamily="2" charset="-122"/>
                <a:cs typeface="Calibri" panose="020F0502020204030204" pitchFamily="34" charset="0"/>
                <a:sym typeface="Arial" panose="020B0604020202020204" pitchFamily="34" charset="0"/>
              </a:rPr>
              <a:t>RT </a:t>
            </a:r>
            <a:r>
              <a:rPr lang="en-US" altLang="zh-CN" baseline="-25000" dirty="0">
                <a:solidFill>
                  <a:srgbClr val="000000"/>
                </a:solidFill>
                <a:latin typeface="Calibri" panose="020F0502020204030204" pitchFamily="34" charset="0"/>
                <a:ea typeface="SimSun" panose="02010600030101010101" pitchFamily="2" charset="-122"/>
                <a:cs typeface="Calibri" panose="020F0502020204030204" pitchFamily="34" charset="0"/>
                <a:sym typeface="Arial" panose="020B0604020202020204" pitchFamily="34" charset="0"/>
              </a:rPr>
              <a:t>patient preview</a:t>
            </a:r>
            <a:endParaRPr lang="en-US" baseline="-25000" dirty="0">
              <a:solidFill>
                <a:srgbClr val="000000"/>
              </a:solidFill>
              <a:latin typeface="Calibri" panose="020F0502020204030204" pitchFamily="34" charset="0"/>
              <a:ea typeface="SimSun" panose="02010600030101010101" pitchFamily="2" charset="-122"/>
              <a:cs typeface="Calibri" panose="020F0502020204030204" pitchFamily="34" charset="0"/>
            </a:endParaRPr>
          </a:p>
        </p:txBody>
      </p:sp>
      <p:sp>
        <p:nvSpPr>
          <p:cNvPr id="16" name="TextBox 15">
            <a:extLst>
              <a:ext uri="{FF2B5EF4-FFF2-40B4-BE49-F238E27FC236}">
                <a16:creationId xmlns:a16="http://schemas.microsoft.com/office/drawing/2014/main" id="{CD293C5C-EC9A-E0D9-542E-A3B48A079A0B}"/>
              </a:ext>
            </a:extLst>
          </p:cNvPr>
          <p:cNvSpPr txBox="1"/>
          <p:nvPr/>
        </p:nvSpPr>
        <p:spPr>
          <a:xfrm>
            <a:off x="4375216" y="2982857"/>
            <a:ext cx="191401" cy="369332"/>
          </a:xfrm>
          <a:prstGeom prst="rect">
            <a:avLst/>
          </a:prstGeom>
          <a:noFill/>
        </p:spPr>
        <p:txBody>
          <a:bodyPr wrap="square" rtlCol="0">
            <a:spAutoFit/>
          </a:bodyPr>
          <a:lstStyle/>
          <a:p>
            <a:r>
              <a:rPr lang="zh-CN" altLang="en-US" sz="1800" dirty="0">
                <a:solidFill>
                  <a:srgbClr val="000000"/>
                </a:solidFill>
                <a:ea typeface="SimSun" panose="02010600030101010101" pitchFamily="2" charset="-122"/>
                <a:cs typeface="Calibri" panose="020F0502020204030204" pitchFamily="34" charset="0"/>
                <a:sym typeface="Arial" panose="020B0604020202020204" pitchFamily="34" charset="0"/>
              </a:rPr>
              <a:t>≈</a:t>
            </a:r>
            <a:endParaRPr lang="en-US" dirty="0" err="1">
              <a:solidFill>
                <a:schemeClr val="tx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7" name="TextBox 16">
            <a:extLst>
              <a:ext uri="{FF2B5EF4-FFF2-40B4-BE49-F238E27FC236}">
                <a16:creationId xmlns:a16="http://schemas.microsoft.com/office/drawing/2014/main" id="{4ACCF7F7-D2F7-115A-89EE-0144D0950B98}"/>
              </a:ext>
            </a:extLst>
          </p:cNvPr>
          <p:cNvSpPr txBox="1"/>
          <p:nvPr/>
        </p:nvSpPr>
        <p:spPr>
          <a:xfrm>
            <a:off x="4380377" y="3483763"/>
            <a:ext cx="191401" cy="369332"/>
          </a:xfrm>
          <a:prstGeom prst="rect">
            <a:avLst/>
          </a:prstGeom>
          <a:noFill/>
        </p:spPr>
        <p:txBody>
          <a:bodyPr wrap="square" rtlCol="0">
            <a:spAutoFit/>
          </a:bodyPr>
          <a:lstStyle/>
          <a:p>
            <a:r>
              <a:rPr lang="en-US" dirty="0">
                <a:solidFill>
                  <a:srgbClr val="000000"/>
                </a:solidFill>
                <a:latin typeface="Calibri" panose="020F0502020204030204" pitchFamily="34" charset="0"/>
                <a:ea typeface="SimSun" panose="02010600030101010101" pitchFamily="2" charset="-122"/>
                <a:cs typeface="Calibri" panose="020F0502020204030204" pitchFamily="34" charset="0"/>
                <a:sym typeface="Arial" panose="020B0604020202020204" pitchFamily="34" charset="0"/>
              </a:rPr>
              <a:t>&lt;</a:t>
            </a:r>
            <a:endParaRPr lang="en-US" dirty="0" err="1">
              <a:solidFill>
                <a:schemeClr val="tx2"/>
              </a:solidFill>
              <a:latin typeface="Calibri" panose="020F0502020204030204" pitchFamily="34" charset="0"/>
              <a:ea typeface="Open Sans" panose="020B0606030504020204" pitchFamily="34" charset="0"/>
              <a:cs typeface="Calibri" panose="020F0502020204030204" pitchFamily="34" charset="0"/>
            </a:endParaRPr>
          </a:p>
        </p:txBody>
      </p:sp>
      <p:cxnSp>
        <p:nvCxnSpPr>
          <p:cNvPr id="18" name="Straight Arrow Connector 17">
            <a:extLst>
              <a:ext uri="{FF2B5EF4-FFF2-40B4-BE49-F238E27FC236}">
                <a16:creationId xmlns:a16="http://schemas.microsoft.com/office/drawing/2014/main" id="{91163B14-E61C-9312-DF73-EE2219EE6EF9}"/>
              </a:ext>
            </a:extLst>
          </p:cNvPr>
          <p:cNvCxnSpPr>
            <a:stCxn id="6" idx="0"/>
            <a:endCxn id="8" idx="2"/>
          </p:cNvCxnSpPr>
          <p:nvPr/>
        </p:nvCxnSpPr>
        <p:spPr>
          <a:xfrm flipV="1">
            <a:off x="2037785" y="1839523"/>
            <a:ext cx="2180107" cy="37977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19" name="Straight Arrow Connector 18">
            <a:extLst>
              <a:ext uri="{FF2B5EF4-FFF2-40B4-BE49-F238E27FC236}">
                <a16:creationId xmlns:a16="http://schemas.microsoft.com/office/drawing/2014/main" id="{7712567B-C7A6-1FCF-2947-5716CFFB0D74}"/>
              </a:ext>
            </a:extLst>
          </p:cNvPr>
          <p:cNvCxnSpPr>
            <a:stCxn id="9" idx="0"/>
            <a:endCxn id="8" idx="2"/>
          </p:cNvCxnSpPr>
          <p:nvPr/>
        </p:nvCxnSpPr>
        <p:spPr>
          <a:xfrm flipH="1" flipV="1">
            <a:off x="4217892" y="1839523"/>
            <a:ext cx="2102170" cy="320745"/>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20" name="Straight Arrow Connector 19">
            <a:extLst>
              <a:ext uri="{FF2B5EF4-FFF2-40B4-BE49-F238E27FC236}">
                <a16:creationId xmlns:a16="http://schemas.microsoft.com/office/drawing/2014/main" id="{78ED7668-71FA-2D16-1C62-95AC20B9CD40}"/>
              </a:ext>
            </a:extLst>
          </p:cNvPr>
          <p:cNvCxnSpPr>
            <a:stCxn id="7" idx="0"/>
            <a:endCxn id="8" idx="2"/>
          </p:cNvCxnSpPr>
          <p:nvPr/>
        </p:nvCxnSpPr>
        <p:spPr>
          <a:xfrm flipV="1">
            <a:off x="4180336" y="1839523"/>
            <a:ext cx="37556" cy="363351"/>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sp>
        <p:nvSpPr>
          <p:cNvPr id="21" name="Rectangle 20">
            <a:extLst>
              <a:ext uri="{FF2B5EF4-FFF2-40B4-BE49-F238E27FC236}">
                <a16:creationId xmlns:a16="http://schemas.microsoft.com/office/drawing/2014/main" id="{130C448F-EC91-CC16-341C-EDC80640DF24}"/>
              </a:ext>
            </a:extLst>
          </p:cNvPr>
          <p:cNvSpPr/>
          <p:nvPr/>
        </p:nvSpPr>
        <p:spPr>
          <a:xfrm>
            <a:off x="424206" y="4477509"/>
            <a:ext cx="1441447" cy="1246487"/>
          </a:xfrm>
          <a:prstGeom prst="rect">
            <a:avLst/>
          </a:prstGeom>
          <a:noFill/>
          <a:ln>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err="1">
              <a:latin typeface="Open Sans" panose="020B0606030504020204" pitchFamily="34" charset="0"/>
              <a:ea typeface="Open Sans" panose="020B0606030504020204" pitchFamily="34" charset="0"/>
              <a:cs typeface="Open Sans" panose="020B0606030504020204" pitchFamily="34" charset="0"/>
            </a:endParaRPr>
          </a:p>
        </p:txBody>
      </p:sp>
      <p:sp>
        <p:nvSpPr>
          <p:cNvPr id="22" name="TextBox 13">
            <a:extLst>
              <a:ext uri="{FF2B5EF4-FFF2-40B4-BE49-F238E27FC236}">
                <a16:creationId xmlns:a16="http://schemas.microsoft.com/office/drawing/2014/main" id="{D02767C2-B252-EC94-626C-81781306D3F3}"/>
              </a:ext>
            </a:extLst>
          </p:cNvPr>
          <p:cNvSpPr txBox="1">
            <a:spLocks noChangeArrowheads="1"/>
          </p:cNvSpPr>
          <p:nvPr/>
        </p:nvSpPr>
        <p:spPr bwMode="auto">
          <a:xfrm>
            <a:off x="547833" y="4538869"/>
            <a:ext cx="1472309"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911225">
              <a:defRPr>
                <a:solidFill>
                  <a:schemeClr val="tx1"/>
                </a:solidFill>
                <a:latin typeface="Calibri" panose="020F0502020204030204" pitchFamily="34" charset="0"/>
                <a:ea typeface="宋体" panose="02010600030101010101" pitchFamily="2" charset="-122"/>
              </a:defRPr>
            </a:lvl1pPr>
            <a:lvl2pPr marL="742950" indent="-285750" defTabSz="911225">
              <a:defRPr>
                <a:solidFill>
                  <a:schemeClr val="tx1"/>
                </a:solidFill>
                <a:latin typeface="Calibri" panose="020F0502020204030204" pitchFamily="34" charset="0"/>
                <a:ea typeface="宋体" panose="02010600030101010101" pitchFamily="2" charset="-122"/>
              </a:defRPr>
            </a:lvl2pPr>
            <a:lvl3pPr marL="1143000" indent="-228600" defTabSz="911225">
              <a:defRPr>
                <a:solidFill>
                  <a:schemeClr val="tx1"/>
                </a:solidFill>
                <a:latin typeface="Calibri" panose="020F0502020204030204" pitchFamily="34" charset="0"/>
                <a:ea typeface="宋体" panose="02010600030101010101" pitchFamily="2" charset="-122"/>
              </a:defRPr>
            </a:lvl3pPr>
            <a:lvl4pPr marL="1600200" indent="-228600" defTabSz="911225">
              <a:defRPr>
                <a:solidFill>
                  <a:schemeClr val="tx1"/>
                </a:solidFill>
                <a:latin typeface="Calibri" panose="020F0502020204030204" pitchFamily="34" charset="0"/>
                <a:ea typeface="宋体" panose="02010600030101010101" pitchFamily="2" charset="-122"/>
              </a:defRPr>
            </a:lvl4pPr>
            <a:lvl5pPr marL="2057400" indent="-228600" defTabSz="911225">
              <a:defRPr>
                <a:solidFill>
                  <a:schemeClr val="tx1"/>
                </a:solidFill>
                <a:latin typeface="Calibri" panose="020F0502020204030204" pitchFamily="34" charset="0"/>
                <a:ea typeface="宋体" panose="02010600030101010101" pitchFamily="2" charset="-122"/>
              </a:defRPr>
            </a:lvl5pPr>
            <a:lvl6pPr marL="25146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spcBef>
                <a:spcPct val="20000"/>
              </a:spcBef>
            </a:pPr>
            <a:r>
              <a:rPr lang="en-US" altLang="zh-CN" sz="1400" b="1" dirty="0">
                <a:latin typeface="Times New Roman" panose="02020603050405020304" pitchFamily="18" charset="0"/>
                <a:cs typeface="Arial" panose="020B0604020202020204" pitchFamily="34" charset="0"/>
                <a:sym typeface="Arial" panose="020B0604020202020204" pitchFamily="34" charset="0"/>
              </a:rPr>
              <a:t>Preview Object:</a:t>
            </a:r>
            <a:endParaRPr lang="en-US" sz="1400" b="1" dirty="0">
              <a:ea typeface="微软雅黑" panose="020B0503020204020204" pitchFamily="34" charset="-122"/>
              <a:cs typeface="Calibri" panose="020F0502020204030204" pitchFamily="34" charset="0"/>
              <a:sym typeface="Arial" panose="020B0604020202020204" pitchFamily="34" charset="0"/>
            </a:endParaRPr>
          </a:p>
        </p:txBody>
      </p:sp>
      <p:sp>
        <p:nvSpPr>
          <p:cNvPr id="23" name="TextBox 13">
            <a:extLst>
              <a:ext uri="{FF2B5EF4-FFF2-40B4-BE49-F238E27FC236}">
                <a16:creationId xmlns:a16="http://schemas.microsoft.com/office/drawing/2014/main" id="{E5D1F947-3166-E526-EC4F-2D4ACF9CDCF1}"/>
              </a:ext>
            </a:extLst>
          </p:cNvPr>
          <p:cNvSpPr txBox="1">
            <a:spLocks noChangeArrowheads="1"/>
          </p:cNvSpPr>
          <p:nvPr/>
        </p:nvSpPr>
        <p:spPr bwMode="auto">
          <a:xfrm>
            <a:off x="547833" y="4929394"/>
            <a:ext cx="1472309"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911225">
              <a:defRPr>
                <a:solidFill>
                  <a:schemeClr val="tx1"/>
                </a:solidFill>
                <a:latin typeface="Calibri" panose="020F0502020204030204" pitchFamily="34" charset="0"/>
                <a:ea typeface="宋体" panose="02010600030101010101" pitchFamily="2" charset="-122"/>
              </a:defRPr>
            </a:lvl1pPr>
            <a:lvl2pPr marL="742950" indent="-285750" defTabSz="911225">
              <a:defRPr>
                <a:solidFill>
                  <a:schemeClr val="tx1"/>
                </a:solidFill>
                <a:latin typeface="Calibri" panose="020F0502020204030204" pitchFamily="34" charset="0"/>
                <a:ea typeface="宋体" panose="02010600030101010101" pitchFamily="2" charset="-122"/>
              </a:defRPr>
            </a:lvl2pPr>
            <a:lvl3pPr marL="1143000" indent="-228600" defTabSz="911225">
              <a:defRPr>
                <a:solidFill>
                  <a:schemeClr val="tx1"/>
                </a:solidFill>
                <a:latin typeface="Calibri" panose="020F0502020204030204" pitchFamily="34" charset="0"/>
                <a:ea typeface="宋体" panose="02010600030101010101" pitchFamily="2" charset="-122"/>
              </a:defRPr>
            </a:lvl3pPr>
            <a:lvl4pPr marL="1600200" indent="-228600" defTabSz="911225">
              <a:defRPr>
                <a:solidFill>
                  <a:schemeClr val="tx1"/>
                </a:solidFill>
                <a:latin typeface="Calibri" panose="020F0502020204030204" pitchFamily="34" charset="0"/>
                <a:ea typeface="宋体" panose="02010600030101010101" pitchFamily="2" charset="-122"/>
              </a:defRPr>
            </a:lvl4pPr>
            <a:lvl5pPr marL="2057400" indent="-228600" defTabSz="911225">
              <a:defRPr>
                <a:solidFill>
                  <a:schemeClr val="tx1"/>
                </a:solidFill>
                <a:latin typeface="Calibri" panose="020F0502020204030204" pitchFamily="34" charset="0"/>
                <a:ea typeface="宋体" panose="02010600030101010101" pitchFamily="2" charset="-122"/>
              </a:defRPr>
            </a:lvl5pPr>
            <a:lvl6pPr marL="25146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spcBef>
                <a:spcPct val="20000"/>
              </a:spcBef>
            </a:pPr>
            <a:r>
              <a:rPr lang="en-US" sz="1400" b="1" dirty="0">
                <a:latin typeface="Times New Roman" panose="02020603050405020304" pitchFamily="18" charset="0"/>
                <a:ea typeface="微软雅黑" panose="020B0503020204020204" pitchFamily="34" charset="-122"/>
                <a:cs typeface="Arial" panose="020B0604020202020204" pitchFamily="34" charset="0"/>
                <a:sym typeface="Arial" panose="020B0604020202020204" pitchFamily="34" charset="0"/>
              </a:rPr>
              <a:t>a: agent</a:t>
            </a:r>
            <a:br>
              <a:rPr lang="en-US" sz="1400" b="1" dirty="0">
                <a:latin typeface="Times New Roman" panose="02020603050405020304" pitchFamily="18" charset="0"/>
                <a:ea typeface="微软雅黑" panose="020B0503020204020204" pitchFamily="34" charset="-122"/>
                <a:cs typeface="Arial" panose="020B0604020202020204" pitchFamily="34" charset="0"/>
                <a:sym typeface="Arial" panose="020B0604020202020204" pitchFamily="34" charset="0"/>
              </a:rPr>
            </a:br>
            <a:br>
              <a:rPr lang="en-US" sz="1400" b="1" dirty="0">
                <a:latin typeface="Times New Roman" panose="02020603050405020304" pitchFamily="18" charset="0"/>
                <a:ea typeface="微软雅黑" panose="020B0503020204020204" pitchFamily="34" charset="-122"/>
                <a:cs typeface="Arial" panose="020B0604020202020204" pitchFamily="34" charset="0"/>
                <a:sym typeface="Arial" panose="020B0604020202020204" pitchFamily="34" charset="0"/>
              </a:rPr>
            </a:br>
            <a:r>
              <a:rPr lang="en-US" sz="1400" b="1" dirty="0">
                <a:latin typeface="Times New Roman" panose="02020603050405020304" pitchFamily="18" charset="0"/>
                <a:ea typeface="微软雅黑" panose="020B0503020204020204" pitchFamily="34" charset="-122"/>
                <a:cs typeface="Arial" panose="020B0604020202020204" pitchFamily="34" charset="0"/>
                <a:sym typeface="Arial" panose="020B0604020202020204" pitchFamily="34" charset="0"/>
              </a:rPr>
              <a:t>p: patient</a:t>
            </a:r>
            <a:endParaRPr lang="en-US" sz="1400" b="1" dirty="0">
              <a:ea typeface="微软雅黑" panose="020B0503020204020204" pitchFamily="34" charset="-122"/>
              <a:cs typeface="Calibri" panose="020F0502020204030204" pitchFamily="34" charset="0"/>
              <a:sym typeface="Arial" panose="020B0604020202020204" pitchFamily="34" charset="0"/>
            </a:endParaRPr>
          </a:p>
        </p:txBody>
      </p:sp>
      <p:cxnSp>
        <p:nvCxnSpPr>
          <p:cNvPr id="24" name="Connector: Elbow 23">
            <a:extLst>
              <a:ext uri="{FF2B5EF4-FFF2-40B4-BE49-F238E27FC236}">
                <a16:creationId xmlns:a16="http://schemas.microsoft.com/office/drawing/2014/main" id="{1C6B20CD-9C1F-2AE7-CDBD-9EC860B58858}"/>
              </a:ext>
            </a:extLst>
          </p:cNvPr>
          <p:cNvCxnSpPr>
            <a:cxnSpLocks/>
          </p:cNvCxnSpPr>
          <p:nvPr/>
        </p:nvCxnSpPr>
        <p:spPr>
          <a:xfrm>
            <a:off x="2650602" y="4303281"/>
            <a:ext cx="1677134" cy="1443391"/>
          </a:xfrm>
          <a:prstGeom prst="bentConnector3">
            <a:avLst>
              <a:gd name="adj1" fmla="val -230"/>
            </a:avLst>
          </a:prstGeom>
          <a:ln w="19050">
            <a:solidFill>
              <a:srgbClr val="000000"/>
            </a:solidFill>
            <a:headEnd type="triangle"/>
            <a:tailEnd type="triangle"/>
          </a:ln>
          <a:effectLst/>
        </p:spPr>
        <p:style>
          <a:lnRef idx="2">
            <a:schemeClr val="accent1"/>
          </a:lnRef>
          <a:fillRef idx="0">
            <a:schemeClr val="accent1"/>
          </a:fillRef>
          <a:effectRef idx="1">
            <a:schemeClr val="accent1"/>
          </a:effectRef>
          <a:fontRef idx="minor">
            <a:schemeClr val="tx1"/>
          </a:fontRef>
        </p:style>
      </p:cxnSp>
      <p:sp>
        <p:nvSpPr>
          <p:cNvPr id="25" name="TextBox 13">
            <a:extLst>
              <a:ext uri="{FF2B5EF4-FFF2-40B4-BE49-F238E27FC236}">
                <a16:creationId xmlns:a16="http://schemas.microsoft.com/office/drawing/2014/main" id="{46D9F170-1FD1-15C1-DF3B-D7F63B8CF521}"/>
              </a:ext>
            </a:extLst>
          </p:cNvPr>
          <p:cNvSpPr txBox="1">
            <a:spLocks noChangeArrowheads="1"/>
          </p:cNvSpPr>
          <p:nvPr/>
        </p:nvSpPr>
        <p:spPr bwMode="auto">
          <a:xfrm>
            <a:off x="2809378" y="4104393"/>
            <a:ext cx="1570999"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911225">
              <a:defRPr>
                <a:solidFill>
                  <a:schemeClr val="tx1"/>
                </a:solidFill>
                <a:latin typeface="Calibri" panose="020F0502020204030204" pitchFamily="34" charset="0"/>
                <a:ea typeface="宋体" panose="02010600030101010101" pitchFamily="2" charset="-122"/>
              </a:defRPr>
            </a:lvl1pPr>
            <a:lvl2pPr marL="742950" indent="-285750" defTabSz="911225">
              <a:defRPr>
                <a:solidFill>
                  <a:schemeClr val="tx1"/>
                </a:solidFill>
                <a:latin typeface="Calibri" panose="020F0502020204030204" pitchFamily="34" charset="0"/>
                <a:ea typeface="宋体" panose="02010600030101010101" pitchFamily="2" charset="-122"/>
              </a:defRPr>
            </a:lvl2pPr>
            <a:lvl3pPr marL="1143000" indent="-228600" defTabSz="911225">
              <a:defRPr>
                <a:solidFill>
                  <a:schemeClr val="tx1"/>
                </a:solidFill>
                <a:latin typeface="Calibri" panose="020F0502020204030204" pitchFamily="34" charset="0"/>
                <a:ea typeface="宋体" panose="02010600030101010101" pitchFamily="2" charset="-122"/>
              </a:defRPr>
            </a:lvl3pPr>
            <a:lvl4pPr marL="1600200" indent="-228600" defTabSz="911225">
              <a:defRPr>
                <a:solidFill>
                  <a:schemeClr val="tx1"/>
                </a:solidFill>
                <a:latin typeface="Calibri" panose="020F0502020204030204" pitchFamily="34" charset="0"/>
                <a:ea typeface="宋体" panose="02010600030101010101" pitchFamily="2" charset="-122"/>
              </a:defRPr>
            </a:lvl4pPr>
            <a:lvl5pPr marL="2057400" indent="-228600" defTabSz="911225">
              <a:defRPr>
                <a:solidFill>
                  <a:schemeClr val="tx1"/>
                </a:solidFill>
                <a:latin typeface="Calibri" panose="020F0502020204030204" pitchFamily="34" charset="0"/>
                <a:ea typeface="宋体" panose="02010600030101010101" pitchFamily="2" charset="-122"/>
              </a:defRPr>
            </a:lvl5pPr>
            <a:lvl6pPr marL="25146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spcBef>
                <a:spcPct val="20000"/>
              </a:spcBef>
            </a:pPr>
            <a:r>
              <a:rPr lang="en-US" altLang="zh-CN" sz="1400" b="1" dirty="0">
                <a:latin typeface="Times New Roman" panose="02020603050405020304" pitchFamily="18" charset="0"/>
                <a:cs typeface="Arial" panose="020B0604020202020204" pitchFamily="34" charset="0"/>
                <a:sym typeface="Arial" panose="020B0604020202020204" pitchFamily="34" charset="0"/>
              </a:rPr>
              <a:t>Without Preview</a:t>
            </a:r>
            <a:endParaRPr lang="en-US" sz="1400" b="1" dirty="0">
              <a:ea typeface="微软雅黑" panose="020B0503020204020204" pitchFamily="34" charset="-122"/>
              <a:cs typeface="Calibri" panose="020F0502020204030204" pitchFamily="34" charset="0"/>
              <a:sym typeface="Arial" panose="020B0604020202020204" pitchFamily="34" charset="0"/>
            </a:endParaRPr>
          </a:p>
        </p:txBody>
      </p:sp>
      <p:sp>
        <p:nvSpPr>
          <p:cNvPr id="26" name="TextBox 13">
            <a:extLst>
              <a:ext uri="{FF2B5EF4-FFF2-40B4-BE49-F238E27FC236}">
                <a16:creationId xmlns:a16="http://schemas.microsoft.com/office/drawing/2014/main" id="{89113DFA-C982-B143-15BF-785E97D4754D}"/>
              </a:ext>
            </a:extLst>
          </p:cNvPr>
          <p:cNvSpPr txBox="1">
            <a:spLocks noChangeArrowheads="1"/>
          </p:cNvSpPr>
          <p:nvPr/>
        </p:nvSpPr>
        <p:spPr bwMode="auto">
          <a:xfrm>
            <a:off x="2848611" y="5843853"/>
            <a:ext cx="558092" cy="3673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911225">
              <a:defRPr>
                <a:solidFill>
                  <a:schemeClr val="tx1"/>
                </a:solidFill>
                <a:latin typeface="Calibri" panose="020F0502020204030204" pitchFamily="34" charset="0"/>
                <a:ea typeface="宋体" panose="02010600030101010101" pitchFamily="2" charset="-122"/>
              </a:defRPr>
            </a:lvl1pPr>
            <a:lvl2pPr marL="742950" indent="-285750" defTabSz="911225">
              <a:defRPr>
                <a:solidFill>
                  <a:schemeClr val="tx1"/>
                </a:solidFill>
                <a:latin typeface="Calibri" panose="020F0502020204030204" pitchFamily="34" charset="0"/>
                <a:ea typeface="宋体" panose="02010600030101010101" pitchFamily="2" charset="-122"/>
              </a:defRPr>
            </a:lvl2pPr>
            <a:lvl3pPr marL="1143000" indent="-228600" defTabSz="911225">
              <a:defRPr>
                <a:solidFill>
                  <a:schemeClr val="tx1"/>
                </a:solidFill>
                <a:latin typeface="Calibri" panose="020F0502020204030204" pitchFamily="34" charset="0"/>
                <a:ea typeface="宋体" panose="02010600030101010101" pitchFamily="2" charset="-122"/>
              </a:defRPr>
            </a:lvl3pPr>
            <a:lvl4pPr marL="1600200" indent="-228600" defTabSz="911225">
              <a:defRPr>
                <a:solidFill>
                  <a:schemeClr val="tx1"/>
                </a:solidFill>
                <a:latin typeface="Calibri" panose="020F0502020204030204" pitchFamily="34" charset="0"/>
                <a:ea typeface="宋体" panose="02010600030101010101" pitchFamily="2" charset="-122"/>
              </a:defRPr>
            </a:lvl4pPr>
            <a:lvl5pPr marL="2057400" indent="-228600" defTabSz="911225">
              <a:defRPr>
                <a:solidFill>
                  <a:schemeClr val="tx1"/>
                </a:solidFill>
                <a:latin typeface="Calibri" panose="020F0502020204030204" pitchFamily="34" charset="0"/>
                <a:ea typeface="宋体" panose="02010600030101010101" pitchFamily="2" charset="-122"/>
              </a:defRPr>
            </a:lvl5pPr>
            <a:lvl6pPr marL="25146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spcBef>
                <a:spcPct val="20000"/>
              </a:spcBef>
            </a:pPr>
            <a:r>
              <a:rPr lang="en-US" altLang="zh-CN" sz="1400" b="1" dirty="0">
                <a:latin typeface="Times New Roman" panose="02020603050405020304" pitchFamily="18" charset="0"/>
                <a:cs typeface="Arial" panose="020B0604020202020204" pitchFamily="34" charset="0"/>
                <a:sym typeface="Arial" panose="020B0604020202020204" pitchFamily="34" charset="0"/>
              </a:rPr>
              <a:t>Agent </a:t>
            </a:r>
            <a:br>
              <a:rPr lang="en-US" altLang="zh-CN" sz="1400" b="1" dirty="0">
                <a:latin typeface="Times New Roman" panose="02020603050405020304" pitchFamily="18" charset="0"/>
                <a:cs typeface="Arial" panose="020B0604020202020204" pitchFamily="34" charset="0"/>
                <a:sym typeface="Arial" panose="020B0604020202020204" pitchFamily="34" charset="0"/>
              </a:rPr>
            </a:br>
            <a:r>
              <a:rPr lang="en-US" altLang="zh-CN" sz="1400" b="1" dirty="0">
                <a:latin typeface="Times New Roman" panose="02020603050405020304" pitchFamily="18" charset="0"/>
                <a:cs typeface="Arial" panose="020B0604020202020204" pitchFamily="34" charset="0"/>
                <a:sym typeface="Arial" panose="020B0604020202020204" pitchFamily="34" charset="0"/>
              </a:rPr>
              <a:t>Search</a:t>
            </a:r>
            <a:endParaRPr lang="en-US" sz="1400" b="1" dirty="0">
              <a:ea typeface="微软雅黑" panose="020B0503020204020204" pitchFamily="34" charset="-122"/>
              <a:cs typeface="Calibri" panose="020F0502020204030204" pitchFamily="34" charset="0"/>
              <a:sym typeface="Arial" panose="020B0604020202020204" pitchFamily="34" charset="0"/>
            </a:endParaRPr>
          </a:p>
        </p:txBody>
      </p:sp>
      <p:sp>
        <p:nvSpPr>
          <p:cNvPr id="27" name="TextBox 13">
            <a:extLst>
              <a:ext uri="{FF2B5EF4-FFF2-40B4-BE49-F238E27FC236}">
                <a16:creationId xmlns:a16="http://schemas.microsoft.com/office/drawing/2014/main" id="{D37F6011-54FD-7E42-E430-213CA9440A69}"/>
              </a:ext>
            </a:extLst>
          </p:cNvPr>
          <p:cNvSpPr txBox="1">
            <a:spLocks noChangeArrowheads="1"/>
          </p:cNvSpPr>
          <p:nvPr/>
        </p:nvSpPr>
        <p:spPr bwMode="auto">
          <a:xfrm>
            <a:off x="3590930" y="5843853"/>
            <a:ext cx="558092" cy="3673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911225">
              <a:defRPr>
                <a:solidFill>
                  <a:schemeClr val="tx1"/>
                </a:solidFill>
                <a:latin typeface="Calibri" panose="020F0502020204030204" pitchFamily="34" charset="0"/>
                <a:ea typeface="宋体" panose="02010600030101010101" pitchFamily="2" charset="-122"/>
              </a:defRPr>
            </a:lvl1pPr>
            <a:lvl2pPr marL="742950" indent="-285750" defTabSz="911225">
              <a:defRPr>
                <a:solidFill>
                  <a:schemeClr val="tx1"/>
                </a:solidFill>
                <a:latin typeface="Calibri" panose="020F0502020204030204" pitchFamily="34" charset="0"/>
                <a:ea typeface="宋体" panose="02010600030101010101" pitchFamily="2" charset="-122"/>
              </a:defRPr>
            </a:lvl2pPr>
            <a:lvl3pPr marL="1143000" indent="-228600" defTabSz="911225">
              <a:defRPr>
                <a:solidFill>
                  <a:schemeClr val="tx1"/>
                </a:solidFill>
                <a:latin typeface="Calibri" panose="020F0502020204030204" pitchFamily="34" charset="0"/>
                <a:ea typeface="宋体" panose="02010600030101010101" pitchFamily="2" charset="-122"/>
              </a:defRPr>
            </a:lvl3pPr>
            <a:lvl4pPr marL="1600200" indent="-228600" defTabSz="911225">
              <a:defRPr>
                <a:solidFill>
                  <a:schemeClr val="tx1"/>
                </a:solidFill>
                <a:latin typeface="Calibri" panose="020F0502020204030204" pitchFamily="34" charset="0"/>
                <a:ea typeface="宋体" panose="02010600030101010101" pitchFamily="2" charset="-122"/>
              </a:defRPr>
            </a:lvl4pPr>
            <a:lvl5pPr marL="2057400" indent="-228600" defTabSz="911225">
              <a:defRPr>
                <a:solidFill>
                  <a:schemeClr val="tx1"/>
                </a:solidFill>
                <a:latin typeface="Calibri" panose="020F0502020204030204" pitchFamily="34" charset="0"/>
                <a:ea typeface="宋体" panose="02010600030101010101" pitchFamily="2" charset="-122"/>
              </a:defRPr>
            </a:lvl5pPr>
            <a:lvl6pPr marL="25146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spcBef>
                <a:spcPct val="20000"/>
              </a:spcBef>
            </a:pPr>
            <a:r>
              <a:rPr lang="en-US" altLang="zh-CN" sz="1400" b="1" dirty="0">
                <a:latin typeface="Times New Roman" panose="02020603050405020304" pitchFamily="18" charset="0"/>
                <a:cs typeface="Arial" panose="020B0604020202020204" pitchFamily="34" charset="0"/>
                <a:sym typeface="Arial" panose="020B0604020202020204" pitchFamily="34" charset="0"/>
              </a:rPr>
              <a:t>Patient Search</a:t>
            </a:r>
            <a:endParaRPr lang="en-US" sz="1400" b="1" dirty="0">
              <a:ea typeface="微软雅黑" panose="020B0503020204020204" pitchFamily="34" charset="-122"/>
              <a:cs typeface="Calibri" panose="020F0502020204030204" pitchFamily="34" charset="0"/>
              <a:sym typeface="Arial" panose="020B0604020202020204" pitchFamily="34" charset="0"/>
            </a:endParaRPr>
          </a:p>
        </p:txBody>
      </p:sp>
      <p:sp>
        <p:nvSpPr>
          <p:cNvPr id="28" name="TextBox 27">
            <a:extLst>
              <a:ext uri="{FF2B5EF4-FFF2-40B4-BE49-F238E27FC236}">
                <a16:creationId xmlns:a16="http://schemas.microsoft.com/office/drawing/2014/main" id="{0F194F22-69DA-0C23-499F-666941E00F8D}"/>
              </a:ext>
            </a:extLst>
          </p:cNvPr>
          <p:cNvSpPr txBox="1"/>
          <p:nvPr/>
        </p:nvSpPr>
        <p:spPr>
          <a:xfrm rot="10800000">
            <a:off x="2239081" y="4173771"/>
            <a:ext cx="400110" cy="1316842"/>
          </a:xfrm>
          <a:prstGeom prst="rect">
            <a:avLst/>
          </a:prstGeom>
          <a:noFill/>
        </p:spPr>
        <p:txBody>
          <a:bodyPr vert="eaVert" wrap="square" rtlCol="0">
            <a:spAutoFit/>
          </a:bodyPr>
          <a:lstStyle/>
          <a:p>
            <a:r>
              <a:rPr lang="en-US" sz="1400" b="1" dirty="0">
                <a:latin typeface="Times New Roman" panose="02020603050405020304" pitchFamily="18" charset="0"/>
                <a:ea typeface="宋体" panose="02010600030101010101" pitchFamily="2" charset="-122"/>
                <a:cs typeface="Arial" panose="020B0604020202020204" pitchFamily="34" charset="0"/>
              </a:rPr>
              <a:t>Reaction Time</a:t>
            </a:r>
          </a:p>
        </p:txBody>
      </p:sp>
      <p:sp>
        <p:nvSpPr>
          <p:cNvPr id="29" name="TextBox 13">
            <a:extLst>
              <a:ext uri="{FF2B5EF4-FFF2-40B4-BE49-F238E27FC236}">
                <a16:creationId xmlns:a16="http://schemas.microsoft.com/office/drawing/2014/main" id="{7E1CA9DB-C900-CC27-0407-8B5DC2151360}"/>
              </a:ext>
            </a:extLst>
          </p:cNvPr>
          <p:cNvSpPr txBox="1">
            <a:spLocks noChangeArrowheads="1"/>
          </p:cNvSpPr>
          <p:nvPr/>
        </p:nvSpPr>
        <p:spPr bwMode="auto">
          <a:xfrm>
            <a:off x="2964849" y="5288392"/>
            <a:ext cx="238256" cy="1836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911225">
              <a:defRPr>
                <a:solidFill>
                  <a:schemeClr val="tx1"/>
                </a:solidFill>
                <a:latin typeface="Calibri" panose="020F0502020204030204" pitchFamily="34" charset="0"/>
                <a:ea typeface="宋体" panose="02010600030101010101" pitchFamily="2" charset="-122"/>
              </a:defRPr>
            </a:lvl1pPr>
            <a:lvl2pPr marL="742950" indent="-285750" defTabSz="911225">
              <a:defRPr>
                <a:solidFill>
                  <a:schemeClr val="tx1"/>
                </a:solidFill>
                <a:latin typeface="Calibri" panose="020F0502020204030204" pitchFamily="34" charset="0"/>
                <a:ea typeface="宋体" panose="02010600030101010101" pitchFamily="2" charset="-122"/>
              </a:defRPr>
            </a:lvl2pPr>
            <a:lvl3pPr marL="1143000" indent="-228600" defTabSz="911225">
              <a:defRPr>
                <a:solidFill>
                  <a:schemeClr val="tx1"/>
                </a:solidFill>
                <a:latin typeface="Calibri" panose="020F0502020204030204" pitchFamily="34" charset="0"/>
                <a:ea typeface="宋体" panose="02010600030101010101" pitchFamily="2" charset="-122"/>
              </a:defRPr>
            </a:lvl3pPr>
            <a:lvl4pPr marL="1600200" indent="-228600" defTabSz="911225">
              <a:defRPr>
                <a:solidFill>
                  <a:schemeClr val="tx1"/>
                </a:solidFill>
                <a:latin typeface="Calibri" panose="020F0502020204030204" pitchFamily="34" charset="0"/>
                <a:ea typeface="宋体" panose="02010600030101010101" pitchFamily="2" charset="-122"/>
              </a:defRPr>
            </a:lvl4pPr>
            <a:lvl5pPr marL="2057400" indent="-228600" defTabSz="911225">
              <a:defRPr>
                <a:solidFill>
                  <a:schemeClr val="tx1"/>
                </a:solidFill>
                <a:latin typeface="Calibri" panose="020F0502020204030204" pitchFamily="34" charset="0"/>
                <a:ea typeface="宋体" panose="02010600030101010101" pitchFamily="2" charset="-122"/>
              </a:defRPr>
            </a:lvl5pPr>
            <a:lvl6pPr marL="25146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spcBef>
                <a:spcPct val="20000"/>
              </a:spcBef>
            </a:pPr>
            <a:r>
              <a:rPr lang="en-US" sz="1400" b="1" dirty="0">
                <a:latin typeface="Times New Roman" panose="02020603050405020304" pitchFamily="18" charset="0"/>
                <a:ea typeface="微软雅黑" panose="020B0503020204020204" pitchFamily="34" charset="-122"/>
                <a:cs typeface="Arial" panose="020B0604020202020204" pitchFamily="34" charset="0"/>
                <a:sym typeface="Arial" panose="020B0604020202020204" pitchFamily="34" charset="0"/>
              </a:rPr>
              <a:t>a/p</a:t>
            </a:r>
            <a:endParaRPr lang="en-US" sz="1400" b="1" dirty="0">
              <a:ea typeface="微软雅黑" panose="020B0503020204020204" pitchFamily="34" charset="-122"/>
              <a:cs typeface="Calibri" panose="020F0502020204030204" pitchFamily="34" charset="0"/>
              <a:sym typeface="Arial" panose="020B0604020202020204" pitchFamily="34" charset="0"/>
            </a:endParaRPr>
          </a:p>
        </p:txBody>
      </p:sp>
      <p:sp>
        <p:nvSpPr>
          <p:cNvPr id="30" name="TextBox 13">
            <a:extLst>
              <a:ext uri="{FF2B5EF4-FFF2-40B4-BE49-F238E27FC236}">
                <a16:creationId xmlns:a16="http://schemas.microsoft.com/office/drawing/2014/main" id="{F705B872-A424-B209-326C-0CE511D0CC02}"/>
              </a:ext>
            </a:extLst>
          </p:cNvPr>
          <p:cNvSpPr txBox="1">
            <a:spLocks noChangeArrowheads="1"/>
          </p:cNvSpPr>
          <p:nvPr/>
        </p:nvSpPr>
        <p:spPr bwMode="auto">
          <a:xfrm>
            <a:off x="3768847" y="4827542"/>
            <a:ext cx="238256" cy="1836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911225">
              <a:defRPr>
                <a:solidFill>
                  <a:schemeClr val="tx1"/>
                </a:solidFill>
                <a:latin typeface="Calibri" panose="020F0502020204030204" pitchFamily="34" charset="0"/>
                <a:ea typeface="宋体" panose="02010600030101010101" pitchFamily="2" charset="-122"/>
              </a:defRPr>
            </a:lvl1pPr>
            <a:lvl2pPr marL="742950" indent="-285750" defTabSz="911225">
              <a:defRPr>
                <a:solidFill>
                  <a:schemeClr val="tx1"/>
                </a:solidFill>
                <a:latin typeface="Calibri" panose="020F0502020204030204" pitchFamily="34" charset="0"/>
                <a:ea typeface="宋体" panose="02010600030101010101" pitchFamily="2" charset="-122"/>
              </a:defRPr>
            </a:lvl2pPr>
            <a:lvl3pPr marL="1143000" indent="-228600" defTabSz="911225">
              <a:defRPr>
                <a:solidFill>
                  <a:schemeClr val="tx1"/>
                </a:solidFill>
                <a:latin typeface="Calibri" panose="020F0502020204030204" pitchFamily="34" charset="0"/>
                <a:ea typeface="宋体" panose="02010600030101010101" pitchFamily="2" charset="-122"/>
              </a:defRPr>
            </a:lvl3pPr>
            <a:lvl4pPr marL="1600200" indent="-228600" defTabSz="911225">
              <a:defRPr>
                <a:solidFill>
                  <a:schemeClr val="tx1"/>
                </a:solidFill>
                <a:latin typeface="Calibri" panose="020F0502020204030204" pitchFamily="34" charset="0"/>
                <a:ea typeface="宋体" panose="02010600030101010101" pitchFamily="2" charset="-122"/>
              </a:defRPr>
            </a:lvl4pPr>
            <a:lvl5pPr marL="2057400" indent="-228600" defTabSz="911225">
              <a:defRPr>
                <a:solidFill>
                  <a:schemeClr val="tx1"/>
                </a:solidFill>
                <a:latin typeface="Calibri" panose="020F0502020204030204" pitchFamily="34" charset="0"/>
                <a:ea typeface="宋体" panose="02010600030101010101" pitchFamily="2" charset="-122"/>
              </a:defRPr>
            </a:lvl5pPr>
            <a:lvl6pPr marL="25146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spcBef>
                <a:spcPct val="20000"/>
              </a:spcBef>
            </a:pPr>
            <a:r>
              <a:rPr lang="en-US" sz="1400" b="1" dirty="0">
                <a:latin typeface="Times New Roman" panose="02020603050405020304" pitchFamily="18" charset="0"/>
                <a:ea typeface="微软雅黑" panose="020B0503020204020204" pitchFamily="34" charset="-122"/>
                <a:cs typeface="Arial" panose="020B0604020202020204" pitchFamily="34" charset="0"/>
                <a:sym typeface="Arial" panose="020B0604020202020204" pitchFamily="34" charset="0"/>
              </a:rPr>
              <a:t>a/p</a:t>
            </a:r>
            <a:endParaRPr lang="en-US" sz="1400" b="1" dirty="0">
              <a:ea typeface="微软雅黑" panose="020B0503020204020204" pitchFamily="34" charset="-122"/>
              <a:cs typeface="Calibri" panose="020F0502020204030204" pitchFamily="34" charset="0"/>
              <a:sym typeface="Arial" panose="020B0604020202020204" pitchFamily="34" charset="0"/>
            </a:endParaRPr>
          </a:p>
        </p:txBody>
      </p:sp>
      <p:cxnSp>
        <p:nvCxnSpPr>
          <p:cNvPr id="31" name="Connector: Elbow 30">
            <a:extLst>
              <a:ext uri="{FF2B5EF4-FFF2-40B4-BE49-F238E27FC236}">
                <a16:creationId xmlns:a16="http://schemas.microsoft.com/office/drawing/2014/main" id="{A2AB8583-E489-459A-A57A-C295C6CCF3E5}"/>
              </a:ext>
            </a:extLst>
          </p:cNvPr>
          <p:cNvCxnSpPr>
            <a:cxnSpLocks/>
          </p:cNvCxnSpPr>
          <p:nvPr/>
        </p:nvCxnSpPr>
        <p:spPr>
          <a:xfrm>
            <a:off x="5441597" y="4303281"/>
            <a:ext cx="1639683" cy="1443391"/>
          </a:xfrm>
          <a:prstGeom prst="bentConnector3">
            <a:avLst>
              <a:gd name="adj1" fmla="val -230"/>
            </a:avLst>
          </a:prstGeom>
          <a:ln w="19050">
            <a:solidFill>
              <a:srgbClr val="000000"/>
            </a:solidFill>
            <a:headEnd type="triangle"/>
            <a:tailEnd type="triangle"/>
          </a:ln>
          <a:effectLst/>
        </p:spPr>
        <p:style>
          <a:lnRef idx="2">
            <a:schemeClr val="accent1"/>
          </a:lnRef>
          <a:fillRef idx="0">
            <a:schemeClr val="accent1"/>
          </a:fillRef>
          <a:effectRef idx="1">
            <a:schemeClr val="accent1"/>
          </a:effectRef>
          <a:fontRef idx="minor">
            <a:schemeClr val="tx1"/>
          </a:fontRef>
        </p:style>
      </p:cxnSp>
      <p:sp>
        <p:nvSpPr>
          <p:cNvPr id="32" name="TextBox 13">
            <a:extLst>
              <a:ext uri="{FF2B5EF4-FFF2-40B4-BE49-F238E27FC236}">
                <a16:creationId xmlns:a16="http://schemas.microsoft.com/office/drawing/2014/main" id="{63AD1F6C-DFBC-77CD-1A71-BFCEBBED06DE}"/>
              </a:ext>
            </a:extLst>
          </p:cNvPr>
          <p:cNvSpPr txBox="1">
            <a:spLocks noChangeArrowheads="1"/>
          </p:cNvSpPr>
          <p:nvPr/>
        </p:nvSpPr>
        <p:spPr bwMode="auto">
          <a:xfrm>
            <a:off x="5677450" y="4104393"/>
            <a:ext cx="1167974" cy="1836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911225">
              <a:defRPr>
                <a:solidFill>
                  <a:schemeClr val="tx1"/>
                </a:solidFill>
                <a:latin typeface="Calibri" panose="020F0502020204030204" pitchFamily="34" charset="0"/>
                <a:ea typeface="宋体" panose="02010600030101010101" pitchFamily="2" charset="-122"/>
              </a:defRPr>
            </a:lvl1pPr>
            <a:lvl2pPr marL="742950" indent="-285750" defTabSz="911225">
              <a:defRPr>
                <a:solidFill>
                  <a:schemeClr val="tx1"/>
                </a:solidFill>
                <a:latin typeface="Calibri" panose="020F0502020204030204" pitchFamily="34" charset="0"/>
                <a:ea typeface="宋体" panose="02010600030101010101" pitchFamily="2" charset="-122"/>
              </a:defRPr>
            </a:lvl2pPr>
            <a:lvl3pPr marL="1143000" indent="-228600" defTabSz="911225">
              <a:defRPr>
                <a:solidFill>
                  <a:schemeClr val="tx1"/>
                </a:solidFill>
                <a:latin typeface="Calibri" panose="020F0502020204030204" pitchFamily="34" charset="0"/>
                <a:ea typeface="宋体" panose="02010600030101010101" pitchFamily="2" charset="-122"/>
              </a:defRPr>
            </a:lvl3pPr>
            <a:lvl4pPr marL="1600200" indent="-228600" defTabSz="911225">
              <a:defRPr>
                <a:solidFill>
                  <a:schemeClr val="tx1"/>
                </a:solidFill>
                <a:latin typeface="Calibri" panose="020F0502020204030204" pitchFamily="34" charset="0"/>
                <a:ea typeface="宋体" panose="02010600030101010101" pitchFamily="2" charset="-122"/>
              </a:defRPr>
            </a:lvl4pPr>
            <a:lvl5pPr marL="2057400" indent="-228600" defTabSz="911225">
              <a:defRPr>
                <a:solidFill>
                  <a:schemeClr val="tx1"/>
                </a:solidFill>
                <a:latin typeface="Calibri" panose="020F0502020204030204" pitchFamily="34" charset="0"/>
                <a:ea typeface="宋体" panose="02010600030101010101" pitchFamily="2" charset="-122"/>
              </a:defRPr>
            </a:lvl5pPr>
            <a:lvl6pPr marL="25146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spcBef>
                <a:spcPct val="20000"/>
              </a:spcBef>
            </a:pPr>
            <a:r>
              <a:rPr lang="en-US" altLang="zh-CN" sz="1400" b="1" dirty="0">
                <a:latin typeface="Times New Roman" panose="02020603050405020304" pitchFamily="18" charset="0"/>
                <a:cs typeface="Arial" panose="020B0604020202020204" pitchFamily="34" charset="0"/>
                <a:sym typeface="Arial" panose="020B0604020202020204" pitchFamily="34" charset="0"/>
              </a:rPr>
              <a:t>With Preview</a:t>
            </a:r>
            <a:endParaRPr lang="en-US" sz="1400" b="1" dirty="0">
              <a:ea typeface="微软雅黑" panose="020B0503020204020204" pitchFamily="34" charset="-122"/>
              <a:cs typeface="Calibri" panose="020F0502020204030204" pitchFamily="34" charset="0"/>
              <a:sym typeface="Arial" panose="020B0604020202020204" pitchFamily="34" charset="0"/>
            </a:endParaRPr>
          </a:p>
        </p:txBody>
      </p:sp>
      <p:sp>
        <p:nvSpPr>
          <p:cNvPr id="33" name="TextBox 13">
            <a:extLst>
              <a:ext uri="{FF2B5EF4-FFF2-40B4-BE49-F238E27FC236}">
                <a16:creationId xmlns:a16="http://schemas.microsoft.com/office/drawing/2014/main" id="{2D70015B-A86F-E072-1DFD-881EB87EDA4D}"/>
              </a:ext>
            </a:extLst>
          </p:cNvPr>
          <p:cNvSpPr txBox="1">
            <a:spLocks noChangeArrowheads="1"/>
          </p:cNvSpPr>
          <p:nvPr/>
        </p:nvSpPr>
        <p:spPr bwMode="auto">
          <a:xfrm>
            <a:off x="5688403" y="5843853"/>
            <a:ext cx="545629" cy="3673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911225">
              <a:defRPr>
                <a:solidFill>
                  <a:schemeClr val="tx1"/>
                </a:solidFill>
                <a:latin typeface="Calibri" panose="020F0502020204030204" pitchFamily="34" charset="0"/>
                <a:ea typeface="宋体" panose="02010600030101010101" pitchFamily="2" charset="-122"/>
              </a:defRPr>
            </a:lvl1pPr>
            <a:lvl2pPr marL="742950" indent="-285750" defTabSz="911225">
              <a:defRPr>
                <a:solidFill>
                  <a:schemeClr val="tx1"/>
                </a:solidFill>
                <a:latin typeface="Calibri" panose="020F0502020204030204" pitchFamily="34" charset="0"/>
                <a:ea typeface="宋体" panose="02010600030101010101" pitchFamily="2" charset="-122"/>
              </a:defRPr>
            </a:lvl2pPr>
            <a:lvl3pPr marL="1143000" indent="-228600" defTabSz="911225">
              <a:defRPr>
                <a:solidFill>
                  <a:schemeClr val="tx1"/>
                </a:solidFill>
                <a:latin typeface="Calibri" panose="020F0502020204030204" pitchFamily="34" charset="0"/>
                <a:ea typeface="宋体" panose="02010600030101010101" pitchFamily="2" charset="-122"/>
              </a:defRPr>
            </a:lvl3pPr>
            <a:lvl4pPr marL="1600200" indent="-228600" defTabSz="911225">
              <a:defRPr>
                <a:solidFill>
                  <a:schemeClr val="tx1"/>
                </a:solidFill>
                <a:latin typeface="Calibri" panose="020F0502020204030204" pitchFamily="34" charset="0"/>
                <a:ea typeface="宋体" panose="02010600030101010101" pitchFamily="2" charset="-122"/>
              </a:defRPr>
            </a:lvl4pPr>
            <a:lvl5pPr marL="2057400" indent="-228600" defTabSz="911225">
              <a:defRPr>
                <a:solidFill>
                  <a:schemeClr val="tx1"/>
                </a:solidFill>
                <a:latin typeface="Calibri" panose="020F0502020204030204" pitchFamily="34" charset="0"/>
                <a:ea typeface="宋体" panose="02010600030101010101" pitchFamily="2" charset="-122"/>
              </a:defRPr>
            </a:lvl5pPr>
            <a:lvl6pPr marL="25146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spcBef>
                <a:spcPct val="20000"/>
              </a:spcBef>
            </a:pPr>
            <a:r>
              <a:rPr lang="en-US" altLang="zh-CN" sz="1400" b="1" dirty="0">
                <a:latin typeface="Times New Roman" panose="02020603050405020304" pitchFamily="18" charset="0"/>
                <a:cs typeface="Arial" panose="020B0604020202020204" pitchFamily="34" charset="0"/>
                <a:sym typeface="Arial" panose="020B0604020202020204" pitchFamily="34" charset="0"/>
              </a:rPr>
              <a:t>Agent </a:t>
            </a:r>
            <a:br>
              <a:rPr lang="en-US" altLang="zh-CN" sz="1400" b="1" dirty="0">
                <a:latin typeface="Times New Roman" panose="02020603050405020304" pitchFamily="18" charset="0"/>
                <a:cs typeface="Arial" panose="020B0604020202020204" pitchFamily="34" charset="0"/>
                <a:sym typeface="Arial" panose="020B0604020202020204" pitchFamily="34" charset="0"/>
              </a:rPr>
            </a:br>
            <a:r>
              <a:rPr lang="en-US" altLang="zh-CN" sz="1400" b="1" dirty="0">
                <a:latin typeface="Times New Roman" panose="02020603050405020304" pitchFamily="18" charset="0"/>
                <a:cs typeface="Arial" panose="020B0604020202020204" pitchFamily="34" charset="0"/>
                <a:sym typeface="Arial" panose="020B0604020202020204" pitchFamily="34" charset="0"/>
              </a:rPr>
              <a:t>Search</a:t>
            </a:r>
            <a:endParaRPr lang="en-US" sz="1400" b="1" dirty="0">
              <a:ea typeface="微软雅黑" panose="020B0503020204020204" pitchFamily="34" charset="-122"/>
              <a:cs typeface="Calibri" panose="020F0502020204030204" pitchFamily="34" charset="0"/>
              <a:sym typeface="Arial" panose="020B0604020202020204" pitchFamily="34" charset="0"/>
            </a:endParaRPr>
          </a:p>
        </p:txBody>
      </p:sp>
      <p:sp>
        <p:nvSpPr>
          <p:cNvPr id="34" name="TextBox 13">
            <a:extLst>
              <a:ext uri="{FF2B5EF4-FFF2-40B4-BE49-F238E27FC236}">
                <a16:creationId xmlns:a16="http://schemas.microsoft.com/office/drawing/2014/main" id="{9669C6B3-334A-5DBF-A576-FB4A4ECABC7E}"/>
              </a:ext>
            </a:extLst>
          </p:cNvPr>
          <p:cNvSpPr txBox="1">
            <a:spLocks noChangeArrowheads="1"/>
          </p:cNvSpPr>
          <p:nvPr/>
        </p:nvSpPr>
        <p:spPr bwMode="auto">
          <a:xfrm>
            <a:off x="6414146" y="5843853"/>
            <a:ext cx="545629" cy="3673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911225">
              <a:defRPr>
                <a:solidFill>
                  <a:schemeClr val="tx1"/>
                </a:solidFill>
                <a:latin typeface="Calibri" panose="020F0502020204030204" pitchFamily="34" charset="0"/>
                <a:ea typeface="宋体" panose="02010600030101010101" pitchFamily="2" charset="-122"/>
              </a:defRPr>
            </a:lvl1pPr>
            <a:lvl2pPr marL="742950" indent="-285750" defTabSz="911225">
              <a:defRPr>
                <a:solidFill>
                  <a:schemeClr val="tx1"/>
                </a:solidFill>
                <a:latin typeface="Calibri" panose="020F0502020204030204" pitchFamily="34" charset="0"/>
                <a:ea typeface="宋体" panose="02010600030101010101" pitchFamily="2" charset="-122"/>
              </a:defRPr>
            </a:lvl2pPr>
            <a:lvl3pPr marL="1143000" indent="-228600" defTabSz="911225">
              <a:defRPr>
                <a:solidFill>
                  <a:schemeClr val="tx1"/>
                </a:solidFill>
                <a:latin typeface="Calibri" panose="020F0502020204030204" pitchFamily="34" charset="0"/>
                <a:ea typeface="宋体" panose="02010600030101010101" pitchFamily="2" charset="-122"/>
              </a:defRPr>
            </a:lvl3pPr>
            <a:lvl4pPr marL="1600200" indent="-228600" defTabSz="911225">
              <a:defRPr>
                <a:solidFill>
                  <a:schemeClr val="tx1"/>
                </a:solidFill>
                <a:latin typeface="Calibri" panose="020F0502020204030204" pitchFamily="34" charset="0"/>
                <a:ea typeface="宋体" panose="02010600030101010101" pitchFamily="2" charset="-122"/>
              </a:defRPr>
            </a:lvl4pPr>
            <a:lvl5pPr marL="2057400" indent="-228600" defTabSz="911225">
              <a:defRPr>
                <a:solidFill>
                  <a:schemeClr val="tx1"/>
                </a:solidFill>
                <a:latin typeface="Calibri" panose="020F0502020204030204" pitchFamily="34" charset="0"/>
                <a:ea typeface="宋体" panose="02010600030101010101" pitchFamily="2" charset="-122"/>
              </a:defRPr>
            </a:lvl5pPr>
            <a:lvl6pPr marL="25146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spcBef>
                <a:spcPct val="20000"/>
              </a:spcBef>
            </a:pPr>
            <a:r>
              <a:rPr lang="en-US" altLang="zh-CN" sz="1400" b="1" dirty="0">
                <a:latin typeface="Times New Roman" panose="02020603050405020304" pitchFamily="18" charset="0"/>
                <a:cs typeface="Arial" panose="020B0604020202020204" pitchFamily="34" charset="0"/>
                <a:sym typeface="Arial" panose="020B0604020202020204" pitchFamily="34" charset="0"/>
              </a:rPr>
              <a:t>Patient Search</a:t>
            </a:r>
            <a:endParaRPr lang="en-US" sz="1400" b="1" dirty="0">
              <a:ea typeface="微软雅黑" panose="020B0503020204020204" pitchFamily="34" charset="-122"/>
              <a:cs typeface="Calibri" panose="020F0502020204030204" pitchFamily="34" charset="0"/>
              <a:sym typeface="Arial" panose="020B0604020202020204" pitchFamily="34" charset="0"/>
            </a:endParaRPr>
          </a:p>
        </p:txBody>
      </p:sp>
      <p:sp>
        <p:nvSpPr>
          <p:cNvPr id="35" name="TextBox 34">
            <a:extLst>
              <a:ext uri="{FF2B5EF4-FFF2-40B4-BE49-F238E27FC236}">
                <a16:creationId xmlns:a16="http://schemas.microsoft.com/office/drawing/2014/main" id="{583A46F8-945D-0037-AE9F-6A9C6401A0E9}"/>
              </a:ext>
            </a:extLst>
          </p:cNvPr>
          <p:cNvSpPr txBox="1"/>
          <p:nvPr/>
        </p:nvSpPr>
        <p:spPr>
          <a:xfrm rot="10800000">
            <a:off x="4991734" y="4166483"/>
            <a:ext cx="400110" cy="1324130"/>
          </a:xfrm>
          <a:prstGeom prst="rect">
            <a:avLst/>
          </a:prstGeom>
          <a:noFill/>
        </p:spPr>
        <p:txBody>
          <a:bodyPr vert="eaVert" wrap="square" rtlCol="0">
            <a:spAutoFit/>
          </a:bodyPr>
          <a:lstStyle/>
          <a:p>
            <a:r>
              <a:rPr lang="en-US" sz="1400" b="1" dirty="0">
                <a:latin typeface="Times New Roman" panose="02020603050405020304" pitchFamily="18" charset="0"/>
                <a:ea typeface="宋体" panose="02010600030101010101" pitchFamily="2" charset="-122"/>
                <a:cs typeface="Arial" panose="020B0604020202020204" pitchFamily="34" charset="0"/>
              </a:rPr>
              <a:t>Reaction Time</a:t>
            </a:r>
          </a:p>
        </p:txBody>
      </p:sp>
      <p:sp>
        <p:nvSpPr>
          <p:cNvPr id="36" name="TextBox 13">
            <a:extLst>
              <a:ext uri="{FF2B5EF4-FFF2-40B4-BE49-F238E27FC236}">
                <a16:creationId xmlns:a16="http://schemas.microsoft.com/office/drawing/2014/main" id="{EFB4D480-54D4-1B37-7931-00D408481D0C}"/>
              </a:ext>
            </a:extLst>
          </p:cNvPr>
          <p:cNvSpPr txBox="1">
            <a:spLocks noChangeArrowheads="1"/>
          </p:cNvSpPr>
          <p:nvPr/>
        </p:nvSpPr>
        <p:spPr bwMode="auto">
          <a:xfrm>
            <a:off x="5782159" y="5242059"/>
            <a:ext cx="232936" cy="1836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911225">
              <a:defRPr>
                <a:solidFill>
                  <a:schemeClr val="tx1"/>
                </a:solidFill>
                <a:latin typeface="Calibri" panose="020F0502020204030204" pitchFamily="34" charset="0"/>
                <a:ea typeface="宋体" panose="02010600030101010101" pitchFamily="2" charset="-122"/>
              </a:defRPr>
            </a:lvl1pPr>
            <a:lvl2pPr marL="742950" indent="-285750" defTabSz="911225">
              <a:defRPr>
                <a:solidFill>
                  <a:schemeClr val="tx1"/>
                </a:solidFill>
                <a:latin typeface="Calibri" panose="020F0502020204030204" pitchFamily="34" charset="0"/>
                <a:ea typeface="宋体" panose="02010600030101010101" pitchFamily="2" charset="-122"/>
              </a:defRPr>
            </a:lvl2pPr>
            <a:lvl3pPr marL="1143000" indent="-228600" defTabSz="911225">
              <a:defRPr>
                <a:solidFill>
                  <a:schemeClr val="tx1"/>
                </a:solidFill>
                <a:latin typeface="Calibri" panose="020F0502020204030204" pitchFamily="34" charset="0"/>
                <a:ea typeface="宋体" panose="02010600030101010101" pitchFamily="2" charset="-122"/>
              </a:defRPr>
            </a:lvl3pPr>
            <a:lvl4pPr marL="1600200" indent="-228600" defTabSz="911225">
              <a:defRPr>
                <a:solidFill>
                  <a:schemeClr val="tx1"/>
                </a:solidFill>
                <a:latin typeface="Calibri" panose="020F0502020204030204" pitchFamily="34" charset="0"/>
                <a:ea typeface="宋体" panose="02010600030101010101" pitchFamily="2" charset="-122"/>
              </a:defRPr>
            </a:lvl4pPr>
            <a:lvl5pPr marL="2057400" indent="-228600" defTabSz="911225">
              <a:defRPr>
                <a:solidFill>
                  <a:schemeClr val="tx1"/>
                </a:solidFill>
                <a:latin typeface="Calibri" panose="020F0502020204030204" pitchFamily="34" charset="0"/>
                <a:ea typeface="宋体" panose="02010600030101010101" pitchFamily="2" charset="-122"/>
              </a:defRPr>
            </a:lvl5pPr>
            <a:lvl6pPr marL="25146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spcBef>
                <a:spcPct val="20000"/>
              </a:spcBef>
            </a:pPr>
            <a:r>
              <a:rPr lang="en-US" sz="1400" b="1" dirty="0">
                <a:latin typeface="Times New Roman" panose="02020603050405020304" pitchFamily="18" charset="0"/>
                <a:ea typeface="微软雅黑" panose="020B0503020204020204" pitchFamily="34" charset="-122"/>
                <a:cs typeface="Arial" panose="020B0604020202020204" pitchFamily="34" charset="0"/>
                <a:sym typeface="Arial" panose="020B0604020202020204" pitchFamily="34" charset="0"/>
              </a:rPr>
              <a:t>a</a:t>
            </a:r>
            <a:endParaRPr lang="en-US" sz="1400" b="1" dirty="0">
              <a:ea typeface="微软雅黑" panose="020B0503020204020204" pitchFamily="34" charset="-122"/>
              <a:cs typeface="Calibri" panose="020F0502020204030204" pitchFamily="34" charset="0"/>
              <a:sym typeface="Arial" panose="020B0604020202020204" pitchFamily="34" charset="0"/>
            </a:endParaRPr>
          </a:p>
        </p:txBody>
      </p:sp>
      <p:sp>
        <p:nvSpPr>
          <p:cNvPr id="71" name="TextBox 13">
            <a:extLst>
              <a:ext uri="{FF2B5EF4-FFF2-40B4-BE49-F238E27FC236}">
                <a16:creationId xmlns:a16="http://schemas.microsoft.com/office/drawing/2014/main" id="{A8D6E922-02F3-D674-EE03-C541AF0543AF}"/>
              </a:ext>
            </a:extLst>
          </p:cNvPr>
          <p:cNvSpPr txBox="1">
            <a:spLocks noChangeArrowheads="1"/>
          </p:cNvSpPr>
          <p:nvPr/>
        </p:nvSpPr>
        <p:spPr bwMode="auto">
          <a:xfrm>
            <a:off x="5782160" y="4983817"/>
            <a:ext cx="232936" cy="1836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911225">
              <a:defRPr>
                <a:solidFill>
                  <a:schemeClr val="tx1"/>
                </a:solidFill>
                <a:latin typeface="Calibri" panose="020F0502020204030204" pitchFamily="34" charset="0"/>
                <a:ea typeface="宋体" panose="02010600030101010101" pitchFamily="2" charset="-122"/>
              </a:defRPr>
            </a:lvl1pPr>
            <a:lvl2pPr marL="742950" indent="-285750" defTabSz="911225">
              <a:defRPr>
                <a:solidFill>
                  <a:schemeClr val="tx1"/>
                </a:solidFill>
                <a:latin typeface="Calibri" panose="020F0502020204030204" pitchFamily="34" charset="0"/>
                <a:ea typeface="宋体" panose="02010600030101010101" pitchFamily="2" charset="-122"/>
              </a:defRPr>
            </a:lvl2pPr>
            <a:lvl3pPr marL="1143000" indent="-228600" defTabSz="911225">
              <a:defRPr>
                <a:solidFill>
                  <a:schemeClr val="tx1"/>
                </a:solidFill>
                <a:latin typeface="Calibri" panose="020F0502020204030204" pitchFamily="34" charset="0"/>
                <a:ea typeface="宋体" panose="02010600030101010101" pitchFamily="2" charset="-122"/>
              </a:defRPr>
            </a:lvl3pPr>
            <a:lvl4pPr marL="1600200" indent="-228600" defTabSz="911225">
              <a:defRPr>
                <a:solidFill>
                  <a:schemeClr val="tx1"/>
                </a:solidFill>
                <a:latin typeface="Calibri" panose="020F0502020204030204" pitchFamily="34" charset="0"/>
                <a:ea typeface="宋体" panose="02010600030101010101" pitchFamily="2" charset="-122"/>
              </a:defRPr>
            </a:lvl4pPr>
            <a:lvl5pPr marL="2057400" indent="-228600" defTabSz="911225">
              <a:defRPr>
                <a:solidFill>
                  <a:schemeClr val="tx1"/>
                </a:solidFill>
                <a:latin typeface="Calibri" panose="020F0502020204030204" pitchFamily="34" charset="0"/>
                <a:ea typeface="宋体" panose="02010600030101010101" pitchFamily="2" charset="-122"/>
              </a:defRPr>
            </a:lvl5pPr>
            <a:lvl6pPr marL="25146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spcBef>
                <a:spcPct val="20000"/>
              </a:spcBef>
            </a:pPr>
            <a:r>
              <a:rPr lang="en-US" sz="1400" b="1" dirty="0">
                <a:latin typeface="Times New Roman" panose="02020603050405020304" pitchFamily="18" charset="0"/>
                <a:ea typeface="微软雅黑" panose="020B0503020204020204" pitchFamily="34" charset="-122"/>
                <a:cs typeface="Arial" panose="020B0604020202020204" pitchFamily="34" charset="0"/>
                <a:sym typeface="Arial" panose="020B0604020202020204" pitchFamily="34" charset="0"/>
              </a:rPr>
              <a:t>p</a:t>
            </a:r>
            <a:endParaRPr lang="en-US" sz="1400" b="1" dirty="0">
              <a:ea typeface="微软雅黑" panose="020B0503020204020204" pitchFamily="34" charset="-122"/>
              <a:cs typeface="Calibri" panose="020F0502020204030204" pitchFamily="34" charset="0"/>
              <a:sym typeface="Arial" panose="020B0604020202020204" pitchFamily="34" charset="0"/>
            </a:endParaRPr>
          </a:p>
        </p:txBody>
      </p:sp>
      <p:sp>
        <p:nvSpPr>
          <p:cNvPr id="72" name="TextBox 13">
            <a:extLst>
              <a:ext uri="{FF2B5EF4-FFF2-40B4-BE49-F238E27FC236}">
                <a16:creationId xmlns:a16="http://schemas.microsoft.com/office/drawing/2014/main" id="{DA333BC5-FD9B-B726-6B5C-00A3EF47A729}"/>
              </a:ext>
            </a:extLst>
          </p:cNvPr>
          <p:cNvSpPr txBox="1">
            <a:spLocks noChangeArrowheads="1"/>
          </p:cNvSpPr>
          <p:nvPr/>
        </p:nvSpPr>
        <p:spPr bwMode="auto">
          <a:xfrm>
            <a:off x="6728957" y="4520146"/>
            <a:ext cx="232936" cy="1836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911225">
              <a:defRPr>
                <a:solidFill>
                  <a:schemeClr val="tx1"/>
                </a:solidFill>
                <a:latin typeface="Calibri" panose="020F0502020204030204" pitchFamily="34" charset="0"/>
                <a:ea typeface="宋体" panose="02010600030101010101" pitchFamily="2" charset="-122"/>
              </a:defRPr>
            </a:lvl1pPr>
            <a:lvl2pPr marL="742950" indent="-285750" defTabSz="911225">
              <a:defRPr>
                <a:solidFill>
                  <a:schemeClr val="tx1"/>
                </a:solidFill>
                <a:latin typeface="Calibri" panose="020F0502020204030204" pitchFamily="34" charset="0"/>
                <a:ea typeface="宋体" panose="02010600030101010101" pitchFamily="2" charset="-122"/>
              </a:defRPr>
            </a:lvl2pPr>
            <a:lvl3pPr marL="1143000" indent="-228600" defTabSz="911225">
              <a:defRPr>
                <a:solidFill>
                  <a:schemeClr val="tx1"/>
                </a:solidFill>
                <a:latin typeface="Calibri" panose="020F0502020204030204" pitchFamily="34" charset="0"/>
                <a:ea typeface="宋体" panose="02010600030101010101" pitchFamily="2" charset="-122"/>
              </a:defRPr>
            </a:lvl3pPr>
            <a:lvl4pPr marL="1600200" indent="-228600" defTabSz="911225">
              <a:defRPr>
                <a:solidFill>
                  <a:schemeClr val="tx1"/>
                </a:solidFill>
                <a:latin typeface="Calibri" panose="020F0502020204030204" pitchFamily="34" charset="0"/>
                <a:ea typeface="宋体" panose="02010600030101010101" pitchFamily="2" charset="-122"/>
              </a:defRPr>
            </a:lvl4pPr>
            <a:lvl5pPr marL="2057400" indent="-228600" defTabSz="911225">
              <a:defRPr>
                <a:solidFill>
                  <a:schemeClr val="tx1"/>
                </a:solidFill>
                <a:latin typeface="Calibri" panose="020F0502020204030204" pitchFamily="34" charset="0"/>
                <a:ea typeface="宋体" panose="02010600030101010101" pitchFamily="2" charset="-122"/>
              </a:defRPr>
            </a:lvl5pPr>
            <a:lvl6pPr marL="25146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spcBef>
                <a:spcPct val="20000"/>
              </a:spcBef>
            </a:pPr>
            <a:r>
              <a:rPr lang="en-US" sz="1400" b="1" dirty="0">
                <a:latin typeface="Times New Roman" panose="02020603050405020304" pitchFamily="18" charset="0"/>
                <a:ea typeface="微软雅黑" panose="020B0503020204020204" pitchFamily="34" charset="-122"/>
                <a:cs typeface="Arial" panose="020B0604020202020204" pitchFamily="34" charset="0"/>
                <a:sym typeface="Arial" panose="020B0604020202020204" pitchFamily="34" charset="0"/>
              </a:rPr>
              <a:t>a</a:t>
            </a:r>
            <a:endParaRPr lang="en-US" sz="1400" b="1" dirty="0">
              <a:ea typeface="微软雅黑" panose="020B0503020204020204" pitchFamily="34" charset="-122"/>
              <a:cs typeface="Calibri" panose="020F0502020204030204" pitchFamily="34" charset="0"/>
              <a:sym typeface="Arial" panose="020B0604020202020204" pitchFamily="34" charset="0"/>
            </a:endParaRPr>
          </a:p>
        </p:txBody>
      </p:sp>
      <p:sp>
        <p:nvSpPr>
          <p:cNvPr id="73" name="TextBox 13">
            <a:extLst>
              <a:ext uri="{FF2B5EF4-FFF2-40B4-BE49-F238E27FC236}">
                <a16:creationId xmlns:a16="http://schemas.microsoft.com/office/drawing/2014/main" id="{1499C335-F0CB-2EAE-06CE-AEAE96304CF1}"/>
              </a:ext>
            </a:extLst>
          </p:cNvPr>
          <p:cNvSpPr txBox="1">
            <a:spLocks noChangeArrowheads="1"/>
          </p:cNvSpPr>
          <p:nvPr/>
        </p:nvSpPr>
        <p:spPr bwMode="auto">
          <a:xfrm>
            <a:off x="6726839" y="4769683"/>
            <a:ext cx="232936" cy="1836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911225">
              <a:defRPr>
                <a:solidFill>
                  <a:schemeClr val="tx1"/>
                </a:solidFill>
                <a:latin typeface="Calibri" panose="020F0502020204030204" pitchFamily="34" charset="0"/>
                <a:ea typeface="宋体" panose="02010600030101010101" pitchFamily="2" charset="-122"/>
              </a:defRPr>
            </a:lvl1pPr>
            <a:lvl2pPr marL="742950" indent="-285750" defTabSz="911225">
              <a:defRPr>
                <a:solidFill>
                  <a:schemeClr val="tx1"/>
                </a:solidFill>
                <a:latin typeface="Calibri" panose="020F0502020204030204" pitchFamily="34" charset="0"/>
                <a:ea typeface="宋体" panose="02010600030101010101" pitchFamily="2" charset="-122"/>
              </a:defRPr>
            </a:lvl2pPr>
            <a:lvl3pPr marL="1143000" indent="-228600" defTabSz="911225">
              <a:defRPr>
                <a:solidFill>
                  <a:schemeClr val="tx1"/>
                </a:solidFill>
                <a:latin typeface="Calibri" panose="020F0502020204030204" pitchFamily="34" charset="0"/>
                <a:ea typeface="宋体" panose="02010600030101010101" pitchFamily="2" charset="-122"/>
              </a:defRPr>
            </a:lvl3pPr>
            <a:lvl4pPr marL="1600200" indent="-228600" defTabSz="911225">
              <a:defRPr>
                <a:solidFill>
                  <a:schemeClr val="tx1"/>
                </a:solidFill>
                <a:latin typeface="Calibri" panose="020F0502020204030204" pitchFamily="34" charset="0"/>
                <a:ea typeface="宋体" panose="02010600030101010101" pitchFamily="2" charset="-122"/>
              </a:defRPr>
            </a:lvl4pPr>
            <a:lvl5pPr marL="2057400" indent="-228600" defTabSz="911225">
              <a:defRPr>
                <a:solidFill>
                  <a:schemeClr val="tx1"/>
                </a:solidFill>
                <a:latin typeface="Calibri" panose="020F0502020204030204" pitchFamily="34" charset="0"/>
                <a:ea typeface="宋体" panose="02010600030101010101" pitchFamily="2" charset="-122"/>
              </a:defRPr>
            </a:lvl5pPr>
            <a:lvl6pPr marL="25146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defTabSz="9112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spcBef>
                <a:spcPct val="20000"/>
              </a:spcBef>
            </a:pPr>
            <a:r>
              <a:rPr lang="en-US" sz="1400" b="1" dirty="0">
                <a:latin typeface="Times New Roman" panose="02020603050405020304" pitchFamily="18" charset="0"/>
                <a:ea typeface="微软雅黑" panose="020B0503020204020204" pitchFamily="34" charset="-122"/>
                <a:cs typeface="Arial" panose="020B0604020202020204" pitchFamily="34" charset="0"/>
                <a:sym typeface="Arial" panose="020B0604020202020204" pitchFamily="34" charset="0"/>
              </a:rPr>
              <a:t>p</a:t>
            </a:r>
            <a:endParaRPr lang="en-US" sz="1400" b="1" dirty="0">
              <a:ea typeface="微软雅黑" panose="020B0503020204020204" pitchFamily="34" charset="-122"/>
              <a:cs typeface="Calibri" panose="020F0502020204030204" pitchFamily="34" charset="0"/>
              <a:sym typeface="Arial" panose="020B0604020202020204" pitchFamily="34" charset="0"/>
            </a:endParaRPr>
          </a:p>
        </p:txBody>
      </p:sp>
    </p:spTree>
    <p:extLst>
      <p:ext uri="{BB962C8B-B14F-4D97-AF65-F5344CB8AC3E}">
        <p14:creationId xmlns:p14="http://schemas.microsoft.com/office/powerpoint/2010/main" val="88570538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F204ECA-B524-C037-5B0D-97F55692FAFA}"/>
              </a:ext>
            </a:extLst>
          </p:cNvPr>
          <p:cNvSpPr/>
          <p:nvPr/>
        </p:nvSpPr>
        <p:spPr>
          <a:xfrm>
            <a:off x="359999" y="1043057"/>
            <a:ext cx="8236254" cy="707886"/>
          </a:xfrm>
          <a:prstGeom prst="rect">
            <a:avLst/>
          </a:prstGeom>
          <a:noFill/>
        </p:spPr>
        <p:txBody>
          <a:bodyPr wrap="square" lIns="91440" tIns="45720" rIns="91440" bIns="45720">
            <a:spAutoFit/>
          </a:bodyPr>
          <a:lstStyle/>
          <a:p>
            <a:pPr eaLnBrk="1" hangingPunct="1">
              <a:spcBef>
                <a:spcPct val="20000"/>
              </a:spcBef>
            </a:pPr>
            <a:r>
              <a:rPr lang="en-US" altLang="zh-CN" sz="4000" b="1" dirty="0">
                <a:latin typeface="Calibri" panose="020F0502020204030204" pitchFamily="34" charset="0"/>
                <a:ea typeface="微软雅黑" panose="020B0503020204020204" pitchFamily="34" charset="-122"/>
                <a:cs typeface="Calibri" panose="020F0502020204030204" pitchFamily="34" charset="0"/>
                <a:sym typeface="Arial" panose="020B0604020202020204" pitchFamily="34" charset="0"/>
              </a:rPr>
              <a:t>Research Gap 2:</a:t>
            </a:r>
            <a:endParaRPr lang="en-US" sz="4000" b="1" dirty="0">
              <a:latin typeface="Calibri" panose="020F0502020204030204" pitchFamily="34" charset="0"/>
              <a:ea typeface="微软雅黑" panose="020B0503020204020204" pitchFamily="34" charset="-122"/>
              <a:cs typeface="Calibri" panose="020F0502020204030204" pitchFamily="34" charset="0"/>
              <a:sym typeface="Arial" panose="020B0604020202020204" pitchFamily="34" charset="0"/>
            </a:endParaRPr>
          </a:p>
        </p:txBody>
      </p:sp>
      <p:sp>
        <p:nvSpPr>
          <p:cNvPr id="3" name="TextBox 2">
            <a:extLst>
              <a:ext uri="{FF2B5EF4-FFF2-40B4-BE49-F238E27FC236}">
                <a16:creationId xmlns:a16="http://schemas.microsoft.com/office/drawing/2014/main" id="{E980D672-82C7-9DA5-7A3D-62CBB0AF9C03}"/>
              </a:ext>
            </a:extLst>
          </p:cNvPr>
          <p:cNvSpPr txBox="1"/>
          <p:nvPr/>
        </p:nvSpPr>
        <p:spPr>
          <a:xfrm>
            <a:off x="113848" y="1490008"/>
            <a:ext cx="3710589" cy="1323439"/>
          </a:xfrm>
          <a:prstGeom prst="rect">
            <a:avLst/>
          </a:prstGeom>
          <a:noFill/>
        </p:spPr>
        <p:txBody>
          <a:bodyPr wrap="square" rtlCol="0">
            <a:spAutoFit/>
          </a:bodyPr>
          <a:lstStyle/>
          <a:p>
            <a:pPr marL="342900" indent="-342900">
              <a:buFont typeface="Arial" panose="020B0604020202020204" pitchFamily="34" charset="0"/>
              <a:buChar char="•"/>
            </a:pPr>
            <a:endParaRPr lang="en-US" sz="2000" dirty="0">
              <a:effectLst/>
              <a:latin typeface="Calibri" panose="020F0502020204030204" pitchFamily="34" charset="0"/>
              <a:ea typeface="DengXian" panose="02010600030101010101" pitchFamily="2" charset="-122"/>
              <a:cs typeface="Times New Roman" panose="02020603050405020304" pitchFamily="18" charset="0"/>
            </a:endParaRPr>
          </a:p>
          <a:p>
            <a:pPr marL="342900" indent="-342900">
              <a:buFont typeface="Arial" panose="020B0604020202020204" pitchFamily="34" charset="0"/>
              <a:buChar char="•"/>
            </a:pPr>
            <a:r>
              <a:rPr lang="en-US" altLang="zh-CN" sz="2000" dirty="0">
                <a:latin typeface="Calibri" panose="020F0502020204030204" pitchFamily="34" charset="0"/>
                <a:ea typeface="DengXian" panose="02010600030101010101" pitchFamily="2" charset="-122"/>
                <a:cs typeface="Times New Roman" panose="02020603050405020304" pitchFamily="18" charset="0"/>
              </a:rPr>
              <a:t>S</a:t>
            </a:r>
            <a:r>
              <a:rPr lang="en-US" altLang="zh-CN" sz="2000" dirty="0">
                <a:effectLst/>
                <a:latin typeface="Calibri" panose="020F0502020204030204" pitchFamily="34" charset="0"/>
                <a:ea typeface="DengXian" panose="02010600030101010101" pitchFamily="2" charset="-122"/>
                <a:cs typeface="Times New Roman" panose="02020603050405020304" pitchFamily="18" charset="0"/>
              </a:rPr>
              <a:t>tudies have explored the early process of the agent advantage effect with mask</a:t>
            </a:r>
            <a:endParaRPr lang="en-US" sz="1100" dirty="0">
              <a:effectLst/>
              <a:latin typeface="Calibri" panose="020F0502020204030204" pitchFamily="34" charset="0"/>
              <a:ea typeface="DengXian" panose="02010600030101010101" pitchFamily="2" charset="-122"/>
              <a:cs typeface="Times New Roman" panose="02020603050405020304" pitchFamily="18" charset="0"/>
            </a:endParaRPr>
          </a:p>
        </p:txBody>
      </p:sp>
      <p:sp>
        <p:nvSpPr>
          <p:cNvPr id="8" name="TextBox 7">
            <a:extLst>
              <a:ext uri="{FF2B5EF4-FFF2-40B4-BE49-F238E27FC236}">
                <a16:creationId xmlns:a16="http://schemas.microsoft.com/office/drawing/2014/main" id="{78FDB8FB-0D99-33DF-0907-E69B06A115AE}"/>
              </a:ext>
            </a:extLst>
          </p:cNvPr>
          <p:cNvSpPr txBox="1"/>
          <p:nvPr/>
        </p:nvSpPr>
        <p:spPr>
          <a:xfrm>
            <a:off x="4664595" y="1490008"/>
            <a:ext cx="3710589" cy="1015663"/>
          </a:xfrm>
          <a:prstGeom prst="rect">
            <a:avLst/>
          </a:prstGeom>
          <a:noFill/>
        </p:spPr>
        <p:txBody>
          <a:bodyPr wrap="square" rtlCol="0">
            <a:spAutoFit/>
          </a:bodyPr>
          <a:lstStyle/>
          <a:p>
            <a:pPr marL="342900" indent="-342900">
              <a:buFont typeface="Arial" panose="020B0604020202020204" pitchFamily="34" charset="0"/>
              <a:buChar char="•"/>
            </a:pPr>
            <a:endParaRPr lang="en-US" sz="2000" dirty="0">
              <a:effectLst/>
              <a:latin typeface="Calibri" panose="020F0502020204030204" pitchFamily="34" charset="0"/>
              <a:ea typeface="DengXian" panose="02010600030101010101" pitchFamily="2" charset="-122"/>
              <a:cs typeface="Times New Roman" panose="02020603050405020304" pitchFamily="18" charset="0"/>
            </a:endParaRPr>
          </a:p>
          <a:p>
            <a:pPr marL="342900" indent="-342900">
              <a:buFont typeface="Arial" panose="020B0604020202020204" pitchFamily="34" charset="0"/>
              <a:buChar char="•"/>
            </a:pPr>
            <a:r>
              <a:rPr lang="en-US" sz="2000" dirty="0">
                <a:effectLst/>
                <a:latin typeface="Calibri" panose="020F0502020204030204" pitchFamily="34" charset="0"/>
                <a:ea typeface="DengXian" panose="02010600030101010101" pitchFamily="2" charset="-122"/>
                <a:cs typeface="Times New Roman" panose="02020603050405020304" pitchFamily="18" charset="0"/>
              </a:rPr>
              <a:t>The process after the mask remains unknown</a:t>
            </a:r>
            <a:endParaRPr lang="en-US" sz="1100" dirty="0">
              <a:effectLst/>
              <a:latin typeface="Calibri" panose="020F0502020204030204" pitchFamily="34" charset="0"/>
              <a:ea typeface="DengXian" panose="02010600030101010101" pitchFamily="2" charset="-122"/>
              <a:cs typeface="Times New Roman" panose="02020603050405020304" pitchFamily="18" charset="0"/>
            </a:endParaRPr>
          </a:p>
        </p:txBody>
      </p:sp>
      <p:pic>
        <p:nvPicPr>
          <p:cNvPr id="11" name="Picture 10">
            <a:extLst>
              <a:ext uri="{FF2B5EF4-FFF2-40B4-BE49-F238E27FC236}">
                <a16:creationId xmlns:a16="http://schemas.microsoft.com/office/drawing/2014/main" id="{0C481D9E-5C76-D08C-2893-9C44D9E15B9E}"/>
              </a:ext>
            </a:extLst>
          </p:cNvPr>
          <p:cNvPicPr>
            <a:picLocks noChangeAspect="1"/>
          </p:cNvPicPr>
          <p:nvPr/>
        </p:nvPicPr>
        <p:blipFill>
          <a:blip r:embed="rId2"/>
          <a:stretch>
            <a:fillRect/>
          </a:stretch>
        </p:blipFill>
        <p:spPr>
          <a:xfrm>
            <a:off x="206913" y="3093800"/>
            <a:ext cx="4148138" cy="2747963"/>
          </a:xfrm>
          <a:prstGeom prst="rect">
            <a:avLst/>
          </a:prstGeom>
        </p:spPr>
      </p:pic>
      <p:pic>
        <p:nvPicPr>
          <p:cNvPr id="13" name="Picture 12">
            <a:extLst>
              <a:ext uri="{FF2B5EF4-FFF2-40B4-BE49-F238E27FC236}">
                <a16:creationId xmlns:a16="http://schemas.microsoft.com/office/drawing/2014/main" id="{3DACC1E3-B3F5-F4EF-670A-586EF3A17656}"/>
              </a:ext>
            </a:extLst>
          </p:cNvPr>
          <p:cNvPicPr>
            <a:picLocks noChangeAspect="1"/>
          </p:cNvPicPr>
          <p:nvPr/>
        </p:nvPicPr>
        <p:blipFill>
          <a:blip r:embed="rId3"/>
          <a:stretch>
            <a:fillRect/>
          </a:stretch>
        </p:blipFill>
        <p:spPr>
          <a:xfrm>
            <a:off x="4572000" y="3118496"/>
            <a:ext cx="4183541" cy="2492620"/>
          </a:xfrm>
          <a:prstGeom prst="rect">
            <a:avLst/>
          </a:prstGeom>
        </p:spPr>
      </p:pic>
      <p:sp>
        <p:nvSpPr>
          <p:cNvPr id="14" name="TextBox 13">
            <a:extLst>
              <a:ext uri="{FF2B5EF4-FFF2-40B4-BE49-F238E27FC236}">
                <a16:creationId xmlns:a16="http://schemas.microsoft.com/office/drawing/2014/main" id="{B0200A58-375D-4C5A-C775-0E9632B65302}"/>
              </a:ext>
            </a:extLst>
          </p:cNvPr>
          <p:cNvSpPr txBox="1"/>
          <p:nvPr/>
        </p:nvSpPr>
        <p:spPr>
          <a:xfrm>
            <a:off x="935665" y="5937450"/>
            <a:ext cx="2371061" cy="369332"/>
          </a:xfrm>
          <a:prstGeom prst="rect">
            <a:avLst/>
          </a:prstGeom>
          <a:noFill/>
        </p:spPr>
        <p:txBody>
          <a:bodyPr wrap="square" rtlCol="0">
            <a:spAutoFit/>
          </a:bodyPr>
          <a:lstStyle/>
          <a:p>
            <a:r>
              <a:rPr lang="en-US" sz="1800" dirty="0">
                <a:effectLst/>
                <a:latin typeface="Calibri" panose="020F0502020204030204" pitchFamily="34" charset="0"/>
                <a:ea typeface="DengXian" panose="02010600030101010101" pitchFamily="2" charset="-122"/>
                <a:cs typeface="Times New Roman" panose="02020603050405020304" pitchFamily="18" charset="0"/>
              </a:rPr>
              <a:t>(</a:t>
            </a:r>
            <a:r>
              <a:rPr lang="en-US" sz="1800" dirty="0" err="1">
                <a:effectLst/>
                <a:latin typeface="Calibri" panose="020F0502020204030204" pitchFamily="34" charset="0"/>
                <a:ea typeface="DengXian" panose="02010600030101010101" pitchFamily="2" charset="-122"/>
                <a:cs typeface="Times New Roman" panose="02020603050405020304" pitchFamily="18" charset="0"/>
              </a:rPr>
              <a:t>Hafri</a:t>
            </a:r>
            <a:r>
              <a:rPr lang="en-US" sz="1800" dirty="0">
                <a:effectLst/>
                <a:latin typeface="Calibri" panose="020F0502020204030204" pitchFamily="34" charset="0"/>
                <a:ea typeface="DengXian" panose="02010600030101010101" pitchFamily="2" charset="-122"/>
                <a:cs typeface="Times New Roman" panose="02020603050405020304" pitchFamily="18" charset="0"/>
              </a:rPr>
              <a:t> et al., 2013)</a:t>
            </a:r>
            <a:endParaRPr lang="en-US" dirty="0"/>
          </a:p>
        </p:txBody>
      </p:sp>
      <p:sp>
        <p:nvSpPr>
          <p:cNvPr id="15" name="TextBox 14">
            <a:extLst>
              <a:ext uri="{FF2B5EF4-FFF2-40B4-BE49-F238E27FC236}">
                <a16:creationId xmlns:a16="http://schemas.microsoft.com/office/drawing/2014/main" id="{B67BC7C4-BD65-ED40-FDE0-B57DE4C4D1CA}"/>
              </a:ext>
            </a:extLst>
          </p:cNvPr>
          <p:cNvSpPr txBox="1"/>
          <p:nvPr/>
        </p:nvSpPr>
        <p:spPr>
          <a:xfrm>
            <a:off x="5082364" y="5937450"/>
            <a:ext cx="2870790" cy="369332"/>
          </a:xfrm>
          <a:prstGeom prst="rect">
            <a:avLst/>
          </a:prstGeom>
          <a:noFill/>
        </p:spPr>
        <p:txBody>
          <a:bodyPr wrap="square" rtlCol="0">
            <a:spAutoFit/>
          </a:bodyPr>
          <a:lstStyle/>
          <a:p>
            <a:r>
              <a:rPr lang="en-GB" dirty="0">
                <a:latin typeface="Calibri" panose="020F0502020204030204" pitchFamily="34" charset="0"/>
                <a:ea typeface="DengXian" panose="02010600030101010101" pitchFamily="2" charset="-122"/>
                <a:cs typeface="Times New Roman" panose="02020603050405020304" pitchFamily="18" charset="0"/>
              </a:rPr>
              <a:t>(</a:t>
            </a:r>
            <a:r>
              <a:rPr lang="en-US" dirty="0" err="1">
                <a:latin typeface="Calibri" panose="020F0502020204030204" pitchFamily="34" charset="0"/>
                <a:ea typeface="DengXian" panose="02010600030101010101" pitchFamily="2" charset="-122"/>
                <a:cs typeface="Times New Roman" panose="02020603050405020304" pitchFamily="18" charset="0"/>
              </a:rPr>
              <a:t>Isasi-Isasmendi</a:t>
            </a:r>
            <a:r>
              <a:rPr lang="en-US" dirty="0">
                <a:latin typeface="Calibri" panose="020F0502020204030204" pitchFamily="34" charset="0"/>
                <a:ea typeface="DengXian" panose="02010600030101010101" pitchFamily="2" charset="-122"/>
                <a:cs typeface="Times New Roman" panose="02020603050405020304" pitchFamily="18" charset="0"/>
              </a:rPr>
              <a:t> et al., 2023)</a:t>
            </a:r>
          </a:p>
        </p:txBody>
      </p:sp>
    </p:spTree>
    <p:extLst>
      <p:ext uri="{BB962C8B-B14F-4D97-AF65-F5344CB8AC3E}">
        <p14:creationId xmlns:p14="http://schemas.microsoft.com/office/powerpoint/2010/main" val="158405470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CADAF7FE-FA70-0A08-53F6-CBAFC70482E3}"/>
              </a:ext>
            </a:extLst>
          </p:cNvPr>
          <p:cNvGrpSpPr/>
          <p:nvPr/>
        </p:nvGrpSpPr>
        <p:grpSpPr>
          <a:xfrm>
            <a:off x="1173979" y="2118041"/>
            <a:ext cx="2571674" cy="1590546"/>
            <a:chOff x="394362" y="1621364"/>
            <a:chExt cx="2902088" cy="1798031"/>
          </a:xfrm>
        </p:grpSpPr>
        <p:sp>
          <p:nvSpPr>
            <p:cNvPr id="5" name="Rectangle 4">
              <a:extLst>
                <a:ext uri="{FF2B5EF4-FFF2-40B4-BE49-F238E27FC236}">
                  <a16:creationId xmlns:a16="http://schemas.microsoft.com/office/drawing/2014/main" id="{3BB34B63-5709-4EAC-5C8C-7C63E4C961ED}"/>
                </a:ext>
              </a:extLst>
            </p:cNvPr>
            <p:cNvSpPr/>
            <p:nvPr/>
          </p:nvSpPr>
          <p:spPr>
            <a:xfrm>
              <a:off x="394362" y="1621364"/>
              <a:ext cx="2902088" cy="179803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 name="Plus Sign 5">
              <a:extLst>
                <a:ext uri="{FF2B5EF4-FFF2-40B4-BE49-F238E27FC236}">
                  <a16:creationId xmlns:a16="http://schemas.microsoft.com/office/drawing/2014/main" id="{DB57E1A4-80FF-379E-921B-1967F7794B2F}"/>
                </a:ext>
              </a:extLst>
            </p:cNvPr>
            <p:cNvSpPr/>
            <p:nvPr/>
          </p:nvSpPr>
          <p:spPr>
            <a:xfrm>
              <a:off x="1749356" y="2443539"/>
              <a:ext cx="178790" cy="128211"/>
            </a:xfrm>
            <a:prstGeom prst="mathPlus">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7" name="Group 6">
            <a:extLst>
              <a:ext uri="{FF2B5EF4-FFF2-40B4-BE49-F238E27FC236}">
                <a16:creationId xmlns:a16="http://schemas.microsoft.com/office/drawing/2014/main" id="{0EFF5DE7-7060-191C-60A0-AEB87C97DEC9}"/>
              </a:ext>
            </a:extLst>
          </p:cNvPr>
          <p:cNvGrpSpPr/>
          <p:nvPr/>
        </p:nvGrpSpPr>
        <p:grpSpPr>
          <a:xfrm>
            <a:off x="1483817" y="2342984"/>
            <a:ext cx="585118" cy="207315"/>
            <a:chOff x="499462" y="1045029"/>
            <a:chExt cx="725907" cy="266513"/>
          </a:xfrm>
        </p:grpSpPr>
        <p:sp>
          <p:nvSpPr>
            <p:cNvPr id="8" name="Oval 7">
              <a:extLst>
                <a:ext uri="{FF2B5EF4-FFF2-40B4-BE49-F238E27FC236}">
                  <a16:creationId xmlns:a16="http://schemas.microsoft.com/office/drawing/2014/main" id="{049FEF0D-0BDA-79FA-BF47-7262B30B49E1}"/>
                </a:ext>
              </a:extLst>
            </p:cNvPr>
            <p:cNvSpPr/>
            <p:nvPr/>
          </p:nvSpPr>
          <p:spPr>
            <a:xfrm>
              <a:off x="499462" y="1045029"/>
              <a:ext cx="725907" cy="266513"/>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 name="Oval 8">
              <a:extLst>
                <a:ext uri="{FF2B5EF4-FFF2-40B4-BE49-F238E27FC236}">
                  <a16:creationId xmlns:a16="http://schemas.microsoft.com/office/drawing/2014/main" id="{1D0C9AEF-EACD-DDCC-58FE-93684D589E52}"/>
                </a:ext>
              </a:extLst>
            </p:cNvPr>
            <p:cNvSpPr/>
            <p:nvPr/>
          </p:nvSpPr>
          <p:spPr>
            <a:xfrm>
              <a:off x="806824" y="1045029"/>
              <a:ext cx="130628" cy="266513"/>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cxnSp>
        <p:nvCxnSpPr>
          <p:cNvPr id="10" name="Straight Arrow Connector 9">
            <a:extLst>
              <a:ext uri="{FF2B5EF4-FFF2-40B4-BE49-F238E27FC236}">
                <a16:creationId xmlns:a16="http://schemas.microsoft.com/office/drawing/2014/main" id="{B6929572-0E57-729A-7E7F-2D6768C4A361}"/>
              </a:ext>
            </a:extLst>
          </p:cNvPr>
          <p:cNvCxnSpPr>
            <a:cxnSpLocks/>
          </p:cNvCxnSpPr>
          <p:nvPr/>
        </p:nvCxnSpPr>
        <p:spPr>
          <a:xfrm>
            <a:off x="2068935" y="2550298"/>
            <a:ext cx="280634" cy="263664"/>
          </a:xfrm>
          <a:prstGeom prst="straightConnector1">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nvGrpSpPr>
          <p:cNvPr id="11" name="Group 10">
            <a:extLst>
              <a:ext uri="{FF2B5EF4-FFF2-40B4-BE49-F238E27FC236}">
                <a16:creationId xmlns:a16="http://schemas.microsoft.com/office/drawing/2014/main" id="{EA4E332B-0800-78A1-8352-9EA76BC91D68}"/>
              </a:ext>
            </a:extLst>
          </p:cNvPr>
          <p:cNvGrpSpPr/>
          <p:nvPr/>
        </p:nvGrpSpPr>
        <p:grpSpPr>
          <a:xfrm>
            <a:off x="5177604" y="2120619"/>
            <a:ext cx="2571674" cy="1590546"/>
            <a:chOff x="394362" y="1621364"/>
            <a:chExt cx="2902088" cy="1798031"/>
          </a:xfrm>
        </p:grpSpPr>
        <p:sp>
          <p:nvSpPr>
            <p:cNvPr id="12" name="Rectangle 11">
              <a:extLst>
                <a:ext uri="{FF2B5EF4-FFF2-40B4-BE49-F238E27FC236}">
                  <a16:creationId xmlns:a16="http://schemas.microsoft.com/office/drawing/2014/main" id="{2E4545A0-AB84-6DDF-3028-079B60E987F0}"/>
                </a:ext>
              </a:extLst>
            </p:cNvPr>
            <p:cNvSpPr/>
            <p:nvPr/>
          </p:nvSpPr>
          <p:spPr>
            <a:xfrm>
              <a:off x="394362" y="1621364"/>
              <a:ext cx="2902088" cy="179803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13" name="Plus Sign 12">
              <a:extLst>
                <a:ext uri="{FF2B5EF4-FFF2-40B4-BE49-F238E27FC236}">
                  <a16:creationId xmlns:a16="http://schemas.microsoft.com/office/drawing/2014/main" id="{DD898434-E555-CBDC-A213-DF90009BE065}"/>
                </a:ext>
              </a:extLst>
            </p:cNvPr>
            <p:cNvSpPr/>
            <p:nvPr/>
          </p:nvSpPr>
          <p:spPr>
            <a:xfrm>
              <a:off x="1749356" y="2443539"/>
              <a:ext cx="178790" cy="128211"/>
            </a:xfrm>
            <a:prstGeom prst="mathPlus">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14" name="Group 13">
            <a:extLst>
              <a:ext uri="{FF2B5EF4-FFF2-40B4-BE49-F238E27FC236}">
                <a16:creationId xmlns:a16="http://schemas.microsoft.com/office/drawing/2014/main" id="{8A1A275D-E544-C9F1-ED9F-9835E6C6C434}"/>
              </a:ext>
            </a:extLst>
          </p:cNvPr>
          <p:cNvGrpSpPr/>
          <p:nvPr/>
        </p:nvGrpSpPr>
        <p:grpSpPr>
          <a:xfrm>
            <a:off x="1168082" y="4068505"/>
            <a:ext cx="2571674" cy="1590546"/>
            <a:chOff x="394362" y="1621364"/>
            <a:chExt cx="2902088" cy="1798031"/>
          </a:xfrm>
        </p:grpSpPr>
        <p:sp>
          <p:nvSpPr>
            <p:cNvPr id="15" name="Rectangle 14">
              <a:extLst>
                <a:ext uri="{FF2B5EF4-FFF2-40B4-BE49-F238E27FC236}">
                  <a16:creationId xmlns:a16="http://schemas.microsoft.com/office/drawing/2014/main" id="{E33C3FD1-E72B-3041-5C23-25AC1C1EC00E}"/>
                </a:ext>
              </a:extLst>
            </p:cNvPr>
            <p:cNvSpPr/>
            <p:nvPr/>
          </p:nvSpPr>
          <p:spPr>
            <a:xfrm>
              <a:off x="394362" y="1621364"/>
              <a:ext cx="2902088" cy="179803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 name="Plus Sign 15">
              <a:extLst>
                <a:ext uri="{FF2B5EF4-FFF2-40B4-BE49-F238E27FC236}">
                  <a16:creationId xmlns:a16="http://schemas.microsoft.com/office/drawing/2014/main" id="{33FC008A-73F7-1567-DA04-7FE0D29C7776}"/>
                </a:ext>
              </a:extLst>
            </p:cNvPr>
            <p:cNvSpPr/>
            <p:nvPr/>
          </p:nvSpPr>
          <p:spPr>
            <a:xfrm>
              <a:off x="1749356" y="2443539"/>
              <a:ext cx="178790" cy="128211"/>
            </a:xfrm>
            <a:prstGeom prst="mathPlus">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pic>
        <p:nvPicPr>
          <p:cNvPr id="17" name="Grafik 4">
            <a:extLst>
              <a:ext uri="{FF2B5EF4-FFF2-40B4-BE49-F238E27FC236}">
                <a16:creationId xmlns:a16="http://schemas.microsoft.com/office/drawing/2014/main" id="{6A5AFEE7-D2F4-EFEE-CF96-71EEB6052A48}"/>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1345" t="2480" r="-1345" b="10783"/>
          <a:stretch/>
        </p:blipFill>
        <p:spPr>
          <a:xfrm>
            <a:off x="5973992" y="2177902"/>
            <a:ext cx="991210" cy="625354"/>
          </a:xfrm>
          <a:prstGeom prst="rect">
            <a:avLst/>
          </a:prstGeom>
        </p:spPr>
      </p:pic>
      <p:grpSp>
        <p:nvGrpSpPr>
          <p:cNvPr id="19" name="Group 18">
            <a:extLst>
              <a:ext uri="{FF2B5EF4-FFF2-40B4-BE49-F238E27FC236}">
                <a16:creationId xmlns:a16="http://schemas.microsoft.com/office/drawing/2014/main" id="{1A131B1E-26E8-3F9C-CCE8-7A4A9F4184B6}"/>
              </a:ext>
            </a:extLst>
          </p:cNvPr>
          <p:cNvGrpSpPr/>
          <p:nvPr/>
        </p:nvGrpSpPr>
        <p:grpSpPr>
          <a:xfrm>
            <a:off x="5171707" y="4086358"/>
            <a:ext cx="2571674" cy="1590546"/>
            <a:chOff x="394362" y="1621364"/>
            <a:chExt cx="2902088" cy="1798031"/>
          </a:xfrm>
        </p:grpSpPr>
        <p:sp>
          <p:nvSpPr>
            <p:cNvPr id="20" name="Rectangle 19">
              <a:extLst>
                <a:ext uri="{FF2B5EF4-FFF2-40B4-BE49-F238E27FC236}">
                  <a16:creationId xmlns:a16="http://schemas.microsoft.com/office/drawing/2014/main" id="{A7C31C95-1D0A-F8A2-3A5E-EBACBB4D2BFE}"/>
                </a:ext>
              </a:extLst>
            </p:cNvPr>
            <p:cNvSpPr/>
            <p:nvPr/>
          </p:nvSpPr>
          <p:spPr>
            <a:xfrm>
              <a:off x="394362" y="1621364"/>
              <a:ext cx="2902088" cy="179803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1" name="Plus Sign 20">
              <a:extLst>
                <a:ext uri="{FF2B5EF4-FFF2-40B4-BE49-F238E27FC236}">
                  <a16:creationId xmlns:a16="http://schemas.microsoft.com/office/drawing/2014/main" id="{FBE2A5A9-F6DC-5BFF-8186-D89BC8D9463F}"/>
                </a:ext>
              </a:extLst>
            </p:cNvPr>
            <p:cNvSpPr/>
            <p:nvPr/>
          </p:nvSpPr>
          <p:spPr>
            <a:xfrm>
              <a:off x="1749356" y="2443539"/>
              <a:ext cx="178790" cy="128211"/>
            </a:xfrm>
            <a:prstGeom prst="mathPlus">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pic>
        <p:nvPicPr>
          <p:cNvPr id="22" name="Picture 21">
            <a:extLst>
              <a:ext uri="{FF2B5EF4-FFF2-40B4-BE49-F238E27FC236}">
                <a16:creationId xmlns:a16="http://schemas.microsoft.com/office/drawing/2014/main" id="{C230B493-6A16-7417-9E38-49ACA40843BA}"/>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8685" t="13490" r="3846" b="13966"/>
          <a:stretch/>
        </p:blipFill>
        <p:spPr>
          <a:xfrm>
            <a:off x="5862211" y="5010895"/>
            <a:ext cx="1178872" cy="639274"/>
          </a:xfrm>
          <a:prstGeom prst="rect">
            <a:avLst/>
          </a:prstGeom>
        </p:spPr>
      </p:pic>
      <p:grpSp>
        <p:nvGrpSpPr>
          <p:cNvPr id="23" name="Group 22">
            <a:extLst>
              <a:ext uri="{FF2B5EF4-FFF2-40B4-BE49-F238E27FC236}">
                <a16:creationId xmlns:a16="http://schemas.microsoft.com/office/drawing/2014/main" id="{133926B3-24F0-0E36-684E-BA1E43A3F574}"/>
              </a:ext>
            </a:extLst>
          </p:cNvPr>
          <p:cNvGrpSpPr/>
          <p:nvPr/>
        </p:nvGrpSpPr>
        <p:grpSpPr>
          <a:xfrm>
            <a:off x="7426954" y="2768793"/>
            <a:ext cx="725907" cy="266513"/>
            <a:chOff x="499462" y="1045029"/>
            <a:chExt cx="725907" cy="266513"/>
          </a:xfrm>
        </p:grpSpPr>
        <p:sp>
          <p:nvSpPr>
            <p:cNvPr id="24" name="Oval 23">
              <a:extLst>
                <a:ext uri="{FF2B5EF4-FFF2-40B4-BE49-F238E27FC236}">
                  <a16:creationId xmlns:a16="http://schemas.microsoft.com/office/drawing/2014/main" id="{FF65DF8D-2878-4D2D-8ADF-0C5381A76B80}"/>
                </a:ext>
              </a:extLst>
            </p:cNvPr>
            <p:cNvSpPr/>
            <p:nvPr/>
          </p:nvSpPr>
          <p:spPr>
            <a:xfrm>
              <a:off x="499462" y="1045029"/>
              <a:ext cx="725907" cy="266513"/>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5" name="Oval 24">
              <a:extLst>
                <a:ext uri="{FF2B5EF4-FFF2-40B4-BE49-F238E27FC236}">
                  <a16:creationId xmlns:a16="http://schemas.microsoft.com/office/drawing/2014/main" id="{FA5BC5A0-84B1-2A13-1653-1BE9F4C365B8}"/>
                </a:ext>
              </a:extLst>
            </p:cNvPr>
            <p:cNvSpPr/>
            <p:nvPr/>
          </p:nvSpPr>
          <p:spPr>
            <a:xfrm>
              <a:off x="806824" y="1045029"/>
              <a:ext cx="130628" cy="266513"/>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29" name="Group 28">
            <a:extLst>
              <a:ext uri="{FF2B5EF4-FFF2-40B4-BE49-F238E27FC236}">
                <a16:creationId xmlns:a16="http://schemas.microsoft.com/office/drawing/2014/main" id="{D4FDB9F9-F1A9-F06A-AD0F-35D939B56AB3}"/>
              </a:ext>
            </a:extLst>
          </p:cNvPr>
          <p:cNvGrpSpPr/>
          <p:nvPr/>
        </p:nvGrpSpPr>
        <p:grpSpPr>
          <a:xfrm>
            <a:off x="7426955" y="4735972"/>
            <a:ext cx="725907" cy="266513"/>
            <a:chOff x="499462" y="1045029"/>
            <a:chExt cx="725907" cy="266513"/>
          </a:xfrm>
        </p:grpSpPr>
        <p:sp>
          <p:nvSpPr>
            <p:cNvPr id="30" name="Oval 29">
              <a:extLst>
                <a:ext uri="{FF2B5EF4-FFF2-40B4-BE49-F238E27FC236}">
                  <a16:creationId xmlns:a16="http://schemas.microsoft.com/office/drawing/2014/main" id="{0F25E38C-C1FF-FD68-DB70-33CC747E22B2}"/>
                </a:ext>
              </a:extLst>
            </p:cNvPr>
            <p:cNvSpPr/>
            <p:nvPr/>
          </p:nvSpPr>
          <p:spPr>
            <a:xfrm>
              <a:off x="499462" y="1045029"/>
              <a:ext cx="725907" cy="266513"/>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1" name="Oval 30">
              <a:extLst>
                <a:ext uri="{FF2B5EF4-FFF2-40B4-BE49-F238E27FC236}">
                  <a16:creationId xmlns:a16="http://schemas.microsoft.com/office/drawing/2014/main" id="{BFA29E67-D9E5-D128-BAB7-1DF0935217A4}"/>
                </a:ext>
              </a:extLst>
            </p:cNvPr>
            <p:cNvSpPr/>
            <p:nvPr/>
          </p:nvSpPr>
          <p:spPr>
            <a:xfrm>
              <a:off x="806824" y="1045029"/>
              <a:ext cx="130628" cy="266513"/>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sp>
        <p:nvSpPr>
          <p:cNvPr id="33" name="Inhaltsplatzhalter 1">
            <a:extLst>
              <a:ext uri="{FF2B5EF4-FFF2-40B4-BE49-F238E27FC236}">
                <a16:creationId xmlns:a16="http://schemas.microsoft.com/office/drawing/2014/main" id="{57E4BA4A-F14B-4814-5347-0C7B63CD14FE}"/>
              </a:ext>
            </a:extLst>
          </p:cNvPr>
          <p:cNvSpPr>
            <a:spLocks noGrp="1"/>
          </p:cNvSpPr>
          <p:nvPr>
            <p:ph sz="quarter" idx="10"/>
          </p:nvPr>
        </p:nvSpPr>
        <p:spPr>
          <a:xfrm>
            <a:off x="3187777" y="1241266"/>
            <a:ext cx="3181040" cy="334520"/>
          </a:xfrm>
        </p:spPr>
        <p:txBody>
          <a:bodyPr/>
          <a:lstStyle/>
          <a:p>
            <a:r>
              <a:rPr lang="de-DE" sz="3600" dirty="0"/>
              <a:t>Experiment</a:t>
            </a:r>
          </a:p>
        </p:txBody>
      </p:sp>
      <p:grpSp>
        <p:nvGrpSpPr>
          <p:cNvPr id="2" name="Group 1">
            <a:extLst>
              <a:ext uri="{FF2B5EF4-FFF2-40B4-BE49-F238E27FC236}">
                <a16:creationId xmlns:a16="http://schemas.microsoft.com/office/drawing/2014/main" id="{C688668E-1537-9C3E-0ADF-3A4DE2D1AA2D}"/>
              </a:ext>
            </a:extLst>
          </p:cNvPr>
          <p:cNvGrpSpPr/>
          <p:nvPr/>
        </p:nvGrpSpPr>
        <p:grpSpPr>
          <a:xfrm>
            <a:off x="1483817" y="4367293"/>
            <a:ext cx="585118" cy="207315"/>
            <a:chOff x="499462" y="1045029"/>
            <a:chExt cx="725907" cy="266513"/>
          </a:xfrm>
        </p:grpSpPr>
        <p:sp>
          <p:nvSpPr>
            <p:cNvPr id="3" name="Oval 2">
              <a:extLst>
                <a:ext uri="{FF2B5EF4-FFF2-40B4-BE49-F238E27FC236}">
                  <a16:creationId xmlns:a16="http://schemas.microsoft.com/office/drawing/2014/main" id="{BA0973B7-3B09-15DD-D1A7-CDB2E949F6D9}"/>
                </a:ext>
              </a:extLst>
            </p:cNvPr>
            <p:cNvSpPr/>
            <p:nvPr/>
          </p:nvSpPr>
          <p:spPr>
            <a:xfrm>
              <a:off x="499462" y="1045029"/>
              <a:ext cx="725907" cy="266513"/>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 name="Oval 33">
              <a:extLst>
                <a:ext uri="{FF2B5EF4-FFF2-40B4-BE49-F238E27FC236}">
                  <a16:creationId xmlns:a16="http://schemas.microsoft.com/office/drawing/2014/main" id="{C4B6A1C0-33F7-1669-8E25-24861A98B437}"/>
                </a:ext>
              </a:extLst>
            </p:cNvPr>
            <p:cNvSpPr/>
            <p:nvPr/>
          </p:nvSpPr>
          <p:spPr>
            <a:xfrm>
              <a:off x="806824" y="1045029"/>
              <a:ext cx="130628" cy="266513"/>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cxnSp>
        <p:nvCxnSpPr>
          <p:cNvPr id="35" name="Straight Arrow Connector 34">
            <a:extLst>
              <a:ext uri="{FF2B5EF4-FFF2-40B4-BE49-F238E27FC236}">
                <a16:creationId xmlns:a16="http://schemas.microsoft.com/office/drawing/2014/main" id="{5B6A3AC6-3757-EF1F-C872-AFFB18E56D4D}"/>
              </a:ext>
            </a:extLst>
          </p:cNvPr>
          <p:cNvCxnSpPr>
            <a:cxnSpLocks/>
          </p:cNvCxnSpPr>
          <p:nvPr/>
        </p:nvCxnSpPr>
        <p:spPr>
          <a:xfrm>
            <a:off x="2088171" y="4555962"/>
            <a:ext cx="280634" cy="263664"/>
          </a:xfrm>
          <a:prstGeom prst="straightConnector1">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6" name="Straight Arrow Connector 35">
            <a:extLst>
              <a:ext uri="{FF2B5EF4-FFF2-40B4-BE49-F238E27FC236}">
                <a16:creationId xmlns:a16="http://schemas.microsoft.com/office/drawing/2014/main" id="{CE384B9C-47FF-50D4-A0B7-9D5AFD6B56B9}"/>
              </a:ext>
            </a:extLst>
          </p:cNvPr>
          <p:cNvCxnSpPr>
            <a:cxnSpLocks/>
          </p:cNvCxnSpPr>
          <p:nvPr/>
        </p:nvCxnSpPr>
        <p:spPr>
          <a:xfrm flipH="1" flipV="1">
            <a:off x="6372431" y="2487993"/>
            <a:ext cx="1241329" cy="406967"/>
          </a:xfrm>
          <a:prstGeom prst="straightConnector1">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41" name="Straight Arrow Connector 40">
            <a:extLst>
              <a:ext uri="{FF2B5EF4-FFF2-40B4-BE49-F238E27FC236}">
                <a16:creationId xmlns:a16="http://schemas.microsoft.com/office/drawing/2014/main" id="{B29643E0-916B-32C4-D67E-AADB0A5BEE99}"/>
              </a:ext>
            </a:extLst>
          </p:cNvPr>
          <p:cNvCxnSpPr>
            <a:cxnSpLocks/>
          </p:cNvCxnSpPr>
          <p:nvPr/>
        </p:nvCxnSpPr>
        <p:spPr>
          <a:xfrm flipH="1">
            <a:off x="6279381" y="4897122"/>
            <a:ext cx="1416957" cy="261179"/>
          </a:xfrm>
          <a:prstGeom prst="straightConnector1">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45" name="TextBox 44">
            <a:extLst>
              <a:ext uri="{FF2B5EF4-FFF2-40B4-BE49-F238E27FC236}">
                <a16:creationId xmlns:a16="http://schemas.microsoft.com/office/drawing/2014/main" id="{A1B04ABC-239A-5D15-1EF3-7DC95887785F}"/>
              </a:ext>
            </a:extLst>
          </p:cNvPr>
          <p:cNvSpPr txBox="1"/>
          <p:nvPr/>
        </p:nvSpPr>
        <p:spPr>
          <a:xfrm>
            <a:off x="5660405" y="3262429"/>
            <a:ext cx="1582484" cy="369332"/>
          </a:xfrm>
          <a:prstGeom prst="rect">
            <a:avLst/>
          </a:prstGeom>
          <a:noFill/>
        </p:spPr>
        <p:txBody>
          <a:bodyPr wrap="none" rtlCol="0">
            <a:spAutoFit/>
          </a:bodyPr>
          <a:lstStyle/>
          <a:p>
            <a:r>
              <a:rPr lang="en-US" dirty="0"/>
              <a:t>Agent Search</a:t>
            </a:r>
          </a:p>
        </p:txBody>
      </p:sp>
      <p:sp>
        <p:nvSpPr>
          <p:cNvPr id="46" name="TextBox 45">
            <a:extLst>
              <a:ext uri="{FF2B5EF4-FFF2-40B4-BE49-F238E27FC236}">
                <a16:creationId xmlns:a16="http://schemas.microsoft.com/office/drawing/2014/main" id="{D2C740A0-2E3E-0028-076B-0FA41469E02A}"/>
              </a:ext>
            </a:extLst>
          </p:cNvPr>
          <p:cNvSpPr txBox="1"/>
          <p:nvPr/>
        </p:nvSpPr>
        <p:spPr>
          <a:xfrm>
            <a:off x="5672200" y="4228086"/>
            <a:ext cx="1697901" cy="369332"/>
          </a:xfrm>
          <a:prstGeom prst="rect">
            <a:avLst/>
          </a:prstGeom>
          <a:noFill/>
        </p:spPr>
        <p:txBody>
          <a:bodyPr wrap="none" rtlCol="0">
            <a:spAutoFit/>
          </a:bodyPr>
          <a:lstStyle/>
          <a:p>
            <a:r>
              <a:rPr lang="en-US" dirty="0"/>
              <a:t>Patient Search</a:t>
            </a:r>
          </a:p>
        </p:txBody>
      </p:sp>
    </p:spTree>
    <p:extLst>
      <p:ext uri="{BB962C8B-B14F-4D97-AF65-F5344CB8AC3E}">
        <p14:creationId xmlns:p14="http://schemas.microsoft.com/office/powerpoint/2010/main" val="4274941720"/>
      </p:ext>
    </p:extLst>
  </p:cSld>
  <p:clrMapOvr>
    <a:masterClrMapping/>
  </p:clrMapOvr>
  <mc:AlternateContent xmlns:mc="http://schemas.openxmlformats.org/markup-compatibility/2006" xmlns:p14="http://schemas.microsoft.com/office/powerpoint/2010/main">
    <mc:Choice Requires="p14">
      <p:transition spd="slow" p14:dur="2000" advTm="55198"/>
    </mc:Choice>
    <mc:Fallback xmlns="">
      <p:transition spd="slow" advTm="55198"/>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F204ECA-B524-C037-5B0D-97F55692FAFA}"/>
              </a:ext>
            </a:extLst>
          </p:cNvPr>
          <p:cNvSpPr/>
          <p:nvPr/>
        </p:nvSpPr>
        <p:spPr>
          <a:xfrm>
            <a:off x="359999" y="1043057"/>
            <a:ext cx="8236254" cy="707886"/>
          </a:xfrm>
          <a:prstGeom prst="rect">
            <a:avLst/>
          </a:prstGeom>
          <a:noFill/>
        </p:spPr>
        <p:txBody>
          <a:bodyPr wrap="square" lIns="91440" tIns="45720" rIns="91440" bIns="45720">
            <a:spAutoFit/>
          </a:bodyPr>
          <a:lstStyle/>
          <a:p>
            <a:pPr eaLnBrk="1" hangingPunct="1">
              <a:spcBef>
                <a:spcPct val="20000"/>
              </a:spcBef>
            </a:pPr>
            <a:r>
              <a:rPr lang="en-US" altLang="zh-CN" sz="4000" b="1" dirty="0">
                <a:latin typeface="Calibri" panose="020F0502020204030204" pitchFamily="34" charset="0"/>
                <a:ea typeface="微软雅黑" panose="020B0503020204020204" pitchFamily="34" charset="-122"/>
                <a:cs typeface="Calibri" panose="020F0502020204030204" pitchFamily="34" charset="0"/>
                <a:sym typeface="Arial" panose="020B0604020202020204" pitchFamily="34" charset="0"/>
              </a:rPr>
              <a:t>Research Gap 1:</a:t>
            </a:r>
            <a:endParaRPr lang="en-US" sz="4000" b="1" dirty="0">
              <a:latin typeface="Calibri" panose="020F0502020204030204" pitchFamily="34" charset="0"/>
              <a:ea typeface="微软雅黑" panose="020B0503020204020204" pitchFamily="34" charset="-122"/>
              <a:cs typeface="Calibri" panose="020F0502020204030204" pitchFamily="34" charset="0"/>
              <a:sym typeface="Arial" panose="020B0604020202020204" pitchFamily="34" charset="0"/>
            </a:endParaRPr>
          </a:p>
        </p:txBody>
      </p:sp>
      <p:sp>
        <p:nvSpPr>
          <p:cNvPr id="7" name="TextBox 6">
            <a:extLst>
              <a:ext uri="{FF2B5EF4-FFF2-40B4-BE49-F238E27FC236}">
                <a16:creationId xmlns:a16="http://schemas.microsoft.com/office/drawing/2014/main" id="{A2B415EA-480E-7D32-E372-626998BDC1C7}"/>
              </a:ext>
            </a:extLst>
          </p:cNvPr>
          <p:cNvSpPr txBox="1"/>
          <p:nvPr/>
        </p:nvSpPr>
        <p:spPr>
          <a:xfrm>
            <a:off x="113848" y="1490008"/>
            <a:ext cx="3710589" cy="1938992"/>
          </a:xfrm>
          <a:prstGeom prst="rect">
            <a:avLst/>
          </a:prstGeom>
          <a:noFill/>
        </p:spPr>
        <p:txBody>
          <a:bodyPr wrap="square" rtlCol="0">
            <a:spAutoFit/>
          </a:bodyPr>
          <a:lstStyle/>
          <a:p>
            <a:pPr marL="342900" indent="-342900">
              <a:buFont typeface="Arial" panose="020B0604020202020204" pitchFamily="34" charset="0"/>
              <a:buChar char="•"/>
            </a:pPr>
            <a:endParaRPr lang="en-US" sz="2000" dirty="0">
              <a:effectLst/>
              <a:latin typeface="Calibri" panose="020F0502020204030204" pitchFamily="34" charset="0"/>
              <a:ea typeface="DengXian" panose="02010600030101010101" pitchFamily="2" charset="-122"/>
              <a:cs typeface="Times New Roman" panose="02020603050405020304" pitchFamily="18" charset="0"/>
            </a:endParaRPr>
          </a:p>
          <a:p>
            <a:pPr marL="342900" indent="-342900">
              <a:buFont typeface="Arial" panose="020B0604020202020204" pitchFamily="34" charset="0"/>
              <a:buChar char="•"/>
            </a:pPr>
            <a:r>
              <a:rPr lang="en-US" sz="2000" dirty="0">
                <a:effectLst/>
                <a:latin typeface="Calibri" panose="020F0502020204030204" pitchFamily="34" charset="0"/>
                <a:ea typeface="DengXian" panose="02010600030101010101" pitchFamily="2" charset="-122"/>
                <a:cs typeface="Times New Roman" panose="02020603050405020304" pitchFamily="18" charset="0"/>
              </a:rPr>
              <a:t>Event roles can be processed within a short time due to the </a:t>
            </a:r>
            <a:r>
              <a:rPr lang="en-US" sz="2000" dirty="0">
                <a:latin typeface="Calibri" panose="020F0502020204030204" pitchFamily="34" charset="0"/>
                <a:ea typeface="DengXian" panose="02010600030101010101" pitchFamily="2" charset="-122"/>
                <a:cs typeface="Times New Roman" panose="02020603050405020304" pitchFamily="18" charset="0"/>
              </a:rPr>
              <a:t>physical characteristics </a:t>
            </a:r>
            <a:r>
              <a:rPr lang="en-US" sz="2000" dirty="0">
                <a:effectLst/>
                <a:latin typeface="Calibri" panose="020F0502020204030204" pitchFamily="34" charset="0"/>
                <a:ea typeface="DengXian" panose="02010600030101010101" pitchFamily="2" charset="-122"/>
                <a:cs typeface="Times New Roman" panose="02020603050405020304" pitchFamily="18" charset="0"/>
              </a:rPr>
              <a:t>(head orientation, body orientation and extremities) </a:t>
            </a:r>
            <a:r>
              <a:rPr lang="en-US" sz="1100" dirty="0">
                <a:effectLst/>
                <a:latin typeface="Calibri" panose="020F0502020204030204" pitchFamily="34" charset="0"/>
                <a:ea typeface="DengXian" panose="02010600030101010101" pitchFamily="2" charset="-122"/>
                <a:cs typeface="Times New Roman" panose="02020603050405020304" pitchFamily="18" charset="0"/>
              </a:rPr>
              <a:t>(</a:t>
            </a:r>
            <a:r>
              <a:rPr lang="en-US" sz="1100" dirty="0" err="1">
                <a:effectLst/>
                <a:latin typeface="Calibri" panose="020F0502020204030204" pitchFamily="34" charset="0"/>
                <a:ea typeface="DengXian" panose="02010600030101010101" pitchFamily="2" charset="-122"/>
                <a:cs typeface="Times New Roman" panose="02020603050405020304" pitchFamily="18" charset="0"/>
              </a:rPr>
              <a:t>Hafri</a:t>
            </a:r>
            <a:r>
              <a:rPr lang="en-US" sz="1100" dirty="0">
                <a:effectLst/>
                <a:latin typeface="Calibri" panose="020F0502020204030204" pitchFamily="34" charset="0"/>
                <a:ea typeface="DengXian" panose="02010600030101010101" pitchFamily="2" charset="-122"/>
                <a:cs typeface="Times New Roman" panose="02020603050405020304" pitchFamily="18" charset="0"/>
              </a:rPr>
              <a:t> et al., 2013) </a:t>
            </a:r>
          </a:p>
        </p:txBody>
      </p:sp>
      <p:sp>
        <p:nvSpPr>
          <p:cNvPr id="2" name="TextBox 1">
            <a:extLst>
              <a:ext uri="{FF2B5EF4-FFF2-40B4-BE49-F238E27FC236}">
                <a16:creationId xmlns:a16="http://schemas.microsoft.com/office/drawing/2014/main" id="{56C41C9A-DF3B-02AA-FE62-FF1880D6BF52}"/>
              </a:ext>
            </a:extLst>
          </p:cNvPr>
          <p:cNvSpPr txBox="1"/>
          <p:nvPr/>
        </p:nvSpPr>
        <p:spPr>
          <a:xfrm>
            <a:off x="4885664" y="1490008"/>
            <a:ext cx="3710589" cy="1800493"/>
          </a:xfrm>
          <a:prstGeom prst="rect">
            <a:avLst/>
          </a:prstGeom>
          <a:noFill/>
        </p:spPr>
        <p:txBody>
          <a:bodyPr wrap="square" rtlCol="0">
            <a:spAutoFit/>
          </a:bodyPr>
          <a:lstStyle/>
          <a:p>
            <a:pPr marL="342900" indent="-342900">
              <a:buFont typeface="Arial" panose="020B0604020202020204" pitchFamily="34" charset="0"/>
              <a:buChar char="•"/>
            </a:pPr>
            <a:endParaRPr lang="en-US" sz="2000" dirty="0">
              <a:effectLst/>
              <a:latin typeface="Calibri" panose="020F0502020204030204" pitchFamily="34" charset="0"/>
              <a:ea typeface="DengXian" panose="02010600030101010101" pitchFamily="2" charset="-122"/>
              <a:cs typeface="Times New Roman" panose="02020603050405020304" pitchFamily="18" charset="0"/>
            </a:endParaRPr>
          </a:p>
          <a:p>
            <a:pPr marL="342900" indent="-342900">
              <a:buFont typeface="Arial" panose="020B0604020202020204" pitchFamily="34" charset="0"/>
              <a:buChar char="•"/>
            </a:pPr>
            <a:r>
              <a:rPr lang="en-US" sz="2000" dirty="0">
                <a:effectLst/>
                <a:latin typeface="Calibri" panose="020F0502020204030204" pitchFamily="34" charset="0"/>
                <a:ea typeface="DengXian" panose="02010600030101010101" pitchFamily="2" charset="-122"/>
                <a:cs typeface="Times New Roman" panose="02020603050405020304" pitchFamily="18" charset="0"/>
              </a:rPr>
              <a:t>There is the agent advantage effect within the picture in which the agent and patient look similar to each other </a:t>
            </a:r>
            <a:r>
              <a:rPr lang="en-US" sz="1100" dirty="0">
                <a:effectLst/>
                <a:latin typeface="Calibri" panose="020F0502020204030204" pitchFamily="34" charset="0"/>
                <a:ea typeface="DengXian" panose="02010600030101010101" pitchFamily="2" charset="-122"/>
                <a:cs typeface="Times New Roman" panose="02020603050405020304" pitchFamily="18" charset="0"/>
              </a:rPr>
              <a:t>(</a:t>
            </a:r>
            <a:r>
              <a:rPr lang="en-US" sz="1100" dirty="0" err="1">
                <a:effectLst/>
                <a:latin typeface="Calibri" panose="020F0502020204030204" pitchFamily="34" charset="0"/>
                <a:ea typeface="DengXian" panose="02010600030101010101" pitchFamily="2" charset="-122"/>
                <a:cs typeface="Times New Roman" panose="02020603050405020304" pitchFamily="18" charset="0"/>
              </a:rPr>
              <a:t>Segalowitz</a:t>
            </a:r>
            <a:r>
              <a:rPr lang="en-US" sz="1100" dirty="0">
                <a:effectLst/>
                <a:latin typeface="Calibri" panose="020F0502020204030204" pitchFamily="34" charset="0"/>
                <a:ea typeface="DengXian" panose="02010600030101010101" pitchFamily="2" charset="-122"/>
                <a:cs typeface="Times New Roman" panose="02020603050405020304" pitchFamily="18" charset="0"/>
              </a:rPr>
              <a:t>, 1982)</a:t>
            </a:r>
          </a:p>
        </p:txBody>
      </p:sp>
      <p:pic>
        <p:nvPicPr>
          <p:cNvPr id="5" name="Picture 4">
            <a:extLst>
              <a:ext uri="{FF2B5EF4-FFF2-40B4-BE49-F238E27FC236}">
                <a16:creationId xmlns:a16="http://schemas.microsoft.com/office/drawing/2014/main" id="{98DEDE28-00DF-61CD-7DB6-F0FDFA46C992}"/>
              </a:ext>
            </a:extLst>
          </p:cNvPr>
          <p:cNvPicPr>
            <a:picLocks noChangeAspect="1"/>
          </p:cNvPicPr>
          <p:nvPr/>
        </p:nvPicPr>
        <p:blipFill>
          <a:blip r:embed="rId2"/>
          <a:stretch>
            <a:fillRect/>
          </a:stretch>
        </p:blipFill>
        <p:spPr>
          <a:xfrm>
            <a:off x="205341" y="3534218"/>
            <a:ext cx="3714750" cy="2724150"/>
          </a:xfrm>
          <a:prstGeom prst="rect">
            <a:avLst/>
          </a:prstGeom>
        </p:spPr>
      </p:pic>
      <p:pic>
        <p:nvPicPr>
          <p:cNvPr id="6" name="Grafik 4">
            <a:extLst>
              <a:ext uri="{FF2B5EF4-FFF2-40B4-BE49-F238E27FC236}">
                <a16:creationId xmlns:a16="http://schemas.microsoft.com/office/drawing/2014/main" id="{D026BE16-6A62-EE34-C825-C3A85C9283D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93786" y="3693724"/>
            <a:ext cx="2894343" cy="2105270"/>
          </a:xfrm>
          <a:prstGeom prst="rect">
            <a:avLst/>
          </a:prstGeom>
        </p:spPr>
      </p:pic>
    </p:spTree>
    <p:extLst>
      <p:ext uri="{BB962C8B-B14F-4D97-AF65-F5344CB8AC3E}">
        <p14:creationId xmlns:p14="http://schemas.microsoft.com/office/powerpoint/2010/main" val="2222890477"/>
      </p:ext>
    </p:extLst>
  </p:cSld>
  <p:clrMapOvr>
    <a:masterClrMapping/>
  </p:clrMapOvr>
</p:sld>
</file>

<file path=ppt/theme/theme1.xml><?xml version="1.0" encoding="utf-8"?>
<a:theme xmlns:a="http://schemas.openxmlformats.org/drawingml/2006/main" name="Titelseite - Master">
  <a:themeElements>
    <a:clrScheme name="UT-Titel - Text schwarz">
      <a:dk1>
        <a:srgbClr val="000000"/>
      </a:dk1>
      <a:lt1>
        <a:srgbClr val="FFFFFF"/>
      </a:lt1>
      <a:dk2>
        <a:srgbClr val="A51E37"/>
      </a:dk2>
      <a:lt2>
        <a:srgbClr val="2D2015"/>
      </a:lt2>
      <a:accent1>
        <a:srgbClr val="ADB3B7"/>
      </a:accent1>
      <a:accent2>
        <a:srgbClr val="B4A069"/>
      </a:accent2>
      <a:accent3>
        <a:srgbClr val="FFFFFF"/>
      </a:accent3>
      <a:accent4>
        <a:srgbClr val="2A2A2A"/>
      </a:accent4>
      <a:accent5>
        <a:srgbClr val="D3D6D8"/>
      </a:accent5>
      <a:accent6>
        <a:srgbClr val="A3915E"/>
      </a:accent6>
      <a:hlink>
        <a:srgbClr val="32414B"/>
      </a:hlink>
      <a:folHlink>
        <a:srgbClr val="A51E37"/>
      </a:folHlink>
    </a:clrScheme>
    <a:fontScheme name="UT_TITEL">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UT_TITEL 1">
        <a:dk1>
          <a:srgbClr val="333333"/>
        </a:dk1>
        <a:lt1>
          <a:srgbClr val="FFFFFF"/>
        </a:lt1>
        <a:dk2>
          <a:srgbClr val="A51E37"/>
        </a:dk2>
        <a:lt2>
          <a:srgbClr val="2D2015"/>
        </a:lt2>
        <a:accent1>
          <a:srgbClr val="ADB3B7"/>
        </a:accent1>
        <a:accent2>
          <a:srgbClr val="B4A069"/>
        </a:accent2>
        <a:accent3>
          <a:srgbClr val="FFFFFF"/>
        </a:accent3>
        <a:accent4>
          <a:srgbClr val="2A2A2A"/>
        </a:accent4>
        <a:accent5>
          <a:srgbClr val="D3D6D8"/>
        </a:accent5>
        <a:accent6>
          <a:srgbClr val="A3915E"/>
        </a:accent6>
        <a:hlink>
          <a:srgbClr val="32414B"/>
        </a:hlink>
        <a:folHlink>
          <a:srgbClr val="A51E37"/>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4-3__PPT Vorlage UT April 2021.pptx" id="{9C91EF1A-461E-463E-B667-593BB4BDCB61}" vid="{958D7C12-E0F0-490A-9425-332377464F86}"/>
    </a:ext>
  </a:extLst>
</a:theme>
</file>

<file path=ppt/theme/theme2.xml><?xml version="1.0" encoding="utf-8"?>
<a:theme xmlns:a="http://schemas.openxmlformats.org/drawingml/2006/main" name="Innenseite - Master">
  <a:themeElements>
    <a:clrScheme name="UT-Titel - Text schwarz">
      <a:dk1>
        <a:srgbClr val="000000"/>
      </a:dk1>
      <a:lt1>
        <a:srgbClr val="FFFFFF"/>
      </a:lt1>
      <a:dk2>
        <a:srgbClr val="A51E37"/>
      </a:dk2>
      <a:lt2>
        <a:srgbClr val="2D2015"/>
      </a:lt2>
      <a:accent1>
        <a:srgbClr val="ADB3B7"/>
      </a:accent1>
      <a:accent2>
        <a:srgbClr val="B4A069"/>
      </a:accent2>
      <a:accent3>
        <a:srgbClr val="FFFFFF"/>
      </a:accent3>
      <a:accent4>
        <a:srgbClr val="2A2A2A"/>
      </a:accent4>
      <a:accent5>
        <a:srgbClr val="D3D6D8"/>
      </a:accent5>
      <a:accent6>
        <a:srgbClr val="A3915E"/>
      </a:accent6>
      <a:hlink>
        <a:srgbClr val="32414B"/>
      </a:hlink>
      <a:folHlink>
        <a:srgbClr val="A51E37"/>
      </a:folHlink>
    </a:clrScheme>
    <a:fontScheme name="UT_TITEL">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UT_TITEL 1">
        <a:dk1>
          <a:srgbClr val="333333"/>
        </a:dk1>
        <a:lt1>
          <a:srgbClr val="FFFFFF"/>
        </a:lt1>
        <a:dk2>
          <a:srgbClr val="A51E37"/>
        </a:dk2>
        <a:lt2>
          <a:srgbClr val="2D2015"/>
        </a:lt2>
        <a:accent1>
          <a:srgbClr val="ADB3B7"/>
        </a:accent1>
        <a:accent2>
          <a:srgbClr val="B4A069"/>
        </a:accent2>
        <a:accent3>
          <a:srgbClr val="FFFFFF"/>
        </a:accent3>
        <a:accent4>
          <a:srgbClr val="2A2A2A"/>
        </a:accent4>
        <a:accent5>
          <a:srgbClr val="D3D6D8"/>
        </a:accent5>
        <a:accent6>
          <a:srgbClr val="A3915E"/>
        </a:accent6>
        <a:hlink>
          <a:srgbClr val="32414B"/>
        </a:hlink>
        <a:folHlink>
          <a:srgbClr val="A51E37"/>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4-3__PPT Vorlage UT April 2021.pptx" id="{9C91EF1A-461E-463E-B667-593BB4BDCB61}" vid="{ADE0BCE7-6D85-4920-9779-7AA314B977BB}"/>
    </a:ext>
  </a:extLst>
</a:theme>
</file>

<file path=ppt/theme/theme3.xml><?xml version="1.0" encoding="utf-8"?>
<a:theme xmlns:a="http://schemas.openxmlformats.org/drawingml/2006/main" name="Larissa-Design">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Larissa-Design">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17209b47-b1f3-42ca-8d03-90b490f45abe" xsi:nil="true"/>
    <lcf76f155ced4ddcb4097134ff3c332f xmlns="dd8e1084-272f-4d51-b7bc-29a6cb9c0e80">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kument" ma:contentTypeID="0x010100FD2F0D7CC05EEA408EF1A7EB8D6627D9" ma:contentTypeVersion="11" ma:contentTypeDescription="Ein neues Dokument erstellen." ma:contentTypeScope="" ma:versionID="556c801b574e66e9c42bb9c579f405e2">
  <xsd:schema xmlns:xsd="http://www.w3.org/2001/XMLSchema" xmlns:xs="http://www.w3.org/2001/XMLSchema" xmlns:p="http://schemas.microsoft.com/office/2006/metadata/properties" xmlns:ns2="dd8e1084-272f-4d51-b7bc-29a6cb9c0e80" xmlns:ns3="17209b47-b1f3-42ca-8d03-90b490f45abe" targetNamespace="http://schemas.microsoft.com/office/2006/metadata/properties" ma:root="true" ma:fieldsID="a11993105af2f486872df7bade0ab73b" ns2:_="" ns3:_="">
    <xsd:import namespace="dd8e1084-272f-4d51-b7bc-29a6cb9c0e80"/>
    <xsd:import namespace="17209b47-b1f3-42ca-8d03-90b490f45abe"/>
    <xsd:element name="properties">
      <xsd:complexType>
        <xsd:sequence>
          <xsd:element name="documentManagement">
            <xsd:complexType>
              <xsd:all>
                <xsd:element ref="ns2:MediaServiceMetadata" minOccurs="0"/>
                <xsd:element ref="ns2:MediaServiceFastMetadata" minOccurs="0"/>
                <xsd:element ref="ns2:lcf76f155ced4ddcb4097134ff3c332f" minOccurs="0"/>
                <xsd:element ref="ns3:TaxCatchAll" minOccurs="0"/>
                <xsd:element ref="ns2:MediaServiceGenerationTime" minOccurs="0"/>
                <xsd:element ref="ns2:MediaServiceEventHashCode" minOccurs="0"/>
                <xsd:element ref="ns2:MediaServiceOCR" minOccurs="0"/>
                <xsd:element ref="ns2:MediaServiceDateTaken"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d8e1084-272f-4d51-b7bc-29a6cb9c0e8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1" nillable="true" ma:taxonomy="true" ma:internalName="lcf76f155ced4ddcb4097134ff3c332f" ma:taxonomyFieldName="MediaServiceImageTags" ma:displayName="Bildmarkierungen" ma:readOnly="false" ma:fieldId="{5cf76f15-5ced-4ddc-b409-7134ff3c332f}" ma:taxonomyMulti="true" ma:sspId="363978d3-2ebd-4e31-b4a7-bc5875992167" ma:termSetId="09814cd3-568e-fe90-9814-8d621ff8fb84" ma:anchorId="fba54fb3-c3e1-fe81-a776-ca4b69148c4d" ma:open="true" ma:isKeyword="false">
      <xsd:complexType>
        <xsd:sequence>
          <xsd:element ref="pc:Terms" minOccurs="0" maxOccurs="1"/>
        </xsd:sequence>
      </xsd:complex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DateTaken" ma:index="16" nillable="true" ma:displayName="MediaServiceDateTaken" ma:hidden="true" ma:indexed="true" ma:internalName="MediaServiceDateTaken" ma:readOnly="true">
      <xsd:simpleType>
        <xsd:restriction base="dms:Text"/>
      </xsd:simpleType>
    </xsd:element>
    <xsd:element name="MediaServiceObjectDetectorVersions" ma:index="17"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18"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7209b47-b1f3-42ca-8d03-90b490f45abe" elementFormDefault="qualified">
    <xsd:import namespace="http://schemas.microsoft.com/office/2006/documentManagement/types"/>
    <xsd:import namespace="http://schemas.microsoft.com/office/infopath/2007/PartnerControls"/>
    <xsd:element name="TaxCatchAll" ma:index="12" nillable="true" ma:displayName="Taxonomy Catch All Column" ma:hidden="true" ma:list="{31e7aa6b-a13d-4da3-b41a-6a062095f290}" ma:internalName="TaxCatchAll" ma:showField="CatchAllData" ma:web="17209b47-b1f3-42ca-8d03-90b490f45ab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4FE4FB3-5ED6-4B53-A6BC-4A7C37EDF18F}">
  <ds:schemaRefs>
    <ds:schemaRef ds:uri="http://schemas.microsoft.com/office/2006/metadata/properties"/>
    <ds:schemaRef ds:uri="http://schemas.microsoft.com/office/infopath/2007/PartnerControls"/>
    <ds:schemaRef ds:uri="17209b47-b1f3-42ca-8d03-90b490f45abe"/>
    <ds:schemaRef ds:uri="dd8e1084-272f-4d51-b7bc-29a6cb9c0e80"/>
  </ds:schemaRefs>
</ds:datastoreItem>
</file>

<file path=customXml/itemProps2.xml><?xml version="1.0" encoding="utf-8"?>
<ds:datastoreItem xmlns:ds="http://schemas.openxmlformats.org/officeDocument/2006/customXml" ds:itemID="{35B86779-DEC1-475E-8C07-AF23CF9A1FC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d8e1084-272f-4d51-b7bc-29a6cb9c0e80"/>
    <ds:schemaRef ds:uri="17209b47-b1f3-42ca-8d03-90b490f45ab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9CA9E2E-7F5F-436F-A790-E48FFBF5FCB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4-3__PPT_Vorlage_UT_April_2021</Template>
  <TotalTime>609</TotalTime>
  <Words>6823</Words>
  <Application>Microsoft Office PowerPoint</Application>
  <PresentationFormat>On-screen Show (4:3)</PresentationFormat>
  <Paragraphs>697</Paragraphs>
  <Slides>67</Slides>
  <Notes>33</Notes>
  <HiddenSlides>0</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67</vt:i4>
      </vt:variant>
    </vt:vector>
  </HeadingPairs>
  <TitlesOfParts>
    <vt:vector size="79" baseType="lpstr">
      <vt:lpstr>Times New Roman</vt:lpstr>
      <vt:lpstr>open sans</vt:lpstr>
      <vt:lpstr>DengXian</vt:lpstr>
      <vt:lpstr>Cambria</vt:lpstr>
      <vt:lpstr>微软雅黑</vt:lpstr>
      <vt:lpstr>open sans</vt:lpstr>
      <vt:lpstr>Wingdings</vt:lpstr>
      <vt:lpstr>SimSun</vt:lpstr>
      <vt:lpstr>Calibri</vt:lpstr>
      <vt:lpstr>Arial</vt:lpstr>
      <vt:lpstr>Titelseite - Master</vt:lpstr>
      <vt:lpstr>Innenseite - Master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Wenjia Xu</dc:creator>
  <cp:lastModifiedBy>Wenjia Xu</cp:lastModifiedBy>
  <cp:revision>38</cp:revision>
  <cp:lastPrinted>2019-07-09T15:35:24Z</cp:lastPrinted>
  <dcterms:created xsi:type="dcterms:W3CDTF">2024-03-04T10:27:40Z</dcterms:created>
  <dcterms:modified xsi:type="dcterms:W3CDTF">2025-04-09T06:45:04Z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0x010100FD2F0D7CC05EEA408EF1A7EB8D6627D9</vt:lpwstr>
  </property>
  <property fmtid="{D5CDD505-2E9C-101B-9397-08002B2CF9AE}" pid="3" name="MediaServiceImageTags">
    <vt:lpwstr/>
  </property>
</Properties>
</file>